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38"/>
  </p:notesMasterIdLst>
  <p:handoutMasterIdLst>
    <p:handoutMasterId r:id="rId39"/>
  </p:handoutMasterIdLst>
  <p:sldIdLst>
    <p:sldId id="501" r:id="rId2"/>
    <p:sldId id="524" r:id="rId3"/>
    <p:sldId id="502" r:id="rId4"/>
    <p:sldId id="523" r:id="rId5"/>
    <p:sldId id="291" r:id="rId6"/>
    <p:sldId id="292" r:id="rId7"/>
    <p:sldId id="1016" r:id="rId8"/>
    <p:sldId id="1017" r:id="rId9"/>
    <p:sldId id="1018" r:id="rId10"/>
    <p:sldId id="301" r:id="rId11"/>
    <p:sldId id="1020" r:id="rId12"/>
    <p:sldId id="1042" r:id="rId13"/>
    <p:sldId id="1043" r:id="rId14"/>
    <p:sldId id="1044" r:id="rId15"/>
    <p:sldId id="303" r:id="rId16"/>
    <p:sldId id="304" r:id="rId17"/>
    <p:sldId id="504" r:id="rId18"/>
    <p:sldId id="505" r:id="rId19"/>
    <p:sldId id="506" r:id="rId20"/>
    <p:sldId id="507" r:id="rId21"/>
    <p:sldId id="508" r:id="rId22"/>
    <p:sldId id="509" r:id="rId23"/>
    <p:sldId id="510" r:id="rId24"/>
    <p:sldId id="511" r:id="rId25"/>
    <p:sldId id="512" r:id="rId26"/>
    <p:sldId id="513" r:id="rId27"/>
    <p:sldId id="514" r:id="rId28"/>
    <p:sldId id="515" r:id="rId29"/>
    <p:sldId id="516" r:id="rId30"/>
    <p:sldId id="517" r:id="rId31"/>
    <p:sldId id="518" r:id="rId32"/>
    <p:sldId id="519" r:id="rId33"/>
    <p:sldId id="520" r:id="rId34"/>
    <p:sldId id="521" r:id="rId35"/>
    <p:sldId id="522" r:id="rId36"/>
    <p:sldId id="327" r:id="rId3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404"/>
    <a:srgbClr val="A50021"/>
    <a:srgbClr val="FF00FF"/>
    <a:srgbClr val="000000"/>
    <a:srgbClr val="FF0066"/>
    <a:srgbClr val="CC3300"/>
    <a:srgbClr val="0000FF"/>
    <a:srgbClr val="FF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/>
    <p:restoredTop sz="96233" autoAdjust="0"/>
  </p:normalViewPr>
  <p:slideViewPr>
    <p:cSldViewPr>
      <p:cViewPr varScale="1">
        <p:scale>
          <a:sx n="96" d="100"/>
          <a:sy n="96" d="100"/>
        </p:scale>
        <p:origin x="176" y="736"/>
      </p:cViewPr>
      <p:guideLst>
        <p:guide orient="horz" pos="2160"/>
        <p:guide pos="2880"/>
      </p:guideLst>
    </p:cSldViewPr>
  </p:slid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2880" cy="18288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c" userId="5bc9efa7-ddea-4be2-9b71-fa0f56c89193" providerId="ADAL" clId="{EDF29DA0-2024-1B44-8194-2383F4F0D2B7}"/>
    <pc:docChg chg="undo custSel addSld delSld modSld sldOrd">
      <pc:chgData name="cc" userId="5bc9efa7-ddea-4be2-9b71-fa0f56c89193" providerId="ADAL" clId="{EDF29DA0-2024-1B44-8194-2383F4F0D2B7}" dt="2026-09-07T03:29:14.065" v="682" actId="20577"/>
      <pc:docMkLst>
        <pc:docMk/>
      </pc:docMkLst>
      <pc:sldChg chg="modSp mod">
        <pc:chgData name="cc" userId="5bc9efa7-ddea-4be2-9b71-fa0f56c89193" providerId="ADAL" clId="{EDF29DA0-2024-1B44-8194-2383F4F0D2B7}" dt="2026-09-07T02:44:01.533" v="520" actId="207"/>
        <pc:sldMkLst>
          <pc:docMk/>
          <pc:sldMk cId="0" sldId="292"/>
        </pc:sldMkLst>
        <pc:spChg chg="mod">
          <ac:chgData name="cc" userId="5bc9efa7-ddea-4be2-9b71-fa0f56c89193" providerId="ADAL" clId="{EDF29DA0-2024-1B44-8194-2383F4F0D2B7}" dt="2026-09-07T02:43:51.216" v="519" actId="113"/>
          <ac:spMkLst>
            <pc:docMk/>
            <pc:sldMk cId="0" sldId="292"/>
            <ac:spMk id="13" creationId="{453A1152-1FD1-5A1C-96CF-742A4C085585}"/>
          </ac:spMkLst>
        </pc:spChg>
        <pc:spChg chg="mod">
          <ac:chgData name="cc" userId="5bc9efa7-ddea-4be2-9b71-fa0f56c89193" providerId="ADAL" clId="{EDF29DA0-2024-1B44-8194-2383F4F0D2B7}" dt="2026-09-07T02:44:01.533" v="520" actId="207"/>
          <ac:spMkLst>
            <pc:docMk/>
            <pc:sldMk cId="0" sldId="292"/>
            <ac:spMk id="18" creationId="{AF266571-0DA7-ACB5-DFCA-A28785B491FE}"/>
          </ac:spMkLst>
        </pc:spChg>
      </pc:sldChg>
      <pc:sldChg chg="del">
        <pc:chgData name="cc" userId="5bc9efa7-ddea-4be2-9b71-fa0f56c89193" providerId="ADAL" clId="{EDF29DA0-2024-1B44-8194-2383F4F0D2B7}" dt="2026-09-07T03:03:42.965" v="593" actId="2696"/>
        <pc:sldMkLst>
          <pc:docMk/>
          <pc:sldMk cId="0" sldId="293"/>
        </pc:sldMkLst>
      </pc:sldChg>
      <pc:sldChg chg="del">
        <pc:chgData name="cc" userId="5bc9efa7-ddea-4be2-9b71-fa0f56c89193" providerId="ADAL" clId="{EDF29DA0-2024-1B44-8194-2383F4F0D2B7}" dt="2026-09-07T03:03:42.967" v="594" actId="2696"/>
        <pc:sldMkLst>
          <pc:docMk/>
          <pc:sldMk cId="0" sldId="294"/>
        </pc:sldMkLst>
      </pc:sldChg>
      <pc:sldChg chg="del">
        <pc:chgData name="cc" userId="5bc9efa7-ddea-4be2-9b71-fa0f56c89193" providerId="ADAL" clId="{EDF29DA0-2024-1B44-8194-2383F4F0D2B7}" dt="2026-09-07T03:03:42.953" v="591" actId="2696"/>
        <pc:sldMkLst>
          <pc:docMk/>
          <pc:sldMk cId="0" sldId="295"/>
        </pc:sldMkLst>
      </pc:sldChg>
      <pc:sldChg chg="del">
        <pc:chgData name="cc" userId="5bc9efa7-ddea-4be2-9b71-fa0f56c89193" providerId="ADAL" clId="{EDF29DA0-2024-1B44-8194-2383F4F0D2B7}" dt="2026-09-07T03:03:42.954" v="592" actId="2696"/>
        <pc:sldMkLst>
          <pc:docMk/>
          <pc:sldMk cId="0" sldId="296"/>
        </pc:sldMkLst>
      </pc:sldChg>
      <pc:sldChg chg="del">
        <pc:chgData name="cc" userId="5bc9efa7-ddea-4be2-9b71-fa0f56c89193" providerId="ADAL" clId="{EDF29DA0-2024-1B44-8194-2383F4F0D2B7}" dt="2026-09-07T03:03:42.971" v="597" actId="2696"/>
        <pc:sldMkLst>
          <pc:docMk/>
          <pc:sldMk cId="0" sldId="297"/>
        </pc:sldMkLst>
      </pc:sldChg>
      <pc:sldChg chg="del">
        <pc:chgData name="cc" userId="5bc9efa7-ddea-4be2-9b71-fa0f56c89193" providerId="ADAL" clId="{EDF29DA0-2024-1B44-8194-2383F4F0D2B7}" dt="2026-09-07T03:03:42.969" v="595" actId="2696"/>
        <pc:sldMkLst>
          <pc:docMk/>
          <pc:sldMk cId="0" sldId="298"/>
        </pc:sldMkLst>
      </pc:sldChg>
      <pc:sldChg chg="del">
        <pc:chgData name="cc" userId="5bc9efa7-ddea-4be2-9b71-fa0f56c89193" providerId="ADAL" clId="{EDF29DA0-2024-1B44-8194-2383F4F0D2B7}" dt="2026-09-07T03:03:42.952" v="590" actId="2696"/>
        <pc:sldMkLst>
          <pc:docMk/>
          <pc:sldMk cId="0" sldId="299"/>
        </pc:sldMkLst>
      </pc:sldChg>
      <pc:sldChg chg="del">
        <pc:chgData name="cc" userId="5bc9efa7-ddea-4be2-9b71-fa0f56c89193" providerId="ADAL" clId="{EDF29DA0-2024-1B44-8194-2383F4F0D2B7}" dt="2026-09-07T03:03:52.670" v="599" actId="2696"/>
        <pc:sldMkLst>
          <pc:docMk/>
          <pc:sldMk cId="0" sldId="300"/>
        </pc:sldMkLst>
      </pc:sldChg>
      <pc:sldChg chg="addSp modSp mod ord modNotesTx">
        <pc:chgData name="cc" userId="5bc9efa7-ddea-4be2-9b71-fa0f56c89193" providerId="ADAL" clId="{EDF29DA0-2024-1B44-8194-2383F4F0D2B7}" dt="2026-09-07T03:18:48.792" v="656" actId="113"/>
        <pc:sldMkLst>
          <pc:docMk/>
          <pc:sldMk cId="0" sldId="301"/>
        </pc:sldMkLst>
        <pc:spChg chg="add mod">
          <ac:chgData name="cc" userId="5bc9efa7-ddea-4be2-9b71-fa0f56c89193" providerId="ADAL" clId="{EDF29DA0-2024-1B44-8194-2383F4F0D2B7}" dt="2026-09-07T03:18:36.333" v="653" actId="1076"/>
          <ac:spMkLst>
            <pc:docMk/>
            <pc:sldMk cId="0" sldId="301"/>
            <ac:spMk id="2" creationId="{6235FDE3-104D-2442-72E3-0ABBC35A843F}"/>
          </ac:spMkLst>
        </pc:spChg>
        <pc:spChg chg="add mod">
          <ac:chgData name="cc" userId="5bc9efa7-ddea-4be2-9b71-fa0f56c89193" providerId="ADAL" clId="{EDF29DA0-2024-1B44-8194-2383F4F0D2B7}" dt="2026-09-07T03:18:48.792" v="656" actId="113"/>
          <ac:spMkLst>
            <pc:docMk/>
            <pc:sldMk cId="0" sldId="301"/>
            <ac:spMk id="3" creationId="{57D503CB-BBBB-6CC8-56D4-A9CB38D20436}"/>
          </ac:spMkLst>
        </pc:spChg>
        <pc:spChg chg="add mod">
          <ac:chgData name="cc" userId="5bc9efa7-ddea-4be2-9b71-fa0f56c89193" providerId="ADAL" clId="{EDF29DA0-2024-1B44-8194-2383F4F0D2B7}" dt="2026-09-07T03:18:36.333" v="653" actId="1076"/>
          <ac:spMkLst>
            <pc:docMk/>
            <pc:sldMk cId="0" sldId="301"/>
            <ac:spMk id="4" creationId="{58EB48CF-2434-E2AE-6D84-A3832D336CCB}"/>
          </ac:spMkLst>
        </pc:spChg>
        <pc:spChg chg="add mod">
          <ac:chgData name="cc" userId="5bc9efa7-ddea-4be2-9b71-fa0f56c89193" providerId="ADAL" clId="{EDF29DA0-2024-1B44-8194-2383F4F0D2B7}" dt="2026-09-07T03:18:36.333" v="653" actId="1076"/>
          <ac:spMkLst>
            <pc:docMk/>
            <pc:sldMk cId="0" sldId="301"/>
            <ac:spMk id="5" creationId="{A3AE8913-2F94-48F2-20AE-1611BE0B95F7}"/>
          </ac:spMkLst>
        </pc:spChg>
        <pc:spChg chg="mod">
          <ac:chgData name="cc" userId="5bc9efa7-ddea-4be2-9b71-fa0f56c89193" providerId="ADAL" clId="{EDF29DA0-2024-1B44-8194-2383F4F0D2B7}" dt="2026-09-07T03:18:43.072" v="654" actId="1076"/>
          <ac:spMkLst>
            <pc:docMk/>
            <pc:sldMk cId="0" sldId="301"/>
            <ac:spMk id="31" creationId="{AAFB6A63-BEEA-7F25-14AC-4E2AE02D0651}"/>
          </ac:spMkLst>
        </pc:spChg>
        <pc:spChg chg="mod">
          <ac:chgData name="cc" userId="5bc9efa7-ddea-4be2-9b71-fa0f56c89193" providerId="ADAL" clId="{EDF29DA0-2024-1B44-8194-2383F4F0D2B7}" dt="2026-09-07T03:16:59.048" v="649" actId="14100"/>
          <ac:spMkLst>
            <pc:docMk/>
            <pc:sldMk cId="0" sldId="301"/>
            <ac:spMk id="373788" creationId="{46C40A01-3AD8-36B8-A6D3-059196713C6D}"/>
          </ac:spMkLst>
        </pc:spChg>
      </pc:sldChg>
      <pc:sldChg chg="del">
        <pc:chgData name="cc" userId="5bc9efa7-ddea-4be2-9b71-fa0f56c89193" providerId="ADAL" clId="{EDF29DA0-2024-1B44-8194-2383F4F0D2B7}" dt="2026-09-07T03:19:35.904" v="661" actId="2696"/>
        <pc:sldMkLst>
          <pc:docMk/>
          <pc:sldMk cId="0" sldId="302"/>
        </pc:sldMkLst>
      </pc:sldChg>
      <pc:sldChg chg="delSp mod delAnim">
        <pc:chgData name="cc" userId="5bc9efa7-ddea-4be2-9b71-fa0f56c89193" providerId="ADAL" clId="{EDF29DA0-2024-1B44-8194-2383F4F0D2B7}" dt="2026-09-07T03:20:18.666" v="662" actId="478"/>
        <pc:sldMkLst>
          <pc:docMk/>
          <pc:sldMk cId="0" sldId="303"/>
        </pc:sldMkLst>
        <pc:spChg chg="del">
          <ac:chgData name="cc" userId="5bc9efa7-ddea-4be2-9b71-fa0f56c89193" providerId="ADAL" clId="{EDF29DA0-2024-1B44-8194-2383F4F0D2B7}" dt="2026-09-07T03:20:18.666" v="662" actId="478"/>
          <ac:spMkLst>
            <pc:docMk/>
            <pc:sldMk cId="0" sldId="303"/>
            <ac:spMk id="10" creationId="{C03FF6ED-75A9-DD16-83F4-3656727A7797}"/>
          </ac:spMkLst>
        </pc:spChg>
      </pc:sldChg>
      <pc:sldChg chg="modSp">
        <pc:chgData name="cc" userId="5bc9efa7-ddea-4be2-9b71-fa0f56c89193" providerId="ADAL" clId="{EDF29DA0-2024-1B44-8194-2383F4F0D2B7}" dt="2026-09-07T03:21:06.406" v="673" actId="20577"/>
        <pc:sldMkLst>
          <pc:docMk/>
          <pc:sldMk cId="0" sldId="304"/>
        </pc:sldMkLst>
        <pc:spChg chg="mod">
          <ac:chgData name="cc" userId="5bc9efa7-ddea-4be2-9b71-fa0f56c89193" providerId="ADAL" clId="{EDF29DA0-2024-1B44-8194-2383F4F0D2B7}" dt="2026-09-07T03:21:06.406" v="673" actId="20577"/>
          <ac:spMkLst>
            <pc:docMk/>
            <pc:sldMk cId="0" sldId="304"/>
            <ac:spMk id="8" creationId="{15606D66-35B8-92DC-CF33-0061CF6BD257}"/>
          </ac:spMkLst>
        </pc:spChg>
      </pc:sldChg>
      <pc:sldChg chg="del">
        <pc:chgData name="cc" userId="5bc9efa7-ddea-4be2-9b71-fa0f56c89193" providerId="ADAL" clId="{EDF29DA0-2024-1B44-8194-2383F4F0D2B7}" dt="2026-09-07T03:20:53.317" v="665" actId="2696"/>
        <pc:sldMkLst>
          <pc:docMk/>
          <pc:sldMk cId="0" sldId="305"/>
        </pc:sldMkLst>
      </pc:sldChg>
      <pc:sldChg chg="del">
        <pc:chgData name="cc" userId="5bc9efa7-ddea-4be2-9b71-fa0f56c89193" providerId="ADAL" clId="{EDF29DA0-2024-1B44-8194-2383F4F0D2B7}" dt="2026-09-07T03:20:53.320" v="667" actId="2696"/>
        <pc:sldMkLst>
          <pc:docMk/>
          <pc:sldMk cId="0" sldId="306"/>
        </pc:sldMkLst>
      </pc:sldChg>
      <pc:sldChg chg="del">
        <pc:chgData name="cc" userId="5bc9efa7-ddea-4be2-9b71-fa0f56c89193" providerId="ADAL" clId="{EDF29DA0-2024-1B44-8194-2383F4F0D2B7}" dt="2026-09-07T03:20:53.315" v="664" actId="2696"/>
        <pc:sldMkLst>
          <pc:docMk/>
          <pc:sldMk cId="0" sldId="307"/>
        </pc:sldMkLst>
      </pc:sldChg>
      <pc:sldChg chg="del">
        <pc:chgData name="cc" userId="5bc9efa7-ddea-4be2-9b71-fa0f56c89193" providerId="ADAL" clId="{EDF29DA0-2024-1B44-8194-2383F4F0D2B7}" dt="2026-09-07T03:20:53.309" v="663" actId="2696"/>
        <pc:sldMkLst>
          <pc:docMk/>
          <pc:sldMk cId="0" sldId="308"/>
        </pc:sldMkLst>
      </pc:sldChg>
      <pc:sldChg chg="del">
        <pc:chgData name="cc" userId="5bc9efa7-ddea-4be2-9b71-fa0f56c89193" providerId="ADAL" clId="{EDF29DA0-2024-1B44-8194-2383F4F0D2B7}" dt="2026-09-07T03:03:42.950" v="589" actId="2696"/>
        <pc:sldMkLst>
          <pc:docMk/>
          <pc:sldMk cId="0" sldId="367"/>
        </pc:sldMkLst>
      </pc:sldChg>
      <pc:sldChg chg="del">
        <pc:chgData name="cc" userId="5bc9efa7-ddea-4be2-9b71-fa0f56c89193" providerId="ADAL" clId="{EDF29DA0-2024-1B44-8194-2383F4F0D2B7}" dt="2026-09-07T03:03:42.969" v="596" actId="2696"/>
        <pc:sldMkLst>
          <pc:docMk/>
          <pc:sldMk cId="0" sldId="368"/>
        </pc:sldMkLst>
      </pc:sldChg>
      <pc:sldChg chg="del">
        <pc:chgData name="cc" userId="5bc9efa7-ddea-4be2-9b71-fa0f56c89193" providerId="ADAL" clId="{EDF29DA0-2024-1B44-8194-2383F4F0D2B7}" dt="2026-09-07T03:20:53.318" v="666" actId="2696"/>
        <pc:sldMkLst>
          <pc:docMk/>
          <pc:sldMk cId="0" sldId="369"/>
        </pc:sldMkLst>
      </pc:sldChg>
      <pc:sldChg chg="addSp modSp mod">
        <pc:chgData name="cc" userId="5bc9efa7-ddea-4be2-9b71-fa0f56c89193" providerId="ADAL" clId="{EDF29DA0-2024-1B44-8194-2383F4F0D2B7}" dt="2026-09-07T03:29:14.065" v="682" actId="20577"/>
        <pc:sldMkLst>
          <pc:docMk/>
          <pc:sldMk cId="2119794367" sldId="501"/>
        </pc:sldMkLst>
        <pc:spChg chg="add mod">
          <ac:chgData name="cc" userId="5bc9efa7-ddea-4be2-9b71-fa0f56c89193" providerId="ADAL" clId="{EDF29DA0-2024-1B44-8194-2383F4F0D2B7}" dt="2026-09-07T02:57:21.751" v="555" actId="14100"/>
          <ac:spMkLst>
            <pc:docMk/>
            <pc:sldMk cId="2119794367" sldId="501"/>
            <ac:spMk id="2" creationId="{A74DC16D-B5DC-D801-49D9-34ACB0B8A955}"/>
          </ac:spMkLst>
        </pc:spChg>
        <pc:spChg chg="mod">
          <ac:chgData name="cc" userId="5bc9efa7-ddea-4be2-9b71-fa0f56c89193" providerId="ADAL" clId="{EDF29DA0-2024-1B44-8194-2383F4F0D2B7}" dt="2026-09-07T03:29:14.065" v="682" actId="20577"/>
          <ac:spMkLst>
            <pc:docMk/>
            <pc:sldMk cId="2119794367" sldId="501"/>
            <ac:spMk id="11" creationId="{00000000-0000-0000-0000-000000000000}"/>
          </ac:spMkLst>
        </pc:spChg>
      </pc:sldChg>
      <pc:sldChg chg="delSp modSp mod">
        <pc:chgData name="cc" userId="5bc9efa7-ddea-4be2-9b71-fa0f56c89193" providerId="ADAL" clId="{EDF29DA0-2024-1B44-8194-2383F4F0D2B7}" dt="2026-09-07T02:35:31.988" v="269" actId="478"/>
        <pc:sldMkLst>
          <pc:docMk/>
          <pc:sldMk cId="4255450383" sldId="502"/>
        </pc:sldMkLst>
        <pc:spChg chg="mod">
          <ac:chgData name="cc" userId="5bc9efa7-ddea-4be2-9b71-fa0f56c89193" providerId="ADAL" clId="{EDF29DA0-2024-1B44-8194-2383F4F0D2B7}" dt="2026-09-07T02:31:49.020" v="159" actId="1076"/>
          <ac:spMkLst>
            <pc:docMk/>
            <pc:sldMk cId="4255450383" sldId="502"/>
            <ac:spMk id="5" creationId="{00000000-0000-0000-0000-000000000000}"/>
          </ac:spMkLst>
        </pc:spChg>
        <pc:spChg chg="mod">
          <ac:chgData name="cc" userId="5bc9efa7-ddea-4be2-9b71-fa0f56c89193" providerId="ADAL" clId="{EDF29DA0-2024-1B44-8194-2383F4F0D2B7}" dt="2026-09-07T02:32:47.194" v="197" actId="14100"/>
          <ac:spMkLst>
            <pc:docMk/>
            <pc:sldMk cId="4255450383" sldId="502"/>
            <ac:spMk id="6" creationId="{00000000-0000-0000-0000-000000000000}"/>
          </ac:spMkLst>
        </pc:spChg>
        <pc:picChg chg="del">
          <ac:chgData name="cc" userId="5bc9efa7-ddea-4be2-9b71-fa0f56c89193" providerId="ADAL" clId="{EDF29DA0-2024-1B44-8194-2383F4F0D2B7}" dt="2026-09-07T02:35:31.988" v="269" actId="478"/>
          <ac:picMkLst>
            <pc:docMk/>
            <pc:sldMk cId="4255450383" sldId="502"/>
            <ac:picMk id="6151" creationId="{00000000-0000-0000-0000-000000000000}"/>
          </ac:picMkLst>
        </pc:picChg>
        <pc:picChg chg="del">
          <ac:chgData name="cc" userId="5bc9efa7-ddea-4be2-9b71-fa0f56c89193" providerId="ADAL" clId="{EDF29DA0-2024-1B44-8194-2383F4F0D2B7}" dt="2026-09-07T02:35:31.988" v="269" actId="478"/>
          <ac:picMkLst>
            <pc:docMk/>
            <pc:sldMk cId="4255450383" sldId="502"/>
            <ac:picMk id="6152" creationId="{00000000-0000-0000-0000-000000000000}"/>
          </ac:picMkLst>
        </pc:picChg>
        <pc:picChg chg="del">
          <ac:chgData name="cc" userId="5bc9efa7-ddea-4be2-9b71-fa0f56c89193" providerId="ADAL" clId="{EDF29DA0-2024-1B44-8194-2383F4F0D2B7}" dt="2026-09-07T02:35:31.988" v="269" actId="478"/>
          <ac:picMkLst>
            <pc:docMk/>
            <pc:sldMk cId="4255450383" sldId="502"/>
            <ac:picMk id="6153" creationId="{00000000-0000-0000-0000-000000000000}"/>
          </ac:picMkLst>
        </pc:picChg>
      </pc:sldChg>
      <pc:sldChg chg="delSp modSp mod">
        <pc:chgData name="cc" userId="5bc9efa7-ddea-4be2-9b71-fa0f56c89193" providerId="ADAL" clId="{EDF29DA0-2024-1B44-8194-2383F4F0D2B7}" dt="2026-09-07T03:22:20.111" v="676"/>
        <pc:sldMkLst>
          <pc:docMk/>
          <pc:sldMk cId="3220093802" sldId="505"/>
        </pc:sldMkLst>
        <pc:spChg chg="del mod">
          <ac:chgData name="cc" userId="5bc9efa7-ddea-4be2-9b71-fa0f56c89193" providerId="ADAL" clId="{EDF29DA0-2024-1B44-8194-2383F4F0D2B7}" dt="2026-09-07T03:22:20.111" v="676"/>
          <ac:spMkLst>
            <pc:docMk/>
            <pc:sldMk cId="3220093802" sldId="505"/>
            <ac:spMk id="45059" creationId="{D643E3B4-10D7-2991-84A0-8929F86ABA2C}"/>
          </ac:spMkLst>
        </pc:spChg>
      </pc:sldChg>
      <pc:sldChg chg="delSp modSp mod">
        <pc:chgData name="cc" userId="5bc9efa7-ddea-4be2-9b71-fa0f56c89193" providerId="ADAL" clId="{EDF29DA0-2024-1B44-8194-2383F4F0D2B7}" dt="2026-09-07T03:22:35.742" v="679"/>
        <pc:sldMkLst>
          <pc:docMk/>
          <pc:sldMk cId="2247867511" sldId="516"/>
        </pc:sldMkLst>
        <pc:spChg chg="del mod">
          <ac:chgData name="cc" userId="5bc9efa7-ddea-4be2-9b71-fa0f56c89193" providerId="ADAL" clId="{EDF29DA0-2024-1B44-8194-2383F4F0D2B7}" dt="2026-09-07T03:22:35.742" v="679"/>
          <ac:spMkLst>
            <pc:docMk/>
            <pc:sldMk cId="2247867511" sldId="516"/>
            <ac:spMk id="45059" creationId="{D9B25CCF-4705-FB9A-4782-32F950CD5074}"/>
          </ac:spMkLst>
        </pc:spChg>
      </pc:sldChg>
      <pc:sldChg chg="modSp">
        <pc:chgData name="cc" userId="5bc9efa7-ddea-4be2-9b71-fa0f56c89193" providerId="ADAL" clId="{EDF29DA0-2024-1B44-8194-2383F4F0D2B7}" dt="2026-09-07T03:22:42.031" v="680" actId="20577"/>
        <pc:sldMkLst>
          <pc:docMk/>
          <pc:sldMk cId="383211795" sldId="518"/>
        </pc:sldMkLst>
        <pc:spChg chg="mod">
          <ac:chgData name="cc" userId="5bc9efa7-ddea-4be2-9b71-fa0f56c89193" providerId="ADAL" clId="{EDF29DA0-2024-1B44-8194-2383F4F0D2B7}" dt="2026-09-07T03:22:42.031" v="680" actId="20577"/>
          <ac:spMkLst>
            <pc:docMk/>
            <pc:sldMk cId="383211795" sldId="518"/>
            <ac:spMk id="8" creationId="{B9D953F6-604E-256E-0F72-E59EFDDB6A09}"/>
          </ac:spMkLst>
        </pc:spChg>
      </pc:sldChg>
      <pc:sldChg chg="modSp">
        <pc:chgData name="cc" userId="5bc9efa7-ddea-4be2-9b71-fa0f56c89193" providerId="ADAL" clId="{EDF29DA0-2024-1B44-8194-2383F4F0D2B7}" dt="2026-09-07T03:22:49.908" v="681" actId="20577"/>
        <pc:sldMkLst>
          <pc:docMk/>
          <pc:sldMk cId="2460087938" sldId="521"/>
        </pc:sldMkLst>
        <pc:spChg chg="mod">
          <ac:chgData name="cc" userId="5bc9efa7-ddea-4be2-9b71-fa0f56c89193" providerId="ADAL" clId="{EDF29DA0-2024-1B44-8194-2383F4F0D2B7}" dt="2026-09-07T03:22:49.908" v="681" actId="20577"/>
          <ac:spMkLst>
            <pc:docMk/>
            <pc:sldMk cId="2460087938" sldId="521"/>
            <ac:spMk id="12" creationId="{4A8F3B1F-8391-3527-856F-EAD6E98A5DA9}"/>
          </ac:spMkLst>
        </pc:spChg>
      </pc:sldChg>
      <pc:sldChg chg="addSp delSp modSp mod">
        <pc:chgData name="cc" userId="5bc9efa7-ddea-4be2-9b71-fa0f56c89193" providerId="ADAL" clId="{EDF29DA0-2024-1B44-8194-2383F4F0D2B7}" dt="2026-09-07T02:35:22.529" v="268" actId="122"/>
        <pc:sldMkLst>
          <pc:docMk/>
          <pc:sldMk cId="3698140237" sldId="523"/>
        </pc:sldMkLst>
        <pc:spChg chg="mod">
          <ac:chgData name="cc" userId="5bc9efa7-ddea-4be2-9b71-fa0f56c89193" providerId="ADAL" clId="{EDF29DA0-2024-1B44-8194-2383F4F0D2B7}" dt="2026-09-07T02:33:01.980" v="199" actId="1076"/>
          <ac:spMkLst>
            <pc:docMk/>
            <pc:sldMk cId="3698140237" sldId="523"/>
            <ac:spMk id="7" creationId="{941D74E0-1416-B579-1310-84AAA1E7BD60}"/>
          </ac:spMkLst>
        </pc:spChg>
        <pc:spChg chg="mod">
          <ac:chgData name="cc" userId="5bc9efa7-ddea-4be2-9b71-fa0f56c89193" providerId="ADAL" clId="{EDF29DA0-2024-1B44-8194-2383F4F0D2B7}" dt="2026-09-07T02:32:59.037" v="198" actId="1076"/>
          <ac:spMkLst>
            <pc:docMk/>
            <pc:sldMk cId="3698140237" sldId="523"/>
            <ac:spMk id="8" creationId="{160267D0-6D71-0741-C138-E3E33EE15D51}"/>
          </ac:spMkLst>
        </pc:spChg>
        <pc:spChg chg="add mod">
          <ac:chgData name="cc" userId="5bc9efa7-ddea-4be2-9b71-fa0f56c89193" providerId="ADAL" clId="{EDF29DA0-2024-1B44-8194-2383F4F0D2B7}" dt="2026-09-07T02:35:22.529" v="268" actId="122"/>
          <ac:spMkLst>
            <pc:docMk/>
            <pc:sldMk cId="3698140237" sldId="523"/>
            <ac:spMk id="9" creationId="{28F6A408-128D-CB65-588B-94CA141D95CE}"/>
          </ac:spMkLst>
        </pc:spChg>
        <pc:picChg chg="add del mod">
          <ac:chgData name="cc" userId="5bc9efa7-ddea-4be2-9b71-fa0f56c89193" providerId="ADAL" clId="{EDF29DA0-2024-1B44-8194-2383F4F0D2B7}" dt="2026-09-07T02:34:08.920" v="205" actId="478"/>
          <ac:picMkLst>
            <pc:docMk/>
            <pc:sldMk cId="3698140237" sldId="523"/>
            <ac:picMk id="2" creationId="{15755666-0861-F5D3-E8BC-A57CB8AE5329}"/>
          </ac:picMkLst>
        </pc:picChg>
        <pc:picChg chg="mod">
          <ac:chgData name="cc" userId="5bc9efa7-ddea-4be2-9b71-fa0f56c89193" providerId="ADAL" clId="{EDF29DA0-2024-1B44-8194-2383F4F0D2B7}" dt="2026-09-07T02:33:08.697" v="202" actId="1076"/>
          <ac:picMkLst>
            <pc:docMk/>
            <pc:sldMk cId="3698140237" sldId="523"/>
            <ac:picMk id="3" creationId="{1880CEB8-4681-458A-79A9-C303EBF84442}"/>
          </ac:picMkLst>
        </pc:picChg>
        <pc:picChg chg="mod">
          <ac:chgData name="cc" userId="5bc9efa7-ddea-4be2-9b71-fa0f56c89193" providerId="ADAL" clId="{EDF29DA0-2024-1B44-8194-2383F4F0D2B7}" dt="2026-09-07T02:33:06.375" v="201" actId="1076"/>
          <ac:picMkLst>
            <pc:docMk/>
            <pc:sldMk cId="3698140237" sldId="523"/>
            <ac:picMk id="5" creationId="{4F73E36B-975F-4992-077F-59F0ABA4FB02}"/>
          </ac:picMkLst>
        </pc:picChg>
        <pc:picChg chg="add mod">
          <ac:chgData name="cc" userId="5bc9efa7-ddea-4be2-9b71-fa0f56c89193" providerId="ADAL" clId="{EDF29DA0-2024-1B44-8194-2383F4F0D2B7}" dt="2026-09-07T02:34:24.510" v="212" actId="14100"/>
          <ac:picMkLst>
            <pc:docMk/>
            <pc:sldMk cId="3698140237" sldId="523"/>
            <ac:picMk id="6" creationId="{D176BFB7-E0A4-11FB-B19A-E6768BAE4495}"/>
          </ac:picMkLst>
        </pc:picChg>
      </pc:sldChg>
      <pc:sldChg chg="addSp delSp modSp new mod modAnim">
        <pc:chgData name="cc" userId="5bc9efa7-ddea-4be2-9b71-fa0f56c89193" providerId="ADAL" clId="{EDF29DA0-2024-1B44-8194-2383F4F0D2B7}" dt="2026-09-07T02:42:41.141" v="475" actId="113"/>
        <pc:sldMkLst>
          <pc:docMk/>
          <pc:sldMk cId="3706845126" sldId="524"/>
        </pc:sldMkLst>
        <pc:spChg chg="del">
          <ac:chgData name="cc" userId="5bc9efa7-ddea-4be2-9b71-fa0f56c89193" providerId="ADAL" clId="{EDF29DA0-2024-1B44-8194-2383F4F0D2B7}" dt="2026-09-07T02:28:54.829" v="1" actId="478"/>
          <ac:spMkLst>
            <pc:docMk/>
            <pc:sldMk cId="3706845126" sldId="524"/>
            <ac:spMk id="2" creationId="{FBF547DA-8C65-CD4D-68C0-7E9C84F16B15}"/>
          </ac:spMkLst>
        </pc:spChg>
        <pc:spChg chg="del">
          <ac:chgData name="cc" userId="5bc9efa7-ddea-4be2-9b71-fa0f56c89193" providerId="ADAL" clId="{EDF29DA0-2024-1B44-8194-2383F4F0D2B7}" dt="2026-09-07T02:28:54.829" v="1" actId="478"/>
          <ac:spMkLst>
            <pc:docMk/>
            <pc:sldMk cId="3706845126" sldId="524"/>
            <ac:spMk id="3" creationId="{CC928D8E-8236-ABE2-1785-E448ACBC32F5}"/>
          </ac:spMkLst>
        </pc:spChg>
        <pc:spChg chg="add mod">
          <ac:chgData name="cc" userId="5bc9efa7-ddea-4be2-9b71-fa0f56c89193" providerId="ADAL" clId="{EDF29DA0-2024-1B44-8194-2383F4F0D2B7}" dt="2026-09-07T02:37:05.924" v="314" actId="1076"/>
          <ac:spMkLst>
            <pc:docMk/>
            <pc:sldMk cId="3706845126" sldId="524"/>
            <ac:spMk id="5" creationId="{F9DA03F0-E65E-8AAA-05F7-6B623B9BDFC2}"/>
          </ac:spMkLst>
        </pc:spChg>
        <pc:spChg chg="add del mod">
          <ac:chgData name="cc" userId="5bc9efa7-ddea-4be2-9b71-fa0f56c89193" providerId="ADAL" clId="{EDF29DA0-2024-1B44-8194-2383F4F0D2B7}" dt="2026-09-07T02:29:04.115" v="4" actId="478"/>
          <ac:spMkLst>
            <pc:docMk/>
            <pc:sldMk cId="3706845126" sldId="524"/>
            <ac:spMk id="6" creationId="{4ADE1BE0-451B-DAF6-34C9-A73FF3224DFC}"/>
          </ac:spMkLst>
        </pc:spChg>
        <pc:spChg chg="add mod">
          <ac:chgData name="cc" userId="5bc9efa7-ddea-4be2-9b71-fa0f56c89193" providerId="ADAL" clId="{EDF29DA0-2024-1B44-8194-2383F4F0D2B7}" dt="2026-09-07T02:42:41.141" v="475" actId="113"/>
          <ac:spMkLst>
            <pc:docMk/>
            <pc:sldMk cId="3706845126" sldId="524"/>
            <ac:spMk id="7" creationId="{877E6DA8-1D7D-1066-84EF-AA98DC357B20}"/>
          </ac:spMkLst>
        </pc:spChg>
        <pc:spChg chg="add mod">
          <ac:chgData name="cc" userId="5bc9efa7-ddea-4be2-9b71-fa0f56c89193" providerId="ADAL" clId="{EDF29DA0-2024-1B44-8194-2383F4F0D2B7}" dt="2026-09-07T02:37:58.849" v="324" actId="404"/>
          <ac:spMkLst>
            <pc:docMk/>
            <pc:sldMk cId="3706845126" sldId="524"/>
            <ac:spMk id="8" creationId="{0ADC2147-12B6-324B-564F-BFA6AFE95ABC}"/>
          </ac:spMkLst>
        </pc:spChg>
        <pc:spChg chg="add mod">
          <ac:chgData name="cc" userId="5bc9efa7-ddea-4be2-9b71-fa0f56c89193" providerId="ADAL" clId="{EDF29DA0-2024-1B44-8194-2383F4F0D2B7}" dt="2026-09-07T02:38:39.836" v="339" actId="1076"/>
          <ac:spMkLst>
            <pc:docMk/>
            <pc:sldMk cId="3706845126" sldId="524"/>
            <ac:spMk id="12" creationId="{3B29F930-3341-44D7-ED28-537F42746AD2}"/>
          </ac:spMkLst>
        </pc:spChg>
        <pc:spChg chg="add mod">
          <ac:chgData name="cc" userId="5bc9efa7-ddea-4be2-9b71-fa0f56c89193" providerId="ADAL" clId="{EDF29DA0-2024-1B44-8194-2383F4F0D2B7}" dt="2026-09-07T02:41:57.059" v="448" actId="122"/>
          <ac:spMkLst>
            <pc:docMk/>
            <pc:sldMk cId="3706845126" sldId="524"/>
            <ac:spMk id="18" creationId="{6EE3572A-751C-CD5C-684E-4E5EB481A3D2}"/>
          </ac:spMkLst>
        </pc:spChg>
        <pc:spChg chg="add mod">
          <ac:chgData name="cc" userId="5bc9efa7-ddea-4be2-9b71-fa0f56c89193" providerId="ADAL" clId="{EDF29DA0-2024-1B44-8194-2383F4F0D2B7}" dt="2026-09-07T02:42:31.111" v="474" actId="20577"/>
          <ac:spMkLst>
            <pc:docMk/>
            <pc:sldMk cId="3706845126" sldId="524"/>
            <ac:spMk id="20" creationId="{53444F70-8C47-20C0-33B8-9855D05EB4C6}"/>
          </ac:spMkLst>
        </pc:spChg>
        <pc:picChg chg="add mod">
          <ac:chgData name="cc" userId="5bc9efa7-ddea-4be2-9b71-fa0f56c89193" providerId="ADAL" clId="{EDF29DA0-2024-1B44-8194-2383F4F0D2B7}" dt="2026-09-07T02:36:59.150" v="312" actId="1076"/>
          <ac:picMkLst>
            <pc:docMk/>
            <pc:sldMk cId="3706845126" sldId="524"/>
            <ac:picMk id="9" creationId="{3C4135E6-6274-BFEA-D0DC-A75E94160665}"/>
          </ac:picMkLst>
        </pc:picChg>
        <pc:picChg chg="add mod">
          <ac:chgData name="cc" userId="5bc9efa7-ddea-4be2-9b71-fa0f56c89193" providerId="ADAL" clId="{EDF29DA0-2024-1B44-8194-2383F4F0D2B7}" dt="2026-09-07T02:39:47.699" v="356" actId="14100"/>
          <ac:picMkLst>
            <pc:docMk/>
            <pc:sldMk cId="3706845126" sldId="524"/>
            <ac:picMk id="10" creationId="{4B788E4F-80ED-A6EF-9D58-EBFC110E9A5E}"/>
          </ac:picMkLst>
        </pc:picChg>
        <pc:picChg chg="add mod">
          <ac:chgData name="cc" userId="5bc9efa7-ddea-4be2-9b71-fa0f56c89193" providerId="ADAL" clId="{EDF29DA0-2024-1B44-8194-2383F4F0D2B7}" dt="2026-09-07T02:39:28.965" v="350" actId="14100"/>
          <ac:picMkLst>
            <pc:docMk/>
            <pc:sldMk cId="3706845126" sldId="524"/>
            <ac:picMk id="13" creationId="{66F78E1F-6AC0-BA28-1E1D-BDF20CC9528B}"/>
          </ac:picMkLst>
        </pc:picChg>
        <pc:picChg chg="add mod">
          <ac:chgData name="cc" userId="5bc9efa7-ddea-4be2-9b71-fa0f56c89193" providerId="ADAL" clId="{EDF29DA0-2024-1B44-8194-2383F4F0D2B7}" dt="2026-09-07T02:39:41.713" v="354" actId="1076"/>
          <ac:picMkLst>
            <pc:docMk/>
            <pc:sldMk cId="3706845126" sldId="524"/>
            <ac:picMk id="14" creationId="{3E11B41C-433E-AF6C-9581-E3EF785C25D0}"/>
          </ac:picMkLst>
        </pc:picChg>
        <pc:cxnChg chg="add mod">
          <ac:chgData name="cc" userId="5bc9efa7-ddea-4be2-9b71-fa0f56c89193" providerId="ADAL" clId="{EDF29DA0-2024-1B44-8194-2383F4F0D2B7}" dt="2026-09-07T02:40:27.854" v="365" actId="1076"/>
          <ac:cxnSpMkLst>
            <pc:docMk/>
            <pc:sldMk cId="3706845126" sldId="524"/>
            <ac:cxnSpMk id="16" creationId="{FD02B5C6-9058-81A3-0262-D4366F2A3C6B}"/>
          </ac:cxnSpMkLst>
        </pc:cxnChg>
      </pc:sldChg>
      <pc:sldChg chg="delSp new del">
        <pc:chgData name="cc" userId="5bc9efa7-ddea-4be2-9b71-fa0f56c89193" providerId="ADAL" clId="{EDF29DA0-2024-1B44-8194-2383F4F0D2B7}" dt="2026-09-07T03:00:12.172" v="574" actId="2696"/>
        <pc:sldMkLst>
          <pc:docMk/>
          <pc:sldMk cId="1240568802" sldId="525"/>
        </pc:sldMkLst>
        <pc:spChg chg="del">
          <ac:chgData name="cc" userId="5bc9efa7-ddea-4be2-9b71-fa0f56c89193" providerId="ADAL" clId="{EDF29DA0-2024-1B44-8194-2383F4F0D2B7}" dt="2026-09-07T02:58:22.792" v="561" actId="478"/>
          <ac:spMkLst>
            <pc:docMk/>
            <pc:sldMk cId="1240568802" sldId="525"/>
            <ac:spMk id="2" creationId="{F646AC55-43D1-3587-4FC2-B7A5E1D2E4DB}"/>
          </ac:spMkLst>
        </pc:spChg>
        <pc:spChg chg="del">
          <ac:chgData name="cc" userId="5bc9efa7-ddea-4be2-9b71-fa0f56c89193" providerId="ADAL" clId="{EDF29DA0-2024-1B44-8194-2383F4F0D2B7}" dt="2026-09-07T02:58:22.792" v="561" actId="478"/>
          <ac:spMkLst>
            <pc:docMk/>
            <pc:sldMk cId="1240568802" sldId="525"/>
            <ac:spMk id="3" creationId="{02D34946-6C9B-6A67-1E5C-9256DAF059D4}"/>
          </ac:spMkLst>
        </pc:spChg>
      </pc:sldChg>
      <pc:sldChg chg="add del">
        <pc:chgData name="cc" userId="5bc9efa7-ddea-4be2-9b71-fa0f56c89193" providerId="ADAL" clId="{EDF29DA0-2024-1B44-8194-2383F4F0D2B7}" dt="2026-09-07T02:59:43.329" v="571" actId="2696"/>
        <pc:sldMkLst>
          <pc:docMk/>
          <pc:sldMk cId="544869986" sldId="806"/>
        </pc:sldMkLst>
      </pc:sldChg>
      <pc:sldChg chg="add del">
        <pc:chgData name="cc" userId="5bc9efa7-ddea-4be2-9b71-fa0f56c89193" providerId="ADAL" clId="{EDF29DA0-2024-1B44-8194-2383F4F0D2B7}" dt="2026-09-07T02:59:43.943" v="572" actId="2696"/>
        <pc:sldMkLst>
          <pc:docMk/>
          <pc:sldMk cId="1171490280" sldId="1014"/>
        </pc:sldMkLst>
      </pc:sldChg>
      <pc:sldChg chg="add del">
        <pc:chgData name="cc" userId="5bc9efa7-ddea-4be2-9b71-fa0f56c89193" providerId="ADAL" clId="{EDF29DA0-2024-1B44-8194-2383F4F0D2B7}" dt="2026-09-07T02:59:44.520" v="573" actId="2696"/>
        <pc:sldMkLst>
          <pc:docMk/>
          <pc:sldMk cId="2562101107" sldId="1015"/>
        </pc:sldMkLst>
      </pc:sldChg>
      <pc:sldChg chg="modSp add mod">
        <pc:chgData name="cc" userId="5bc9efa7-ddea-4be2-9b71-fa0f56c89193" providerId="ADAL" clId="{EDF29DA0-2024-1B44-8194-2383F4F0D2B7}" dt="2026-09-07T03:01:32.234" v="588" actId="14100"/>
        <pc:sldMkLst>
          <pc:docMk/>
          <pc:sldMk cId="4280808008" sldId="1016"/>
        </pc:sldMkLst>
        <pc:spChg chg="mod">
          <ac:chgData name="cc" userId="5bc9efa7-ddea-4be2-9b71-fa0f56c89193" providerId="ADAL" clId="{EDF29DA0-2024-1B44-8194-2383F4F0D2B7}" dt="2026-09-07T03:01:32.234" v="588" actId="14100"/>
          <ac:spMkLst>
            <pc:docMk/>
            <pc:sldMk cId="4280808008" sldId="1016"/>
            <ac:spMk id="26" creationId="{00000000-0000-0000-0000-000000000000}"/>
          </ac:spMkLst>
        </pc:spChg>
      </pc:sldChg>
      <pc:sldChg chg="modSp add mod">
        <pc:chgData name="cc" userId="5bc9efa7-ddea-4be2-9b71-fa0f56c89193" providerId="ADAL" clId="{EDF29DA0-2024-1B44-8194-2383F4F0D2B7}" dt="2026-09-07T03:00:54.786" v="577" actId="14100"/>
        <pc:sldMkLst>
          <pc:docMk/>
          <pc:sldMk cId="4179926085" sldId="1017"/>
        </pc:sldMkLst>
        <pc:spChg chg="mod">
          <ac:chgData name="cc" userId="5bc9efa7-ddea-4be2-9b71-fa0f56c89193" providerId="ADAL" clId="{EDF29DA0-2024-1B44-8194-2383F4F0D2B7}" dt="2026-09-07T03:00:48.434" v="576" actId="113"/>
          <ac:spMkLst>
            <pc:docMk/>
            <pc:sldMk cId="4179926085" sldId="1017"/>
            <ac:spMk id="26" creationId="{00000000-0000-0000-0000-000000000000}"/>
          </ac:spMkLst>
        </pc:spChg>
        <pc:spChg chg="mod">
          <ac:chgData name="cc" userId="5bc9efa7-ddea-4be2-9b71-fa0f56c89193" providerId="ADAL" clId="{EDF29DA0-2024-1B44-8194-2383F4F0D2B7}" dt="2026-09-07T03:00:54.786" v="577" actId="14100"/>
          <ac:spMkLst>
            <pc:docMk/>
            <pc:sldMk cId="4179926085" sldId="1017"/>
            <ac:spMk id="28" creationId="{00000000-0000-0000-0000-000000000000}"/>
          </ac:spMkLst>
        </pc:spChg>
      </pc:sldChg>
      <pc:sldChg chg="modSp add mod">
        <pc:chgData name="cc" userId="5bc9efa7-ddea-4be2-9b71-fa0f56c89193" providerId="ADAL" clId="{EDF29DA0-2024-1B44-8194-2383F4F0D2B7}" dt="2026-09-07T03:01:12.484" v="579" actId="113"/>
        <pc:sldMkLst>
          <pc:docMk/>
          <pc:sldMk cId="1076273606" sldId="1018"/>
        </pc:sldMkLst>
        <pc:spChg chg="mod">
          <ac:chgData name="cc" userId="5bc9efa7-ddea-4be2-9b71-fa0f56c89193" providerId="ADAL" clId="{EDF29DA0-2024-1B44-8194-2383F4F0D2B7}" dt="2026-09-07T03:01:12.484" v="579" actId="113"/>
          <ac:spMkLst>
            <pc:docMk/>
            <pc:sldMk cId="1076273606" sldId="1018"/>
            <ac:spMk id="26" creationId="{00000000-0000-0000-0000-000000000000}"/>
          </ac:spMkLst>
        </pc:spChg>
      </pc:sldChg>
      <pc:sldChg chg="modSp add del mod">
        <pc:chgData name="cc" userId="5bc9efa7-ddea-4be2-9b71-fa0f56c89193" providerId="ADAL" clId="{EDF29DA0-2024-1B44-8194-2383F4F0D2B7}" dt="2026-09-07T03:18:55.175" v="657" actId="2696"/>
        <pc:sldMkLst>
          <pc:docMk/>
          <pc:sldMk cId="4176805651" sldId="1019"/>
        </pc:sldMkLst>
        <pc:spChg chg="mod">
          <ac:chgData name="cc" userId="5bc9efa7-ddea-4be2-9b71-fa0f56c89193" providerId="ADAL" clId="{EDF29DA0-2024-1B44-8194-2383F4F0D2B7}" dt="2026-09-07T03:04:02.930" v="600" actId="207"/>
          <ac:spMkLst>
            <pc:docMk/>
            <pc:sldMk cId="4176805651" sldId="1019"/>
            <ac:spMk id="26" creationId="{00000000-0000-0000-0000-000000000000}"/>
          </ac:spMkLst>
        </pc:spChg>
      </pc:sldChg>
      <pc:sldChg chg="modSp add mod">
        <pc:chgData name="cc" userId="5bc9efa7-ddea-4be2-9b71-fa0f56c89193" providerId="ADAL" clId="{EDF29DA0-2024-1B44-8194-2383F4F0D2B7}" dt="2026-09-07T03:04:10.098" v="601" actId="207"/>
        <pc:sldMkLst>
          <pc:docMk/>
          <pc:sldMk cId="3444484458" sldId="1020"/>
        </pc:sldMkLst>
        <pc:spChg chg="mod">
          <ac:chgData name="cc" userId="5bc9efa7-ddea-4be2-9b71-fa0f56c89193" providerId="ADAL" clId="{EDF29DA0-2024-1B44-8194-2383F4F0D2B7}" dt="2026-09-07T03:04:10.098" v="601" actId="207"/>
          <ac:spMkLst>
            <pc:docMk/>
            <pc:sldMk cId="3444484458" sldId="1020"/>
            <ac:spMk id="26" creationId="{00000000-0000-0000-0000-000000000000}"/>
          </ac:spMkLst>
        </pc:spChg>
      </pc:sldChg>
      <pc:sldChg chg="add">
        <pc:chgData name="cc" userId="5bc9efa7-ddea-4be2-9b71-fa0f56c89193" providerId="ADAL" clId="{EDF29DA0-2024-1B44-8194-2383F4F0D2B7}" dt="2026-09-07T03:03:46.468" v="598"/>
        <pc:sldMkLst>
          <pc:docMk/>
          <pc:sldMk cId="1173651403" sldId="1042"/>
        </pc:sldMkLst>
      </pc:sldChg>
      <pc:sldChg chg="addSp modSp add mod">
        <pc:chgData name="cc" userId="5bc9efa7-ddea-4be2-9b71-fa0f56c89193" providerId="ADAL" clId="{EDF29DA0-2024-1B44-8194-2383F4F0D2B7}" dt="2026-09-07T03:11:14.616" v="638" actId="13926"/>
        <pc:sldMkLst>
          <pc:docMk/>
          <pc:sldMk cId="1016505334" sldId="1043"/>
        </pc:sldMkLst>
        <pc:spChg chg="mod">
          <ac:chgData name="cc" userId="5bc9efa7-ddea-4be2-9b71-fa0f56c89193" providerId="ADAL" clId="{EDF29DA0-2024-1B44-8194-2383F4F0D2B7}" dt="2026-09-07T03:11:14.616" v="638" actId="13926"/>
          <ac:spMkLst>
            <pc:docMk/>
            <pc:sldMk cId="1016505334" sldId="1043"/>
            <ac:spMk id="5" creationId="{00000000-0000-0000-0000-000000000000}"/>
          </ac:spMkLst>
        </pc:spChg>
        <pc:spChg chg="add mod">
          <ac:chgData name="cc" userId="5bc9efa7-ddea-4be2-9b71-fa0f56c89193" providerId="ADAL" clId="{EDF29DA0-2024-1B44-8194-2383F4F0D2B7}" dt="2026-09-07T03:11:04.251" v="637" actId="20577"/>
          <ac:spMkLst>
            <pc:docMk/>
            <pc:sldMk cId="1016505334" sldId="1043"/>
            <ac:spMk id="6" creationId="{F2B17326-B97E-92BB-5CE3-5578B0C1026E}"/>
          </ac:spMkLst>
        </pc:spChg>
        <pc:spChg chg="mod">
          <ac:chgData name="cc" userId="5bc9efa7-ddea-4be2-9b71-fa0f56c89193" providerId="ADAL" clId="{EDF29DA0-2024-1B44-8194-2383F4F0D2B7}" dt="2026-09-07T03:04:18.439" v="603" actId="207"/>
          <ac:spMkLst>
            <pc:docMk/>
            <pc:sldMk cId="1016505334" sldId="1043"/>
            <ac:spMk id="26" creationId="{00000000-0000-0000-0000-000000000000}"/>
          </ac:spMkLst>
        </pc:spChg>
      </pc:sldChg>
      <pc:sldChg chg="addSp delSp modSp add mod delAnim modAnim">
        <pc:chgData name="cc" userId="5bc9efa7-ddea-4be2-9b71-fa0f56c89193" providerId="ADAL" clId="{EDF29DA0-2024-1B44-8194-2383F4F0D2B7}" dt="2026-09-07T03:19:30.495" v="660" actId="1076"/>
        <pc:sldMkLst>
          <pc:docMk/>
          <pc:sldMk cId="3257690126" sldId="1044"/>
        </pc:sldMkLst>
        <pc:spChg chg="add mod">
          <ac:chgData name="cc" userId="5bc9efa7-ddea-4be2-9b71-fa0f56c89193" providerId="ADAL" clId="{EDF29DA0-2024-1B44-8194-2383F4F0D2B7}" dt="2026-09-07T03:19:26.867" v="659" actId="1076"/>
          <ac:spMkLst>
            <pc:docMk/>
            <pc:sldMk cId="3257690126" sldId="1044"/>
            <ac:spMk id="3" creationId="{4C72674D-0725-0E04-DFFB-910BE98F0938}"/>
          </ac:spMkLst>
        </pc:spChg>
        <pc:spChg chg="add mod">
          <ac:chgData name="cc" userId="5bc9efa7-ddea-4be2-9b71-fa0f56c89193" providerId="ADAL" clId="{EDF29DA0-2024-1B44-8194-2383F4F0D2B7}" dt="2026-09-07T03:19:30.495" v="660" actId="1076"/>
          <ac:spMkLst>
            <pc:docMk/>
            <pc:sldMk cId="3257690126" sldId="1044"/>
            <ac:spMk id="4" creationId="{D3CE63CF-30E4-F6D0-599A-1D88ACDB29FB}"/>
          </ac:spMkLst>
        </pc:spChg>
        <pc:spChg chg="del mod">
          <ac:chgData name="cc" userId="5bc9efa7-ddea-4be2-9b71-fa0f56c89193" providerId="ADAL" clId="{EDF29DA0-2024-1B44-8194-2383F4F0D2B7}" dt="2026-09-07T03:08:35.509" v="620" actId="478"/>
          <ac:spMkLst>
            <pc:docMk/>
            <pc:sldMk cId="3257690126" sldId="1044"/>
            <ac:spMk id="9" creationId="{00000000-0000-0000-0000-000000000000}"/>
          </ac:spMkLst>
        </pc:spChg>
        <pc:spChg chg="mod">
          <ac:chgData name="cc" userId="5bc9efa7-ddea-4be2-9b71-fa0f56c89193" providerId="ADAL" clId="{EDF29DA0-2024-1B44-8194-2383F4F0D2B7}" dt="2026-09-07T03:04:26.355" v="605" actId="113"/>
          <ac:spMkLst>
            <pc:docMk/>
            <pc:sldMk cId="3257690126" sldId="1044"/>
            <ac:spMk id="26" creationId="{00000000-0000-0000-0000-000000000000}"/>
          </ac:spMkLst>
        </pc:spChg>
      </pc:sldChg>
      <pc:sldChg chg="addSp delSp modSp new del mod">
        <pc:chgData name="cc" userId="5bc9efa7-ddea-4be2-9b71-fa0f56c89193" providerId="ADAL" clId="{EDF29DA0-2024-1B44-8194-2383F4F0D2B7}" dt="2026-09-07T03:16:04.305" v="648" actId="2696"/>
        <pc:sldMkLst>
          <pc:docMk/>
          <pc:sldMk cId="1149063919" sldId="1045"/>
        </pc:sldMkLst>
        <pc:spChg chg="del">
          <ac:chgData name="cc" userId="5bc9efa7-ddea-4be2-9b71-fa0f56c89193" providerId="ADAL" clId="{EDF29DA0-2024-1B44-8194-2383F4F0D2B7}" dt="2026-09-07T03:05:24.064" v="607" actId="478"/>
          <ac:spMkLst>
            <pc:docMk/>
            <pc:sldMk cId="1149063919" sldId="1045"/>
            <ac:spMk id="2" creationId="{BEA23A6F-CE58-7EE6-A46B-64720A61408E}"/>
          </ac:spMkLst>
        </pc:spChg>
        <pc:spChg chg="del">
          <ac:chgData name="cc" userId="5bc9efa7-ddea-4be2-9b71-fa0f56c89193" providerId="ADAL" clId="{EDF29DA0-2024-1B44-8194-2383F4F0D2B7}" dt="2026-09-07T03:05:24.064" v="607" actId="478"/>
          <ac:spMkLst>
            <pc:docMk/>
            <pc:sldMk cId="1149063919" sldId="1045"/>
            <ac:spMk id="3" creationId="{7169398E-77C2-8DEF-94C2-E638CF927C2E}"/>
          </ac:spMkLst>
        </pc:spChg>
        <pc:spChg chg="add mod">
          <ac:chgData name="cc" userId="5bc9efa7-ddea-4be2-9b71-fa0f56c89193" providerId="ADAL" clId="{EDF29DA0-2024-1B44-8194-2383F4F0D2B7}" dt="2026-09-07T03:05:24.787" v="608"/>
          <ac:spMkLst>
            <pc:docMk/>
            <pc:sldMk cId="1149063919" sldId="1045"/>
            <ac:spMk id="5" creationId="{3E735E32-09FC-FE4C-AFD6-C9605FAC2606}"/>
          </ac:spMkLst>
        </pc:spChg>
        <pc:spChg chg="add mod">
          <ac:chgData name="cc" userId="5bc9efa7-ddea-4be2-9b71-fa0f56c89193" providerId="ADAL" clId="{EDF29DA0-2024-1B44-8194-2383F4F0D2B7}" dt="2026-09-07T03:05:34.232" v="616" actId="404"/>
          <ac:spMkLst>
            <pc:docMk/>
            <pc:sldMk cId="1149063919" sldId="1045"/>
            <ac:spMk id="6" creationId="{525EEFF2-49C1-0683-24DC-87D3C85A6076}"/>
          </ac:spMkLst>
        </pc:spChg>
        <pc:spChg chg="add mod">
          <ac:chgData name="cc" userId="5bc9efa7-ddea-4be2-9b71-fa0f56c89193" providerId="ADAL" clId="{EDF29DA0-2024-1B44-8194-2383F4F0D2B7}" dt="2026-09-07T03:05:24.787" v="608"/>
          <ac:spMkLst>
            <pc:docMk/>
            <pc:sldMk cId="1149063919" sldId="1045"/>
            <ac:spMk id="7" creationId="{9DF53FBA-125B-4BFC-4B44-9E1CD8F6172C}"/>
          </ac:spMkLst>
        </pc:spChg>
        <pc:spChg chg="add mod">
          <ac:chgData name="cc" userId="5bc9efa7-ddea-4be2-9b71-fa0f56c89193" providerId="ADAL" clId="{EDF29DA0-2024-1B44-8194-2383F4F0D2B7}" dt="2026-09-07T03:12:44.994" v="645" actId="14100"/>
          <ac:spMkLst>
            <pc:docMk/>
            <pc:sldMk cId="1149063919" sldId="1045"/>
            <ac:spMk id="8" creationId="{E5CE2F15-8557-275C-E1C3-AA35AC8D3283}"/>
          </ac:spMkLst>
        </pc:spChg>
        <pc:spChg chg="add del mod">
          <ac:chgData name="cc" userId="5bc9efa7-ddea-4be2-9b71-fa0f56c89193" providerId="ADAL" clId="{EDF29DA0-2024-1B44-8194-2383F4F0D2B7}" dt="2026-09-07T03:12:49.413" v="646" actId="1076"/>
          <ac:spMkLst>
            <pc:docMk/>
            <pc:sldMk cId="1149063919" sldId="1045"/>
            <ac:spMk id="9" creationId="{6945D560-762C-672B-9B87-740A9B057A56}"/>
          </ac:spMkLst>
        </pc:spChg>
      </pc:sldChg>
    </pc:docChg>
  </pc:docChgLst>
  <pc:docChgLst>
    <pc:chgData name="cc" userId="5bc9efa7-ddea-4be2-9b71-fa0f56c89193" providerId="ADAL" clId="{CD6F3809-699D-8442-8055-DBD18A6106D2}"/>
    <pc:docChg chg="modSld">
      <pc:chgData name="cc" userId="5bc9efa7-ddea-4be2-9b71-fa0f56c89193" providerId="ADAL" clId="{CD6F3809-699D-8442-8055-DBD18A6106D2}" dt="2025-09-09T15:00:38.044" v="1" actId="20577"/>
      <pc:docMkLst>
        <pc:docMk/>
      </pc:docMkLst>
      <pc:sldChg chg="delSp">
        <pc:chgData name="cc" userId="5bc9efa7-ddea-4be2-9b71-fa0f56c89193" providerId="ADAL" clId="{CD6F3809-699D-8442-8055-DBD18A6106D2}" dt="2025-09-09T14:55:41.316" v="0" actId="478"/>
        <pc:sldMkLst>
          <pc:docMk/>
          <pc:sldMk cId="2119794367" sldId="501"/>
        </pc:sldMkLst>
      </pc:sldChg>
      <pc:sldChg chg="modSp mod">
        <pc:chgData name="cc" userId="5bc9efa7-ddea-4be2-9b71-fa0f56c89193" providerId="ADAL" clId="{CD6F3809-699D-8442-8055-DBD18A6106D2}" dt="2025-09-09T15:00:38.044" v="1" actId="20577"/>
        <pc:sldMkLst>
          <pc:docMk/>
          <pc:sldMk cId="4255450383" sldId="502"/>
        </pc:sldMkLst>
      </pc:sldChg>
    </pc:docChg>
  </pc:docChgLst>
  <pc:docChgLst>
    <pc:chgData name="cc" userId="5bc9efa7-ddea-4be2-9b71-fa0f56c89193" providerId="ADAL" clId="{FCB233C9-27B0-844F-8BEC-CECCD7BD9F94}"/>
    <pc:docChg chg="custSel addSld modSld">
      <pc:chgData name="cc" userId="5bc9efa7-ddea-4be2-9b71-fa0f56c89193" providerId="ADAL" clId="{FCB233C9-27B0-844F-8BEC-CECCD7BD9F94}" dt="2025-09-10T04:16:32.023" v="279"/>
      <pc:docMkLst>
        <pc:docMk/>
      </pc:docMkLst>
      <pc:sldChg chg="delSp modAnim">
        <pc:chgData name="cc" userId="5bc9efa7-ddea-4be2-9b71-fa0f56c89193" providerId="ADAL" clId="{FCB233C9-27B0-844F-8BEC-CECCD7BD9F94}" dt="2025-09-10T00:55:18.152" v="276" actId="478"/>
        <pc:sldMkLst>
          <pc:docMk/>
          <pc:sldMk cId="0" sldId="293"/>
        </pc:sldMkLst>
      </pc:sldChg>
      <pc:sldChg chg="addSp delSp modSp mod">
        <pc:chgData name="cc" userId="5bc9efa7-ddea-4be2-9b71-fa0f56c89193" providerId="ADAL" clId="{FCB233C9-27B0-844F-8BEC-CECCD7BD9F94}" dt="2025-09-10T04:16:32.023" v="279"/>
        <pc:sldMkLst>
          <pc:docMk/>
          <pc:sldMk cId="2119794367" sldId="501"/>
        </pc:sldMkLst>
      </pc:sldChg>
      <pc:sldChg chg="addSp modSp mod modNotesTx">
        <pc:chgData name="cc" userId="5bc9efa7-ddea-4be2-9b71-fa0f56c89193" providerId="ADAL" clId="{FCB233C9-27B0-844F-8BEC-CECCD7BD9F94}" dt="2025-09-10T00:40:56.716" v="275" actId="1076"/>
        <pc:sldMkLst>
          <pc:docMk/>
          <pc:sldMk cId="1352519121" sldId="506"/>
        </pc:sldMkLst>
      </pc:sldChg>
      <pc:sldChg chg="addSp delSp modSp new mod modAnim">
        <pc:chgData name="cc" userId="5bc9efa7-ddea-4be2-9b71-fa0f56c89193" providerId="ADAL" clId="{FCB233C9-27B0-844F-8BEC-CECCD7BD9F94}" dt="2025-09-10T00:16:31.024" v="264" actId="1076"/>
        <pc:sldMkLst>
          <pc:docMk/>
          <pc:sldMk cId="3698140237" sldId="52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6FCE91A-0762-430C-9443-008F3C58F77C}" type="datetimeFigureOut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2E26172-585F-4C17-8FC6-7CB045F67F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5811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CD0BF65-707B-463A-8A80-1512746788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049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巴黎开往布雷斯特的列车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324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324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324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:a16="http://schemas.microsoft.com/office/drawing/2014/main" id="{0A543A04-B719-0220-0A1C-89B368FC05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F66592-712B-6CF0-1AE1-1C6EA25E1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8908C332-FA34-5363-7BA0-CF9179A35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697122F-CCFE-4163-8792-1C1C31720C17}" type="slidenum">
              <a:rPr lang="en-US" altLang="zh-CN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377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324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324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324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1474CCD1-F337-38BC-305C-0F42A8C71D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3E59C9-9B00-DD2B-90FE-09F17FEC5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zh-CN" altLang="en-US" sz="1400" b="1" dirty="0">
              <a:latin typeface="宋体" pitchFamily="2" charset="-122"/>
            </a:endParaRPr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B8568682-42B7-2D62-5584-940853E07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BFCFFDD-FA9A-482B-A7EF-84820BE1CFED}" type="slidenum">
              <a:rPr lang="en-US" altLang="zh-CN">
                <a:latin typeface="Arial" panose="020B0604020202020204" pitchFamily="34" charset="0"/>
              </a:rPr>
              <a:pPr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772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360FF-46BE-4208-825D-653320AC55FC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44830-EF34-42F6-8E3D-8BECC95745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01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F4DD2-422A-41DA-9080-89F305368B8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1C54B-5A19-4882-95F9-107653956FBD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20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D2F65-437E-4789-9831-A844E3644B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ACA6D-885F-49EB-92D5-E6D1F40F1089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842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BB8D3-24C0-4B63-9816-594584F32F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33A43-3A4A-4271-9334-0943030C10F8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95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21131-2DDB-411F-B40F-C5ABF2A2CE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A1029-0DCA-43B1-945D-5C0BD72BACA2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62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ACB1B-25F5-42C2-8C17-05F7901526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B9F4F-83BB-4507-8E1C-200674B3B7F7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82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F8DD2-70FB-48AA-9613-8154DC6E27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B11F7-9194-4353-AFE0-A72EBEBAE035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39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9163E-8B72-4631-811E-3AC619DBDC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2AC5A-D3A4-4F46-B6FC-7437E0F6051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20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5EEE5-1961-4C2C-AF86-4DC5702EEF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B4C5C-A613-4ECF-BA87-F5EBD84C43B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849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97A8E-9E9F-4DED-B9B7-D9DED5BB43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4689DC-9171-4E69-80DB-FB7D4349460D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121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48E3B6-BC36-46B8-B2CB-9FEFFD43BC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88241-8567-49B0-9390-BD0DBD608791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8196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A73E6-4913-456D-8627-5940B84A4C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1CDEB-05FF-4761-AA2B-489AF6EAA877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9420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6CE11-B1EC-4C7A-B5A8-8C1DF5EFB53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81FDD5-F9D6-4059-A502-4B4009CAE0E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3525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32A31C-E524-49F5-BE35-669D1870EA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98FBD-1204-4D3F-AC57-8D238E0D213C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130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C5319-BD06-46C7-B55D-C3F7BD61CD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89965-BF5B-4164-9027-C65F7B0E7849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496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>
  <p:cSld name="标题，两项小型内容和一项型大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115888"/>
            <a:ext cx="7793037" cy="9112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755650" y="1268413"/>
            <a:ext cx="3810000" cy="2552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755650" y="3973513"/>
            <a:ext cx="3810000" cy="2552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3"/>
          </p:nvPr>
        </p:nvSpPr>
        <p:spPr>
          <a:xfrm>
            <a:off x="4718050" y="1268413"/>
            <a:ext cx="3810000" cy="525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8205492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9B45E6-9B3E-4D48-996E-3324E4F3053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20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1F4528-3D7D-45F8-8A85-C50DE5F3C52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  <p:pic>
        <p:nvPicPr>
          <p:cNvPr id="1031" name="Picture 14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20638"/>
            <a:ext cx="1281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7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appyday159.github.io/course-materials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5" Type="http://schemas.openxmlformats.org/officeDocument/2006/relationships/image" Target="../media/image23.png"/><Relationship Id="rId4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9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31.png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35.wmf"/><Relationship Id="rId5" Type="http://schemas.openxmlformats.org/officeDocument/2006/relationships/image" Target="../media/image32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6.png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40.wmf"/><Relationship Id="rId4" Type="http://schemas.openxmlformats.org/officeDocument/2006/relationships/image" Target="../media/image37.png"/><Relationship Id="rId9" Type="http://schemas.openxmlformats.org/officeDocument/2006/relationships/oleObject" Target="../embeddings/oleObject1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4.xml"/><Relationship Id="rId5" Type="http://schemas.openxmlformats.org/officeDocument/2006/relationships/image" Target="../media/image45.png"/><Relationship Id="rId4" Type="http://schemas.openxmlformats.org/officeDocument/2006/relationships/image" Target="../media/image4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6.wmf"/><Relationship Id="rId9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50.png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53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5EF20E-F2C8-48D6-8B8D-BEFBF3BF6A3E}" type="slidenum">
              <a:rPr lang="zh-CN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5123" name="Rectangle 18"/>
          <p:cNvSpPr txBox="1">
            <a:spLocks noGrp="1" noChangeArrowheads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F6799E42-D918-4FF7-9A21-0F28473CC15A}" type="slidenum">
              <a:rPr lang="zh-CN" altLang="en-US" sz="1200">
                <a:latin typeface="Arial Black" panose="020B0A04020102020204" pitchFamily="34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27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89865"/>
            <a:ext cx="2736176" cy="79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548640" y="1234440"/>
            <a:ext cx="8377872" cy="3108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6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通信原理</a:t>
            </a:r>
            <a:endParaRPr lang="en-US" altLang="zh-CN" sz="6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DC16D-B5DC-D801-49D9-34ACB0B8A955}"/>
              </a:ext>
            </a:extLst>
          </p:cNvPr>
          <p:cNvSpPr txBox="1">
            <a:spLocks/>
          </p:cNvSpPr>
          <p:nvPr/>
        </p:nvSpPr>
        <p:spPr>
          <a:xfrm>
            <a:off x="1828800" y="4892041"/>
            <a:ext cx="6595318" cy="1375804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en-US" sz="3600" kern="0" dirty="0" err="1">
                <a:highlight>
                  <a:srgbClr val="FFFF00"/>
                </a:highlight>
              </a:rPr>
              <a:t>姓名</a:t>
            </a:r>
            <a:r>
              <a:rPr lang="zh-CN" altLang="en-US" sz="3600" kern="0" dirty="0"/>
              <a:t>，</a:t>
            </a:r>
            <a:r>
              <a:rPr lang="en-US" sz="3600" kern="0" dirty="0" err="1">
                <a:highlight>
                  <a:srgbClr val="FFFF00"/>
                </a:highlight>
              </a:rPr>
              <a:t>学号</a:t>
            </a:r>
            <a:r>
              <a:rPr lang="zh-CN" altLang="en-US" sz="3600" kern="0" dirty="0"/>
              <a:t>（</a:t>
            </a:r>
            <a:r>
              <a:rPr lang="en-US" sz="3600" i="1" kern="0" dirty="0">
                <a:latin typeface="Helvetica" pitchFamily="2" charset="0"/>
              </a:rPr>
              <a:t>1132230101</a:t>
            </a:r>
            <a:r>
              <a:rPr lang="zh-CN" altLang="en-US" sz="3600" i="1" kern="0" dirty="0">
                <a:latin typeface="Helvetica" pitchFamily="2" charset="0"/>
              </a:rPr>
              <a:t>）</a:t>
            </a:r>
            <a:br>
              <a:rPr lang="en-US" altLang="zh-CN" sz="3600" kern="0" dirty="0"/>
            </a:br>
            <a:r>
              <a:rPr lang="zh-CN" altLang="en-US" sz="3600" kern="0" dirty="0"/>
              <a:t>      学号（</a:t>
            </a:r>
            <a:r>
              <a:rPr lang="en-US" altLang="zh-CN" sz="3600" kern="0" dirty="0"/>
              <a:t>10</a:t>
            </a:r>
            <a:r>
              <a:rPr lang="zh-CN" altLang="en-US" sz="3600" kern="0" dirty="0"/>
              <a:t>位）以存档</a:t>
            </a:r>
            <a:endParaRPr lang="en-US" sz="3600" kern="0" dirty="0"/>
          </a:p>
        </p:txBody>
      </p:sp>
    </p:spTree>
    <p:extLst>
      <p:ext uri="{BB962C8B-B14F-4D97-AF65-F5344CB8AC3E}">
        <p14:creationId xmlns:p14="http://schemas.microsoft.com/office/powerpoint/2010/main" val="211979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4DA19-4DEB-0505-EB9A-54C2A4F03A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A03F0-E65E-8AAA-05F7-6B623B9BDFC2}"/>
              </a:ext>
            </a:extLst>
          </p:cNvPr>
          <p:cNvSpPr txBox="1"/>
          <p:nvPr/>
        </p:nvSpPr>
        <p:spPr>
          <a:xfrm>
            <a:off x="2926080" y="208299"/>
            <a:ext cx="5207853" cy="51331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pPr lvl="0"/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聊一聊</a:t>
            </a:r>
            <a:r>
              <a:rPr lang="en-US" altLang="zh-CN" sz="2400" b="1" dirty="0">
                <a:solidFill>
                  <a:srgbClr val="C00000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/>
                <a:ea typeface="微软雅黑"/>
              </a:rPr>
              <a:t>课程学习</a:t>
            </a:r>
            <a:endParaRPr lang="zh-CN" altLang="en-US" sz="2800" b="1" dirty="0">
              <a:solidFill>
                <a:srgbClr val="4E4B49"/>
              </a:solidFill>
              <a:latin typeface="微软雅黑"/>
              <a:ea typeface="微软雅黑"/>
            </a:endParaRPr>
          </a:p>
        </p:txBody>
      </p:sp>
      <p:sp>
        <p:nvSpPr>
          <p:cNvPr id="7" name="矩形 4">
            <a:extLst>
              <a:ext uri="{FF2B5EF4-FFF2-40B4-BE49-F238E27FC236}">
                <a16:creationId xmlns:a16="http://schemas.microsoft.com/office/drawing/2014/main" id="{877E6DA8-1D7D-1066-84EF-AA98DC357B20}"/>
              </a:ext>
            </a:extLst>
          </p:cNvPr>
          <p:cNvSpPr/>
          <p:nvPr/>
        </p:nvSpPr>
        <p:spPr>
          <a:xfrm>
            <a:off x="4754880" y="747361"/>
            <a:ext cx="4206240" cy="2798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学习方法</a:t>
            </a:r>
          </a:p>
          <a:p>
            <a:pPr>
              <a:lnSpc>
                <a:spcPct val="140000"/>
              </a:lnSpc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      用“已知”去解决“未知”</a:t>
            </a: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如何学好</a:t>
            </a:r>
          </a:p>
          <a:p>
            <a:pPr>
              <a:lnSpc>
                <a:spcPct val="140000"/>
              </a:lnSpc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      生活→学术；</a:t>
            </a:r>
            <a:endParaRPr lang="en-US" altLang="zh-CN" sz="1600" b="1" kern="0" dirty="0">
              <a:solidFill>
                <a:srgbClr val="040404"/>
              </a:solidFill>
              <a:latin typeface="+mn-ea"/>
              <a:ea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600" b="1" kern="0" dirty="0">
                <a:solidFill>
                  <a:srgbClr val="040404"/>
                </a:solidFill>
                <a:latin typeface="+mn-ea"/>
                <a:ea typeface="+mn-ea"/>
              </a:rPr>
              <a:t>      </a:t>
            </a: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背景专业素质的提升。</a:t>
            </a: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如何考试</a:t>
            </a:r>
          </a:p>
          <a:p>
            <a:pPr>
              <a:lnSpc>
                <a:spcPct val="140000"/>
              </a:lnSpc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      根据课程标准。 课程考核方式下一页详细介绍</a:t>
            </a:r>
          </a:p>
        </p:txBody>
      </p:sp>
      <p:sp>
        <p:nvSpPr>
          <p:cNvPr id="8" name="矩形 12">
            <a:extLst>
              <a:ext uri="{FF2B5EF4-FFF2-40B4-BE49-F238E27FC236}">
                <a16:creationId xmlns:a16="http://schemas.microsoft.com/office/drawing/2014/main" id="{0ADC2147-12B6-324B-564F-BFA6AFE95ABC}"/>
              </a:ext>
            </a:extLst>
          </p:cNvPr>
          <p:cNvSpPr/>
          <p:nvPr/>
        </p:nvSpPr>
        <p:spPr>
          <a:xfrm>
            <a:off x="365760" y="721611"/>
            <a:ext cx="3810704" cy="3143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课程特点</a:t>
            </a:r>
          </a:p>
          <a:p>
            <a:pPr>
              <a:lnSpc>
                <a:spcPct val="140000"/>
              </a:lnSpc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      电子信息专业基础课与专业课之间桥梁；区分专科、本科、研究生和博士生教育试金石。</a:t>
            </a: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教学理念</a:t>
            </a:r>
          </a:p>
          <a:p>
            <a:pPr>
              <a:lnSpc>
                <a:spcPct val="140000"/>
              </a:lnSpc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      理论工程化，工程理论化 </a:t>
            </a:r>
            <a:endParaRPr lang="en-US" altLang="zh-CN" sz="1600" b="1" kern="0" dirty="0">
              <a:solidFill>
                <a:srgbClr val="040404"/>
              </a:solidFill>
              <a:latin typeface="+mn-ea"/>
              <a:ea typeface="+mn-ea"/>
            </a:endParaRP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教学目标</a:t>
            </a:r>
          </a:p>
          <a:p>
            <a:pPr>
              <a:lnSpc>
                <a:spcPct val="140000"/>
              </a:lnSpc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      学会→会学，学好→好学</a:t>
            </a:r>
          </a:p>
          <a:p>
            <a:pPr>
              <a:lnSpc>
                <a:spcPct val="140000"/>
              </a:lnSpc>
            </a:pP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      知识</a:t>
            </a:r>
            <a:r>
              <a:rPr lang="en-US" altLang="zh-CN" sz="1600" b="1" kern="0" dirty="0">
                <a:solidFill>
                  <a:srgbClr val="040404"/>
                </a:solidFill>
                <a:latin typeface="+mn-ea"/>
                <a:ea typeface="+mn-ea"/>
              </a:rPr>
              <a:t>+</a:t>
            </a:r>
            <a:r>
              <a:rPr lang="zh-CN" altLang="en-US" sz="1600" b="1" kern="0" dirty="0">
                <a:solidFill>
                  <a:srgbClr val="040404"/>
                </a:solidFill>
                <a:latin typeface="+mn-ea"/>
                <a:ea typeface="+mn-ea"/>
              </a:rPr>
              <a:t>能力→素质</a:t>
            </a:r>
            <a:r>
              <a:rPr lang="zh-CN" altLang="en-US" sz="1600" kern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。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4135E6-6274-BFEA-D0DC-A75E94160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86" y="4775183"/>
            <a:ext cx="1481232" cy="1951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788E4F-80ED-A6EF-9D58-EBFC110E9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366" y="4556690"/>
            <a:ext cx="1526215" cy="2217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29F930-3341-44D7-ED28-537F42746AD2}"/>
              </a:ext>
            </a:extLst>
          </p:cNvPr>
          <p:cNvSpPr txBox="1"/>
          <p:nvPr/>
        </p:nvSpPr>
        <p:spPr>
          <a:xfrm>
            <a:off x="58858" y="4138643"/>
            <a:ext cx="2869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Color Emoji"/>
              </a:rPr>
              <a:t>《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Color Emoji"/>
              </a:rPr>
              <a:t>通信原理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Color Emoji"/>
              </a:rPr>
              <a:t>(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Color Emoji"/>
              </a:rPr>
              <a:t>第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Color Emoji"/>
              </a:rPr>
              <a:t>7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Color Emoji"/>
              </a:rPr>
              <a:t>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Color Emoji"/>
              </a:rPr>
              <a:t>)(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Color Emoji"/>
              </a:rPr>
              <a:t>高职版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Color Emoji"/>
              </a:rPr>
              <a:t>)》</a:t>
            </a:r>
          </a:p>
          <a:p>
            <a:r>
              <a:rPr lang="zh-CN" altLang="en-US" sz="1200" b="0" i="0" dirty="0">
                <a:solidFill>
                  <a:srgbClr val="000000"/>
                </a:solidFill>
                <a:effectLst/>
                <a:latin typeface="Color Emoji"/>
              </a:rPr>
              <a:t>为“十四五”职业教育国家规划教材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F78E1F-6AC0-BA28-1E1D-BDF20CC95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564" y="4600308"/>
            <a:ext cx="1537246" cy="2126838"/>
          </a:xfrm>
          <a:prstGeom prst="rect">
            <a:avLst/>
          </a:prstGeom>
        </p:spPr>
      </p:pic>
      <p:pic>
        <p:nvPicPr>
          <p:cNvPr id="14" name="内容占位符 34" descr="通信原理（第7版）展开.jpg">
            <a:extLst>
              <a:ext uri="{FF2B5EF4-FFF2-40B4-BE49-F238E27FC236}">
                <a16:creationId xmlns:a16="http://schemas.microsoft.com/office/drawing/2014/main" id="{3E11B41C-433E-AF6C-9581-E3EF785C25D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 l="55334" t="2000" r="15137" b="2000"/>
          <a:stretch>
            <a:fillRect/>
          </a:stretch>
        </p:blipFill>
        <p:spPr>
          <a:xfrm>
            <a:off x="2478911" y="4600308"/>
            <a:ext cx="1343456" cy="214952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02B5C6-9058-81A3-0262-D4366F2A3C6B}"/>
              </a:ext>
            </a:extLst>
          </p:cNvPr>
          <p:cNvCxnSpPr/>
          <p:nvPr/>
        </p:nvCxnSpPr>
        <p:spPr bwMode="auto">
          <a:xfrm>
            <a:off x="139086" y="3977640"/>
            <a:ext cx="8456274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E3572A-751C-CD5C-684E-4E5EB481A3D2}"/>
              </a:ext>
            </a:extLst>
          </p:cNvPr>
          <p:cNvSpPr txBox="1"/>
          <p:nvPr/>
        </p:nvSpPr>
        <p:spPr>
          <a:xfrm>
            <a:off x="5852160" y="4090502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i="0" dirty="0">
                <a:solidFill>
                  <a:srgbClr val="000000"/>
                </a:solidFill>
                <a:effectLst/>
                <a:latin typeface="Color Emoji"/>
              </a:rPr>
              <a:t>《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Color Emoji"/>
              </a:rPr>
              <a:t>通信原理英文版</a:t>
            </a:r>
            <a:r>
              <a:rPr lang="en-US" altLang="zh-CN" sz="1600" b="1" i="0" dirty="0">
                <a:solidFill>
                  <a:srgbClr val="000000"/>
                </a:solidFill>
                <a:effectLst/>
                <a:latin typeface="Color Emoji"/>
              </a:rPr>
              <a:t>(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Color Emoji"/>
              </a:rPr>
              <a:t>第</a:t>
            </a:r>
            <a:r>
              <a:rPr lang="en-US" altLang="zh-CN" sz="1600" b="1" dirty="0">
                <a:solidFill>
                  <a:srgbClr val="000000"/>
                </a:solidFill>
                <a:latin typeface="Color Emoji"/>
              </a:rPr>
              <a:t>3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Color Emoji"/>
              </a:rPr>
              <a:t>版</a:t>
            </a:r>
            <a:r>
              <a:rPr lang="en-US" altLang="zh-CN" sz="1600" b="1" i="0" dirty="0">
                <a:solidFill>
                  <a:srgbClr val="000000"/>
                </a:solidFill>
                <a:effectLst/>
                <a:latin typeface="Color Emoji"/>
              </a:rPr>
              <a:t>) 》</a:t>
            </a:r>
          </a:p>
          <a:p>
            <a:pPr algn="ctr"/>
            <a:r>
              <a:rPr lang="en-US" altLang="zh-CN" sz="1600" b="1" i="0" dirty="0">
                <a:solidFill>
                  <a:srgbClr val="000000"/>
                </a:solidFill>
                <a:effectLst/>
                <a:latin typeface="Color Emoji"/>
              </a:rPr>
              <a:t>(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Color Emoji"/>
              </a:rPr>
              <a:t>国家级规划教材</a:t>
            </a:r>
            <a:r>
              <a:rPr lang="en-US" altLang="zh-CN" sz="1600" b="1" i="0" dirty="0">
                <a:solidFill>
                  <a:srgbClr val="000000"/>
                </a:solidFill>
                <a:effectLst/>
                <a:latin typeface="Color Emoji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444F70-8C47-20C0-33B8-9855D05EB4C6}"/>
              </a:ext>
            </a:extLst>
          </p:cNvPr>
          <p:cNvSpPr txBox="1"/>
          <p:nvPr/>
        </p:nvSpPr>
        <p:spPr>
          <a:xfrm>
            <a:off x="1723810" y="40349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i="0" dirty="0">
                <a:solidFill>
                  <a:srgbClr val="000000"/>
                </a:solidFill>
                <a:effectLst/>
                <a:latin typeface="Color Emoji"/>
              </a:rPr>
              <a:t>《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Color Emoji"/>
              </a:rPr>
              <a:t>通信原理第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Color Emoji"/>
              </a:rPr>
              <a:t>7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Color Emoji"/>
              </a:rPr>
              <a:t>版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Color Emoji"/>
              </a:rPr>
              <a:t> 》--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Color Emoji"/>
              </a:rPr>
              <a:t>精编本</a:t>
            </a:r>
            <a:endParaRPr lang="en-US" altLang="zh-CN" sz="1400" b="1" i="0" dirty="0">
              <a:solidFill>
                <a:srgbClr val="000000"/>
              </a:solidFill>
              <a:effectLst/>
              <a:latin typeface="Color Emoji"/>
            </a:endParaRPr>
          </a:p>
          <a:p>
            <a:pPr algn="ctr"/>
            <a:r>
              <a:rPr lang="en-US" altLang="zh-CN" sz="1400" b="1" i="0" dirty="0">
                <a:solidFill>
                  <a:srgbClr val="000000"/>
                </a:solidFill>
                <a:effectLst/>
                <a:latin typeface="Color Emoji"/>
              </a:rPr>
              <a:t>(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Color Emoji"/>
              </a:rPr>
              <a:t>国家级规划教材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Color Emoj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684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1140A064-C371-4EE6-8713-D43C64381ADA}" type="slidenum">
              <a:rPr lang="zh-CN" altLang="en-US" sz="1200" smtClean="0">
                <a:latin typeface="Arial Black" panose="020B0A04020102020204" pitchFamily="34" charset="0"/>
                <a:ea typeface="宋体" panose="02010600030101010101" pitchFamily="2" charset="-122"/>
              </a:rPr>
              <a:pPr/>
              <a:t>3</a:t>
            </a:fld>
            <a:endParaRPr lang="en-US" altLang="zh-CN" sz="120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94063" y="295956"/>
            <a:ext cx="6902450" cy="762000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课程考核方式</a:t>
            </a:r>
          </a:p>
        </p:txBody>
      </p:sp>
      <p:sp>
        <p:nvSpPr>
          <p:cNvPr id="6" name="Rectangle 2"/>
          <p:cNvSpPr/>
          <p:nvPr/>
        </p:nvSpPr>
        <p:spPr>
          <a:xfrm>
            <a:off x="232920" y="851143"/>
            <a:ext cx="6533640" cy="2443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 eaLnBrk="1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zh-CN" altLang="zh-CN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本课程为</a:t>
            </a:r>
            <a:r>
              <a:rPr lang="zh-CN" altLang="en-US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考试</a:t>
            </a:r>
            <a:r>
              <a:rPr lang="zh-CN" altLang="zh-CN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课；</a:t>
            </a:r>
            <a:r>
              <a:rPr lang="zh-CN" altLang="en-US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000" kern="100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indent="266700" algn="just" eaLnBrk="1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zh-CN" altLang="en-US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考查</a:t>
            </a:r>
            <a:r>
              <a:rPr lang="zh-CN" altLang="zh-CN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方式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----</a:t>
            </a:r>
            <a:r>
              <a:rPr lang="zh-CN" altLang="en-US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闭卷</a:t>
            </a:r>
            <a:endParaRPr lang="en-US" altLang="zh-CN" sz="2000" kern="100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indent="266700" algn="just" eaLnBrk="1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zh-CN" altLang="en-US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总成绩： </a:t>
            </a:r>
            <a:r>
              <a:rPr lang="zh-CN" altLang="zh-CN" sz="2000" b="1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期末</a:t>
            </a:r>
            <a:r>
              <a:rPr lang="en-US" altLang="zh-CN" sz="2000" b="1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(50%), </a:t>
            </a:r>
            <a:r>
              <a:rPr lang="zh-CN" altLang="zh-CN" sz="2000" b="1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平时成绩</a:t>
            </a:r>
            <a:r>
              <a:rPr lang="en-US" altLang="zh-CN" sz="2000" b="1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(50%).</a:t>
            </a:r>
          </a:p>
          <a:p>
            <a:pPr indent="266700" algn="just" eaLnBrk="1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zh-CN" altLang="en-US" sz="2000" b="1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平时成绩：考勤 </a:t>
            </a:r>
            <a:r>
              <a:rPr lang="en-US" altLang="zh-CN" sz="2000" b="1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+</a:t>
            </a:r>
            <a:r>
              <a:rPr lang="zh-CN" altLang="en-US" sz="2000" b="1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 作业（</a:t>
            </a:r>
            <a:r>
              <a:rPr lang="zh-CN" altLang="en-US" sz="2000" b="1" u="sng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按时</a:t>
            </a:r>
            <a:r>
              <a:rPr lang="zh-CN" altLang="en-US" sz="2000" b="1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提交）</a:t>
            </a:r>
            <a:r>
              <a:rPr lang="en-US" altLang="zh-CN" sz="2000" b="1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+</a:t>
            </a:r>
            <a:r>
              <a:rPr lang="zh-CN" altLang="en-US" sz="2000" b="1" kern="100" dirty="0">
                <a:solidFill>
                  <a:srgbClr val="002060"/>
                </a:solidFill>
                <a:latin typeface="+mn-ea"/>
                <a:ea typeface="+mn-ea"/>
                <a:cs typeface="Times New Roman" panose="02020603050405020304" pitchFamily="18" charset="0"/>
              </a:rPr>
              <a:t>测验</a:t>
            </a:r>
            <a:endParaRPr lang="zh-CN" altLang="zh-CN" sz="2000" b="1" kern="100" dirty="0">
              <a:solidFill>
                <a:srgbClr val="00206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48640" y="3295082"/>
            <a:ext cx="429926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dirty="0">
                <a:solidFill>
                  <a:schemeClr val="tx2"/>
                </a:solidFill>
                <a:latin typeface="黑体" panose="02010609060101010101" pitchFamily="49" charset="-122"/>
              </a:rPr>
              <a:t>参考教材：</a:t>
            </a:r>
          </a:p>
        </p:txBody>
      </p:sp>
      <p:sp>
        <p:nvSpPr>
          <p:cNvPr id="11" name="Rectangle 6"/>
          <p:cNvSpPr/>
          <p:nvPr/>
        </p:nvSpPr>
        <p:spPr>
          <a:xfrm>
            <a:off x="365760" y="4297175"/>
            <a:ext cx="8228012" cy="13747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lnSpc>
                <a:spcPts val="2000"/>
              </a:lnSpc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樊昌信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《</a:t>
            </a: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通信原理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》第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7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版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精编本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[M]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北京：</a:t>
            </a: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国防工业出版社 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2021.01</a:t>
            </a:r>
          </a:p>
          <a:p>
            <a:pPr marL="285750" indent="-285750" algn="just">
              <a:lnSpc>
                <a:spcPts val="2000"/>
              </a:lnSpc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樊昌信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《</a:t>
            </a: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通信原理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》第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7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版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[M]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北京：</a:t>
            </a: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国防工业出版社 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2012.09</a:t>
            </a:r>
          </a:p>
          <a:p>
            <a:pPr marL="285750" indent="-285750" algn="just">
              <a:lnSpc>
                <a:spcPts val="2000"/>
              </a:lnSpc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1800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Rodger E. </a:t>
            </a:r>
            <a:r>
              <a:rPr lang="en-US" sz="1800" kern="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Ziemer</a:t>
            </a:r>
            <a:r>
              <a:rPr lang="zh-CN" altLang="en-US" sz="1800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， 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《</a:t>
            </a: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通信原理：调制、编码与噪声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》</a:t>
            </a: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第七版 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[M] 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北京：</a:t>
            </a: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电子工业工业</a:t>
            </a:r>
            <a:r>
              <a:rPr lang="zh-CN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出版社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 2018.06  </a:t>
            </a:r>
          </a:p>
          <a:p>
            <a:pPr marL="285750" indent="-285750" algn="just">
              <a:lnSpc>
                <a:spcPts val="2000"/>
              </a:lnSpc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周炯槃，通信原理，第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版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[M] </a:t>
            </a:r>
            <a:r>
              <a:rPr lang="zh-CN" altLang="en-US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北京：北京邮电大学出版社，</a:t>
            </a:r>
            <a:r>
              <a:rPr lang="en-US" altLang="zh-CN" sz="18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2015.08</a:t>
            </a:r>
            <a:endParaRPr lang="zh-CN" altLang="zh-CN" sz="1800" b="1" kern="1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45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D15C1-5EA7-8099-30B7-E6381EF7FF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3E36B-975F-4992-077F-59F0ABA4F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768" y="2132991"/>
            <a:ext cx="6583680" cy="31740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1D74E0-1416-B579-1310-84AAA1E7BD60}"/>
              </a:ext>
            </a:extLst>
          </p:cNvPr>
          <p:cNvSpPr txBox="1"/>
          <p:nvPr/>
        </p:nvSpPr>
        <p:spPr>
          <a:xfrm>
            <a:off x="1280160" y="1464707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https://happyday159.github.io/course-materials/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60267D0-6D71-0741-C138-E3E33EE15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480" y="502920"/>
            <a:ext cx="6902450" cy="762000"/>
          </a:xfrm>
        </p:spPr>
        <p:txBody>
          <a:bodyPr/>
          <a:lstStyle/>
          <a:p>
            <a:pPr algn="ctr" eaLnBrk="1" hangingPunct="1"/>
            <a:r>
              <a:rPr lang="zh-CN" altLang="en-US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本课程课程资料链接</a:t>
            </a:r>
            <a:r>
              <a:rPr lang="en-US" altLang="zh-CN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itchFamily="2" charset="2"/>
              </a:rPr>
              <a:t>:(</a:t>
            </a:r>
            <a:r>
              <a:rPr lang="zh-CN" altLang="en-US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itchFamily="2" charset="2"/>
              </a:rPr>
              <a:t>同步更新</a:t>
            </a:r>
            <a:r>
              <a:rPr lang="en-US" altLang="zh-CN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itchFamily="2" charset="2"/>
              </a:rPr>
              <a:t>)</a:t>
            </a:r>
            <a:endParaRPr lang="zh-CN" altLang="en-US" sz="32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Picture 2" descr="A qr code with text&#10;&#10;AI-generated content may be incorrect.">
            <a:extLst>
              <a:ext uri="{FF2B5EF4-FFF2-40B4-BE49-F238E27FC236}">
                <a16:creationId xmlns:a16="http://schemas.microsoft.com/office/drawing/2014/main" id="{1880CEB8-4681-458A-79A9-C303EBF84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8" y="2144027"/>
            <a:ext cx="2438400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76BFB7-E0A4-11FB-B19A-E6768BAE44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1" y="2021340"/>
            <a:ext cx="1828800" cy="4216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F6A408-128D-CB65-588B-94CA141D95CE}"/>
              </a:ext>
            </a:extLst>
          </p:cNvPr>
          <p:cNvSpPr txBox="1"/>
          <p:nvPr/>
        </p:nvSpPr>
        <p:spPr>
          <a:xfrm>
            <a:off x="272906" y="4582427"/>
            <a:ext cx="22846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扫码下载即可</a:t>
            </a:r>
            <a:endParaRPr lang="en-US" dirty="0"/>
          </a:p>
          <a:p>
            <a:r>
              <a:rPr lang="zh-CN" altLang="en-US" sz="1600" b="1" dirty="0">
                <a:highlight>
                  <a:srgbClr val="FFFF00"/>
                </a:highlight>
              </a:rPr>
              <a:t>（</a:t>
            </a:r>
            <a:r>
              <a:rPr lang="en-US" sz="1600" b="1" dirty="0" err="1">
                <a:highlight>
                  <a:srgbClr val="FFFF00"/>
                </a:highlight>
              </a:rPr>
              <a:t>浏览器打开速度快</a:t>
            </a:r>
            <a:r>
              <a:rPr lang="zh-CN" altLang="en-US" sz="1600" b="1" dirty="0">
                <a:highlight>
                  <a:srgbClr val="FFFF00"/>
                </a:highlight>
              </a:rPr>
              <a:t>）</a:t>
            </a:r>
            <a:endParaRPr lang="en-US" sz="16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9814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521E2E8D-2D41-334C-DDCC-8FB94C7E1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428875"/>
            <a:ext cx="4927600" cy="1785938"/>
          </a:xfrm>
          <a:solidFill>
            <a:srgbClr val="003399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54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60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绪   论</a:t>
            </a:r>
            <a:endParaRPr lang="en-US" altLang="zh-CN" sz="6000" dirty="0">
              <a:solidFill>
                <a:srgbClr val="000099"/>
              </a:solidFill>
            </a:endParaRPr>
          </a:p>
        </p:txBody>
      </p:sp>
      <p:pic>
        <p:nvPicPr>
          <p:cNvPr id="6" name="内容占位符 34" descr="通信原理（第7版）展开.jpg">
            <a:extLst>
              <a:ext uri="{FF2B5EF4-FFF2-40B4-BE49-F238E27FC236}">
                <a16:creationId xmlns:a16="http://schemas.microsoft.com/office/drawing/2014/main" id="{E5D23998-7B04-4004-E2F3-58845261825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55334" t="2000" r="15137" b="2000"/>
          <a:stretch>
            <a:fillRect/>
          </a:stretch>
        </p:blipFill>
        <p:spPr>
          <a:xfrm>
            <a:off x="5227020" y="1875272"/>
            <a:ext cx="1571626" cy="2514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E8CD4C40-D15D-E291-A9FE-7732F12ED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049" y="4343400"/>
            <a:ext cx="3500438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通信原理（第</a:t>
            </a:r>
            <a:r>
              <a:rPr lang="en-US" altLang="zh-CN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版）</a:t>
            </a:r>
            <a:r>
              <a:rPr lang="en-US" altLang="zh-CN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精编本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00C0BE-C9A2-C709-ED25-4B263501F73B}"/>
              </a:ext>
            </a:extLst>
          </p:cNvPr>
          <p:cNvSpPr/>
          <p:nvPr/>
        </p:nvSpPr>
        <p:spPr>
          <a:xfrm>
            <a:off x="393700" y="1527175"/>
            <a:ext cx="1492250" cy="923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5400" b="1" kern="0" dirty="0">
                <a:solidFill>
                  <a:srgbClr val="7833A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 Unicode MS" pitchFamily="34" charset="-122"/>
                <a:cs typeface="Arial" pitchFamily="34" charset="0"/>
              </a:rPr>
              <a:t>1</a:t>
            </a:r>
            <a:r>
              <a:rPr lang="zh-CN" altLang="en-US" sz="3600" kern="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章</a:t>
            </a:r>
            <a:endParaRPr lang="zh-CN" altLang="en-US" sz="3600" dirty="0">
              <a:solidFill>
                <a:srgbClr val="00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B870C-1820-9253-AAAB-1F20C1B1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414" y="1875272"/>
            <a:ext cx="1723886" cy="251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5345D480-3FC5-755C-4CA9-2BBD309CA8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8488" y="1427163"/>
            <a:ext cx="7275512" cy="4394200"/>
          </a:xfrm>
        </p:spPr>
        <p:txBody>
          <a:bodyPr/>
          <a:lstStyle/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基本概念        </a:t>
            </a: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endParaRPr lang="en-US" altLang="zh-CN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信息度量</a:t>
            </a: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sz="36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endParaRPr lang="en-US" altLang="zh-CN" sz="2800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性能指标</a:t>
            </a:r>
          </a:p>
          <a:p>
            <a:pPr defTabSz="952500" eaLnBrk="1" hangingPunct="1">
              <a:lnSpc>
                <a:spcPts val="4320"/>
              </a:lnSpc>
              <a:buClr>
                <a:srgbClr val="0000CC"/>
              </a:buClr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sz="2000" dirty="0"/>
              <a:t>                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52500" eaLnBrk="1" hangingPunct="1">
              <a:buClr>
                <a:srgbClr val="0000CC"/>
              </a:buClr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endParaRPr lang="en-US" altLang="zh-CN" sz="2800" dirty="0">
              <a:solidFill>
                <a:srgbClr val="A50021"/>
              </a:solidFill>
            </a:endParaRP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CF86441C-69D2-A2A8-31F4-DD78CBDCE545}"/>
              </a:ext>
            </a:extLst>
          </p:cNvPr>
          <p:cNvGrpSpPr>
            <a:grpSpLocks/>
          </p:cNvGrpSpPr>
          <p:nvPr/>
        </p:nvGrpSpPr>
        <p:grpSpPr bwMode="auto">
          <a:xfrm>
            <a:off x="1612900" y="1749425"/>
            <a:ext cx="169863" cy="215900"/>
            <a:chOff x="2976" y="1008"/>
            <a:chExt cx="1056" cy="432"/>
          </a:xfrm>
        </p:grpSpPr>
        <p:sp>
          <p:nvSpPr>
            <p:cNvPr id="22541" name="Oval 9">
              <a:extLst>
                <a:ext uri="{FF2B5EF4-FFF2-40B4-BE49-F238E27FC236}">
                  <a16:creationId xmlns:a16="http://schemas.microsoft.com/office/drawing/2014/main" id="{A395795D-9128-9E72-0993-2725954AA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2" name="Oval 10">
              <a:extLst>
                <a:ext uri="{FF2B5EF4-FFF2-40B4-BE49-F238E27FC236}">
                  <a16:creationId xmlns:a16="http://schemas.microsoft.com/office/drawing/2014/main" id="{C1F5709C-6235-62E4-F148-4C91925BC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4F67789C-6DEC-48B2-2777-EDD81F0000FD}"/>
              </a:ext>
            </a:extLst>
          </p:cNvPr>
          <p:cNvGrpSpPr>
            <a:grpSpLocks/>
          </p:cNvGrpSpPr>
          <p:nvPr/>
        </p:nvGrpSpPr>
        <p:grpSpPr bwMode="auto">
          <a:xfrm>
            <a:off x="1627188" y="3176588"/>
            <a:ext cx="169862" cy="215900"/>
            <a:chOff x="2976" y="1008"/>
            <a:chExt cx="1056" cy="432"/>
          </a:xfrm>
        </p:grpSpPr>
        <p:sp>
          <p:nvSpPr>
            <p:cNvPr id="22539" name="Oval 18">
              <a:extLst>
                <a:ext uri="{FF2B5EF4-FFF2-40B4-BE49-F238E27FC236}">
                  <a16:creationId xmlns:a16="http://schemas.microsoft.com/office/drawing/2014/main" id="{EA14D86D-864C-7051-179A-D0ABD7E19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0" name="Oval 19">
              <a:extLst>
                <a:ext uri="{FF2B5EF4-FFF2-40B4-BE49-F238E27FC236}">
                  <a16:creationId xmlns:a16="http://schemas.microsoft.com/office/drawing/2014/main" id="{A2EE50FA-DD14-A35A-0D5F-12C76FE35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8DF46AAE-8022-B791-6094-DC8B22FE1846}"/>
              </a:ext>
            </a:extLst>
          </p:cNvPr>
          <p:cNvGrpSpPr>
            <a:grpSpLocks/>
          </p:cNvGrpSpPr>
          <p:nvPr/>
        </p:nvGrpSpPr>
        <p:grpSpPr bwMode="auto">
          <a:xfrm>
            <a:off x="1627188" y="4605338"/>
            <a:ext cx="169862" cy="215900"/>
            <a:chOff x="2976" y="1008"/>
            <a:chExt cx="1056" cy="432"/>
          </a:xfrm>
        </p:grpSpPr>
        <p:sp>
          <p:nvSpPr>
            <p:cNvPr id="22537" name="Oval 21">
              <a:extLst>
                <a:ext uri="{FF2B5EF4-FFF2-40B4-BE49-F238E27FC236}">
                  <a16:creationId xmlns:a16="http://schemas.microsoft.com/office/drawing/2014/main" id="{A3D96652-2105-2077-A713-6444B233E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38" name="Oval 22">
              <a:extLst>
                <a:ext uri="{FF2B5EF4-FFF2-40B4-BE49-F238E27FC236}">
                  <a16:creationId xmlns:a16="http://schemas.microsoft.com/office/drawing/2014/main" id="{9CA8C45B-9E45-E455-FE97-F073E0954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" name="Rectangle 2">
            <a:extLst>
              <a:ext uri="{FF2B5EF4-FFF2-40B4-BE49-F238E27FC236}">
                <a16:creationId xmlns:a16="http://schemas.microsoft.com/office/drawing/2014/main" id="{453A1152-1FD1-5A1C-96CF-742A4C085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7063" y="1892300"/>
            <a:ext cx="5000625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r>
              <a:rPr lang="zh-CN" alt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模型</a:t>
            </a:r>
            <a:r>
              <a:rPr lang="en-US" altLang="zh-CN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分类</a:t>
            </a:r>
            <a:r>
              <a:rPr lang="en-US" altLang="zh-CN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通信方式</a:t>
            </a:r>
            <a:endParaRPr lang="en-US" altLang="zh-CN" sz="24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endParaRPr lang="en-US" altLang="zh-CN" sz="28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r>
              <a:rPr lang="zh-CN" alt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信息量</a:t>
            </a:r>
            <a:r>
              <a:rPr lang="en-US" altLang="zh-CN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信源熵 </a:t>
            </a:r>
            <a:endParaRPr lang="en-US" altLang="zh-CN" sz="24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endParaRPr lang="en-US" altLang="zh-CN" sz="28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r>
              <a:rPr lang="zh-CN" alt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有效性</a:t>
            </a:r>
            <a:r>
              <a:rPr lang="en-US" altLang="zh-CN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可靠性</a:t>
            </a:r>
            <a:endParaRPr lang="en-US" altLang="zh-CN" sz="2400" b="1" kern="0" dirty="0">
              <a:solidFill>
                <a:srgbClr val="A5002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9C63894-62A5-2216-A1A4-EF3BE50E0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" y="500465"/>
            <a:ext cx="2928938" cy="7080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4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3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r>
              <a:rPr lang="en-US" altLang="zh-CN" sz="3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endParaRPr lang="zh-CN" altLang="en-US" sz="3600" dirty="0">
              <a:solidFill>
                <a:srgbClr val="FF0000"/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F266571-0DA7-ACB5-DFCA-A28785B4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425450"/>
            <a:ext cx="2286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solidFill>
                  <a:srgbClr val="040404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3600" dirty="0">
                <a:solidFill>
                  <a:srgbClr val="04040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>
                <a:solidFill>
                  <a:srgbClr val="040404"/>
                </a:solidFill>
                <a:latin typeface="微软雅黑" pitchFamily="34" charset="-122"/>
                <a:ea typeface="微软雅黑" pitchFamily="34" charset="-122"/>
              </a:rPr>
              <a:t>章  绪 论</a:t>
            </a:r>
            <a:r>
              <a:rPr lang="en-US" altLang="zh-CN" sz="2800" dirty="0">
                <a:solidFill>
                  <a:srgbClr val="040404"/>
                </a:solidFill>
                <a:latin typeface="+mn-ea"/>
                <a:ea typeface="+mn-ea"/>
                <a:cs typeface="Arial" pitchFamily="34" charset="0"/>
              </a:rPr>
              <a:t> </a:t>
            </a:r>
            <a:endParaRPr lang="zh-CN" altLang="en-US" sz="2800" dirty="0">
              <a:solidFill>
                <a:srgbClr val="040404"/>
              </a:solidFill>
              <a:latin typeface="+mn-ea"/>
              <a:ea typeface="+mn-ea"/>
              <a:cs typeface="Arial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53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53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3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828235" y="930072"/>
            <a:ext cx="8132215" cy="51331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第 </a:t>
            </a:r>
            <a:r>
              <a:rPr lang="en-US" altLang="zh-CN" sz="2800" b="1" dirty="0">
                <a:solidFill>
                  <a:srgbClr val="4E4B49"/>
                </a:solidFill>
                <a:latin typeface="微软雅黑"/>
                <a:ea typeface="微软雅黑"/>
              </a:rPr>
              <a:t>1 </a:t>
            </a:r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章  绪 论</a:t>
            </a:r>
            <a:r>
              <a:rPr lang="en-US" altLang="zh-CN" sz="2400" b="1" dirty="0">
                <a:solidFill>
                  <a:srgbClr val="C00000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/>
                <a:ea typeface="微软雅黑"/>
              </a:rPr>
              <a:t>通信的基本概念</a:t>
            </a: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611561" y="1622731"/>
            <a:ext cx="3777559" cy="631806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81628" tIns="40814" rIns="81628" bIns="40814">
            <a:spAutoFit/>
          </a:bodyPr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kern="0" dirty="0">
                <a:solidFill>
                  <a:srgbClr val="040404"/>
                </a:solidFill>
                <a:latin typeface="黑体" panose="02010600030101010101" pitchFamily="2" charset="-122"/>
              </a:rPr>
              <a:t>通信的定义：模型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auto">
          <a:xfrm>
            <a:off x="164724" y="969438"/>
            <a:ext cx="446836" cy="461451"/>
          </a:xfrm>
          <a:custGeom>
            <a:avLst/>
            <a:gdLst>
              <a:gd name="T0" fmla="*/ 514 w 1029"/>
              <a:gd name="T1" fmla="*/ 0 h 1029"/>
              <a:gd name="T2" fmla="*/ 1029 w 1029"/>
              <a:gd name="T3" fmla="*/ 514 h 1029"/>
              <a:gd name="T4" fmla="*/ 514 w 1029"/>
              <a:gd name="T5" fmla="*/ 1029 h 1029"/>
              <a:gd name="T6" fmla="*/ 0 w 1029"/>
              <a:gd name="T7" fmla="*/ 514 h 1029"/>
              <a:gd name="T8" fmla="*/ 514 w 1029"/>
              <a:gd name="T9" fmla="*/ 0 h 1029"/>
              <a:gd name="T10" fmla="*/ 380 w 1029"/>
              <a:gd name="T11" fmla="*/ 856 h 1029"/>
              <a:gd name="T12" fmla="*/ 715 w 1029"/>
              <a:gd name="T13" fmla="*/ 856 h 1029"/>
              <a:gd name="T14" fmla="*/ 732 w 1029"/>
              <a:gd name="T15" fmla="*/ 873 h 1029"/>
              <a:gd name="T16" fmla="*/ 715 w 1029"/>
              <a:gd name="T17" fmla="*/ 890 h 1029"/>
              <a:gd name="T18" fmla="*/ 380 w 1029"/>
              <a:gd name="T19" fmla="*/ 890 h 1029"/>
              <a:gd name="T20" fmla="*/ 363 w 1029"/>
              <a:gd name="T21" fmla="*/ 873 h 1029"/>
              <a:gd name="T22" fmla="*/ 380 w 1029"/>
              <a:gd name="T23" fmla="*/ 856 h 1029"/>
              <a:gd name="T24" fmla="*/ 388 w 1029"/>
              <a:gd name="T25" fmla="*/ 691 h 1029"/>
              <a:gd name="T26" fmla="*/ 571 w 1029"/>
              <a:gd name="T27" fmla="*/ 389 h 1029"/>
              <a:gd name="T28" fmla="*/ 636 w 1029"/>
              <a:gd name="T29" fmla="*/ 428 h 1029"/>
              <a:gd name="T30" fmla="*/ 452 w 1029"/>
              <a:gd name="T31" fmla="*/ 730 h 1029"/>
              <a:gd name="T32" fmla="*/ 388 w 1029"/>
              <a:gd name="T33" fmla="*/ 691 h 1029"/>
              <a:gd name="T34" fmla="*/ 258 w 1029"/>
              <a:gd name="T35" fmla="*/ 612 h 1029"/>
              <a:gd name="T36" fmla="*/ 442 w 1029"/>
              <a:gd name="T37" fmla="*/ 310 h 1029"/>
              <a:gd name="T38" fmla="*/ 507 w 1029"/>
              <a:gd name="T39" fmla="*/ 349 h 1029"/>
              <a:gd name="T40" fmla="*/ 323 w 1029"/>
              <a:gd name="T41" fmla="*/ 652 h 1029"/>
              <a:gd name="T42" fmla="*/ 258 w 1029"/>
              <a:gd name="T43" fmla="*/ 612 h 1029"/>
              <a:gd name="T44" fmla="*/ 230 w 1029"/>
              <a:gd name="T45" fmla="*/ 857 h 1029"/>
              <a:gd name="T46" fmla="*/ 247 w 1029"/>
              <a:gd name="T47" fmla="*/ 707 h 1029"/>
              <a:gd name="T48" fmla="*/ 373 w 1029"/>
              <a:gd name="T49" fmla="*/ 783 h 1029"/>
              <a:gd name="T50" fmla="*/ 248 w 1029"/>
              <a:gd name="T51" fmla="*/ 869 h 1029"/>
              <a:gd name="T52" fmla="*/ 230 w 1029"/>
              <a:gd name="T53" fmla="*/ 857 h 1029"/>
              <a:gd name="T54" fmla="*/ 492 w 1029"/>
              <a:gd name="T55" fmla="*/ 226 h 1029"/>
              <a:gd name="T56" fmla="*/ 465 w 1029"/>
              <a:gd name="T57" fmla="*/ 270 h 1029"/>
              <a:gd name="T58" fmla="*/ 659 w 1029"/>
              <a:gd name="T59" fmla="*/ 388 h 1029"/>
              <a:gd name="T60" fmla="*/ 686 w 1029"/>
              <a:gd name="T61" fmla="*/ 344 h 1029"/>
              <a:gd name="T62" fmla="*/ 492 w 1029"/>
              <a:gd name="T63" fmla="*/ 226 h 1029"/>
              <a:gd name="T64" fmla="*/ 533 w 1029"/>
              <a:gd name="T65" fmla="*/ 159 h 1029"/>
              <a:gd name="T66" fmla="*/ 592 w 1029"/>
              <a:gd name="T67" fmla="*/ 144 h 1029"/>
              <a:gd name="T68" fmla="*/ 713 w 1029"/>
              <a:gd name="T69" fmla="*/ 218 h 1029"/>
              <a:gd name="T70" fmla="*/ 727 w 1029"/>
              <a:gd name="T71" fmla="*/ 277 h 1029"/>
              <a:gd name="T72" fmla="*/ 711 w 1029"/>
              <a:gd name="T73" fmla="*/ 304 h 1029"/>
              <a:gd name="T74" fmla="*/ 517 w 1029"/>
              <a:gd name="T75" fmla="*/ 186 h 1029"/>
              <a:gd name="T76" fmla="*/ 533 w 1029"/>
              <a:gd name="T77" fmla="*/ 159 h 1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9" h="1029">
                <a:moveTo>
                  <a:pt x="514" y="0"/>
                </a:moveTo>
                <a:cubicBezTo>
                  <a:pt x="798" y="0"/>
                  <a:pt x="1029" y="230"/>
                  <a:pt x="1029" y="514"/>
                </a:cubicBezTo>
                <a:cubicBezTo>
                  <a:pt x="1029" y="798"/>
                  <a:pt x="798" y="1029"/>
                  <a:pt x="514" y="1029"/>
                </a:cubicBezTo>
                <a:cubicBezTo>
                  <a:pt x="230" y="1029"/>
                  <a:pt x="0" y="798"/>
                  <a:pt x="0" y="514"/>
                </a:cubicBezTo>
                <a:cubicBezTo>
                  <a:pt x="0" y="230"/>
                  <a:pt x="230" y="0"/>
                  <a:pt x="514" y="0"/>
                </a:cubicBezTo>
                <a:close/>
                <a:moveTo>
                  <a:pt x="380" y="856"/>
                </a:moveTo>
                <a:lnTo>
                  <a:pt x="715" y="856"/>
                </a:lnTo>
                <a:cubicBezTo>
                  <a:pt x="724" y="856"/>
                  <a:pt x="732" y="864"/>
                  <a:pt x="732" y="873"/>
                </a:cubicBezTo>
                <a:cubicBezTo>
                  <a:pt x="732" y="883"/>
                  <a:pt x="724" y="890"/>
                  <a:pt x="715" y="890"/>
                </a:cubicBezTo>
                <a:lnTo>
                  <a:pt x="380" y="890"/>
                </a:lnTo>
                <a:cubicBezTo>
                  <a:pt x="371" y="890"/>
                  <a:pt x="363" y="883"/>
                  <a:pt x="363" y="873"/>
                </a:cubicBezTo>
                <a:cubicBezTo>
                  <a:pt x="363" y="864"/>
                  <a:pt x="371" y="856"/>
                  <a:pt x="380" y="856"/>
                </a:cubicBezTo>
                <a:close/>
                <a:moveTo>
                  <a:pt x="388" y="691"/>
                </a:moveTo>
                <a:lnTo>
                  <a:pt x="571" y="389"/>
                </a:lnTo>
                <a:lnTo>
                  <a:pt x="636" y="428"/>
                </a:lnTo>
                <a:lnTo>
                  <a:pt x="452" y="730"/>
                </a:lnTo>
                <a:lnTo>
                  <a:pt x="388" y="691"/>
                </a:lnTo>
                <a:close/>
                <a:moveTo>
                  <a:pt x="258" y="612"/>
                </a:moveTo>
                <a:lnTo>
                  <a:pt x="442" y="310"/>
                </a:lnTo>
                <a:lnTo>
                  <a:pt x="507" y="349"/>
                </a:lnTo>
                <a:lnTo>
                  <a:pt x="323" y="652"/>
                </a:lnTo>
                <a:lnTo>
                  <a:pt x="258" y="612"/>
                </a:lnTo>
                <a:close/>
                <a:moveTo>
                  <a:pt x="230" y="857"/>
                </a:moveTo>
                <a:lnTo>
                  <a:pt x="247" y="707"/>
                </a:lnTo>
                <a:lnTo>
                  <a:pt x="373" y="783"/>
                </a:lnTo>
                <a:lnTo>
                  <a:pt x="248" y="869"/>
                </a:lnTo>
                <a:cubicBezTo>
                  <a:pt x="235" y="878"/>
                  <a:pt x="227" y="873"/>
                  <a:pt x="230" y="857"/>
                </a:cubicBezTo>
                <a:close/>
                <a:moveTo>
                  <a:pt x="492" y="226"/>
                </a:moveTo>
                <a:lnTo>
                  <a:pt x="465" y="270"/>
                </a:lnTo>
                <a:lnTo>
                  <a:pt x="659" y="388"/>
                </a:lnTo>
                <a:lnTo>
                  <a:pt x="686" y="344"/>
                </a:lnTo>
                <a:lnTo>
                  <a:pt x="492" y="226"/>
                </a:lnTo>
                <a:close/>
                <a:moveTo>
                  <a:pt x="533" y="159"/>
                </a:moveTo>
                <a:cubicBezTo>
                  <a:pt x="546" y="139"/>
                  <a:pt x="572" y="132"/>
                  <a:pt x="592" y="144"/>
                </a:cubicBezTo>
                <a:lnTo>
                  <a:pt x="713" y="218"/>
                </a:lnTo>
                <a:cubicBezTo>
                  <a:pt x="733" y="230"/>
                  <a:pt x="740" y="256"/>
                  <a:pt x="727" y="277"/>
                </a:cubicBezTo>
                <a:lnTo>
                  <a:pt x="711" y="304"/>
                </a:lnTo>
                <a:lnTo>
                  <a:pt x="517" y="186"/>
                </a:lnTo>
                <a:lnTo>
                  <a:pt x="533" y="15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3F3F3"/>
              </a:solidFill>
            </a:endParaRPr>
          </a:p>
        </p:txBody>
      </p:sp>
      <p:pic>
        <p:nvPicPr>
          <p:cNvPr id="27" name="Picture 6" descr="vsa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564904"/>
            <a:ext cx="4392488" cy="2547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矩形 27"/>
          <p:cNvSpPr/>
          <p:nvPr/>
        </p:nvSpPr>
        <p:spPr>
          <a:xfrm>
            <a:off x="5148064" y="1761778"/>
            <a:ext cx="36004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latin typeface="+mn-ea"/>
                <a:ea typeface="+mn-ea"/>
              </a:rPr>
              <a:t>通信是指由</a:t>
            </a:r>
            <a:r>
              <a:rPr lang="zh-CN" altLang="en-US" sz="2000" kern="0" dirty="0">
                <a:solidFill>
                  <a:srgbClr val="C00000"/>
                </a:solidFill>
                <a:latin typeface="+mn-ea"/>
                <a:ea typeface="+mn-ea"/>
              </a:rPr>
              <a:t>一地向另一地</a:t>
            </a:r>
            <a:r>
              <a:rPr lang="zh-CN" altLang="en-US" sz="2000" kern="0" dirty="0">
                <a:latin typeface="+mn-ea"/>
                <a:ea typeface="+mn-ea"/>
              </a:rPr>
              <a:t>进行</a:t>
            </a:r>
            <a:r>
              <a:rPr lang="zh-CN" altLang="en-US" sz="2000" kern="0" dirty="0">
                <a:solidFill>
                  <a:srgbClr val="C00000"/>
                </a:solidFill>
                <a:latin typeface="+mn-ea"/>
                <a:ea typeface="+mn-ea"/>
              </a:rPr>
              <a:t>消息</a:t>
            </a:r>
            <a:r>
              <a:rPr lang="zh-CN" altLang="en-US" sz="2000" kern="0" dirty="0">
                <a:latin typeface="+mn-ea"/>
                <a:ea typeface="+mn-ea"/>
              </a:rPr>
              <a:t>的</a:t>
            </a:r>
            <a:r>
              <a:rPr lang="zh-CN" altLang="en-US" sz="2000" kern="0" dirty="0">
                <a:solidFill>
                  <a:srgbClr val="C00000"/>
                </a:solidFill>
                <a:latin typeface="+mn-ea"/>
                <a:ea typeface="+mn-ea"/>
              </a:rPr>
              <a:t>有效传递</a:t>
            </a:r>
            <a:r>
              <a:rPr lang="zh-CN" altLang="en-US" sz="2000" kern="0" dirty="0">
                <a:latin typeface="+mn-ea"/>
                <a:ea typeface="+mn-ea"/>
              </a:rPr>
              <a:t>；</a:t>
            </a:r>
            <a:endParaRPr lang="en-US" altLang="zh-CN" sz="2000" kern="0" dirty="0">
              <a:latin typeface="+mn-ea"/>
              <a:ea typeface="+mn-ea"/>
            </a:endParaRP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latin typeface="+mn-ea"/>
                <a:ea typeface="+mn-ea"/>
              </a:rPr>
              <a:t>本课程中所说的通信，均指</a:t>
            </a:r>
            <a:r>
              <a:rPr lang="zh-CN" altLang="en-US" sz="2000" kern="0" dirty="0">
                <a:solidFill>
                  <a:srgbClr val="C00000"/>
                </a:solidFill>
                <a:latin typeface="+mn-ea"/>
                <a:ea typeface="+mn-ea"/>
              </a:rPr>
              <a:t>电通信</a:t>
            </a:r>
            <a:r>
              <a:rPr lang="zh-CN" altLang="en-US" sz="2000" kern="0" dirty="0">
                <a:latin typeface="+mn-ea"/>
                <a:ea typeface="+mn-ea"/>
              </a:rPr>
              <a:t>（含光通信）；</a:t>
            </a:r>
            <a:endParaRPr lang="en-US" altLang="zh-CN" sz="2000" kern="0" dirty="0">
              <a:latin typeface="+mn-ea"/>
              <a:ea typeface="+mn-ea"/>
            </a:endParaRP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latin typeface="+mn-ea"/>
                <a:ea typeface="+mn-ea"/>
              </a:rPr>
              <a:t>课程中所说的通信，均指电通信：即利用电子等技术手段，借助电信号（含光信号）实现通信功能。</a:t>
            </a:r>
          </a:p>
        </p:txBody>
      </p:sp>
    </p:spTree>
    <p:extLst>
      <p:ext uri="{BB962C8B-B14F-4D97-AF65-F5344CB8AC3E}">
        <p14:creationId xmlns:p14="http://schemas.microsoft.com/office/powerpoint/2010/main" val="4280808008"/>
      </p:ext>
    </p:extLst>
  </p:cSld>
  <p:clrMapOvr>
    <a:masterClrMapping/>
  </p:clrMapOvr>
  <p:transition spd="slow" advTm="5769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828235" y="930072"/>
            <a:ext cx="8132215" cy="51331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第 </a:t>
            </a:r>
            <a:r>
              <a:rPr lang="en-US" altLang="zh-CN" sz="2800" b="1" dirty="0">
                <a:solidFill>
                  <a:srgbClr val="4E4B49"/>
                </a:solidFill>
                <a:latin typeface="微软雅黑"/>
                <a:ea typeface="微软雅黑"/>
              </a:rPr>
              <a:t>1 </a:t>
            </a:r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章  绪 论</a:t>
            </a:r>
            <a:r>
              <a:rPr lang="en-US" altLang="zh-CN" sz="2400" b="1" dirty="0">
                <a:solidFill>
                  <a:srgbClr val="C00000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/>
                <a:ea typeface="微软雅黑"/>
              </a:rPr>
              <a:t>通信的基本概念</a:t>
            </a: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611561" y="1622731"/>
            <a:ext cx="2517429" cy="44021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81628" tIns="40814" rIns="81628" bIns="40814">
            <a:spAutoFit/>
          </a:bodyPr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>
                <a:solidFill>
                  <a:srgbClr val="040404"/>
                </a:solidFill>
                <a:latin typeface="黑体" panose="02010600030101010101" pitchFamily="2" charset="-122"/>
              </a:rPr>
              <a:t>通信的分类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auto">
          <a:xfrm>
            <a:off x="164724" y="969438"/>
            <a:ext cx="446836" cy="461451"/>
          </a:xfrm>
          <a:custGeom>
            <a:avLst/>
            <a:gdLst>
              <a:gd name="T0" fmla="*/ 514 w 1029"/>
              <a:gd name="T1" fmla="*/ 0 h 1029"/>
              <a:gd name="T2" fmla="*/ 1029 w 1029"/>
              <a:gd name="T3" fmla="*/ 514 h 1029"/>
              <a:gd name="T4" fmla="*/ 514 w 1029"/>
              <a:gd name="T5" fmla="*/ 1029 h 1029"/>
              <a:gd name="T6" fmla="*/ 0 w 1029"/>
              <a:gd name="T7" fmla="*/ 514 h 1029"/>
              <a:gd name="T8" fmla="*/ 514 w 1029"/>
              <a:gd name="T9" fmla="*/ 0 h 1029"/>
              <a:gd name="T10" fmla="*/ 380 w 1029"/>
              <a:gd name="T11" fmla="*/ 856 h 1029"/>
              <a:gd name="T12" fmla="*/ 715 w 1029"/>
              <a:gd name="T13" fmla="*/ 856 h 1029"/>
              <a:gd name="T14" fmla="*/ 732 w 1029"/>
              <a:gd name="T15" fmla="*/ 873 h 1029"/>
              <a:gd name="T16" fmla="*/ 715 w 1029"/>
              <a:gd name="T17" fmla="*/ 890 h 1029"/>
              <a:gd name="T18" fmla="*/ 380 w 1029"/>
              <a:gd name="T19" fmla="*/ 890 h 1029"/>
              <a:gd name="T20" fmla="*/ 363 w 1029"/>
              <a:gd name="T21" fmla="*/ 873 h 1029"/>
              <a:gd name="T22" fmla="*/ 380 w 1029"/>
              <a:gd name="T23" fmla="*/ 856 h 1029"/>
              <a:gd name="T24" fmla="*/ 388 w 1029"/>
              <a:gd name="T25" fmla="*/ 691 h 1029"/>
              <a:gd name="T26" fmla="*/ 571 w 1029"/>
              <a:gd name="T27" fmla="*/ 389 h 1029"/>
              <a:gd name="T28" fmla="*/ 636 w 1029"/>
              <a:gd name="T29" fmla="*/ 428 h 1029"/>
              <a:gd name="T30" fmla="*/ 452 w 1029"/>
              <a:gd name="T31" fmla="*/ 730 h 1029"/>
              <a:gd name="T32" fmla="*/ 388 w 1029"/>
              <a:gd name="T33" fmla="*/ 691 h 1029"/>
              <a:gd name="T34" fmla="*/ 258 w 1029"/>
              <a:gd name="T35" fmla="*/ 612 h 1029"/>
              <a:gd name="T36" fmla="*/ 442 w 1029"/>
              <a:gd name="T37" fmla="*/ 310 h 1029"/>
              <a:gd name="T38" fmla="*/ 507 w 1029"/>
              <a:gd name="T39" fmla="*/ 349 h 1029"/>
              <a:gd name="T40" fmla="*/ 323 w 1029"/>
              <a:gd name="T41" fmla="*/ 652 h 1029"/>
              <a:gd name="T42" fmla="*/ 258 w 1029"/>
              <a:gd name="T43" fmla="*/ 612 h 1029"/>
              <a:gd name="T44" fmla="*/ 230 w 1029"/>
              <a:gd name="T45" fmla="*/ 857 h 1029"/>
              <a:gd name="T46" fmla="*/ 247 w 1029"/>
              <a:gd name="T47" fmla="*/ 707 h 1029"/>
              <a:gd name="T48" fmla="*/ 373 w 1029"/>
              <a:gd name="T49" fmla="*/ 783 h 1029"/>
              <a:gd name="T50" fmla="*/ 248 w 1029"/>
              <a:gd name="T51" fmla="*/ 869 h 1029"/>
              <a:gd name="T52" fmla="*/ 230 w 1029"/>
              <a:gd name="T53" fmla="*/ 857 h 1029"/>
              <a:gd name="T54" fmla="*/ 492 w 1029"/>
              <a:gd name="T55" fmla="*/ 226 h 1029"/>
              <a:gd name="T56" fmla="*/ 465 w 1029"/>
              <a:gd name="T57" fmla="*/ 270 h 1029"/>
              <a:gd name="T58" fmla="*/ 659 w 1029"/>
              <a:gd name="T59" fmla="*/ 388 h 1029"/>
              <a:gd name="T60" fmla="*/ 686 w 1029"/>
              <a:gd name="T61" fmla="*/ 344 h 1029"/>
              <a:gd name="T62" fmla="*/ 492 w 1029"/>
              <a:gd name="T63" fmla="*/ 226 h 1029"/>
              <a:gd name="T64" fmla="*/ 533 w 1029"/>
              <a:gd name="T65" fmla="*/ 159 h 1029"/>
              <a:gd name="T66" fmla="*/ 592 w 1029"/>
              <a:gd name="T67" fmla="*/ 144 h 1029"/>
              <a:gd name="T68" fmla="*/ 713 w 1029"/>
              <a:gd name="T69" fmla="*/ 218 h 1029"/>
              <a:gd name="T70" fmla="*/ 727 w 1029"/>
              <a:gd name="T71" fmla="*/ 277 h 1029"/>
              <a:gd name="T72" fmla="*/ 711 w 1029"/>
              <a:gd name="T73" fmla="*/ 304 h 1029"/>
              <a:gd name="T74" fmla="*/ 517 w 1029"/>
              <a:gd name="T75" fmla="*/ 186 h 1029"/>
              <a:gd name="T76" fmla="*/ 533 w 1029"/>
              <a:gd name="T77" fmla="*/ 159 h 1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9" h="1029">
                <a:moveTo>
                  <a:pt x="514" y="0"/>
                </a:moveTo>
                <a:cubicBezTo>
                  <a:pt x="798" y="0"/>
                  <a:pt x="1029" y="230"/>
                  <a:pt x="1029" y="514"/>
                </a:cubicBezTo>
                <a:cubicBezTo>
                  <a:pt x="1029" y="798"/>
                  <a:pt x="798" y="1029"/>
                  <a:pt x="514" y="1029"/>
                </a:cubicBezTo>
                <a:cubicBezTo>
                  <a:pt x="230" y="1029"/>
                  <a:pt x="0" y="798"/>
                  <a:pt x="0" y="514"/>
                </a:cubicBezTo>
                <a:cubicBezTo>
                  <a:pt x="0" y="230"/>
                  <a:pt x="230" y="0"/>
                  <a:pt x="514" y="0"/>
                </a:cubicBezTo>
                <a:close/>
                <a:moveTo>
                  <a:pt x="380" y="856"/>
                </a:moveTo>
                <a:lnTo>
                  <a:pt x="715" y="856"/>
                </a:lnTo>
                <a:cubicBezTo>
                  <a:pt x="724" y="856"/>
                  <a:pt x="732" y="864"/>
                  <a:pt x="732" y="873"/>
                </a:cubicBezTo>
                <a:cubicBezTo>
                  <a:pt x="732" y="883"/>
                  <a:pt x="724" y="890"/>
                  <a:pt x="715" y="890"/>
                </a:cubicBezTo>
                <a:lnTo>
                  <a:pt x="380" y="890"/>
                </a:lnTo>
                <a:cubicBezTo>
                  <a:pt x="371" y="890"/>
                  <a:pt x="363" y="883"/>
                  <a:pt x="363" y="873"/>
                </a:cubicBezTo>
                <a:cubicBezTo>
                  <a:pt x="363" y="864"/>
                  <a:pt x="371" y="856"/>
                  <a:pt x="380" y="856"/>
                </a:cubicBezTo>
                <a:close/>
                <a:moveTo>
                  <a:pt x="388" y="691"/>
                </a:moveTo>
                <a:lnTo>
                  <a:pt x="571" y="389"/>
                </a:lnTo>
                <a:lnTo>
                  <a:pt x="636" y="428"/>
                </a:lnTo>
                <a:lnTo>
                  <a:pt x="452" y="730"/>
                </a:lnTo>
                <a:lnTo>
                  <a:pt x="388" y="691"/>
                </a:lnTo>
                <a:close/>
                <a:moveTo>
                  <a:pt x="258" y="612"/>
                </a:moveTo>
                <a:lnTo>
                  <a:pt x="442" y="310"/>
                </a:lnTo>
                <a:lnTo>
                  <a:pt x="507" y="349"/>
                </a:lnTo>
                <a:lnTo>
                  <a:pt x="323" y="652"/>
                </a:lnTo>
                <a:lnTo>
                  <a:pt x="258" y="612"/>
                </a:lnTo>
                <a:close/>
                <a:moveTo>
                  <a:pt x="230" y="857"/>
                </a:moveTo>
                <a:lnTo>
                  <a:pt x="247" y="707"/>
                </a:lnTo>
                <a:lnTo>
                  <a:pt x="373" y="783"/>
                </a:lnTo>
                <a:lnTo>
                  <a:pt x="248" y="869"/>
                </a:lnTo>
                <a:cubicBezTo>
                  <a:pt x="235" y="878"/>
                  <a:pt x="227" y="873"/>
                  <a:pt x="230" y="857"/>
                </a:cubicBezTo>
                <a:close/>
                <a:moveTo>
                  <a:pt x="492" y="226"/>
                </a:moveTo>
                <a:lnTo>
                  <a:pt x="465" y="270"/>
                </a:lnTo>
                <a:lnTo>
                  <a:pt x="659" y="388"/>
                </a:lnTo>
                <a:lnTo>
                  <a:pt x="686" y="344"/>
                </a:lnTo>
                <a:lnTo>
                  <a:pt x="492" y="226"/>
                </a:lnTo>
                <a:close/>
                <a:moveTo>
                  <a:pt x="533" y="159"/>
                </a:moveTo>
                <a:cubicBezTo>
                  <a:pt x="546" y="139"/>
                  <a:pt x="572" y="132"/>
                  <a:pt x="592" y="144"/>
                </a:cubicBezTo>
                <a:lnTo>
                  <a:pt x="713" y="218"/>
                </a:lnTo>
                <a:cubicBezTo>
                  <a:pt x="733" y="230"/>
                  <a:pt x="740" y="256"/>
                  <a:pt x="727" y="277"/>
                </a:cubicBezTo>
                <a:lnTo>
                  <a:pt x="711" y="304"/>
                </a:lnTo>
                <a:lnTo>
                  <a:pt x="517" y="186"/>
                </a:lnTo>
                <a:lnTo>
                  <a:pt x="533" y="15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3F3F3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65760" y="2204864"/>
            <a:ext cx="5070336" cy="3492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按传输媒质分：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有线通信和无线通信；</a:t>
            </a: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信号的特征分：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模拟信号还是数字信号，可以相应地把通信系统分为模拟通信系统与数字通信系统；</a:t>
            </a:r>
            <a:endParaRPr lang="en-US" altLang="zh-CN" sz="2000" kern="0" dirty="0">
              <a:solidFill>
                <a:srgbClr val="205867"/>
              </a:solidFill>
              <a:latin typeface="微软雅黑"/>
              <a:ea typeface="微软雅黑"/>
            </a:endParaRP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按调制方式分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：基带传输和频带传输；</a:t>
            </a: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按业务分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：话务通信和非话务通信；</a:t>
            </a: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按收信者是否运动分；</a:t>
            </a:r>
            <a:endParaRPr lang="en-US" altLang="zh-CN" sz="2000" kern="0" dirty="0">
              <a:solidFill>
                <a:srgbClr val="205867"/>
              </a:solidFill>
              <a:latin typeface="微软雅黑"/>
              <a:ea typeface="微软雅黑"/>
            </a:endParaRP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按工作频段分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；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5" y="1916833"/>
            <a:ext cx="3452345" cy="3793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6264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948264" y="1070048"/>
          <a:ext cx="792088" cy="72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06048" imgH="393359" progId="Equation.3">
                  <p:embed/>
                </p:oleObj>
              </mc:Choice>
              <mc:Fallback>
                <p:oleObj name="公式" r:id="rId4" imgW="406048" imgH="393359" progId="Equation.3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1070048"/>
                        <a:ext cx="792088" cy="72168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781E19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9926085"/>
      </p:ext>
    </p:extLst>
  </p:cSld>
  <p:clrMapOvr>
    <a:masterClrMapping/>
  </p:clrMapOvr>
  <p:transition spd="slow" advTm="5769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828235" y="930072"/>
            <a:ext cx="8132215" cy="51331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第 </a:t>
            </a:r>
            <a:r>
              <a:rPr lang="en-US" altLang="zh-CN" sz="2800" b="1" dirty="0">
                <a:solidFill>
                  <a:srgbClr val="4E4B49"/>
                </a:solidFill>
                <a:latin typeface="微软雅黑"/>
                <a:ea typeface="微软雅黑"/>
              </a:rPr>
              <a:t>1 </a:t>
            </a:r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章  绪 论</a:t>
            </a:r>
            <a:r>
              <a:rPr lang="en-US" altLang="zh-CN" sz="2400" b="1" dirty="0">
                <a:solidFill>
                  <a:srgbClr val="C00000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/>
                <a:ea typeface="微软雅黑"/>
              </a:rPr>
              <a:t>通信的基本概念</a:t>
            </a: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611561" y="1622731"/>
            <a:ext cx="2517429" cy="44021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81628" tIns="40814" rIns="81628" bIns="40814">
            <a:spAutoFit/>
          </a:bodyPr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>
                <a:solidFill>
                  <a:srgbClr val="040404"/>
                </a:solidFill>
                <a:latin typeface="黑体" panose="02010600030101010101" pitchFamily="2" charset="-122"/>
              </a:rPr>
              <a:t>通信的方式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auto">
          <a:xfrm>
            <a:off x="164724" y="969438"/>
            <a:ext cx="446836" cy="461451"/>
          </a:xfrm>
          <a:custGeom>
            <a:avLst/>
            <a:gdLst>
              <a:gd name="T0" fmla="*/ 514 w 1029"/>
              <a:gd name="T1" fmla="*/ 0 h 1029"/>
              <a:gd name="T2" fmla="*/ 1029 w 1029"/>
              <a:gd name="T3" fmla="*/ 514 h 1029"/>
              <a:gd name="T4" fmla="*/ 514 w 1029"/>
              <a:gd name="T5" fmla="*/ 1029 h 1029"/>
              <a:gd name="T6" fmla="*/ 0 w 1029"/>
              <a:gd name="T7" fmla="*/ 514 h 1029"/>
              <a:gd name="T8" fmla="*/ 514 w 1029"/>
              <a:gd name="T9" fmla="*/ 0 h 1029"/>
              <a:gd name="T10" fmla="*/ 380 w 1029"/>
              <a:gd name="T11" fmla="*/ 856 h 1029"/>
              <a:gd name="T12" fmla="*/ 715 w 1029"/>
              <a:gd name="T13" fmla="*/ 856 h 1029"/>
              <a:gd name="T14" fmla="*/ 732 w 1029"/>
              <a:gd name="T15" fmla="*/ 873 h 1029"/>
              <a:gd name="T16" fmla="*/ 715 w 1029"/>
              <a:gd name="T17" fmla="*/ 890 h 1029"/>
              <a:gd name="T18" fmla="*/ 380 w 1029"/>
              <a:gd name="T19" fmla="*/ 890 h 1029"/>
              <a:gd name="T20" fmla="*/ 363 w 1029"/>
              <a:gd name="T21" fmla="*/ 873 h 1029"/>
              <a:gd name="T22" fmla="*/ 380 w 1029"/>
              <a:gd name="T23" fmla="*/ 856 h 1029"/>
              <a:gd name="T24" fmla="*/ 388 w 1029"/>
              <a:gd name="T25" fmla="*/ 691 h 1029"/>
              <a:gd name="T26" fmla="*/ 571 w 1029"/>
              <a:gd name="T27" fmla="*/ 389 h 1029"/>
              <a:gd name="T28" fmla="*/ 636 w 1029"/>
              <a:gd name="T29" fmla="*/ 428 h 1029"/>
              <a:gd name="T30" fmla="*/ 452 w 1029"/>
              <a:gd name="T31" fmla="*/ 730 h 1029"/>
              <a:gd name="T32" fmla="*/ 388 w 1029"/>
              <a:gd name="T33" fmla="*/ 691 h 1029"/>
              <a:gd name="T34" fmla="*/ 258 w 1029"/>
              <a:gd name="T35" fmla="*/ 612 h 1029"/>
              <a:gd name="T36" fmla="*/ 442 w 1029"/>
              <a:gd name="T37" fmla="*/ 310 h 1029"/>
              <a:gd name="T38" fmla="*/ 507 w 1029"/>
              <a:gd name="T39" fmla="*/ 349 h 1029"/>
              <a:gd name="T40" fmla="*/ 323 w 1029"/>
              <a:gd name="T41" fmla="*/ 652 h 1029"/>
              <a:gd name="T42" fmla="*/ 258 w 1029"/>
              <a:gd name="T43" fmla="*/ 612 h 1029"/>
              <a:gd name="T44" fmla="*/ 230 w 1029"/>
              <a:gd name="T45" fmla="*/ 857 h 1029"/>
              <a:gd name="T46" fmla="*/ 247 w 1029"/>
              <a:gd name="T47" fmla="*/ 707 h 1029"/>
              <a:gd name="T48" fmla="*/ 373 w 1029"/>
              <a:gd name="T49" fmla="*/ 783 h 1029"/>
              <a:gd name="T50" fmla="*/ 248 w 1029"/>
              <a:gd name="T51" fmla="*/ 869 h 1029"/>
              <a:gd name="T52" fmla="*/ 230 w 1029"/>
              <a:gd name="T53" fmla="*/ 857 h 1029"/>
              <a:gd name="T54" fmla="*/ 492 w 1029"/>
              <a:gd name="T55" fmla="*/ 226 h 1029"/>
              <a:gd name="T56" fmla="*/ 465 w 1029"/>
              <a:gd name="T57" fmla="*/ 270 h 1029"/>
              <a:gd name="T58" fmla="*/ 659 w 1029"/>
              <a:gd name="T59" fmla="*/ 388 h 1029"/>
              <a:gd name="T60" fmla="*/ 686 w 1029"/>
              <a:gd name="T61" fmla="*/ 344 h 1029"/>
              <a:gd name="T62" fmla="*/ 492 w 1029"/>
              <a:gd name="T63" fmla="*/ 226 h 1029"/>
              <a:gd name="T64" fmla="*/ 533 w 1029"/>
              <a:gd name="T65" fmla="*/ 159 h 1029"/>
              <a:gd name="T66" fmla="*/ 592 w 1029"/>
              <a:gd name="T67" fmla="*/ 144 h 1029"/>
              <a:gd name="T68" fmla="*/ 713 w 1029"/>
              <a:gd name="T69" fmla="*/ 218 h 1029"/>
              <a:gd name="T70" fmla="*/ 727 w 1029"/>
              <a:gd name="T71" fmla="*/ 277 h 1029"/>
              <a:gd name="T72" fmla="*/ 711 w 1029"/>
              <a:gd name="T73" fmla="*/ 304 h 1029"/>
              <a:gd name="T74" fmla="*/ 517 w 1029"/>
              <a:gd name="T75" fmla="*/ 186 h 1029"/>
              <a:gd name="T76" fmla="*/ 533 w 1029"/>
              <a:gd name="T77" fmla="*/ 159 h 1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9" h="1029">
                <a:moveTo>
                  <a:pt x="514" y="0"/>
                </a:moveTo>
                <a:cubicBezTo>
                  <a:pt x="798" y="0"/>
                  <a:pt x="1029" y="230"/>
                  <a:pt x="1029" y="514"/>
                </a:cubicBezTo>
                <a:cubicBezTo>
                  <a:pt x="1029" y="798"/>
                  <a:pt x="798" y="1029"/>
                  <a:pt x="514" y="1029"/>
                </a:cubicBezTo>
                <a:cubicBezTo>
                  <a:pt x="230" y="1029"/>
                  <a:pt x="0" y="798"/>
                  <a:pt x="0" y="514"/>
                </a:cubicBezTo>
                <a:cubicBezTo>
                  <a:pt x="0" y="230"/>
                  <a:pt x="230" y="0"/>
                  <a:pt x="514" y="0"/>
                </a:cubicBezTo>
                <a:close/>
                <a:moveTo>
                  <a:pt x="380" y="856"/>
                </a:moveTo>
                <a:lnTo>
                  <a:pt x="715" y="856"/>
                </a:lnTo>
                <a:cubicBezTo>
                  <a:pt x="724" y="856"/>
                  <a:pt x="732" y="864"/>
                  <a:pt x="732" y="873"/>
                </a:cubicBezTo>
                <a:cubicBezTo>
                  <a:pt x="732" y="883"/>
                  <a:pt x="724" y="890"/>
                  <a:pt x="715" y="890"/>
                </a:cubicBezTo>
                <a:lnTo>
                  <a:pt x="380" y="890"/>
                </a:lnTo>
                <a:cubicBezTo>
                  <a:pt x="371" y="890"/>
                  <a:pt x="363" y="883"/>
                  <a:pt x="363" y="873"/>
                </a:cubicBezTo>
                <a:cubicBezTo>
                  <a:pt x="363" y="864"/>
                  <a:pt x="371" y="856"/>
                  <a:pt x="380" y="856"/>
                </a:cubicBezTo>
                <a:close/>
                <a:moveTo>
                  <a:pt x="388" y="691"/>
                </a:moveTo>
                <a:lnTo>
                  <a:pt x="571" y="389"/>
                </a:lnTo>
                <a:lnTo>
                  <a:pt x="636" y="428"/>
                </a:lnTo>
                <a:lnTo>
                  <a:pt x="452" y="730"/>
                </a:lnTo>
                <a:lnTo>
                  <a:pt x="388" y="691"/>
                </a:lnTo>
                <a:close/>
                <a:moveTo>
                  <a:pt x="258" y="612"/>
                </a:moveTo>
                <a:lnTo>
                  <a:pt x="442" y="310"/>
                </a:lnTo>
                <a:lnTo>
                  <a:pt x="507" y="349"/>
                </a:lnTo>
                <a:lnTo>
                  <a:pt x="323" y="652"/>
                </a:lnTo>
                <a:lnTo>
                  <a:pt x="258" y="612"/>
                </a:lnTo>
                <a:close/>
                <a:moveTo>
                  <a:pt x="230" y="857"/>
                </a:moveTo>
                <a:lnTo>
                  <a:pt x="247" y="707"/>
                </a:lnTo>
                <a:lnTo>
                  <a:pt x="373" y="783"/>
                </a:lnTo>
                <a:lnTo>
                  <a:pt x="248" y="869"/>
                </a:lnTo>
                <a:cubicBezTo>
                  <a:pt x="235" y="878"/>
                  <a:pt x="227" y="873"/>
                  <a:pt x="230" y="857"/>
                </a:cubicBezTo>
                <a:close/>
                <a:moveTo>
                  <a:pt x="492" y="226"/>
                </a:moveTo>
                <a:lnTo>
                  <a:pt x="465" y="270"/>
                </a:lnTo>
                <a:lnTo>
                  <a:pt x="659" y="388"/>
                </a:lnTo>
                <a:lnTo>
                  <a:pt x="686" y="344"/>
                </a:lnTo>
                <a:lnTo>
                  <a:pt x="492" y="226"/>
                </a:lnTo>
                <a:close/>
                <a:moveTo>
                  <a:pt x="533" y="159"/>
                </a:moveTo>
                <a:cubicBezTo>
                  <a:pt x="546" y="139"/>
                  <a:pt x="572" y="132"/>
                  <a:pt x="592" y="144"/>
                </a:cubicBezTo>
                <a:lnTo>
                  <a:pt x="713" y="218"/>
                </a:lnTo>
                <a:cubicBezTo>
                  <a:pt x="733" y="230"/>
                  <a:pt x="740" y="256"/>
                  <a:pt x="727" y="277"/>
                </a:cubicBezTo>
                <a:lnTo>
                  <a:pt x="711" y="304"/>
                </a:lnTo>
                <a:lnTo>
                  <a:pt x="517" y="186"/>
                </a:lnTo>
                <a:lnTo>
                  <a:pt x="533" y="15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3F3F3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6264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srgbClr val="205867"/>
              </a:solidFill>
            </a:endParaRPr>
          </a:p>
        </p:txBody>
      </p:sp>
      <p:pic>
        <p:nvPicPr>
          <p:cNvPr id="16386" name="Picture 2" descr="S66A000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04864"/>
            <a:ext cx="3827241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 descr="S66A000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576" y="1622730"/>
            <a:ext cx="4363558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893963" y="5306758"/>
            <a:ext cx="3262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按消息传送的方向与时间分</a:t>
            </a:r>
          </a:p>
        </p:txBody>
      </p:sp>
      <p:sp>
        <p:nvSpPr>
          <p:cNvPr id="5" name="矩形 4"/>
          <p:cNvSpPr/>
          <p:nvPr/>
        </p:nvSpPr>
        <p:spPr>
          <a:xfrm>
            <a:off x="5562430" y="3212976"/>
            <a:ext cx="2311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按数字信号排序分 </a:t>
            </a:r>
          </a:p>
        </p:txBody>
      </p:sp>
      <p:pic>
        <p:nvPicPr>
          <p:cNvPr id="16388" name="Picture 4" descr="S66A000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576" y="3795370"/>
            <a:ext cx="4363558" cy="1505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5580112" y="5306758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按通信网络形式分</a:t>
            </a:r>
          </a:p>
        </p:txBody>
      </p:sp>
    </p:spTree>
    <p:extLst>
      <p:ext uri="{BB962C8B-B14F-4D97-AF65-F5344CB8AC3E}">
        <p14:creationId xmlns:p14="http://schemas.microsoft.com/office/powerpoint/2010/main" val="1076273606"/>
      </p:ext>
    </p:extLst>
  </p:cSld>
  <p:clrMapOvr>
    <a:masterClrMapping/>
  </p:clrMapOvr>
  <p:transition spd="slow" advTm="5769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6">
            <a:extLst>
              <a:ext uri="{FF2B5EF4-FFF2-40B4-BE49-F238E27FC236}">
                <a16:creationId xmlns:a16="http://schemas.microsoft.com/office/drawing/2014/main" id="{B68FE37E-5AAD-B1F6-4B70-8C335F4D15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1606550"/>
          <a:ext cx="6992937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25454" imgH="1034538" progId="Visio.Drawing.11">
                  <p:embed/>
                </p:oleObj>
              </mc:Choice>
              <mc:Fallback>
                <p:oleObj name="Visio" r:id="rId4" imgW="3225454" imgH="1034538" progId="Visio.Drawing.11">
                  <p:embed/>
                  <p:pic>
                    <p:nvPicPr>
                      <p:cNvPr id="2050" name="Object 6">
                        <a:extLst>
                          <a:ext uri="{FF2B5EF4-FFF2-40B4-BE49-F238E27FC236}">
                            <a16:creationId xmlns:a16="http://schemas.microsoft.com/office/drawing/2014/main" id="{B68FE37E-5AAD-B1F6-4B70-8C335F4D15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606550"/>
                        <a:ext cx="6992937" cy="2232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99999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Rectangle 5">
            <a:extLst>
              <a:ext uri="{FF2B5EF4-FFF2-40B4-BE49-F238E27FC236}">
                <a16:creationId xmlns:a16="http://schemas.microsoft.com/office/drawing/2014/main" id="{E728FB0F-9EBA-547A-05E8-8B1016B2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3787" name="AutoShape 27">
            <a:extLst>
              <a:ext uri="{FF2B5EF4-FFF2-40B4-BE49-F238E27FC236}">
                <a16:creationId xmlns:a16="http://schemas.microsoft.com/office/drawing/2014/main" id="{0681DCD2-0B83-5345-64B8-EEC8D2763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3254375"/>
            <a:ext cx="2428875" cy="1285875"/>
          </a:xfrm>
          <a:prstGeom prst="wedgeRoundRectCallout">
            <a:avLst>
              <a:gd name="adj1" fmla="val -27028"/>
              <a:gd name="adj2" fmla="val -50852"/>
              <a:gd name="adj3" fmla="val 16667"/>
            </a:avLst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消息 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→ </a:t>
            </a:r>
            <a:r>
              <a:rPr lang="zh-CN" altLang="en-US" sz="2000" b="1" dirty="0">
                <a:latin typeface="宋体" panose="02010600030101010101" pitchFamily="2" charset="-122"/>
              </a:rPr>
              <a:t>电信号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000" b="1" dirty="0">
                <a:solidFill>
                  <a:srgbClr val="000066"/>
                </a:solidFill>
                <a:latin typeface="宋体" panose="02010600030101010101" pitchFamily="2" charset="-122"/>
              </a:rPr>
              <a:t>如 </a:t>
            </a:r>
            <a:r>
              <a:rPr lang="zh-CN" altLang="en-US" sz="2000" b="1" dirty="0">
                <a:latin typeface="宋体" panose="02010600030101010101" pitchFamily="2" charset="-122"/>
              </a:rPr>
              <a:t>电话机的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话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筒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把声音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2000" b="1" dirty="0">
                <a:latin typeface="宋体" panose="02010600030101010101" pitchFamily="2" charset="-122"/>
              </a:rPr>
              <a:t>音频信号</a:t>
            </a:r>
          </a:p>
        </p:txBody>
      </p:sp>
      <p:sp>
        <p:nvSpPr>
          <p:cNvPr id="373788" name="AutoShape 28">
            <a:extLst>
              <a:ext uri="{FF2B5EF4-FFF2-40B4-BE49-F238E27FC236}">
                <a16:creationId xmlns:a16="http://schemas.microsoft.com/office/drawing/2014/main" id="{46C40A01-3AD8-36B8-A6D3-059196713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3254375"/>
            <a:ext cx="2568257" cy="1285875"/>
          </a:xfrm>
          <a:prstGeom prst="wedgeRoundRectCallout">
            <a:avLst>
              <a:gd name="adj1" fmla="val 17500"/>
              <a:gd name="adj2" fmla="val -51731"/>
              <a:gd name="adj3" fmla="val 16667"/>
            </a:avLst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电信号 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→ </a:t>
            </a:r>
            <a:r>
              <a:rPr lang="zh-CN" altLang="en-US" sz="2000" b="1" dirty="0">
                <a:latin typeface="宋体" panose="02010600030101010101" pitchFamily="2" charset="-122"/>
              </a:rPr>
              <a:t>消息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000" b="1" dirty="0">
                <a:solidFill>
                  <a:srgbClr val="000066"/>
                </a:solidFill>
                <a:latin typeface="宋体" panose="02010600030101010101" pitchFamily="2" charset="-122"/>
              </a:rPr>
              <a:t>如</a:t>
            </a:r>
            <a:r>
              <a:rPr lang="zh-CN" altLang="en-US" sz="2000" b="1" dirty="0">
                <a:latin typeface="宋体" panose="02010600030101010101" pitchFamily="2" charset="-122"/>
              </a:rPr>
              <a:t>电话机的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听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筒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把音频信号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2000" b="1" dirty="0">
                <a:latin typeface="宋体" panose="02010600030101010101" pitchFamily="2" charset="-122"/>
              </a:rPr>
              <a:t>声音</a:t>
            </a:r>
          </a:p>
        </p:txBody>
      </p:sp>
      <p:sp>
        <p:nvSpPr>
          <p:cNvPr id="373790" name="AutoShape 30">
            <a:extLst>
              <a:ext uri="{FF2B5EF4-FFF2-40B4-BE49-F238E27FC236}">
                <a16:creationId xmlns:a16="http://schemas.microsoft.com/office/drawing/2014/main" id="{901C457F-0750-7C21-200A-91AB073F2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040313"/>
            <a:ext cx="3929063" cy="928687"/>
          </a:xfrm>
          <a:prstGeom prst="wedgeRoundRectCallout">
            <a:avLst>
              <a:gd name="adj1" fmla="val 19454"/>
              <a:gd name="adj2" fmla="val -52648"/>
              <a:gd name="adj3" fmla="val 16667"/>
            </a:avLst>
          </a:prstGeom>
          <a:noFill/>
          <a:ln w="3175">
            <a:solidFill>
              <a:srgbClr val="993366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原始电信号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2000" b="1" dirty="0">
                <a:latin typeface="宋体" panose="02010600030101010101" pitchFamily="2" charset="-122"/>
              </a:rPr>
              <a:t>适合在信道中传输的信号。</a:t>
            </a:r>
            <a:r>
              <a:rPr lang="zh-CN" altLang="en-US" sz="2000" b="1" dirty="0">
                <a:solidFill>
                  <a:srgbClr val="333399"/>
                </a:solidFill>
                <a:latin typeface="宋体" panose="02010600030101010101" pitchFamily="2" charset="-122"/>
              </a:rPr>
              <a:t>如</a:t>
            </a:r>
            <a:r>
              <a:rPr lang="zh-CN" altLang="en-US" sz="2000" b="1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latin typeface="宋体" panose="02010600030101010101" pitchFamily="2" charset="-122"/>
              </a:rPr>
              <a:t>编码、调制</a:t>
            </a:r>
          </a:p>
        </p:txBody>
      </p:sp>
      <p:sp>
        <p:nvSpPr>
          <p:cNvPr id="373791" name="AutoShape 31">
            <a:extLst>
              <a:ext uri="{FF2B5EF4-FFF2-40B4-BE49-F238E27FC236}">
                <a16:creationId xmlns:a16="http://schemas.microsoft.com/office/drawing/2014/main" id="{A2726CA4-8F12-93CB-158C-00DBCF06E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5105400"/>
            <a:ext cx="2928938" cy="863600"/>
          </a:xfrm>
          <a:prstGeom prst="wedgeRoundRectCallout">
            <a:avLst>
              <a:gd name="adj1" fmla="val -23796"/>
              <a:gd name="adj2" fmla="val -51421"/>
              <a:gd name="adj3" fmla="val 16667"/>
            </a:avLst>
          </a:prstGeom>
          <a:noFill/>
          <a:ln w="3175">
            <a:solidFill>
              <a:srgbClr val="993366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其功能与发送设备相反。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000" b="1" dirty="0">
                <a:solidFill>
                  <a:srgbClr val="333399"/>
                </a:solidFill>
                <a:latin typeface="宋体" panose="02010600030101010101" pitchFamily="2" charset="-122"/>
              </a:rPr>
              <a:t> 如</a:t>
            </a:r>
            <a:r>
              <a:rPr lang="zh-CN" altLang="en-US" sz="2000" b="1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latin typeface="宋体" panose="02010600030101010101" pitchFamily="2" charset="-122"/>
              </a:rPr>
              <a:t>译码、解调</a:t>
            </a:r>
          </a:p>
        </p:txBody>
      </p:sp>
      <p:sp>
        <p:nvSpPr>
          <p:cNvPr id="27" name="AutoShape 33">
            <a:extLst>
              <a:ext uri="{FF2B5EF4-FFF2-40B4-BE49-F238E27FC236}">
                <a16:creationId xmlns:a16="http://schemas.microsoft.com/office/drawing/2014/main" id="{4D48AA8D-6719-2E3E-A6D2-6D6796F5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2897188"/>
            <a:ext cx="2027238" cy="357187"/>
          </a:xfrm>
          <a:prstGeom prst="wedgeRectCallout">
            <a:avLst>
              <a:gd name="adj1" fmla="val -13727"/>
              <a:gd name="adj2" fmla="val -115644"/>
            </a:avLst>
          </a:prstGeom>
          <a:solidFill>
            <a:schemeClr val="bg1"/>
          </a:solidFill>
          <a:ln w="12700">
            <a:solidFill>
              <a:srgbClr val="003399"/>
            </a:solidFill>
            <a:prstDash val="dash"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destination</a:t>
            </a:r>
            <a:r>
              <a:rPr lang="zh-CN" altLang="en-US" b="1" dirty="0"/>
              <a:t>        </a:t>
            </a:r>
          </a:p>
        </p:txBody>
      </p:sp>
      <p:sp>
        <p:nvSpPr>
          <p:cNvPr id="28" name="AutoShape 33">
            <a:extLst>
              <a:ext uri="{FF2B5EF4-FFF2-40B4-BE49-F238E27FC236}">
                <a16:creationId xmlns:a16="http://schemas.microsoft.com/office/drawing/2014/main" id="{91B20B64-1CB3-685F-2202-FA97D8658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2897188"/>
            <a:ext cx="1265872" cy="357187"/>
          </a:xfrm>
          <a:prstGeom prst="wedgeRectCallout">
            <a:avLst>
              <a:gd name="adj1" fmla="val 15903"/>
              <a:gd name="adj2" fmla="val -123773"/>
            </a:avLst>
          </a:prstGeom>
          <a:solidFill>
            <a:schemeClr val="bg1"/>
          </a:solidFill>
          <a:ln w="12700">
            <a:solidFill>
              <a:srgbClr val="003399"/>
            </a:solidFill>
            <a:prstDash val="dash"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b="1"/>
              <a:t>source</a:t>
            </a:r>
            <a:r>
              <a:rPr lang="zh-CN" altLang="en-US" b="1"/>
              <a:t>        </a:t>
            </a:r>
          </a:p>
        </p:txBody>
      </p:sp>
      <p:sp>
        <p:nvSpPr>
          <p:cNvPr id="29" name="AutoShape 33">
            <a:extLst>
              <a:ext uri="{FF2B5EF4-FFF2-40B4-BE49-F238E27FC236}">
                <a16:creationId xmlns:a16="http://schemas.microsoft.com/office/drawing/2014/main" id="{9075F214-92E7-B8C7-A54A-5EE3FA861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4683125"/>
            <a:ext cx="1960245" cy="357188"/>
          </a:xfrm>
          <a:prstGeom prst="wedgeRectCallout">
            <a:avLst>
              <a:gd name="adj1" fmla="val 18153"/>
              <a:gd name="adj2" fmla="val -103454"/>
            </a:avLst>
          </a:prstGeom>
          <a:solidFill>
            <a:schemeClr val="bg1"/>
          </a:solidFill>
          <a:ln w="12700">
            <a:solidFill>
              <a:srgbClr val="990099"/>
            </a:solidFill>
            <a:prstDash val="dash"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b="1"/>
              <a:t>transmitter</a:t>
            </a:r>
            <a:r>
              <a:rPr lang="zh-CN" altLang="en-US" b="1"/>
              <a:t>        </a:t>
            </a:r>
          </a:p>
        </p:txBody>
      </p:sp>
      <p:sp>
        <p:nvSpPr>
          <p:cNvPr id="30" name="AutoShape 33">
            <a:extLst>
              <a:ext uri="{FF2B5EF4-FFF2-40B4-BE49-F238E27FC236}">
                <a16:creationId xmlns:a16="http://schemas.microsoft.com/office/drawing/2014/main" id="{FE73DFBB-99FC-5DBE-3C1C-0C1E09385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4748214"/>
            <a:ext cx="1520190" cy="303212"/>
          </a:xfrm>
          <a:prstGeom prst="wedgeRectCallout">
            <a:avLst>
              <a:gd name="adj1" fmla="val -19500"/>
              <a:gd name="adj2" fmla="val -131903"/>
            </a:avLst>
          </a:prstGeom>
          <a:solidFill>
            <a:schemeClr val="bg1"/>
          </a:solidFill>
          <a:ln w="12700">
            <a:solidFill>
              <a:srgbClr val="990099"/>
            </a:solidFill>
            <a:prstDash val="dash"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receiver</a:t>
            </a:r>
            <a:r>
              <a:rPr lang="zh-CN" altLang="en-US" b="1" dirty="0"/>
              <a:t>        </a:t>
            </a:r>
          </a:p>
        </p:txBody>
      </p:sp>
      <p:sp>
        <p:nvSpPr>
          <p:cNvPr id="31" name="AutoShape 33">
            <a:extLst>
              <a:ext uri="{FF2B5EF4-FFF2-40B4-BE49-F238E27FC236}">
                <a16:creationId xmlns:a16="http://schemas.microsoft.com/office/drawing/2014/main" id="{AAFB6A63-BEEA-7F25-14AC-4E2AE02D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847" y="1389037"/>
            <a:ext cx="1400810" cy="352424"/>
          </a:xfrm>
          <a:prstGeom prst="wedgeRectCallout">
            <a:avLst>
              <a:gd name="adj1" fmla="val 26051"/>
              <a:gd name="adj2" fmla="val 139708"/>
            </a:avLst>
          </a:prstGeom>
          <a:solidFill>
            <a:schemeClr val="bg1"/>
          </a:solidFill>
          <a:ln w="12700">
            <a:solidFill>
              <a:srgbClr val="808080"/>
            </a:solidFill>
            <a:prstDash val="dash"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channel</a:t>
            </a:r>
            <a:r>
              <a:rPr lang="zh-CN" altLang="en-US" b="1" dirty="0"/>
              <a:t>        </a:t>
            </a:r>
          </a:p>
        </p:txBody>
      </p:sp>
      <p:sp>
        <p:nvSpPr>
          <p:cNvPr id="32" name="AutoShape 33">
            <a:extLst>
              <a:ext uri="{FF2B5EF4-FFF2-40B4-BE49-F238E27FC236}">
                <a16:creationId xmlns:a16="http://schemas.microsoft.com/office/drawing/2014/main" id="{F9124754-C42C-9ADB-0378-249C37FE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938" y="3683000"/>
            <a:ext cx="1231582" cy="357182"/>
          </a:xfrm>
          <a:prstGeom prst="wedgeRectCallout">
            <a:avLst>
              <a:gd name="adj1" fmla="val -16569"/>
              <a:gd name="adj2" fmla="val -83134"/>
            </a:avLst>
          </a:prstGeom>
          <a:solidFill>
            <a:schemeClr val="bg1"/>
          </a:solidFill>
          <a:ln w="12700">
            <a:solidFill>
              <a:srgbClr val="808080"/>
            </a:solidFill>
            <a:prstDash val="dash"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  noise</a:t>
            </a:r>
            <a:r>
              <a:rPr lang="zh-CN" altLang="en-US" b="1" dirty="0"/>
              <a:t>        </a:t>
            </a:r>
          </a:p>
        </p:txBody>
      </p:sp>
      <p:sp>
        <p:nvSpPr>
          <p:cNvPr id="33" name="AutoShape 28">
            <a:extLst>
              <a:ext uri="{FF2B5EF4-FFF2-40B4-BE49-F238E27FC236}">
                <a16:creationId xmlns:a16="http://schemas.microsoft.com/office/drawing/2014/main" id="{DB9DCAB4-438C-E59D-E803-93C677327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900" y="1073150"/>
            <a:ext cx="1928813" cy="714375"/>
          </a:xfrm>
          <a:prstGeom prst="wedgeRoundRectCallout">
            <a:avLst>
              <a:gd name="adj1" fmla="val -19370"/>
              <a:gd name="adj2" fmla="val 51889"/>
              <a:gd name="adj3" fmla="val 16667"/>
            </a:avLst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000" b="1"/>
              <a:t>能传输信号的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000" b="1"/>
              <a:t> 各种物理媒介</a:t>
            </a:r>
            <a:endParaRPr lang="zh-CN" altLang="en-US" sz="2000" b="1">
              <a:latin typeface="宋体" panose="02010600030101010101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35FDE3-104D-2442-72E3-0ABBC35A843F}"/>
              </a:ext>
            </a:extLst>
          </p:cNvPr>
          <p:cNvSpPr txBox="1"/>
          <p:nvPr/>
        </p:nvSpPr>
        <p:spPr>
          <a:xfrm>
            <a:off x="828905" y="418525"/>
            <a:ext cx="8132215" cy="51331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第 </a:t>
            </a:r>
            <a:r>
              <a:rPr lang="en-US" altLang="zh-CN" sz="2800" b="1" dirty="0">
                <a:solidFill>
                  <a:srgbClr val="4E4B49"/>
                </a:solidFill>
                <a:latin typeface="微软雅黑"/>
                <a:ea typeface="微软雅黑"/>
              </a:rPr>
              <a:t>1 </a:t>
            </a:r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章  绪 论</a:t>
            </a:r>
            <a:r>
              <a:rPr lang="en-US" altLang="zh-CN" sz="2400" b="1" dirty="0">
                <a:solidFill>
                  <a:srgbClr val="C00000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/>
                <a:ea typeface="微软雅黑"/>
              </a:rPr>
              <a:t>通信系统的组成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7D503CB-BBBB-6CC8-56D4-A9CB38D20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12" y="1042253"/>
            <a:ext cx="2517429" cy="44021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81628" tIns="40814" rIns="81628" bIns="40814">
            <a:spAutoFit/>
          </a:bodyPr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>
                <a:solidFill>
                  <a:srgbClr val="040404"/>
                </a:solidFill>
                <a:latin typeface="黑体" panose="02010600030101010101" pitchFamily="2" charset="-122"/>
              </a:rPr>
              <a:t>通信系统的一般模型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58EB48CF-2434-E2AE-6D84-A3832D336CC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65394" y="457891"/>
            <a:ext cx="446836" cy="461451"/>
          </a:xfrm>
          <a:custGeom>
            <a:avLst/>
            <a:gdLst>
              <a:gd name="T0" fmla="*/ 514 w 1029"/>
              <a:gd name="T1" fmla="*/ 0 h 1029"/>
              <a:gd name="T2" fmla="*/ 1029 w 1029"/>
              <a:gd name="T3" fmla="*/ 514 h 1029"/>
              <a:gd name="T4" fmla="*/ 514 w 1029"/>
              <a:gd name="T5" fmla="*/ 1029 h 1029"/>
              <a:gd name="T6" fmla="*/ 0 w 1029"/>
              <a:gd name="T7" fmla="*/ 514 h 1029"/>
              <a:gd name="T8" fmla="*/ 514 w 1029"/>
              <a:gd name="T9" fmla="*/ 0 h 1029"/>
              <a:gd name="T10" fmla="*/ 380 w 1029"/>
              <a:gd name="T11" fmla="*/ 856 h 1029"/>
              <a:gd name="T12" fmla="*/ 715 w 1029"/>
              <a:gd name="T13" fmla="*/ 856 h 1029"/>
              <a:gd name="T14" fmla="*/ 732 w 1029"/>
              <a:gd name="T15" fmla="*/ 873 h 1029"/>
              <a:gd name="T16" fmla="*/ 715 w 1029"/>
              <a:gd name="T17" fmla="*/ 890 h 1029"/>
              <a:gd name="T18" fmla="*/ 380 w 1029"/>
              <a:gd name="T19" fmla="*/ 890 h 1029"/>
              <a:gd name="T20" fmla="*/ 363 w 1029"/>
              <a:gd name="T21" fmla="*/ 873 h 1029"/>
              <a:gd name="T22" fmla="*/ 380 w 1029"/>
              <a:gd name="T23" fmla="*/ 856 h 1029"/>
              <a:gd name="T24" fmla="*/ 388 w 1029"/>
              <a:gd name="T25" fmla="*/ 691 h 1029"/>
              <a:gd name="T26" fmla="*/ 571 w 1029"/>
              <a:gd name="T27" fmla="*/ 389 h 1029"/>
              <a:gd name="T28" fmla="*/ 636 w 1029"/>
              <a:gd name="T29" fmla="*/ 428 h 1029"/>
              <a:gd name="T30" fmla="*/ 452 w 1029"/>
              <a:gd name="T31" fmla="*/ 730 h 1029"/>
              <a:gd name="T32" fmla="*/ 388 w 1029"/>
              <a:gd name="T33" fmla="*/ 691 h 1029"/>
              <a:gd name="T34" fmla="*/ 258 w 1029"/>
              <a:gd name="T35" fmla="*/ 612 h 1029"/>
              <a:gd name="T36" fmla="*/ 442 w 1029"/>
              <a:gd name="T37" fmla="*/ 310 h 1029"/>
              <a:gd name="T38" fmla="*/ 507 w 1029"/>
              <a:gd name="T39" fmla="*/ 349 h 1029"/>
              <a:gd name="T40" fmla="*/ 323 w 1029"/>
              <a:gd name="T41" fmla="*/ 652 h 1029"/>
              <a:gd name="T42" fmla="*/ 258 w 1029"/>
              <a:gd name="T43" fmla="*/ 612 h 1029"/>
              <a:gd name="T44" fmla="*/ 230 w 1029"/>
              <a:gd name="T45" fmla="*/ 857 h 1029"/>
              <a:gd name="T46" fmla="*/ 247 w 1029"/>
              <a:gd name="T47" fmla="*/ 707 h 1029"/>
              <a:gd name="T48" fmla="*/ 373 w 1029"/>
              <a:gd name="T49" fmla="*/ 783 h 1029"/>
              <a:gd name="T50" fmla="*/ 248 w 1029"/>
              <a:gd name="T51" fmla="*/ 869 h 1029"/>
              <a:gd name="T52" fmla="*/ 230 w 1029"/>
              <a:gd name="T53" fmla="*/ 857 h 1029"/>
              <a:gd name="T54" fmla="*/ 492 w 1029"/>
              <a:gd name="T55" fmla="*/ 226 h 1029"/>
              <a:gd name="T56" fmla="*/ 465 w 1029"/>
              <a:gd name="T57" fmla="*/ 270 h 1029"/>
              <a:gd name="T58" fmla="*/ 659 w 1029"/>
              <a:gd name="T59" fmla="*/ 388 h 1029"/>
              <a:gd name="T60" fmla="*/ 686 w 1029"/>
              <a:gd name="T61" fmla="*/ 344 h 1029"/>
              <a:gd name="T62" fmla="*/ 492 w 1029"/>
              <a:gd name="T63" fmla="*/ 226 h 1029"/>
              <a:gd name="T64" fmla="*/ 533 w 1029"/>
              <a:gd name="T65" fmla="*/ 159 h 1029"/>
              <a:gd name="T66" fmla="*/ 592 w 1029"/>
              <a:gd name="T67" fmla="*/ 144 h 1029"/>
              <a:gd name="T68" fmla="*/ 713 w 1029"/>
              <a:gd name="T69" fmla="*/ 218 h 1029"/>
              <a:gd name="T70" fmla="*/ 727 w 1029"/>
              <a:gd name="T71" fmla="*/ 277 h 1029"/>
              <a:gd name="T72" fmla="*/ 711 w 1029"/>
              <a:gd name="T73" fmla="*/ 304 h 1029"/>
              <a:gd name="T74" fmla="*/ 517 w 1029"/>
              <a:gd name="T75" fmla="*/ 186 h 1029"/>
              <a:gd name="T76" fmla="*/ 533 w 1029"/>
              <a:gd name="T77" fmla="*/ 159 h 1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9" h="1029">
                <a:moveTo>
                  <a:pt x="514" y="0"/>
                </a:moveTo>
                <a:cubicBezTo>
                  <a:pt x="798" y="0"/>
                  <a:pt x="1029" y="230"/>
                  <a:pt x="1029" y="514"/>
                </a:cubicBezTo>
                <a:cubicBezTo>
                  <a:pt x="1029" y="798"/>
                  <a:pt x="798" y="1029"/>
                  <a:pt x="514" y="1029"/>
                </a:cubicBezTo>
                <a:cubicBezTo>
                  <a:pt x="230" y="1029"/>
                  <a:pt x="0" y="798"/>
                  <a:pt x="0" y="514"/>
                </a:cubicBezTo>
                <a:cubicBezTo>
                  <a:pt x="0" y="230"/>
                  <a:pt x="230" y="0"/>
                  <a:pt x="514" y="0"/>
                </a:cubicBezTo>
                <a:close/>
                <a:moveTo>
                  <a:pt x="380" y="856"/>
                </a:moveTo>
                <a:lnTo>
                  <a:pt x="715" y="856"/>
                </a:lnTo>
                <a:cubicBezTo>
                  <a:pt x="724" y="856"/>
                  <a:pt x="732" y="864"/>
                  <a:pt x="732" y="873"/>
                </a:cubicBezTo>
                <a:cubicBezTo>
                  <a:pt x="732" y="883"/>
                  <a:pt x="724" y="890"/>
                  <a:pt x="715" y="890"/>
                </a:cubicBezTo>
                <a:lnTo>
                  <a:pt x="380" y="890"/>
                </a:lnTo>
                <a:cubicBezTo>
                  <a:pt x="371" y="890"/>
                  <a:pt x="363" y="883"/>
                  <a:pt x="363" y="873"/>
                </a:cubicBezTo>
                <a:cubicBezTo>
                  <a:pt x="363" y="864"/>
                  <a:pt x="371" y="856"/>
                  <a:pt x="380" y="856"/>
                </a:cubicBezTo>
                <a:close/>
                <a:moveTo>
                  <a:pt x="388" y="691"/>
                </a:moveTo>
                <a:lnTo>
                  <a:pt x="571" y="389"/>
                </a:lnTo>
                <a:lnTo>
                  <a:pt x="636" y="428"/>
                </a:lnTo>
                <a:lnTo>
                  <a:pt x="452" y="730"/>
                </a:lnTo>
                <a:lnTo>
                  <a:pt x="388" y="691"/>
                </a:lnTo>
                <a:close/>
                <a:moveTo>
                  <a:pt x="258" y="612"/>
                </a:moveTo>
                <a:lnTo>
                  <a:pt x="442" y="310"/>
                </a:lnTo>
                <a:lnTo>
                  <a:pt x="507" y="349"/>
                </a:lnTo>
                <a:lnTo>
                  <a:pt x="323" y="652"/>
                </a:lnTo>
                <a:lnTo>
                  <a:pt x="258" y="612"/>
                </a:lnTo>
                <a:close/>
                <a:moveTo>
                  <a:pt x="230" y="857"/>
                </a:moveTo>
                <a:lnTo>
                  <a:pt x="247" y="707"/>
                </a:lnTo>
                <a:lnTo>
                  <a:pt x="373" y="783"/>
                </a:lnTo>
                <a:lnTo>
                  <a:pt x="248" y="869"/>
                </a:lnTo>
                <a:cubicBezTo>
                  <a:pt x="235" y="878"/>
                  <a:pt x="227" y="873"/>
                  <a:pt x="230" y="857"/>
                </a:cubicBezTo>
                <a:close/>
                <a:moveTo>
                  <a:pt x="492" y="226"/>
                </a:moveTo>
                <a:lnTo>
                  <a:pt x="465" y="270"/>
                </a:lnTo>
                <a:lnTo>
                  <a:pt x="659" y="388"/>
                </a:lnTo>
                <a:lnTo>
                  <a:pt x="686" y="344"/>
                </a:lnTo>
                <a:lnTo>
                  <a:pt x="492" y="226"/>
                </a:lnTo>
                <a:close/>
                <a:moveTo>
                  <a:pt x="533" y="159"/>
                </a:moveTo>
                <a:cubicBezTo>
                  <a:pt x="546" y="139"/>
                  <a:pt x="572" y="132"/>
                  <a:pt x="592" y="144"/>
                </a:cubicBezTo>
                <a:lnTo>
                  <a:pt x="713" y="218"/>
                </a:lnTo>
                <a:cubicBezTo>
                  <a:pt x="733" y="230"/>
                  <a:pt x="740" y="256"/>
                  <a:pt x="727" y="277"/>
                </a:cubicBezTo>
                <a:lnTo>
                  <a:pt x="711" y="304"/>
                </a:lnTo>
                <a:lnTo>
                  <a:pt x="517" y="186"/>
                </a:lnTo>
                <a:lnTo>
                  <a:pt x="533" y="15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3F3F3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3AE8913-2F94-48F2-20AE-1611BE0B9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" y="11487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srgbClr val="205867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7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73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37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37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87" grpId="0" animBg="1"/>
      <p:bldP spid="373788" grpId="0" animBg="1"/>
      <p:bldP spid="373790" grpId="0" animBg="1"/>
      <p:bldP spid="373791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88025" y="2764482"/>
            <a:ext cx="4105611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latin typeface="微软雅黑"/>
                <a:ea typeface="微软雅黑"/>
              </a:rPr>
              <a:t>发射</a:t>
            </a:r>
            <a:r>
              <a:rPr lang="en-US" altLang="zh-CN" sz="2000" kern="0" dirty="0">
                <a:latin typeface="微软雅黑"/>
                <a:ea typeface="微软雅黑"/>
              </a:rPr>
              <a:t>3000Hz</a:t>
            </a:r>
            <a:r>
              <a:rPr lang="zh-CN" altLang="en-US" sz="2000" kern="0" dirty="0">
                <a:latin typeface="微软雅黑"/>
                <a:ea typeface="微软雅黑"/>
              </a:rPr>
              <a:t>信号需要的天线</a:t>
            </a:r>
            <a:endParaRPr lang="en-US" altLang="zh-CN" sz="2000" kern="0" dirty="0">
              <a:latin typeface="微软雅黑"/>
              <a:ea typeface="微软雅黑"/>
            </a:endParaRPr>
          </a:p>
          <a:p>
            <a:endParaRPr lang="en-US" altLang="zh-CN" sz="2000" kern="0" dirty="0">
              <a:latin typeface="微软雅黑"/>
              <a:ea typeface="微软雅黑"/>
            </a:endParaRPr>
          </a:p>
          <a:p>
            <a:endParaRPr lang="en-US" altLang="zh-CN" sz="2000" kern="0" dirty="0">
              <a:latin typeface="微软雅黑"/>
              <a:ea typeface="微软雅黑"/>
            </a:endParaRPr>
          </a:p>
          <a:p>
            <a:endParaRPr lang="en-US" altLang="zh-CN" sz="2000" kern="0" dirty="0">
              <a:latin typeface="微软雅黑"/>
              <a:ea typeface="微软雅黑"/>
            </a:endParaRPr>
          </a:p>
          <a:p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*计算发射</a:t>
            </a:r>
            <a:r>
              <a:rPr lang="en-US" altLang="zh-CN" sz="2000" kern="0" dirty="0">
                <a:solidFill>
                  <a:srgbClr val="C00000"/>
                </a:solidFill>
                <a:latin typeface="微软雅黑"/>
                <a:ea typeface="微软雅黑"/>
              </a:rPr>
              <a:t>3MHz</a:t>
            </a: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信号需要的天线？</a:t>
            </a:r>
            <a:endParaRPr lang="en-US" altLang="zh-CN" sz="2000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>
              <a:lnSpc>
                <a:spcPct val="200000"/>
              </a:lnSpc>
            </a:pPr>
            <a:r>
              <a:rPr lang="en-US" altLang="zh-CN" sz="2000" kern="0" dirty="0">
                <a:solidFill>
                  <a:srgbClr val="C00000"/>
                </a:solidFill>
                <a:latin typeface="微软雅黑"/>
                <a:ea typeface="微软雅黑"/>
              </a:rPr>
              <a:t>*3MHz</a:t>
            </a: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属于</a:t>
            </a:r>
            <a:r>
              <a:rPr lang="en-US" altLang="zh-CN" sz="2000" kern="0" dirty="0">
                <a:solidFill>
                  <a:srgbClr val="C00000"/>
                </a:solidFill>
                <a:latin typeface="微软雅黑"/>
                <a:ea typeface="微软雅黑"/>
              </a:rPr>
              <a:t>______</a:t>
            </a: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波段</a:t>
            </a:r>
            <a:endParaRPr lang="en-US" altLang="zh-CN" sz="2000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r>
              <a:rPr lang="en-US" altLang="zh-CN" sz="2000" kern="0" dirty="0">
                <a:latin typeface="微软雅黑"/>
                <a:ea typeface="微软雅黑"/>
              </a:rPr>
              <a:t>       A</a:t>
            </a:r>
            <a:r>
              <a:rPr lang="zh-CN" altLang="en-US" sz="2000" kern="0" dirty="0">
                <a:latin typeface="微软雅黑"/>
                <a:ea typeface="微软雅黑"/>
              </a:rPr>
              <a:t>、长波</a:t>
            </a:r>
            <a:r>
              <a:rPr lang="en-US" altLang="zh-CN" sz="2000" kern="0" dirty="0">
                <a:latin typeface="微软雅黑"/>
                <a:ea typeface="微软雅黑"/>
              </a:rPr>
              <a:t>	 B</a:t>
            </a:r>
            <a:r>
              <a:rPr lang="zh-CN" altLang="en-US" sz="2000" kern="0" dirty="0">
                <a:latin typeface="微软雅黑"/>
                <a:ea typeface="微软雅黑"/>
              </a:rPr>
              <a:t>、中波 </a:t>
            </a:r>
            <a:endParaRPr lang="en-US" altLang="zh-CN" sz="2000" kern="0" dirty="0">
              <a:latin typeface="微软雅黑"/>
              <a:ea typeface="微软雅黑"/>
            </a:endParaRPr>
          </a:p>
          <a:p>
            <a:r>
              <a:rPr lang="en-US" altLang="zh-CN" sz="2000" kern="0" dirty="0">
                <a:latin typeface="微软雅黑"/>
                <a:ea typeface="微软雅黑"/>
              </a:rPr>
              <a:t>       C</a:t>
            </a:r>
            <a:r>
              <a:rPr lang="zh-CN" altLang="en-US" sz="2000" kern="0" dirty="0">
                <a:latin typeface="微软雅黑"/>
                <a:ea typeface="微软雅黑"/>
              </a:rPr>
              <a:t>、短波      </a:t>
            </a:r>
            <a:r>
              <a:rPr lang="en-US" altLang="zh-CN" sz="2000" kern="0" dirty="0">
                <a:latin typeface="微软雅黑"/>
                <a:ea typeface="微软雅黑"/>
              </a:rPr>
              <a:t>D</a:t>
            </a:r>
            <a:r>
              <a:rPr lang="zh-CN" altLang="en-US" sz="2000" kern="0" dirty="0">
                <a:latin typeface="微软雅黑"/>
                <a:ea typeface="微软雅黑"/>
              </a:rPr>
              <a:t>、微波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235" y="930072"/>
            <a:ext cx="8132215" cy="51331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第 </a:t>
            </a:r>
            <a:r>
              <a:rPr lang="en-US" altLang="zh-CN" sz="2800" b="1" dirty="0">
                <a:solidFill>
                  <a:srgbClr val="4E4B49"/>
                </a:solidFill>
                <a:latin typeface="微软雅黑"/>
                <a:ea typeface="微软雅黑"/>
              </a:rPr>
              <a:t>1 </a:t>
            </a:r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章  绪 论</a:t>
            </a:r>
            <a:r>
              <a:rPr lang="en-US" altLang="zh-CN" sz="2400" b="1" dirty="0">
                <a:solidFill>
                  <a:srgbClr val="C00000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/>
                <a:ea typeface="微软雅黑"/>
              </a:rPr>
              <a:t>通信系统的组成</a:t>
            </a: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611561" y="1622731"/>
            <a:ext cx="2517429" cy="44021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81628" tIns="40814" rIns="81628" bIns="40814">
            <a:spAutoFit/>
          </a:bodyPr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kern="0" dirty="0">
                <a:solidFill>
                  <a:srgbClr val="040404"/>
                </a:solidFill>
                <a:latin typeface="黑体" panose="02010600030101010101" pitchFamily="2" charset="-122"/>
              </a:rPr>
              <a:t>模拟通信系统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auto">
          <a:xfrm>
            <a:off x="164724" y="969438"/>
            <a:ext cx="446836" cy="461451"/>
          </a:xfrm>
          <a:custGeom>
            <a:avLst/>
            <a:gdLst>
              <a:gd name="T0" fmla="*/ 514 w 1029"/>
              <a:gd name="T1" fmla="*/ 0 h 1029"/>
              <a:gd name="T2" fmla="*/ 1029 w 1029"/>
              <a:gd name="T3" fmla="*/ 514 h 1029"/>
              <a:gd name="T4" fmla="*/ 514 w 1029"/>
              <a:gd name="T5" fmla="*/ 1029 h 1029"/>
              <a:gd name="T6" fmla="*/ 0 w 1029"/>
              <a:gd name="T7" fmla="*/ 514 h 1029"/>
              <a:gd name="T8" fmla="*/ 514 w 1029"/>
              <a:gd name="T9" fmla="*/ 0 h 1029"/>
              <a:gd name="T10" fmla="*/ 380 w 1029"/>
              <a:gd name="T11" fmla="*/ 856 h 1029"/>
              <a:gd name="T12" fmla="*/ 715 w 1029"/>
              <a:gd name="T13" fmla="*/ 856 h 1029"/>
              <a:gd name="T14" fmla="*/ 732 w 1029"/>
              <a:gd name="T15" fmla="*/ 873 h 1029"/>
              <a:gd name="T16" fmla="*/ 715 w 1029"/>
              <a:gd name="T17" fmla="*/ 890 h 1029"/>
              <a:gd name="T18" fmla="*/ 380 w 1029"/>
              <a:gd name="T19" fmla="*/ 890 h 1029"/>
              <a:gd name="T20" fmla="*/ 363 w 1029"/>
              <a:gd name="T21" fmla="*/ 873 h 1029"/>
              <a:gd name="T22" fmla="*/ 380 w 1029"/>
              <a:gd name="T23" fmla="*/ 856 h 1029"/>
              <a:gd name="T24" fmla="*/ 388 w 1029"/>
              <a:gd name="T25" fmla="*/ 691 h 1029"/>
              <a:gd name="T26" fmla="*/ 571 w 1029"/>
              <a:gd name="T27" fmla="*/ 389 h 1029"/>
              <a:gd name="T28" fmla="*/ 636 w 1029"/>
              <a:gd name="T29" fmla="*/ 428 h 1029"/>
              <a:gd name="T30" fmla="*/ 452 w 1029"/>
              <a:gd name="T31" fmla="*/ 730 h 1029"/>
              <a:gd name="T32" fmla="*/ 388 w 1029"/>
              <a:gd name="T33" fmla="*/ 691 h 1029"/>
              <a:gd name="T34" fmla="*/ 258 w 1029"/>
              <a:gd name="T35" fmla="*/ 612 h 1029"/>
              <a:gd name="T36" fmla="*/ 442 w 1029"/>
              <a:gd name="T37" fmla="*/ 310 h 1029"/>
              <a:gd name="T38" fmla="*/ 507 w 1029"/>
              <a:gd name="T39" fmla="*/ 349 h 1029"/>
              <a:gd name="T40" fmla="*/ 323 w 1029"/>
              <a:gd name="T41" fmla="*/ 652 h 1029"/>
              <a:gd name="T42" fmla="*/ 258 w 1029"/>
              <a:gd name="T43" fmla="*/ 612 h 1029"/>
              <a:gd name="T44" fmla="*/ 230 w 1029"/>
              <a:gd name="T45" fmla="*/ 857 h 1029"/>
              <a:gd name="T46" fmla="*/ 247 w 1029"/>
              <a:gd name="T47" fmla="*/ 707 h 1029"/>
              <a:gd name="T48" fmla="*/ 373 w 1029"/>
              <a:gd name="T49" fmla="*/ 783 h 1029"/>
              <a:gd name="T50" fmla="*/ 248 w 1029"/>
              <a:gd name="T51" fmla="*/ 869 h 1029"/>
              <a:gd name="T52" fmla="*/ 230 w 1029"/>
              <a:gd name="T53" fmla="*/ 857 h 1029"/>
              <a:gd name="T54" fmla="*/ 492 w 1029"/>
              <a:gd name="T55" fmla="*/ 226 h 1029"/>
              <a:gd name="T56" fmla="*/ 465 w 1029"/>
              <a:gd name="T57" fmla="*/ 270 h 1029"/>
              <a:gd name="T58" fmla="*/ 659 w 1029"/>
              <a:gd name="T59" fmla="*/ 388 h 1029"/>
              <a:gd name="T60" fmla="*/ 686 w 1029"/>
              <a:gd name="T61" fmla="*/ 344 h 1029"/>
              <a:gd name="T62" fmla="*/ 492 w 1029"/>
              <a:gd name="T63" fmla="*/ 226 h 1029"/>
              <a:gd name="T64" fmla="*/ 533 w 1029"/>
              <a:gd name="T65" fmla="*/ 159 h 1029"/>
              <a:gd name="T66" fmla="*/ 592 w 1029"/>
              <a:gd name="T67" fmla="*/ 144 h 1029"/>
              <a:gd name="T68" fmla="*/ 713 w 1029"/>
              <a:gd name="T69" fmla="*/ 218 h 1029"/>
              <a:gd name="T70" fmla="*/ 727 w 1029"/>
              <a:gd name="T71" fmla="*/ 277 h 1029"/>
              <a:gd name="T72" fmla="*/ 711 w 1029"/>
              <a:gd name="T73" fmla="*/ 304 h 1029"/>
              <a:gd name="T74" fmla="*/ 517 w 1029"/>
              <a:gd name="T75" fmla="*/ 186 h 1029"/>
              <a:gd name="T76" fmla="*/ 533 w 1029"/>
              <a:gd name="T77" fmla="*/ 159 h 1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9" h="1029">
                <a:moveTo>
                  <a:pt x="514" y="0"/>
                </a:moveTo>
                <a:cubicBezTo>
                  <a:pt x="798" y="0"/>
                  <a:pt x="1029" y="230"/>
                  <a:pt x="1029" y="514"/>
                </a:cubicBezTo>
                <a:cubicBezTo>
                  <a:pt x="1029" y="798"/>
                  <a:pt x="798" y="1029"/>
                  <a:pt x="514" y="1029"/>
                </a:cubicBezTo>
                <a:cubicBezTo>
                  <a:pt x="230" y="1029"/>
                  <a:pt x="0" y="798"/>
                  <a:pt x="0" y="514"/>
                </a:cubicBezTo>
                <a:cubicBezTo>
                  <a:pt x="0" y="230"/>
                  <a:pt x="230" y="0"/>
                  <a:pt x="514" y="0"/>
                </a:cubicBezTo>
                <a:close/>
                <a:moveTo>
                  <a:pt x="380" y="856"/>
                </a:moveTo>
                <a:lnTo>
                  <a:pt x="715" y="856"/>
                </a:lnTo>
                <a:cubicBezTo>
                  <a:pt x="724" y="856"/>
                  <a:pt x="732" y="864"/>
                  <a:pt x="732" y="873"/>
                </a:cubicBezTo>
                <a:cubicBezTo>
                  <a:pt x="732" y="883"/>
                  <a:pt x="724" y="890"/>
                  <a:pt x="715" y="890"/>
                </a:cubicBezTo>
                <a:lnTo>
                  <a:pt x="380" y="890"/>
                </a:lnTo>
                <a:cubicBezTo>
                  <a:pt x="371" y="890"/>
                  <a:pt x="363" y="883"/>
                  <a:pt x="363" y="873"/>
                </a:cubicBezTo>
                <a:cubicBezTo>
                  <a:pt x="363" y="864"/>
                  <a:pt x="371" y="856"/>
                  <a:pt x="380" y="856"/>
                </a:cubicBezTo>
                <a:close/>
                <a:moveTo>
                  <a:pt x="388" y="691"/>
                </a:moveTo>
                <a:lnTo>
                  <a:pt x="571" y="389"/>
                </a:lnTo>
                <a:lnTo>
                  <a:pt x="636" y="428"/>
                </a:lnTo>
                <a:lnTo>
                  <a:pt x="452" y="730"/>
                </a:lnTo>
                <a:lnTo>
                  <a:pt x="388" y="691"/>
                </a:lnTo>
                <a:close/>
                <a:moveTo>
                  <a:pt x="258" y="612"/>
                </a:moveTo>
                <a:lnTo>
                  <a:pt x="442" y="310"/>
                </a:lnTo>
                <a:lnTo>
                  <a:pt x="507" y="349"/>
                </a:lnTo>
                <a:lnTo>
                  <a:pt x="323" y="652"/>
                </a:lnTo>
                <a:lnTo>
                  <a:pt x="258" y="612"/>
                </a:lnTo>
                <a:close/>
                <a:moveTo>
                  <a:pt x="230" y="857"/>
                </a:moveTo>
                <a:lnTo>
                  <a:pt x="247" y="707"/>
                </a:lnTo>
                <a:lnTo>
                  <a:pt x="373" y="783"/>
                </a:lnTo>
                <a:lnTo>
                  <a:pt x="248" y="869"/>
                </a:lnTo>
                <a:cubicBezTo>
                  <a:pt x="235" y="878"/>
                  <a:pt x="227" y="873"/>
                  <a:pt x="230" y="857"/>
                </a:cubicBezTo>
                <a:close/>
                <a:moveTo>
                  <a:pt x="492" y="226"/>
                </a:moveTo>
                <a:lnTo>
                  <a:pt x="465" y="270"/>
                </a:lnTo>
                <a:lnTo>
                  <a:pt x="659" y="388"/>
                </a:lnTo>
                <a:lnTo>
                  <a:pt x="686" y="344"/>
                </a:lnTo>
                <a:lnTo>
                  <a:pt x="492" y="226"/>
                </a:lnTo>
                <a:close/>
                <a:moveTo>
                  <a:pt x="533" y="159"/>
                </a:moveTo>
                <a:cubicBezTo>
                  <a:pt x="546" y="139"/>
                  <a:pt x="572" y="132"/>
                  <a:pt x="592" y="144"/>
                </a:cubicBezTo>
                <a:lnTo>
                  <a:pt x="713" y="218"/>
                </a:lnTo>
                <a:cubicBezTo>
                  <a:pt x="733" y="230"/>
                  <a:pt x="740" y="256"/>
                  <a:pt x="727" y="277"/>
                </a:cubicBezTo>
                <a:lnTo>
                  <a:pt x="711" y="304"/>
                </a:lnTo>
                <a:lnTo>
                  <a:pt x="517" y="186"/>
                </a:lnTo>
                <a:lnTo>
                  <a:pt x="533" y="15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3F3F3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11561" y="2132856"/>
            <a:ext cx="4282781" cy="23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核心：</a:t>
            </a:r>
            <a:r>
              <a:rPr lang="zh-CN" altLang="en-US" sz="2000" kern="0" dirty="0">
                <a:latin typeface="微软雅黑"/>
                <a:ea typeface="微软雅黑"/>
              </a:rPr>
              <a:t>调制器和解调器；</a:t>
            </a:r>
            <a:endParaRPr lang="en-US" altLang="zh-CN" sz="2000" kern="0" dirty="0"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zh-CN" altLang="en-US" sz="2000" kern="0" dirty="0">
                <a:latin typeface="微软雅黑"/>
                <a:ea typeface="微软雅黑"/>
              </a:rPr>
              <a:t>      调制信号和已调信号。</a:t>
            </a:r>
            <a:endParaRPr lang="en-US" altLang="zh-CN" sz="2000" kern="0" dirty="0">
              <a:latin typeface="微软雅黑"/>
              <a:ea typeface="微软雅黑"/>
            </a:endParaRP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主要作用</a:t>
            </a:r>
            <a:endParaRPr lang="en-US" altLang="zh-CN" sz="1200" kern="0" dirty="0">
              <a:solidFill>
                <a:srgbClr val="205867"/>
              </a:solidFill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zh-CN" altLang="en-US" sz="1200" kern="0" dirty="0">
                <a:solidFill>
                  <a:srgbClr val="C00000"/>
                </a:solidFill>
                <a:latin typeface="微软雅黑"/>
                <a:ea typeface="微软雅黑"/>
              </a:rPr>
              <a:t>      </a:t>
            </a:r>
            <a:r>
              <a:rPr lang="en-US" altLang="zh-CN" sz="1200" kern="0" dirty="0">
                <a:latin typeface="微软雅黑"/>
                <a:ea typeface="微软雅黑"/>
              </a:rPr>
              <a:t>1. </a:t>
            </a:r>
            <a:r>
              <a:rPr lang="zh-CN" altLang="en-US" sz="1200" kern="0" dirty="0">
                <a:latin typeface="微软雅黑"/>
                <a:ea typeface="微软雅黑"/>
              </a:rPr>
              <a:t>实现有效辐射（频率变换）；</a:t>
            </a:r>
            <a:endParaRPr lang="en-US" altLang="zh-CN" sz="1200" kern="0" dirty="0"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en-US" altLang="zh-CN" sz="1200" kern="0" dirty="0">
                <a:latin typeface="微软雅黑"/>
                <a:ea typeface="微软雅黑"/>
              </a:rPr>
              <a:t>      2. </a:t>
            </a:r>
            <a:r>
              <a:rPr lang="zh-CN" altLang="en-US" sz="1200" kern="0" dirty="0">
                <a:latin typeface="微软雅黑"/>
                <a:ea typeface="微软雅黑"/>
              </a:rPr>
              <a:t>实现频率分配</a:t>
            </a:r>
            <a:endParaRPr lang="en-US" altLang="zh-CN" sz="1200" kern="0" dirty="0"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en-US" altLang="zh-CN" sz="1200" kern="0" dirty="0">
                <a:latin typeface="微软雅黑"/>
                <a:ea typeface="微软雅黑"/>
              </a:rPr>
              <a:t>      3. </a:t>
            </a:r>
            <a:r>
              <a:rPr lang="zh-CN" altLang="en-US" sz="1200" kern="0" dirty="0">
                <a:latin typeface="微软雅黑"/>
                <a:ea typeface="微软雅黑"/>
              </a:rPr>
              <a:t>实现多路复用</a:t>
            </a:r>
            <a:endParaRPr lang="en-US" altLang="zh-CN" sz="1200" kern="0" dirty="0"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en-US" altLang="zh-CN" sz="1200" kern="0" dirty="0">
                <a:latin typeface="微软雅黑"/>
                <a:ea typeface="微软雅黑"/>
              </a:rPr>
              <a:t>      4. </a:t>
            </a:r>
            <a:r>
              <a:rPr lang="zh-CN" altLang="en-US" sz="1200" kern="0" dirty="0">
                <a:latin typeface="微软雅黑"/>
                <a:ea typeface="微软雅黑"/>
              </a:rPr>
              <a:t>提高系统抗噪性能</a:t>
            </a:r>
            <a:endParaRPr lang="zh-CN" altLang="en-US" sz="2000" kern="0" dirty="0">
              <a:latin typeface="微软雅黑"/>
              <a:ea typeface="微软雅黑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6264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srgbClr val="205867"/>
              </a:solidFill>
            </a:endParaRPr>
          </a:p>
        </p:txBody>
      </p:sp>
      <p:pic>
        <p:nvPicPr>
          <p:cNvPr id="18434" name="Picture 2" descr="S66A00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864" y="1628800"/>
            <a:ext cx="4750016" cy="1086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" y="6264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148064" y="3257908"/>
          <a:ext cx="296068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88760" imgH="380880" progId="Equation.3">
                  <p:embed/>
                </p:oleObj>
              </mc:Choice>
              <mc:Fallback>
                <p:oleObj name="公式" r:id="rId4" imgW="1688760" imgH="38088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3257908"/>
                        <a:ext cx="2960688" cy="669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/>
        </p:nvSpPr>
        <p:spPr bwMode="auto">
          <a:xfrm>
            <a:off x="5148064" y="1556793"/>
            <a:ext cx="936104" cy="615103"/>
          </a:xfrm>
          <a:prstGeom prst="ellipse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z="1800"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7020272" y="1556793"/>
            <a:ext cx="936104" cy="615103"/>
          </a:xfrm>
          <a:prstGeom prst="ellipse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z="1800">
              <a:ea typeface="宋体" pitchFamily="2" charset="-12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BF9311-5551-D482-A112-A0AFD15B0128}"/>
              </a:ext>
            </a:extLst>
          </p:cNvPr>
          <p:cNvGraphicFramePr>
            <a:graphicFrameLocks noGrp="1"/>
          </p:cNvGraphicFramePr>
          <p:nvPr/>
        </p:nvGraphicFramePr>
        <p:xfrm>
          <a:off x="683117" y="4610932"/>
          <a:ext cx="3528392" cy="16459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395447985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4285283168"/>
                    </a:ext>
                  </a:extLst>
                </a:gridCol>
              </a:tblGrid>
              <a:tr h="290348">
                <a:tc>
                  <a:txBody>
                    <a:bodyPr/>
                    <a:lstStyle/>
                    <a:p>
                      <a:r>
                        <a:rPr lang="zh-CN" altLang="en-US"/>
                        <a:t>波段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频率范围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807141"/>
                  </a:ext>
                </a:extLst>
              </a:tr>
              <a:tr h="290348">
                <a:tc>
                  <a:txBody>
                    <a:bodyPr/>
                    <a:lstStyle/>
                    <a:p>
                      <a:r>
                        <a:rPr lang="zh-CN" altLang="en-US"/>
                        <a:t>中波（</a:t>
                      </a:r>
                      <a:r>
                        <a:rPr lang="en-US"/>
                        <a:t>MF）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300kHz＜f</a:t>
                      </a:r>
                      <a:r>
                        <a:rPr lang="en-US" altLang="zh-CN" dirty="0"/>
                        <a:t>≤</a:t>
                      </a:r>
                      <a:r>
                        <a:rPr lang="en-US" dirty="0"/>
                        <a:t>3MHz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563255"/>
                  </a:ext>
                </a:extLst>
              </a:tr>
              <a:tr h="290348">
                <a:tc>
                  <a:txBody>
                    <a:bodyPr/>
                    <a:lstStyle/>
                    <a:p>
                      <a:r>
                        <a:rPr lang="zh-CN" altLang="en-US"/>
                        <a:t>短波（</a:t>
                      </a:r>
                      <a:r>
                        <a:rPr lang="en-US"/>
                        <a:t>HF）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3MHz＜f</a:t>
                      </a:r>
                      <a:r>
                        <a:rPr lang="en-US" altLang="zh-CN" dirty="0"/>
                        <a:t>≤</a:t>
                      </a:r>
                      <a:r>
                        <a:rPr lang="en-US" dirty="0"/>
                        <a:t>30MHz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928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484458"/>
      </p:ext>
    </p:extLst>
  </p:cSld>
  <p:clrMapOvr>
    <a:masterClrMapping/>
  </p:clrMapOvr>
  <p:transition spd="slow" advTm="5769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1ED2D3-2488-3996-5C11-E1CAA334E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1628800"/>
            <a:ext cx="5365672" cy="39710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981E7F-76AC-8303-B915-ACFA69AF33F4}"/>
              </a:ext>
            </a:extLst>
          </p:cNvPr>
          <p:cNvSpPr txBox="1"/>
          <p:nvPr/>
        </p:nvSpPr>
        <p:spPr>
          <a:xfrm>
            <a:off x="224752" y="4365104"/>
            <a:ext cx="30614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www.itu.int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dms_pubrec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-r/rec/v/R-REC-V.431-9-202510-I%21%21PDF-E.pdf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1DF7E-E170-AF53-081B-1393C1764FAE}"/>
              </a:ext>
            </a:extLst>
          </p:cNvPr>
          <p:cNvSpPr txBox="1"/>
          <p:nvPr/>
        </p:nvSpPr>
        <p:spPr>
          <a:xfrm>
            <a:off x="224753" y="5411741"/>
            <a:ext cx="34025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40404"/>
                </a:solidFill>
              </a:rPr>
              <a:t>判断依据：</a:t>
            </a:r>
            <a:r>
              <a:rPr lang="en-US" dirty="0">
                <a:solidFill>
                  <a:srgbClr val="040404"/>
                </a:solidFill>
              </a:rPr>
              <a:t>ITU-R V.431-9，</a:t>
            </a:r>
            <a:r>
              <a:rPr lang="zh-CN" altLang="en-US" dirty="0">
                <a:solidFill>
                  <a:srgbClr val="040404"/>
                </a:solidFill>
              </a:rPr>
              <a:t>表</a:t>
            </a:r>
            <a:r>
              <a:rPr lang="en-US" altLang="zh-CN" dirty="0">
                <a:solidFill>
                  <a:srgbClr val="040404"/>
                </a:solidFill>
              </a:rPr>
              <a:t>1</a:t>
            </a:r>
            <a:endParaRPr lang="en-US" dirty="0">
              <a:solidFill>
                <a:srgbClr val="04040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651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828235" y="930072"/>
            <a:ext cx="8132215" cy="51331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第 </a:t>
            </a:r>
            <a:r>
              <a:rPr lang="en-US" altLang="zh-CN" sz="2800" b="1" dirty="0">
                <a:solidFill>
                  <a:srgbClr val="4E4B49"/>
                </a:solidFill>
                <a:latin typeface="微软雅黑"/>
                <a:ea typeface="微软雅黑"/>
              </a:rPr>
              <a:t>1 </a:t>
            </a:r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章  绪 论</a:t>
            </a:r>
            <a:r>
              <a:rPr lang="en-US" altLang="zh-CN" sz="2400" b="1" dirty="0">
                <a:solidFill>
                  <a:srgbClr val="C00000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/>
                <a:ea typeface="微软雅黑"/>
              </a:rPr>
              <a:t>通信系统的组成</a:t>
            </a: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611561" y="1622731"/>
            <a:ext cx="2517429" cy="44021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81628" tIns="40814" rIns="81628" bIns="40814">
            <a:spAutoFit/>
          </a:bodyPr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>
                <a:solidFill>
                  <a:srgbClr val="040404"/>
                </a:solidFill>
                <a:latin typeface="黑体" panose="02010600030101010101" pitchFamily="2" charset="-122"/>
              </a:rPr>
              <a:t>数字通信系统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auto">
          <a:xfrm>
            <a:off x="164724" y="969438"/>
            <a:ext cx="446836" cy="461451"/>
          </a:xfrm>
          <a:custGeom>
            <a:avLst/>
            <a:gdLst>
              <a:gd name="T0" fmla="*/ 514 w 1029"/>
              <a:gd name="T1" fmla="*/ 0 h 1029"/>
              <a:gd name="T2" fmla="*/ 1029 w 1029"/>
              <a:gd name="T3" fmla="*/ 514 h 1029"/>
              <a:gd name="T4" fmla="*/ 514 w 1029"/>
              <a:gd name="T5" fmla="*/ 1029 h 1029"/>
              <a:gd name="T6" fmla="*/ 0 w 1029"/>
              <a:gd name="T7" fmla="*/ 514 h 1029"/>
              <a:gd name="T8" fmla="*/ 514 w 1029"/>
              <a:gd name="T9" fmla="*/ 0 h 1029"/>
              <a:gd name="T10" fmla="*/ 380 w 1029"/>
              <a:gd name="T11" fmla="*/ 856 h 1029"/>
              <a:gd name="T12" fmla="*/ 715 w 1029"/>
              <a:gd name="T13" fmla="*/ 856 h 1029"/>
              <a:gd name="T14" fmla="*/ 732 w 1029"/>
              <a:gd name="T15" fmla="*/ 873 h 1029"/>
              <a:gd name="T16" fmla="*/ 715 w 1029"/>
              <a:gd name="T17" fmla="*/ 890 h 1029"/>
              <a:gd name="T18" fmla="*/ 380 w 1029"/>
              <a:gd name="T19" fmla="*/ 890 h 1029"/>
              <a:gd name="T20" fmla="*/ 363 w 1029"/>
              <a:gd name="T21" fmla="*/ 873 h 1029"/>
              <a:gd name="T22" fmla="*/ 380 w 1029"/>
              <a:gd name="T23" fmla="*/ 856 h 1029"/>
              <a:gd name="T24" fmla="*/ 388 w 1029"/>
              <a:gd name="T25" fmla="*/ 691 h 1029"/>
              <a:gd name="T26" fmla="*/ 571 w 1029"/>
              <a:gd name="T27" fmla="*/ 389 h 1029"/>
              <a:gd name="T28" fmla="*/ 636 w 1029"/>
              <a:gd name="T29" fmla="*/ 428 h 1029"/>
              <a:gd name="T30" fmla="*/ 452 w 1029"/>
              <a:gd name="T31" fmla="*/ 730 h 1029"/>
              <a:gd name="T32" fmla="*/ 388 w 1029"/>
              <a:gd name="T33" fmla="*/ 691 h 1029"/>
              <a:gd name="T34" fmla="*/ 258 w 1029"/>
              <a:gd name="T35" fmla="*/ 612 h 1029"/>
              <a:gd name="T36" fmla="*/ 442 w 1029"/>
              <a:gd name="T37" fmla="*/ 310 h 1029"/>
              <a:gd name="T38" fmla="*/ 507 w 1029"/>
              <a:gd name="T39" fmla="*/ 349 h 1029"/>
              <a:gd name="T40" fmla="*/ 323 w 1029"/>
              <a:gd name="T41" fmla="*/ 652 h 1029"/>
              <a:gd name="T42" fmla="*/ 258 w 1029"/>
              <a:gd name="T43" fmla="*/ 612 h 1029"/>
              <a:gd name="T44" fmla="*/ 230 w 1029"/>
              <a:gd name="T45" fmla="*/ 857 h 1029"/>
              <a:gd name="T46" fmla="*/ 247 w 1029"/>
              <a:gd name="T47" fmla="*/ 707 h 1029"/>
              <a:gd name="T48" fmla="*/ 373 w 1029"/>
              <a:gd name="T49" fmla="*/ 783 h 1029"/>
              <a:gd name="T50" fmla="*/ 248 w 1029"/>
              <a:gd name="T51" fmla="*/ 869 h 1029"/>
              <a:gd name="T52" fmla="*/ 230 w 1029"/>
              <a:gd name="T53" fmla="*/ 857 h 1029"/>
              <a:gd name="T54" fmla="*/ 492 w 1029"/>
              <a:gd name="T55" fmla="*/ 226 h 1029"/>
              <a:gd name="T56" fmla="*/ 465 w 1029"/>
              <a:gd name="T57" fmla="*/ 270 h 1029"/>
              <a:gd name="T58" fmla="*/ 659 w 1029"/>
              <a:gd name="T59" fmla="*/ 388 h 1029"/>
              <a:gd name="T60" fmla="*/ 686 w 1029"/>
              <a:gd name="T61" fmla="*/ 344 h 1029"/>
              <a:gd name="T62" fmla="*/ 492 w 1029"/>
              <a:gd name="T63" fmla="*/ 226 h 1029"/>
              <a:gd name="T64" fmla="*/ 533 w 1029"/>
              <a:gd name="T65" fmla="*/ 159 h 1029"/>
              <a:gd name="T66" fmla="*/ 592 w 1029"/>
              <a:gd name="T67" fmla="*/ 144 h 1029"/>
              <a:gd name="T68" fmla="*/ 713 w 1029"/>
              <a:gd name="T69" fmla="*/ 218 h 1029"/>
              <a:gd name="T70" fmla="*/ 727 w 1029"/>
              <a:gd name="T71" fmla="*/ 277 h 1029"/>
              <a:gd name="T72" fmla="*/ 711 w 1029"/>
              <a:gd name="T73" fmla="*/ 304 h 1029"/>
              <a:gd name="T74" fmla="*/ 517 w 1029"/>
              <a:gd name="T75" fmla="*/ 186 h 1029"/>
              <a:gd name="T76" fmla="*/ 533 w 1029"/>
              <a:gd name="T77" fmla="*/ 159 h 1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9" h="1029">
                <a:moveTo>
                  <a:pt x="514" y="0"/>
                </a:moveTo>
                <a:cubicBezTo>
                  <a:pt x="798" y="0"/>
                  <a:pt x="1029" y="230"/>
                  <a:pt x="1029" y="514"/>
                </a:cubicBezTo>
                <a:cubicBezTo>
                  <a:pt x="1029" y="798"/>
                  <a:pt x="798" y="1029"/>
                  <a:pt x="514" y="1029"/>
                </a:cubicBezTo>
                <a:cubicBezTo>
                  <a:pt x="230" y="1029"/>
                  <a:pt x="0" y="798"/>
                  <a:pt x="0" y="514"/>
                </a:cubicBezTo>
                <a:cubicBezTo>
                  <a:pt x="0" y="230"/>
                  <a:pt x="230" y="0"/>
                  <a:pt x="514" y="0"/>
                </a:cubicBezTo>
                <a:close/>
                <a:moveTo>
                  <a:pt x="380" y="856"/>
                </a:moveTo>
                <a:lnTo>
                  <a:pt x="715" y="856"/>
                </a:lnTo>
                <a:cubicBezTo>
                  <a:pt x="724" y="856"/>
                  <a:pt x="732" y="864"/>
                  <a:pt x="732" y="873"/>
                </a:cubicBezTo>
                <a:cubicBezTo>
                  <a:pt x="732" y="883"/>
                  <a:pt x="724" y="890"/>
                  <a:pt x="715" y="890"/>
                </a:cubicBezTo>
                <a:lnTo>
                  <a:pt x="380" y="890"/>
                </a:lnTo>
                <a:cubicBezTo>
                  <a:pt x="371" y="890"/>
                  <a:pt x="363" y="883"/>
                  <a:pt x="363" y="873"/>
                </a:cubicBezTo>
                <a:cubicBezTo>
                  <a:pt x="363" y="864"/>
                  <a:pt x="371" y="856"/>
                  <a:pt x="380" y="856"/>
                </a:cubicBezTo>
                <a:close/>
                <a:moveTo>
                  <a:pt x="388" y="691"/>
                </a:moveTo>
                <a:lnTo>
                  <a:pt x="571" y="389"/>
                </a:lnTo>
                <a:lnTo>
                  <a:pt x="636" y="428"/>
                </a:lnTo>
                <a:lnTo>
                  <a:pt x="452" y="730"/>
                </a:lnTo>
                <a:lnTo>
                  <a:pt x="388" y="691"/>
                </a:lnTo>
                <a:close/>
                <a:moveTo>
                  <a:pt x="258" y="612"/>
                </a:moveTo>
                <a:lnTo>
                  <a:pt x="442" y="310"/>
                </a:lnTo>
                <a:lnTo>
                  <a:pt x="507" y="349"/>
                </a:lnTo>
                <a:lnTo>
                  <a:pt x="323" y="652"/>
                </a:lnTo>
                <a:lnTo>
                  <a:pt x="258" y="612"/>
                </a:lnTo>
                <a:close/>
                <a:moveTo>
                  <a:pt x="230" y="857"/>
                </a:moveTo>
                <a:lnTo>
                  <a:pt x="247" y="707"/>
                </a:lnTo>
                <a:lnTo>
                  <a:pt x="373" y="783"/>
                </a:lnTo>
                <a:lnTo>
                  <a:pt x="248" y="869"/>
                </a:lnTo>
                <a:cubicBezTo>
                  <a:pt x="235" y="878"/>
                  <a:pt x="227" y="873"/>
                  <a:pt x="230" y="857"/>
                </a:cubicBezTo>
                <a:close/>
                <a:moveTo>
                  <a:pt x="492" y="226"/>
                </a:moveTo>
                <a:lnTo>
                  <a:pt x="465" y="270"/>
                </a:lnTo>
                <a:lnTo>
                  <a:pt x="659" y="388"/>
                </a:lnTo>
                <a:lnTo>
                  <a:pt x="686" y="344"/>
                </a:lnTo>
                <a:lnTo>
                  <a:pt x="492" y="226"/>
                </a:lnTo>
                <a:close/>
                <a:moveTo>
                  <a:pt x="533" y="159"/>
                </a:moveTo>
                <a:cubicBezTo>
                  <a:pt x="546" y="139"/>
                  <a:pt x="572" y="132"/>
                  <a:pt x="592" y="144"/>
                </a:cubicBezTo>
                <a:lnTo>
                  <a:pt x="713" y="218"/>
                </a:lnTo>
                <a:cubicBezTo>
                  <a:pt x="733" y="230"/>
                  <a:pt x="740" y="256"/>
                  <a:pt x="727" y="277"/>
                </a:cubicBezTo>
                <a:lnTo>
                  <a:pt x="711" y="304"/>
                </a:lnTo>
                <a:lnTo>
                  <a:pt x="517" y="186"/>
                </a:lnTo>
                <a:lnTo>
                  <a:pt x="533" y="15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3F3F3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11562" y="2132856"/>
            <a:ext cx="374441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特点：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信道中传输数字信号的系统；</a:t>
            </a:r>
            <a:endParaRPr lang="en-US" altLang="zh-CN" sz="2000" kern="0" dirty="0">
              <a:solidFill>
                <a:srgbClr val="205867"/>
              </a:solidFill>
              <a:latin typeface="微软雅黑"/>
              <a:ea typeface="微软雅黑"/>
            </a:endParaRP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基本形式</a:t>
            </a:r>
            <a:endParaRPr lang="en-US" altLang="zh-CN" sz="2000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  数字频带传输系统</a:t>
            </a:r>
            <a:endParaRPr lang="en-US" altLang="zh-CN" sz="2000" kern="0" dirty="0">
              <a:solidFill>
                <a:srgbClr val="205867"/>
              </a:solidFill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  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数字基带传输系统</a:t>
            </a:r>
            <a:endParaRPr lang="en-US" altLang="zh-CN" sz="2000" kern="0" dirty="0">
              <a:solidFill>
                <a:srgbClr val="205867"/>
              </a:solidFill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  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模拟信号数字化传输系统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6264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srgbClr val="205867"/>
              </a:solidFill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" y="6264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srgbClr val="205867"/>
              </a:solidFill>
            </a:endParaRPr>
          </a:p>
        </p:txBody>
      </p:sp>
      <p:pic>
        <p:nvPicPr>
          <p:cNvPr id="19458" name="Picture 2" descr="S66A00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93" y="1556793"/>
            <a:ext cx="4643387" cy="1379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549019" y="4485599"/>
            <a:ext cx="4216219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*</a:t>
            </a:r>
            <a:r>
              <a:rPr lang="zh-CN" altLang="en-US" sz="2000" dirty="0"/>
              <a:t>数字通信信号的本质特征是什么？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A 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时间离散 </a:t>
            </a: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		</a:t>
            </a:r>
            <a:r>
              <a:rPr lang="en-US" altLang="zh-CN" sz="2000" kern="0" dirty="0">
                <a:solidFill>
                  <a:srgbClr val="205867"/>
                </a:solidFill>
                <a:highlight>
                  <a:srgbClr val="FFFF00"/>
                </a:highlight>
                <a:latin typeface="微软雅黑"/>
                <a:ea typeface="微软雅黑"/>
              </a:rPr>
              <a:t>B </a:t>
            </a:r>
            <a:r>
              <a:rPr lang="zh-CN" altLang="en-US" sz="2000" kern="0" dirty="0">
                <a:solidFill>
                  <a:srgbClr val="205867"/>
                </a:solidFill>
                <a:highlight>
                  <a:srgbClr val="FFFF00"/>
                </a:highlight>
                <a:latin typeface="微软雅黑"/>
                <a:ea typeface="微软雅黑"/>
              </a:rPr>
              <a:t>状态离散</a:t>
            </a:r>
            <a:endParaRPr lang="en-US" altLang="zh-CN" sz="2000" kern="0" dirty="0">
              <a:solidFill>
                <a:srgbClr val="205867"/>
              </a:solidFill>
              <a:highlight>
                <a:srgbClr val="FFFF00"/>
              </a:highlight>
              <a:latin typeface="微软雅黑"/>
              <a:ea typeface="微软雅黑"/>
            </a:endParaRPr>
          </a:p>
          <a:p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C 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时间状态都离散</a:t>
            </a: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	D 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其他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17326-B97E-92BB-5CE3-5578B0C1026E}"/>
              </a:ext>
            </a:extLst>
          </p:cNvPr>
          <p:cNvSpPr txBox="1"/>
          <p:nvPr/>
        </p:nvSpPr>
        <p:spPr>
          <a:xfrm>
            <a:off x="322342" y="5364795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时间离散</a:t>
            </a:r>
            <a:r>
              <a:rPr lang="zh-CN" altLang="en-US" sz="1600" dirty="0"/>
              <a:t>：只在离散时刻定义信号，取值可以连续，例如尚未量化的采样序列。</a:t>
            </a:r>
            <a:endParaRPr lang="en-US" altLang="zh-CN" sz="1600" dirty="0"/>
          </a:p>
          <a:p>
            <a:endParaRPr lang="en-US" altLang="zh-CN" sz="1600" b="1" dirty="0"/>
          </a:p>
          <a:p>
            <a:r>
              <a:rPr lang="zh-CN" altLang="en-US" sz="1600" b="1" dirty="0"/>
              <a:t>状态离散</a:t>
            </a:r>
            <a:r>
              <a:rPr lang="zh-CN" altLang="en-US" sz="1600" dirty="0"/>
              <a:t>：承载信息的符号从有限个状态中选择，这是数字通信信号的关键特征。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16505334"/>
      </p:ext>
    </p:extLst>
  </p:cSld>
  <p:clrMapOvr>
    <a:masterClrMapping/>
  </p:clrMapOvr>
  <p:transition spd="slow" advTm="5769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828235" y="930072"/>
            <a:ext cx="8132215" cy="51331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第 </a:t>
            </a:r>
            <a:r>
              <a:rPr lang="en-US" altLang="zh-CN" sz="2800" b="1" dirty="0">
                <a:solidFill>
                  <a:srgbClr val="4E4B49"/>
                </a:solidFill>
                <a:latin typeface="微软雅黑"/>
                <a:ea typeface="微软雅黑"/>
              </a:rPr>
              <a:t>1 </a:t>
            </a:r>
            <a:r>
              <a:rPr lang="zh-CN" altLang="en-US" sz="2800" b="1" dirty="0">
                <a:solidFill>
                  <a:srgbClr val="4E4B49"/>
                </a:solidFill>
                <a:latin typeface="微软雅黑"/>
                <a:ea typeface="微软雅黑"/>
              </a:rPr>
              <a:t>章  绪 论</a:t>
            </a:r>
            <a:r>
              <a:rPr lang="en-US" altLang="zh-CN" sz="2400" b="1" dirty="0">
                <a:solidFill>
                  <a:srgbClr val="C00000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/>
                <a:ea typeface="微软雅黑"/>
              </a:rPr>
              <a:t>通信系统的组成</a:t>
            </a: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611561" y="1622731"/>
            <a:ext cx="2517429" cy="44021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81628" tIns="40814" rIns="81628" bIns="40814">
            <a:spAutoFit/>
          </a:bodyPr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>
                <a:solidFill>
                  <a:srgbClr val="040404"/>
                </a:solidFill>
                <a:latin typeface="黑体" panose="02010600030101010101" pitchFamily="2" charset="-122"/>
              </a:rPr>
              <a:t>数字通信的主要特点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auto">
          <a:xfrm>
            <a:off x="164724" y="969438"/>
            <a:ext cx="446836" cy="461451"/>
          </a:xfrm>
          <a:custGeom>
            <a:avLst/>
            <a:gdLst>
              <a:gd name="T0" fmla="*/ 514 w 1029"/>
              <a:gd name="T1" fmla="*/ 0 h 1029"/>
              <a:gd name="T2" fmla="*/ 1029 w 1029"/>
              <a:gd name="T3" fmla="*/ 514 h 1029"/>
              <a:gd name="T4" fmla="*/ 514 w 1029"/>
              <a:gd name="T5" fmla="*/ 1029 h 1029"/>
              <a:gd name="T6" fmla="*/ 0 w 1029"/>
              <a:gd name="T7" fmla="*/ 514 h 1029"/>
              <a:gd name="T8" fmla="*/ 514 w 1029"/>
              <a:gd name="T9" fmla="*/ 0 h 1029"/>
              <a:gd name="T10" fmla="*/ 380 w 1029"/>
              <a:gd name="T11" fmla="*/ 856 h 1029"/>
              <a:gd name="T12" fmla="*/ 715 w 1029"/>
              <a:gd name="T13" fmla="*/ 856 h 1029"/>
              <a:gd name="T14" fmla="*/ 732 w 1029"/>
              <a:gd name="T15" fmla="*/ 873 h 1029"/>
              <a:gd name="T16" fmla="*/ 715 w 1029"/>
              <a:gd name="T17" fmla="*/ 890 h 1029"/>
              <a:gd name="T18" fmla="*/ 380 w 1029"/>
              <a:gd name="T19" fmla="*/ 890 h 1029"/>
              <a:gd name="T20" fmla="*/ 363 w 1029"/>
              <a:gd name="T21" fmla="*/ 873 h 1029"/>
              <a:gd name="T22" fmla="*/ 380 w 1029"/>
              <a:gd name="T23" fmla="*/ 856 h 1029"/>
              <a:gd name="T24" fmla="*/ 388 w 1029"/>
              <a:gd name="T25" fmla="*/ 691 h 1029"/>
              <a:gd name="T26" fmla="*/ 571 w 1029"/>
              <a:gd name="T27" fmla="*/ 389 h 1029"/>
              <a:gd name="T28" fmla="*/ 636 w 1029"/>
              <a:gd name="T29" fmla="*/ 428 h 1029"/>
              <a:gd name="T30" fmla="*/ 452 w 1029"/>
              <a:gd name="T31" fmla="*/ 730 h 1029"/>
              <a:gd name="T32" fmla="*/ 388 w 1029"/>
              <a:gd name="T33" fmla="*/ 691 h 1029"/>
              <a:gd name="T34" fmla="*/ 258 w 1029"/>
              <a:gd name="T35" fmla="*/ 612 h 1029"/>
              <a:gd name="T36" fmla="*/ 442 w 1029"/>
              <a:gd name="T37" fmla="*/ 310 h 1029"/>
              <a:gd name="T38" fmla="*/ 507 w 1029"/>
              <a:gd name="T39" fmla="*/ 349 h 1029"/>
              <a:gd name="T40" fmla="*/ 323 w 1029"/>
              <a:gd name="T41" fmla="*/ 652 h 1029"/>
              <a:gd name="T42" fmla="*/ 258 w 1029"/>
              <a:gd name="T43" fmla="*/ 612 h 1029"/>
              <a:gd name="T44" fmla="*/ 230 w 1029"/>
              <a:gd name="T45" fmla="*/ 857 h 1029"/>
              <a:gd name="T46" fmla="*/ 247 w 1029"/>
              <a:gd name="T47" fmla="*/ 707 h 1029"/>
              <a:gd name="T48" fmla="*/ 373 w 1029"/>
              <a:gd name="T49" fmla="*/ 783 h 1029"/>
              <a:gd name="T50" fmla="*/ 248 w 1029"/>
              <a:gd name="T51" fmla="*/ 869 h 1029"/>
              <a:gd name="T52" fmla="*/ 230 w 1029"/>
              <a:gd name="T53" fmla="*/ 857 h 1029"/>
              <a:gd name="T54" fmla="*/ 492 w 1029"/>
              <a:gd name="T55" fmla="*/ 226 h 1029"/>
              <a:gd name="T56" fmla="*/ 465 w 1029"/>
              <a:gd name="T57" fmla="*/ 270 h 1029"/>
              <a:gd name="T58" fmla="*/ 659 w 1029"/>
              <a:gd name="T59" fmla="*/ 388 h 1029"/>
              <a:gd name="T60" fmla="*/ 686 w 1029"/>
              <a:gd name="T61" fmla="*/ 344 h 1029"/>
              <a:gd name="T62" fmla="*/ 492 w 1029"/>
              <a:gd name="T63" fmla="*/ 226 h 1029"/>
              <a:gd name="T64" fmla="*/ 533 w 1029"/>
              <a:gd name="T65" fmla="*/ 159 h 1029"/>
              <a:gd name="T66" fmla="*/ 592 w 1029"/>
              <a:gd name="T67" fmla="*/ 144 h 1029"/>
              <a:gd name="T68" fmla="*/ 713 w 1029"/>
              <a:gd name="T69" fmla="*/ 218 h 1029"/>
              <a:gd name="T70" fmla="*/ 727 w 1029"/>
              <a:gd name="T71" fmla="*/ 277 h 1029"/>
              <a:gd name="T72" fmla="*/ 711 w 1029"/>
              <a:gd name="T73" fmla="*/ 304 h 1029"/>
              <a:gd name="T74" fmla="*/ 517 w 1029"/>
              <a:gd name="T75" fmla="*/ 186 h 1029"/>
              <a:gd name="T76" fmla="*/ 533 w 1029"/>
              <a:gd name="T77" fmla="*/ 159 h 1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9" h="1029">
                <a:moveTo>
                  <a:pt x="514" y="0"/>
                </a:moveTo>
                <a:cubicBezTo>
                  <a:pt x="798" y="0"/>
                  <a:pt x="1029" y="230"/>
                  <a:pt x="1029" y="514"/>
                </a:cubicBezTo>
                <a:cubicBezTo>
                  <a:pt x="1029" y="798"/>
                  <a:pt x="798" y="1029"/>
                  <a:pt x="514" y="1029"/>
                </a:cubicBezTo>
                <a:cubicBezTo>
                  <a:pt x="230" y="1029"/>
                  <a:pt x="0" y="798"/>
                  <a:pt x="0" y="514"/>
                </a:cubicBezTo>
                <a:cubicBezTo>
                  <a:pt x="0" y="230"/>
                  <a:pt x="230" y="0"/>
                  <a:pt x="514" y="0"/>
                </a:cubicBezTo>
                <a:close/>
                <a:moveTo>
                  <a:pt x="380" y="856"/>
                </a:moveTo>
                <a:lnTo>
                  <a:pt x="715" y="856"/>
                </a:lnTo>
                <a:cubicBezTo>
                  <a:pt x="724" y="856"/>
                  <a:pt x="732" y="864"/>
                  <a:pt x="732" y="873"/>
                </a:cubicBezTo>
                <a:cubicBezTo>
                  <a:pt x="732" y="883"/>
                  <a:pt x="724" y="890"/>
                  <a:pt x="715" y="890"/>
                </a:cubicBezTo>
                <a:lnTo>
                  <a:pt x="380" y="890"/>
                </a:lnTo>
                <a:cubicBezTo>
                  <a:pt x="371" y="890"/>
                  <a:pt x="363" y="883"/>
                  <a:pt x="363" y="873"/>
                </a:cubicBezTo>
                <a:cubicBezTo>
                  <a:pt x="363" y="864"/>
                  <a:pt x="371" y="856"/>
                  <a:pt x="380" y="856"/>
                </a:cubicBezTo>
                <a:close/>
                <a:moveTo>
                  <a:pt x="388" y="691"/>
                </a:moveTo>
                <a:lnTo>
                  <a:pt x="571" y="389"/>
                </a:lnTo>
                <a:lnTo>
                  <a:pt x="636" y="428"/>
                </a:lnTo>
                <a:lnTo>
                  <a:pt x="452" y="730"/>
                </a:lnTo>
                <a:lnTo>
                  <a:pt x="388" y="691"/>
                </a:lnTo>
                <a:close/>
                <a:moveTo>
                  <a:pt x="258" y="612"/>
                </a:moveTo>
                <a:lnTo>
                  <a:pt x="442" y="310"/>
                </a:lnTo>
                <a:lnTo>
                  <a:pt x="507" y="349"/>
                </a:lnTo>
                <a:lnTo>
                  <a:pt x="323" y="652"/>
                </a:lnTo>
                <a:lnTo>
                  <a:pt x="258" y="612"/>
                </a:lnTo>
                <a:close/>
                <a:moveTo>
                  <a:pt x="230" y="857"/>
                </a:moveTo>
                <a:lnTo>
                  <a:pt x="247" y="707"/>
                </a:lnTo>
                <a:lnTo>
                  <a:pt x="373" y="783"/>
                </a:lnTo>
                <a:lnTo>
                  <a:pt x="248" y="869"/>
                </a:lnTo>
                <a:cubicBezTo>
                  <a:pt x="235" y="878"/>
                  <a:pt x="227" y="873"/>
                  <a:pt x="230" y="857"/>
                </a:cubicBezTo>
                <a:close/>
                <a:moveTo>
                  <a:pt x="492" y="226"/>
                </a:moveTo>
                <a:lnTo>
                  <a:pt x="465" y="270"/>
                </a:lnTo>
                <a:lnTo>
                  <a:pt x="659" y="388"/>
                </a:lnTo>
                <a:lnTo>
                  <a:pt x="686" y="344"/>
                </a:lnTo>
                <a:lnTo>
                  <a:pt x="492" y="226"/>
                </a:lnTo>
                <a:close/>
                <a:moveTo>
                  <a:pt x="533" y="159"/>
                </a:moveTo>
                <a:cubicBezTo>
                  <a:pt x="546" y="139"/>
                  <a:pt x="572" y="132"/>
                  <a:pt x="592" y="144"/>
                </a:cubicBezTo>
                <a:lnTo>
                  <a:pt x="713" y="218"/>
                </a:lnTo>
                <a:cubicBezTo>
                  <a:pt x="733" y="230"/>
                  <a:pt x="740" y="256"/>
                  <a:pt x="727" y="277"/>
                </a:cubicBezTo>
                <a:lnTo>
                  <a:pt x="711" y="304"/>
                </a:lnTo>
                <a:lnTo>
                  <a:pt x="517" y="186"/>
                </a:lnTo>
                <a:lnTo>
                  <a:pt x="533" y="15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3F3F3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11560" y="2132856"/>
            <a:ext cx="39604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数字通信的主要优点</a:t>
            </a:r>
            <a:endParaRPr lang="en-US" altLang="zh-CN" sz="2000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 1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、抗干扰能力强；</a:t>
            </a:r>
          </a:p>
          <a:p>
            <a:pPr>
              <a:lnSpc>
                <a:spcPct val="140000"/>
              </a:lnSpc>
            </a:pP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 </a:t>
            </a: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2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、噪声不积累；</a:t>
            </a:r>
            <a:endParaRPr lang="en-US" altLang="zh-CN" sz="2000" kern="0" dirty="0">
              <a:solidFill>
                <a:srgbClr val="205867"/>
              </a:solidFill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 </a:t>
            </a: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3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、差错可控；</a:t>
            </a: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 4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、易加密； </a:t>
            </a:r>
          </a:p>
          <a:p>
            <a:pPr>
              <a:lnSpc>
                <a:spcPct val="140000"/>
              </a:lnSpc>
            </a:pP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 5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、易于与现代技术相结合。</a:t>
            </a:r>
            <a:endParaRPr lang="en-US" altLang="zh-CN" sz="2000" kern="0" dirty="0">
              <a:solidFill>
                <a:srgbClr val="205867"/>
              </a:solidFill>
              <a:latin typeface="微软雅黑"/>
              <a:ea typeface="微软雅黑"/>
            </a:endParaRPr>
          </a:p>
          <a:p>
            <a:pPr marL="450850" indent="-450850">
              <a:lnSpc>
                <a:spcPct val="140000"/>
              </a:lnSpc>
              <a:buFont typeface="Wingdings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微软雅黑"/>
                <a:ea typeface="微软雅黑"/>
              </a:rPr>
              <a:t>数字通信的缺点</a:t>
            </a:r>
          </a:p>
          <a:p>
            <a:pPr>
              <a:lnSpc>
                <a:spcPct val="140000"/>
              </a:lnSpc>
            </a:pP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 </a:t>
            </a: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1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、频带利用不高；</a:t>
            </a:r>
            <a:endParaRPr lang="en-US" altLang="zh-CN" sz="2000" kern="0" dirty="0">
              <a:solidFill>
                <a:srgbClr val="205867"/>
              </a:solidFill>
              <a:latin typeface="微软雅黑"/>
              <a:ea typeface="微软雅黑"/>
            </a:endParaRPr>
          </a:p>
          <a:p>
            <a:pPr>
              <a:lnSpc>
                <a:spcPct val="140000"/>
              </a:lnSpc>
            </a:pPr>
            <a:r>
              <a:rPr lang="en-US" altLang="zh-CN" sz="2000" kern="0" dirty="0">
                <a:solidFill>
                  <a:srgbClr val="205867"/>
                </a:solidFill>
                <a:latin typeface="微软雅黑"/>
                <a:ea typeface="微软雅黑"/>
              </a:rPr>
              <a:t>     2</a:t>
            </a:r>
            <a:r>
              <a:rPr lang="zh-CN" altLang="en-US" sz="2000" kern="0" dirty="0">
                <a:solidFill>
                  <a:srgbClr val="205867"/>
                </a:solidFill>
                <a:latin typeface="微软雅黑"/>
                <a:ea typeface="微软雅黑"/>
              </a:rPr>
              <a:t>、需要严格的同步系统。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6264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srgbClr val="205867"/>
              </a:solidFill>
            </a:endParaRPr>
          </a:p>
        </p:txBody>
      </p:sp>
      <p:pic>
        <p:nvPicPr>
          <p:cNvPr id="8" name="Picture 2" descr="S66A00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93" y="1556793"/>
            <a:ext cx="4643387" cy="1379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4C72674D-0725-0E04-DFFB-910BE98F0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55" y="5301207"/>
            <a:ext cx="4797425" cy="1200150"/>
          </a:xfrm>
          <a:prstGeom prst="rect">
            <a:avLst/>
          </a:prstGeom>
          <a:noFill/>
          <a:ln w="38100" cmpd="dbl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Clr>
                <a:srgbClr val="000099"/>
              </a:buClr>
              <a:buSzPct val="60000"/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模拟消息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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原始电信号（基带）</a:t>
            </a:r>
          </a:p>
          <a:p>
            <a:pPr eaLnBrk="1" hangingPunct="1">
              <a:lnSpc>
                <a:spcPct val="150000"/>
              </a:lnSpc>
              <a:buClr>
                <a:srgbClr val="000099"/>
              </a:buClr>
              <a:buSzPct val="60000"/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基带信号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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已 调 信号（带通）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CE63CF-30E4-F6D0-599A-1D88ACDB2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55" y="4489300"/>
            <a:ext cx="30670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zh-CN" sz="2800" b="1" kern="0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两对重要变换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：</a:t>
            </a:r>
            <a:endParaRPr lang="zh-CN" altLang="en-US" sz="2800" b="1" dirty="0"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690126"/>
      </p:ext>
    </p:extLst>
  </p:cSld>
  <p:clrMapOvr>
    <a:masterClrMapping/>
  </p:clrMapOvr>
  <p:transition spd="slow" advTm="5769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6">
            <a:extLst>
              <a:ext uri="{FF2B5EF4-FFF2-40B4-BE49-F238E27FC236}">
                <a16:creationId xmlns:a16="http://schemas.microsoft.com/office/drawing/2014/main" id="{1F09B221-4EF4-99B6-3C7E-44E54F42E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0" name="Rectangle 12">
            <a:extLst>
              <a:ext uri="{FF2B5EF4-FFF2-40B4-BE49-F238E27FC236}">
                <a16:creationId xmlns:a16="http://schemas.microsoft.com/office/drawing/2014/main" id="{CD9AF8E7-C833-9795-1DA1-318841702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47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70" name="Object 11">
            <a:extLst>
              <a:ext uri="{FF2B5EF4-FFF2-40B4-BE49-F238E27FC236}">
                <a16:creationId xmlns:a16="http://schemas.microsoft.com/office/drawing/2014/main" id="{36B63F56-E40F-B0DB-F7F8-0D9B59ECC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1384300"/>
          <a:ext cx="866775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874493" imgH="543294" progId="Visio.Drawing.11">
                  <p:embed/>
                </p:oleObj>
              </mc:Choice>
              <mc:Fallback>
                <p:oleObj name="Visio" r:id="rId3" imgW="2874493" imgH="543294" progId="Visio.Drawing.11">
                  <p:embed/>
                  <p:pic>
                    <p:nvPicPr>
                      <p:cNvPr id="7170" name="Object 11">
                        <a:extLst>
                          <a:ext uri="{FF2B5EF4-FFF2-40B4-BE49-F238E27FC236}">
                            <a16:creationId xmlns:a16="http://schemas.microsoft.com/office/drawing/2014/main" id="{36B63F56-E40F-B0DB-F7F8-0D9B59ECCE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4300"/>
                        <a:ext cx="866775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5E5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B1311F7D-375D-0417-0A6C-066FA66BB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3384550"/>
            <a:ext cx="3168650" cy="1357313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400" kern="0" dirty="0">
                <a:latin typeface="黑体" pitchFamily="2" charset="-122"/>
                <a:ea typeface="黑体" pitchFamily="2" charset="-122"/>
              </a:rPr>
              <a:t>信源编码：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latin typeface="宋体" pitchFamily="2" charset="-122"/>
                <a:ea typeface="+mn-ea"/>
              </a:rPr>
              <a:t>模</a:t>
            </a:r>
            <a:r>
              <a:rPr lang="en-US" altLang="zh-CN" sz="2400" b="1" kern="0" dirty="0">
                <a:latin typeface="宋体" pitchFamily="2" charset="-122"/>
                <a:ea typeface="+mn-ea"/>
              </a:rPr>
              <a:t>/</a:t>
            </a:r>
            <a:r>
              <a:rPr lang="zh-CN" altLang="en-US" sz="2400" b="1" kern="0" dirty="0">
                <a:latin typeface="宋体" pitchFamily="2" charset="-122"/>
                <a:ea typeface="+mn-ea"/>
              </a:rPr>
              <a:t>数转换     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latin typeface="宋体" pitchFamily="2" charset="-122"/>
                <a:ea typeface="+mn-ea"/>
              </a:rPr>
              <a:t>提高有效性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A1FCAE2-A479-6D87-A114-AEC6C8E5E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5118100"/>
            <a:ext cx="3168650" cy="100012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400" kern="0" dirty="0">
                <a:latin typeface="黑体" pitchFamily="2" charset="-122"/>
                <a:ea typeface="黑体" pitchFamily="2" charset="-122"/>
              </a:rPr>
              <a:t>信道编码：</a:t>
            </a:r>
          </a:p>
          <a:p>
            <a:pPr marL="742950" lvl="1" indent="-285750" eaLnBrk="1" hangingPunct="1"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latin typeface="宋体" pitchFamily="2" charset="-122"/>
                <a:ea typeface="+mn-ea"/>
              </a:rPr>
              <a:t>增强抗干扰能力</a:t>
            </a:r>
          </a:p>
        </p:txBody>
      </p:sp>
      <p:pic>
        <p:nvPicPr>
          <p:cNvPr id="4108" name="Picture 12">
            <a:extLst>
              <a:ext uri="{FF2B5EF4-FFF2-40B4-BE49-F238E27FC236}">
                <a16:creationId xmlns:a16="http://schemas.microsoft.com/office/drawing/2014/main" id="{6D1DA476-10B7-49C9-AB8E-3BFF5CABD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21"/>
          <a:stretch>
            <a:fillRect/>
          </a:stretch>
        </p:blipFill>
        <p:spPr bwMode="auto">
          <a:xfrm>
            <a:off x="3919538" y="3695700"/>
            <a:ext cx="4875212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>
            <a:extLst>
              <a:ext uri="{FF2B5EF4-FFF2-40B4-BE49-F238E27FC236}">
                <a16:creationId xmlns:a16="http://schemas.microsoft.com/office/drawing/2014/main" id="{44C6A353-6DA1-6F8C-E438-93603E645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77" b="-1501"/>
          <a:stretch>
            <a:fillRect/>
          </a:stretch>
        </p:blipFill>
        <p:spPr bwMode="auto">
          <a:xfrm>
            <a:off x="3905250" y="5118100"/>
            <a:ext cx="4875213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5" name="Rectangle 3">
            <a:extLst>
              <a:ext uri="{FF2B5EF4-FFF2-40B4-BE49-F238E27FC236}">
                <a16:creationId xmlns:a16="http://schemas.microsoft.com/office/drawing/2014/main" id="{F2BEE206-F109-EA99-9FFE-FBA40E1FF0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14500" y="1714500"/>
            <a:ext cx="6143625" cy="2674938"/>
          </a:xfrm>
          <a:noFill/>
          <a:ln>
            <a:solidFill>
              <a:srgbClr val="969696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宋体" panose="02010600030101010101" pitchFamily="2" charset="-122"/>
              </a:rPr>
              <a:t>抗干扰能力强，且噪声不积累；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宋体" panose="02010600030101010101" pitchFamily="2" charset="-122"/>
              </a:rPr>
              <a:t>传输差错可控；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宋体" panose="02010600030101010101" pitchFamily="2" charset="-122"/>
              </a:rPr>
              <a:t>便于处理、变换、存储；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宋体" panose="02010600030101010101" pitchFamily="2" charset="-122"/>
              </a:rPr>
              <a:t>便于将来自不同信源的信号综合传输；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宋体" panose="02010600030101010101" pitchFamily="2" charset="-122"/>
              </a:rPr>
              <a:t>易于集成；易于加密。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66922" name="Rectangle 10">
            <a:extLst>
              <a:ext uri="{FF2B5EF4-FFF2-40B4-BE49-F238E27FC236}">
                <a16:creationId xmlns:a16="http://schemas.microsoft.com/office/drawing/2014/main" id="{E80781F3-C462-8719-E372-01EDA959B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350" y="5000625"/>
            <a:ext cx="5311775" cy="1062038"/>
          </a:xfrm>
          <a:prstGeom prst="rect">
            <a:avLst/>
          </a:prstGeom>
          <a:noFill/>
          <a:ln w="9525">
            <a:solidFill>
              <a:srgbClr val="969696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可能需要较大的传输带宽；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对同步要求高。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7D64EEC-A72B-9BC4-C6EA-953D992AEDE5}"/>
              </a:ext>
            </a:extLst>
          </p:cNvPr>
          <p:cNvSpPr/>
          <p:nvPr/>
        </p:nvSpPr>
        <p:spPr bwMode="auto">
          <a:xfrm>
            <a:off x="1071563" y="1339850"/>
            <a:ext cx="1144587" cy="622300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优点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220EA80-6156-BBC4-EB19-33E4CA988FEA}"/>
              </a:ext>
            </a:extLst>
          </p:cNvPr>
          <p:cNvSpPr/>
          <p:nvPr/>
        </p:nvSpPr>
        <p:spPr bwMode="auto">
          <a:xfrm>
            <a:off x="1727200" y="4776788"/>
            <a:ext cx="1111250" cy="696912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缺点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5606D66-35B8-92DC-CF33-0061CF6BD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350" y="361950"/>
            <a:ext cx="4267200" cy="584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FF0000"/>
              </a:buClr>
              <a:buSzPct val="65000"/>
              <a:defRPr/>
            </a:pP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    数字通信的特点</a:t>
            </a:r>
            <a:endParaRPr lang="zh-CN" altLang="en-US" sz="32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166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166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C28FDCC5-0DB9-26C3-1762-74457AF7E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8488" y="1427163"/>
            <a:ext cx="4703762" cy="4394200"/>
          </a:xfrm>
        </p:spPr>
        <p:txBody>
          <a:bodyPr/>
          <a:lstStyle/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dirty="0">
                <a:solidFill>
                  <a:srgbClr val="666699"/>
                </a:solidFill>
                <a:latin typeface="微软雅黑" pitchFamily="34" charset="-122"/>
                <a:ea typeface="微软雅黑" pitchFamily="34" charset="-122"/>
              </a:rPr>
              <a:t>基本概念        </a:t>
            </a: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endParaRPr lang="en-US" altLang="zh-CN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信息度量</a:t>
            </a: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         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dirty="0">
                <a:solidFill>
                  <a:srgbClr val="666699"/>
                </a:solidFill>
                <a:latin typeface="微软雅黑" pitchFamily="34" charset="-122"/>
                <a:ea typeface="微软雅黑" pitchFamily="34" charset="-122"/>
              </a:rPr>
              <a:t>性能指标</a:t>
            </a:r>
          </a:p>
          <a:p>
            <a:pPr defTabSz="952500" eaLnBrk="1" hangingPunct="1">
              <a:lnSpc>
                <a:spcPts val="4320"/>
              </a:lnSpc>
              <a:buClr>
                <a:srgbClr val="0000CC"/>
              </a:buClr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sz="2000" dirty="0"/>
              <a:t>                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52500" eaLnBrk="1" hangingPunct="1">
              <a:buClr>
                <a:srgbClr val="0000CC"/>
              </a:buClr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endParaRPr lang="en-US" altLang="zh-CN" sz="2800" dirty="0">
              <a:solidFill>
                <a:srgbClr val="A50021"/>
              </a:solidFill>
            </a:endParaRPr>
          </a:p>
        </p:txBody>
      </p:sp>
      <p:grpSp>
        <p:nvGrpSpPr>
          <p:cNvPr id="36867" name="Group 8">
            <a:extLst>
              <a:ext uri="{FF2B5EF4-FFF2-40B4-BE49-F238E27FC236}">
                <a16:creationId xmlns:a16="http://schemas.microsoft.com/office/drawing/2014/main" id="{ADAEF7DB-7BB2-0176-378A-EF7063C64719}"/>
              </a:ext>
            </a:extLst>
          </p:cNvPr>
          <p:cNvGrpSpPr>
            <a:grpSpLocks/>
          </p:cNvGrpSpPr>
          <p:nvPr/>
        </p:nvGrpSpPr>
        <p:grpSpPr bwMode="auto">
          <a:xfrm>
            <a:off x="1612900" y="1749425"/>
            <a:ext cx="169863" cy="215900"/>
            <a:chOff x="2976" y="1008"/>
            <a:chExt cx="1056" cy="432"/>
          </a:xfrm>
        </p:grpSpPr>
        <p:sp>
          <p:nvSpPr>
            <p:cNvPr id="36877" name="Oval 9">
              <a:extLst>
                <a:ext uri="{FF2B5EF4-FFF2-40B4-BE49-F238E27FC236}">
                  <a16:creationId xmlns:a16="http://schemas.microsoft.com/office/drawing/2014/main" id="{9CDFB25F-2EED-389B-5C3E-F2D39BE82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78" name="Oval 10">
              <a:extLst>
                <a:ext uri="{FF2B5EF4-FFF2-40B4-BE49-F238E27FC236}">
                  <a16:creationId xmlns:a16="http://schemas.microsoft.com/office/drawing/2014/main" id="{FFB75DFF-6B38-9DF1-F6A7-0399C2EEF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7">
            <a:extLst>
              <a:ext uri="{FF2B5EF4-FFF2-40B4-BE49-F238E27FC236}">
                <a16:creationId xmlns:a16="http://schemas.microsoft.com/office/drawing/2014/main" id="{C4EA3365-BE0F-4FAA-FFE3-4CA4AA5460B3}"/>
              </a:ext>
            </a:extLst>
          </p:cNvPr>
          <p:cNvGrpSpPr>
            <a:grpSpLocks/>
          </p:cNvGrpSpPr>
          <p:nvPr/>
        </p:nvGrpSpPr>
        <p:grpSpPr bwMode="auto">
          <a:xfrm>
            <a:off x="1627188" y="3176588"/>
            <a:ext cx="169862" cy="215900"/>
            <a:chOff x="2976" y="1008"/>
            <a:chExt cx="1056" cy="432"/>
          </a:xfrm>
        </p:grpSpPr>
        <p:sp>
          <p:nvSpPr>
            <p:cNvPr id="36875" name="Oval 18">
              <a:extLst>
                <a:ext uri="{FF2B5EF4-FFF2-40B4-BE49-F238E27FC236}">
                  <a16:creationId xmlns:a16="http://schemas.microsoft.com/office/drawing/2014/main" id="{8815C3AD-DF03-C4DF-5710-FA5B2198C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76" name="Oval 19">
              <a:extLst>
                <a:ext uri="{FF2B5EF4-FFF2-40B4-BE49-F238E27FC236}">
                  <a16:creationId xmlns:a16="http://schemas.microsoft.com/office/drawing/2014/main" id="{D13A966E-1E49-2151-A387-96E9CE8CE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6869" name="Group 20">
            <a:extLst>
              <a:ext uri="{FF2B5EF4-FFF2-40B4-BE49-F238E27FC236}">
                <a16:creationId xmlns:a16="http://schemas.microsoft.com/office/drawing/2014/main" id="{423DE3C4-C441-246E-44C7-EF025E7A151A}"/>
              </a:ext>
            </a:extLst>
          </p:cNvPr>
          <p:cNvGrpSpPr>
            <a:grpSpLocks/>
          </p:cNvGrpSpPr>
          <p:nvPr/>
        </p:nvGrpSpPr>
        <p:grpSpPr bwMode="auto">
          <a:xfrm>
            <a:off x="1627188" y="4605338"/>
            <a:ext cx="169862" cy="215900"/>
            <a:chOff x="2976" y="1008"/>
            <a:chExt cx="1056" cy="432"/>
          </a:xfrm>
        </p:grpSpPr>
        <p:sp>
          <p:nvSpPr>
            <p:cNvPr id="36873" name="Oval 21">
              <a:extLst>
                <a:ext uri="{FF2B5EF4-FFF2-40B4-BE49-F238E27FC236}">
                  <a16:creationId xmlns:a16="http://schemas.microsoft.com/office/drawing/2014/main" id="{A230FF2B-35D5-024A-25B7-65F6E86D2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74" name="Oval 22">
              <a:extLst>
                <a:ext uri="{FF2B5EF4-FFF2-40B4-BE49-F238E27FC236}">
                  <a16:creationId xmlns:a16="http://schemas.microsoft.com/office/drawing/2014/main" id="{6B5F33CD-585E-3A4C-71BD-BA2EA0C4A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" name="Rectangle 2">
            <a:extLst>
              <a:ext uri="{FF2B5EF4-FFF2-40B4-BE49-F238E27FC236}">
                <a16:creationId xmlns:a16="http://schemas.microsoft.com/office/drawing/2014/main" id="{04CF34B4-0D66-C21D-92D1-0C11605D1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440" y="2059055"/>
            <a:ext cx="5000625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模型</a:t>
            </a:r>
            <a:r>
              <a:rPr lang="en-US" altLang="zh-C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分类</a:t>
            </a:r>
            <a:r>
              <a:rPr lang="en-US" altLang="zh-C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通信方式</a:t>
            </a:r>
            <a:endParaRPr lang="en-US" altLang="zh-CN" sz="24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endParaRPr lang="en-US" altLang="zh-CN" sz="2800" kern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+mn-ea"/>
                <a:ea typeface="+mn-ea"/>
              </a:rPr>
              <a:t>信息量</a:t>
            </a:r>
            <a:r>
              <a:rPr lang="en-US" altLang="zh-CN" sz="2400" kern="0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zh-CN" altLang="en-US" sz="2400" kern="0" dirty="0">
                <a:solidFill>
                  <a:srgbClr val="FF0000"/>
                </a:solidFill>
                <a:latin typeface="+mn-ea"/>
                <a:ea typeface="+mn-ea"/>
              </a:rPr>
              <a:t>信源熵 </a:t>
            </a:r>
            <a:endParaRPr lang="en-US" altLang="zh-CN" sz="2400" kern="0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endParaRPr lang="en-US" altLang="zh-CN" sz="28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有效性</a:t>
            </a:r>
            <a:r>
              <a:rPr lang="en-US" altLang="zh-C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可靠性</a:t>
            </a:r>
            <a:endParaRPr lang="en-US" altLang="zh-CN" sz="2400" kern="0" dirty="0">
              <a:solidFill>
                <a:srgbClr val="A50021"/>
              </a:solidFill>
              <a:latin typeface="+mn-ea"/>
              <a:ea typeface="+mn-ea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B8870F1-C65E-FBC7-B580-D22A59492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100"/>
            <a:ext cx="2928938" cy="70802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4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3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r>
              <a:rPr lang="en-US" altLang="zh-CN" sz="3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endParaRPr lang="zh-CN" altLang="en-US" sz="3600" dirty="0">
              <a:solidFill>
                <a:schemeClr val="bg1"/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939BB06B-8C8E-E01B-868D-3C68ECF25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425450"/>
            <a:ext cx="2286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章  绪 论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Arial" pitchFamily="34" charset="0"/>
              </a:rPr>
              <a:t> 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32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53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2B789E7F-CFE8-C321-8A09-E935E4BEC16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527300" y="3497263"/>
            <a:ext cx="4400550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4400" b="1" dirty="0">
                <a:solidFill>
                  <a:srgbClr val="003399"/>
                </a:solidFill>
                <a:ea typeface="微软雅黑" pitchFamily="34" charset="-122"/>
              </a:rPr>
              <a:t> </a:t>
            </a:r>
            <a:r>
              <a:rPr lang="zh-CN" altLang="en-US" sz="4400" b="1" dirty="0">
                <a:solidFill>
                  <a:srgbClr val="0033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信</a:t>
            </a:r>
            <a:r>
              <a:rPr lang="zh-CN" altLang="en-US" sz="4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息</a:t>
            </a:r>
            <a:r>
              <a:rPr lang="zh-CN" altLang="en-US" sz="44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及其</a:t>
            </a:r>
            <a:r>
              <a:rPr lang="zh-CN" altLang="en-US" sz="4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度量</a:t>
            </a:r>
            <a:endParaRPr lang="en-US" altLang="zh-CN" sz="4400" b="1" dirty="0">
              <a:solidFill>
                <a:srgbClr val="003399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009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BD8A6BB-9DB0-4D68-8C51-9450703F7B3C}"/>
              </a:ext>
            </a:extLst>
          </p:cNvPr>
          <p:cNvSpPr/>
          <p:nvPr/>
        </p:nvSpPr>
        <p:spPr>
          <a:xfrm>
            <a:off x="7491413" y="428625"/>
            <a:ext cx="903287" cy="630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rgbClr val="777777"/>
              </a:buClr>
              <a:buSzPct val="60000"/>
              <a:defRPr/>
            </a:pPr>
            <a:r>
              <a:rPr lang="zh-CN" altLang="en-US" sz="2800" kern="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引言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B7A4A7B-892E-9948-6D1A-1595C2FDE87A}"/>
              </a:ext>
            </a:extLst>
          </p:cNvPr>
          <p:cNvSpPr/>
          <p:nvPr/>
        </p:nvSpPr>
        <p:spPr>
          <a:xfrm>
            <a:off x="922338" y="1420845"/>
            <a:ext cx="3441700" cy="5540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信息具有以下特性：</a:t>
            </a:r>
            <a:endParaRPr lang="en-US" altLang="zh-CN" sz="2400" kern="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B896189-BB00-1AB8-5D59-927C40894739}"/>
              </a:ext>
            </a:extLst>
          </p:cNvPr>
          <p:cNvSpPr/>
          <p:nvPr/>
        </p:nvSpPr>
        <p:spPr>
          <a:xfrm>
            <a:off x="485141" y="623094"/>
            <a:ext cx="6821487" cy="490519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rgbClr val="FFFFFF">
                  <a:lumMod val="50000"/>
                </a:srgbClr>
              </a:buClr>
              <a:buSzPct val="60000"/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在当今信息社会中，信息是最宝贵的资源之一。</a:t>
            </a:r>
          </a:p>
        </p:txBody>
      </p:sp>
      <p:grpSp>
        <p:nvGrpSpPr>
          <p:cNvPr id="2" name="组合 39">
            <a:extLst>
              <a:ext uri="{FF2B5EF4-FFF2-40B4-BE49-F238E27FC236}">
                <a16:creationId xmlns:a16="http://schemas.microsoft.com/office/drawing/2014/main" id="{607000E7-0DC3-0AC7-49C5-06E66D5150AF}"/>
              </a:ext>
            </a:extLst>
          </p:cNvPr>
          <p:cNvGrpSpPr>
            <a:grpSpLocks/>
          </p:cNvGrpSpPr>
          <p:nvPr/>
        </p:nvGrpSpPr>
        <p:grpSpPr bwMode="auto">
          <a:xfrm>
            <a:off x="6955631" y="2505253"/>
            <a:ext cx="1071563" cy="642937"/>
            <a:chOff x="2500298" y="3214686"/>
            <a:chExt cx="1071570" cy="642942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E8481430-C6C9-0A55-7CA8-F12EFC05E300}"/>
                </a:ext>
              </a:extLst>
            </p:cNvPr>
            <p:cNvSpPr/>
            <p:nvPr/>
          </p:nvSpPr>
          <p:spPr bwMode="auto">
            <a:xfrm>
              <a:off x="2500298" y="3214686"/>
              <a:ext cx="1071570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C119C93-7132-76D0-AC89-5D5471B15AC4}"/>
                </a:ext>
              </a:extLst>
            </p:cNvPr>
            <p:cNvSpPr/>
            <p:nvPr/>
          </p:nvSpPr>
          <p:spPr>
            <a:xfrm>
              <a:off x="2625712" y="3286124"/>
              <a:ext cx="803280" cy="461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kern="0" dirty="0">
                  <a:solidFill>
                    <a:srgbClr val="003399"/>
                  </a:solidFill>
                  <a:latin typeface="黑体" pitchFamily="2" charset="-122"/>
                  <a:ea typeface="黑体" pitchFamily="2" charset="-122"/>
                </a:rPr>
                <a:t>时效</a:t>
              </a: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3" name="组合 42">
            <a:extLst>
              <a:ext uri="{FF2B5EF4-FFF2-40B4-BE49-F238E27FC236}">
                <a16:creationId xmlns:a16="http://schemas.microsoft.com/office/drawing/2014/main" id="{F6C7DA73-79D0-2A4C-1250-8C37CC392690}"/>
              </a:ext>
            </a:extLst>
          </p:cNvPr>
          <p:cNvGrpSpPr>
            <a:grpSpLocks/>
          </p:cNvGrpSpPr>
          <p:nvPr/>
        </p:nvGrpSpPr>
        <p:grpSpPr bwMode="auto">
          <a:xfrm>
            <a:off x="2669381" y="2648128"/>
            <a:ext cx="1071563" cy="642937"/>
            <a:chOff x="2500298" y="3214686"/>
            <a:chExt cx="1071570" cy="642942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A5B8DD6-1FD2-AFDC-CEB4-4BB60F56E579}"/>
                </a:ext>
              </a:extLst>
            </p:cNvPr>
            <p:cNvSpPr/>
            <p:nvPr/>
          </p:nvSpPr>
          <p:spPr bwMode="auto">
            <a:xfrm>
              <a:off x="2500298" y="3214686"/>
              <a:ext cx="1071570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605DDB2-5BDE-6171-EBF1-5143F9EEA27C}"/>
                </a:ext>
              </a:extLst>
            </p:cNvPr>
            <p:cNvSpPr/>
            <p:nvPr/>
          </p:nvSpPr>
          <p:spPr>
            <a:xfrm>
              <a:off x="2625712" y="3286124"/>
              <a:ext cx="803280" cy="461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kern="0" dirty="0">
                  <a:solidFill>
                    <a:srgbClr val="003399"/>
                  </a:solidFill>
                  <a:latin typeface="黑体" pitchFamily="2" charset="-122"/>
                  <a:ea typeface="黑体" pitchFamily="2" charset="-122"/>
                </a:rPr>
                <a:t>压缩</a:t>
              </a: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4" name="组合 45">
            <a:extLst>
              <a:ext uri="{FF2B5EF4-FFF2-40B4-BE49-F238E27FC236}">
                <a16:creationId xmlns:a16="http://schemas.microsoft.com/office/drawing/2014/main" id="{F573DC0C-B50E-A532-866C-6D2A07D87C71}"/>
              </a:ext>
            </a:extLst>
          </p:cNvPr>
          <p:cNvGrpSpPr>
            <a:grpSpLocks/>
          </p:cNvGrpSpPr>
          <p:nvPr/>
        </p:nvGrpSpPr>
        <p:grpSpPr bwMode="auto">
          <a:xfrm>
            <a:off x="4026694" y="2076628"/>
            <a:ext cx="1071562" cy="642937"/>
            <a:chOff x="2500298" y="3214686"/>
            <a:chExt cx="1071570" cy="642942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21030C6-0C9B-6705-99D0-AD8BAABA0249}"/>
                </a:ext>
              </a:extLst>
            </p:cNvPr>
            <p:cNvSpPr/>
            <p:nvPr/>
          </p:nvSpPr>
          <p:spPr bwMode="auto">
            <a:xfrm>
              <a:off x="2500298" y="3214686"/>
              <a:ext cx="1071570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14B95CE-9EBA-8B56-B88D-2653C559E21C}"/>
                </a:ext>
              </a:extLst>
            </p:cNvPr>
            <p:cNvSpPr/>
            <p:nvPr/>
          </p:nvSpPr>
          <p:spPr>
            <a:xfrm>
              <a:off x="2625711" y="3286124"/>
              <a:ext cx="803281" cy="461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kern="0" dirty="0">
                  <a:solidFill>
                    <a:srgbClr val="003399"/>
                  </a:solidFill>
                  <a:latin typeface="黑体" pitchFamily="2" charset="-122"/>
                  <a:ea typeface="黑体" pitchFamily="2" charset="-122"/>
                </a:rPr>
                <a:t>存储</a:t>
              </a: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5" name="组合 48">
            <a:extLst>
              <a:ext uri="{FF2B5EF4-FFF2-40B4-BE49-F238E27FC236}">
                <a16:creationId xmlns:a16="http://schemas.microsoft.com/office/drawing/2014/main" id="{FAB71332-E4FB-3A55-35D6-6C9D2382B25D}"/>
              </a:ext>
            </a:extLst>
          </p:cNvPr>
          <p:cNvGrpSpPr>
            <a:grpSpLocks/>
          </p:cNvGrpSpPr>
          <p:nvPr/>
        </p:nvGrpSpPr>
        <p:grpSpPr bwMode="auto">
          <a:xfrm>
            <a:off x="4098131" y="2933878"/>
            <a:ext cx="1071563" cy="642937"/>
            <a:chOff x="2500298" y="3214686"/>
            <a:chExt cx="1071570" cy="642942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42FB9FEA-22EA-8B68-1426-004B4CD5C02A}"/>
                </a:ext>
              </a:extLst>
            </p:cNvPr>
            <p:cNvSpPr/>
            <p:nvPr/>
          </p:nvSpPr>
          <p:spPr bwMode="auto">
            <a:xfrm>
              <a:off x="2500298" y="3214686"/>
              <a:ext cx="1071570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6757B13-8FE6-460F-BEAA-8BABC3CB67B8}"/>
                </a:ext>
              </a:extLst>
            </p:cNvPr>
            <p:cNvSpPr/>
            <p:nvPr/>
          </p:nvSpPr>
          <p:spPr>
            <a:xfrm>
              <a:off x="2625712" y="3286124"/>
              <a:ext cx="803280" cy="461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kern="0" dirty="0">
                  <a:solidFill>
                    <a:srgbClr val="003399"/>
                  </a:solidFill>
                  <a:latin typeface="黑体" pitchFamily="2" charset="-122"/>
                  <a:ea typeface="黑体" pitchFamily="2" charset="-122"/>
                </a:rPr>
                <a:t>传输</a:t>
              </a: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6" name="组合 51">
            <a:extLst>
              <a:ext uri="{FF2B5EF4-FFF2-40B4-BE49-F238E27FC236}">
                <a16:creationId xmlns:a16="http://schemas.microsoft.com/office/drawing/2014/main" id="{7FAB288D-3BE0-6D1D-7EDE-7AE14B3C1F91}"/>
              </a:ext>
            </a:extLst>
          </p:cNvPr>
          <p:cNvGrpSpPr>
            <a:grpSpLocks/>
          </p:cNvGrpSpPr>
          <p:nvPr/>
        </p:nvGrpSpPr>
        <p:grpSpPr bwMode="auto">
          <a:xfrm>
            <a:off x="5526881" y="2505253"/>
            <a:ext cx="1071563" cy="642937"/>
            <a:chOff x="2500298" y="3214686"/>
            <a:chExt cx="1071570" cy="642942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E05E15F0-1AC4-3BAB-D242-8FD682233208}"/>
                </a:ext>
              </a:extLst>
            </p:cNvPr>
            <p:cNvSpPr/>
            <p:nvPr/>
          </p:nvSpPr>
          <p:spPr bwMode="auto">
            <a:xfrm>
              <a:off x="2500298" y="3214686"/>
              <a:ext cx="1071570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742FBFC-B085-E584-1010-B9F2400C3176}"/>
                </a:ext>
              </a:extLst>
            </p:cNvPr>
            <p:cNvSpPr/>
            <p:nvPr/>
          </p:nvSpPr>
          <p:spPr>
            <a:xfrm>
              <a:off x="2625712" y="3286124"/>
              <a:ext cx="803280" cy="461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kern="0" dirty="0">
                  <a:solidFill>
                    <a:srgbClr val="003399"/>
                  </a:solidFill>
                  <a:latin typeface="黑体" pitchFamily="2" charset="-122"/>
                  <a:ea typeface="黑体" pitchFamily="2" charset="-122"/>
                </a:rPr>
                <a:t>相对</a:t>
              </a: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7" name="组合 54">
            <a:extLst>
              <a:ext uri="{FF2B5EF4-FFF2-40B4-BE49-F238E27FC236}">
                <a16:creationId xmlns:a16="http://schemas.microsoft.com/office/drawing/2014/main" id="{274D0211-166B-1528-4FFF-B6154D9E8A79}"/>
              </a:ext>
            </a:extLst>
          </p:cNvPr>
          <p:cNvGrpSpPr>
            <a:grpSpLocks/>
          </p:cNvGrpSpPr>
          <p:nvPr/>
        </p:nvGrpSpPr>
        <p:grpSpPr bwMode="auto">
          <a:xfrm>
            <a:off x="6241256" y="1862315"/>
            <a:ext cx="1071563" cy="642938"/>
            <a:chOff x="2500298" y="3214686"/>
            <a:chExt cx="1071570" cy="642942"/>
          </a:xfrm>
        </p:grpSpPr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D6AEAA95-7D92-6661-AFDC-83304FAA03F8}"/>
                </a:ext>
              </a:extLst>
            </p:cNvPr>
            <p:cNvSpPr/>
            <p:nvPr/>
          </p:nvSpPr>
          <p:spPr bwMode="auto">
            <a:xfrm>
              <a:off x="2500298" y="3214686"/>
              <a:ext cx="1071570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AB69662F-D09A-4707-ACF5-374E3D315D2E}"/>
                </a:ext>
              </a:extLst>
            </p:cNvPr>
            <p:cNvSpPr/>
            <p:nvPr/>
          </p:nvSpPr>
          <p:spPr>
            <a:xfrm>
              <a:off x="2625712" y="3286124"/>
              <a:ext cx="803280" cy="4619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kern="0" dirty="0">
                  <a:solidFill>
                    <a:srgbClr val="003399"/>
                  </a:solidFill>
                  <a:latin typeface="黑体" pitchFamily="2" charset="-122"/>
                  <a:ea typeface="黑体" pitchFamily="2" charset="-122"/>
                </a:rPr>
                <a:t>共享</a:t>
              </a: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8" name="组合 57">
            <a:extLst>
              <a:ext uri="{FF2B5EF4-FFF2-40B4-BE49-F238E27FC236}">
                <a16:creationId xmlns:a16="http://schemas.microsoft.com/office/drawing/2014/main" id="{64C1C95A-3D09-675E-529C-FF09055C2DC3}"/>
              </a:ext>
            </a:extLst>
          </p:cNvPr>
          <p:cNvGrpSpPr>
            <a:grpSpLocks/>
          </p:cNvGrpSpPr>
          <p:nvPr/>
        </p:nvGrpSpPr>
        <p:grpSpPr bwMode="auto">
          <a:xfrm>
            <a:off x="1383506" y="2219503"/>
            <a:ext cx="1071563" cy="642937"/>
            <a:chOff x="2500298" y="3214686"/>
            <a:chExt cx="1071570" cy="642942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4EF085AD-2F41-9D1F-EABF-B94D04B43830}"/>
                </a:ext>
              </a:extLst>
            </p:cNvPr>
            <p:cNvSpPr/>
            <p:nvPr/>
          </p:nvSpPr>
          <p:spPr bwMode="auto">
            <a:xfrm>
              <a:off x="2500298" y="3214686"/>
              <a:ext cx="1071570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BFFCEB5-F0D7-CB74-3087-325D86EAE315}"/>
                </a:ext>
              </a:extLst>
            </p:cNvPr>
            <p:cNvSpPr/>
            <p:nvPr/>
          </p:nvSpPr>
          <p:spPr>
            <a:xfrm>
              <a:off x="2625712" y="3286124"/>
              <a:ext cx="803280" cy="461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kern="0" dirty="0">
                  <a:solidFill>
                    <a:srgbClr val="003399"/>
                  </a:solidFill>
                  <a:latin typeface="黑体" pitchFamily="2" charset="-122"/>
                  <a:ea typeface="黑体" pitchFamily="2" charset="-122"/>
                </a:rPr>
                <a:t>存在</a:t>
              </a: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" name="组合 60">
            <a:extLst>
              <a:ext uri="{FF2B5EF4-FFF2-40B4-BE49-F238E27FC236}">
                <a16:creationId xmlns:a16="http://schemas.microsoft.com/office/drawing/2014/main" id="{255654D3-AAD5-E3E0-D948-29FDF96F5FE8}"/>
              </a:ext>
            </a:extLst>
          </p:cNvPr>
          <p:cNvGrpSpPr>
            <a:grpSpLocks/>
          </p:cNvGrpSpPr>
          <p:nvPr/>
        </p:nvGrpSpPr>
        <p:grpSpPr bwMode="auto">
          <a:xfrm>
            <a:off x="6241256" y="3148190"/>
            <a:ext cx="1071563" cy="642938"/>
            <a:chOff x="2500298" y="3214686"/>
            <a:chExt cx="1071570" cy="642942"/>
          </a:xfrm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03136A58-EFD2-ADBB-F218-C999C76D7AC5}"/>
                </a:ext>
              </a:extLst>
            </p:cNvPr>
            <p:cNvSpPr/>
            <p:nvPr/>
          </p:nvSpPr>
          <p:spPr bwMode="auto">
            <a:xfrm>
              <a:off x="2500298" y="3214686"/>
              <a:ext cx="1071570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D9363B2-3185-C24E-0A5C-CE371DC872B3}"/>
                </a:ext>
              </a:extLst>
            </p:cNvPr>
            <p:cNvSpPr/>
            <p:nvPr/>
          </p:nvSpPr>
          <p:spPr>
            <a:xfrm>
              <a:off x="2625712" y="3286124"/>
              <a:ext cx="803280" cy="4619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kern="0" dirty="0">
                  <a:solidFill>
                    <a:srgbClr val="003399"/>
                  </a:solidFill>
                  <a:latin typeface="黑体" pitchFamily="2" charset="-122"/>
                  <a:ea typeface="黑体" pitchFamily="2" charset="-122"/>
                </a:rPr>
                <a:t>度量</a:t>
              </a: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1" name="组合 63">
            <a:extLst>
              <a:ext uri="{FF2B5EF4-FFF2-40B4-BE49-F238E27FC236}">
                <a16:creationId xmlns:a16="http://schemas.microsoft.com/office/drawing/2014/main" id="{BA058E39-1A63-49EF-1568-C6C425E02880}"/>
              </a:ext>
            </a:extLst>
          </p:cNvPr>
          <p:cNvGrpSpPr>
            <a:grpSpLocks/>
          </p:cNvGrpSpPr>
          <p:nvPr/>
        </p:nvGrpSpPr>
        <p:grpSpPr bwMode="auto">
          <a:xfrm>
            <a:off x="1812131" y="3076753"/>
            <a:ext cx="1071563" cy="642937"/>
            <a:chOff x="2500298" y="3214686"/>
            <a:chExt cx="1071570" cy="642942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5AC2F036-3D04-F2B4-44AF-84BC2386CE24}"/>
                </a:ext>
              </a:extLst>
            </p:cNvPr>
            <p:cNvSpPr/>
            <p:nvPr/>
          </p:nvSpPr>
          <p:spPr bwMode="auto">
            <a:xfrm>
              <a:off x="2500298" y="3214686"/>
              <a:ext cx="1071570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37C18ECD-3271-7DF7-CB90-74094581AC09}"/>
                </a:ext>
              </a:extLst>
            </p:cNvPr>
            <p:cNvSpPr/>
            <p:nvPr/>
          </p:nvSpPr>
          <p:spPr>
            <a:xfrm>
              <a:off x="2625712" y="3286124"/>
              <a:ext cx="803280" cy="461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kern="0" dirty="0">
                  <a:solidFill>
                    <a:srgbClr val="003399"/>
                  </a:solidFill>
                  <a:latin typeface="黑体" pitchFamily="2" charset="-122"/>
                  <a:ea typeface="黑体" pitchFamily="2" charset="-122"/>
                </a:rPr>
                <a:t>扩充</a:t>
              </a:r>
              <a:endParaRPr lang="zh-CN" altLang="en-US" sz="240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ACCBF70-9A43-932C-4561-78094F32910A}"/>
              </a:ext>
            </a:extLst>
          </p:cNvPr>
          <p:cNvSpPr txBox="1"/>
          <p:nvPr/>
        </p:nvSpPr>
        <p:spPr>
          <a:xfrm>
            <a:off x="922338" y="3934002"/>
            <a:ext cx="7498080" cy="265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宋体" pitchFamily="2" charset="-122"/>
              </a:rPr>
              <a:t>信息具有普遍存在性</a:t>
            </a:r>
            <a:r>
              <a:rPr lang="zh-CN" altLang="en-US" sz="2000" dirty="0">
                <a:latin typeface="宋体" pitchFamily="2" charset="-122"/>
              </a:rPr>
              <a:t>（即存在于任何事物的运动和变化中）；</a:t>
            </a:r>
            <a:r>
              <a:rPr lang="zh-CN" altLang="en-US" sz="2000" b="1" dirty="0">
                <a:latin typeface="宋体" pitchFamily="2" charset="-122"/>
              </a:rPr>
              <a:t>可扩充</a:t>
            </a:r>
            <a:r>
              <a:rPr lang="zh-CN" altLang="en-US" sz="2000" dirty="0">
                <a:latin typeface="宋体" pitchFamily="2" charset="-122"/>
              </a:rPr>
              <a:t>或</a:t>
            </a:r>
            <a:r>
              <a:rPr lang="zh-CN" altLang="en-US" sz="2000" b="1" dirty="0">
                <a:latin typeface="宋体" pitchFamily="2" charset="-122"/>
              </a:rPr>
              <a:t>压缩性；可存储</a:t>
            </a:r>
            <a:r>
              <a:rPr lang="zh-CN" altLang="en-US" sz="2000" dirty="0">
                <a:latin typeface="宋体" pitchFamily="2" charset="-122"/>
              </a:rPr>
              <a:t>与</a:t>
            </a:r>
            <a:r>
              <a:rPr lang="zh-CN" altLang="en-US" sz="2000" b="1" dirty="0">
                <a:latin typeface="宋体" pitchFamily="2" charset="-122"/>
              </a:rPr>
              <a:t>传输性；相对性</a:t>
            </a:r>
            <a:r>
              <a:rPr lang="zh-CN" altLang="en-US" sz="2000" dirty="0">
                <a:latin typeface="宋体" pitchFamily="2" charset="-122"/>
              </a:rPr>
              <a:t>（不同的认识主体观察到的信息不同）；</a:t>
            </a:r>
            <a:r>
              <a:rPr lang="zh-CN" altLang="en-US" sz="2000" b="1" dirty="0">
                <a:latin typeface="宋体" pitchFamily="2" charset="-122"/>
              </a:rPr>
              <a:t>可度量、可共享</a:t>
            </a:r>
            <a:r>
              <a:rPr lang="zh-CN" altLang="en-US" sz="2000" dirty="0">
                <a:latin typeface="宋体" pitchFamily="2" charset="-122"/>
              </a:rPr>
              <a:t>和</a:t>
            </a:r>
            <a:r>
              <a:rPr lang="zh-CN" altLang="en-US" sz="2000" b="1" dirty="0">
                <a:latin typeface="宋体" pitchFamily="2" charset="-122"/>
              </a:rPr>
              <a:t>时效性</a:t>
            </a:r>
            <a:r>
              <a:rPr lang="zh-CN" altLang="en-US" sz="2000" dirty="0">
                <a:latin typeface="宋体" pitchFamily="2" charset="-122"/>
              </a:rPr>
              <a:t>（信息具有“生命周期”）。</a:t>
            </a:r>
            <a:endParaRPr lang="en-US" altLang="zh-CN" sz="2000" dirty="0">
              <a:latin typeface="宋体" pitchFamily="2" charset="-122"/>
            </a:endParaRPr>
          </a:p>
          <a:p>
            <a:pPr eaLnBrk="1" hangingPunct="1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itchFamily="2" charset="2"/>
              <a:buChar char="l"/>
              <a:defRPr/>
            </a:pPr>
            <a:r>
              <a:rPr lang="zh-CN" altLang="en-US" sz="2000" b="1" dirty="0">
                <a:latin typeface="宋体" pitchFamily="2" charset="-122"/>
              </a:rPr>
              <a:t>信息必须依附于一定的物质形式存在，这种承载信息的物质就是消息。</a:t>
            </a:r>
            <a:r>
              <a:rPr lang="en-US" sz="2000" dirty="0">
                <a:sym typeface="Wingdings"/>
              </a:rPr>
              <a:t> 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宋体" pitchFamily="2" charset="-122"/>
            </a:endParaRPr>
          </a:p>
          <a:p>
            <a:pPr eaLnBrk="1" hangingPunct="1">
              <a:lnSpc>
                <a:spcPct val="125000"/>
              </a:lnSpc>
              <a:buClr>
                <a:schemeClr val="bg1">
                  <a:lumMod val="50000"/>
                </a:schemeClr>
              </a:buClr>
              <a:buFont typeface="Wingdings" pitchFamily="2" charset="2"/>
              <a:buChar char="l"/>
              <a:defRPr/>
            </a:pPr>
            <a:r>
              <a:rPr lang="zh-CN" altLang="en-US" sz="2000" b="1" dirty="0">
                <a:latin typeface="宋体" pitchFamily="2" charset="-122"/>
              </a:rPr>
              <a:t>同样的信息可用不同形式的消息来表述。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sym typeface="Wingdings"/>
              </a:rPr>
              <a:t> </a:t>
            </a:r>
            <a:endParaRPr lang="zh-CN" altLang="en-US" b="1" dirty="0">
              <a:latin typeface="宋体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25191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>
            <a:extLst>
              <a:ext uri="{FF2B5EF4-FFF2-40B4-BE49-F238E27FC236}">
                <a16:creationId xmlns:a16="http://schemas.microsoft.com/office/drawing/2014/main" id="{F60F6D61-4DAB-5B2E-8682-837F33B4E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700213"/>
            <a:ext cx="8066087" cy="46085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CC66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原则</a:t>
            </a:r>
            <a:r>
              <a:rPr lang="zh-CN" altLang="en-US" sz="2400" dirty="0">
                <a:solidFill>
                  <a:srgbClr val="000099"/>
                </a:solidFill>
                <a:latin typeface="宋体" pitchFamily="2" charset="-122"/>
              </a:rPr>
              <a:t>：</a:t>
            </a:r>
          </a:p>
          <a:p>
            <a:pPr lvl="1" eaLnBrk="1" hangingPunct="1">
              <a:lnSpc>
                <a:spcPct val="120000"/>
              </a:lnSpc>
              <a:buClr>
                <a:srgbClr val="0033CC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宋体" pitchFamily="2" charset="-122"/>
              </a:rPr>
              <a:t>度量方法与消息的</a:t>
            </a:r>
            <a:r>
              <a:rPr lang="zh-CN" altLang="en-US" sz="2400" b="1" dirty="0">
                <a:solidFill>
                  <a:srgbClr val="0000CC"/>
                </a:solidFill>
                <a:latin typeface="宋体" pitchFamily="2" charset="-122"/>
              </a:rPr>
              <a:t>种类</a:t>
            </a:r>
            <a:r>
              <a:rPr lang="zh-CN" altLang="en-US" sz="2400" b="1" dirty="0">
                <a:latin typeface="宋体" pitchFamily="2" charset="-122"/>
              </a:rPr>
              <a:t>无关。</a:t>
            </a:r>
          </a:p>
          <a:p>
            <a:pPr lvl="1" eaLnBrk="1" hangingPunct="1">
              <a:lnSpc>
                <a:spcPct val="120000"/>
              </a:lnSpc>
              <a:buClr>
                <a:srgbClr val="0033CC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宋体" pitchFamily="2" charset="-122"/>
              </a:rPr>
              <a:t>与消息的</a:t>
            </a:r>
            <a:r>
              <a:rPr lang="zh-CN" altLang="en-US" sz="2400" b="1" dirty="0">
                <a:solidFill>
                  <a:srgbClr val="0000CC"/>
                </a:solidFill>
                <a:latin typeface="宋体" pitchFamily="2" charset="-122"/>
              </a:rPr>
              <a:t>重要程度</a:t>
            </a:r>
            <a:r>
              <a:rPr lang="zh-CN" altLang="en-US" sz="2400" b="1" dirty="0">
                <a:latin typeface="宋体" pitchFamily="2" charset="-122"/>
              </a:rPr>
              <a:t>无关。</a:t>
            </a:r>
          </a:p>
          <a:p>
            <a:pPr eaLnBrk="1" hangingPunct="1">
              <a:lnSpc>
                <a:spcPct val="120000"/>
              </a:lnSpc>
              <a:buClr>
                <a:srgbClr val="FFCC66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举例</a:t>
            </a:r>
            <a:r>
              <a:rPr lang="zh-CN" altLang="en-US" sz="2400" dirty="0">
                <a:solidFill>
                  <a:srgbClr val="5F5F5F"/>
                </a:solidFill>
                <a:latin typeface="宋体" pitchFamily="2" charset="-122"/>
              </a:rPr>
              <a:t>：</a:t>
            </a:r>
          </a:p>
          <a:p>
            <a:pPr lvl="1" eaLnBrk="1" hangingPunct="1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宋体" pitchFamily="2" charset="-122"/>
              </a:rPr>
              <a:t>“美国世贸大楼被炸（</a:t>
            </a:r>
            <a:r>
              <a:rPr lang="en-US" altLang="zh-CN" sz="2400" b="1" dirty="0">
                <a:latin typeface="宋体" pitchFamily="2" charset="-122"/>
              </a:rPr>
              <a:t>9.11</a:t>
            </a:r>
            <a:r>
              <a:rPr lang="zh-CN" altLang="en-US" sz="2400" b="1" dirty="0">
                <a:latin typeface="宋体" pitchFamily="2" charset="-122"/>
              </a:rPr>
              <a:t>事件）”</a:t>
            </a:r>
            <a:r>
              <a:rPr lang="zh-CN" altLang="en-US" sz="2400" dirty="0">
                <a:latin typeface="宋体" pitchFamily="2" charset="-122"/>
              </a:rPr>
              <a:t>（时效性）</a:t>
            </a:r>
            <a:r>
              <a:rPr lang="zh-CN" altLang="en-US" sz="2400" b="1" dirty="0">
                <a:latin typeface="宋体" pitchFamily="2" charset="-122"/>
              </a:rPr>
              <a:t> </a:t>
            </a:r>
          </a:p>
          <a:p>
            <a:pPr lvl="1" eaLnBrk="1" hangingPunct="1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宋体" pitchFamily="2" charset="-122"/>
              </a:rPr>
              <a:t>“明天下雨”</a:t>
            </a:r>
          </a:p>
          <a:p>
            <a:pPr eaLnBrk="1" hangingPunct="1">
              <a:lnSpc>
                <a:spcPct val="120000"/>
              </a:lnSpc>
              <a:buClr>
                <a:srgbClr val="FFCC66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可见：</a:t>
            </a:r>
          </a:p>
          <a:p>
            <a:pPr lvl="1" eaLnBrk="1" hangingPunct="1">
              <a:lnSpc>
                <a:spcPct val="120000"/>
              </a:lnSpc>
              <a:buClr>
                <a:srgbClr val="0033CC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宋体" pitchFamily="2" charset="-122"/>
              </a:rPr>
              <a:t>消息中所含信息量和不可预测性或不确定性有关。</a:t>
            </a:r>
          </a:p>
          <a:p>
            <a:pPr lvl="1" eaLnBrk="1" hangingPunct="1">
              <a:lnSpc>
                <a:spcPct val="120000"/>
              </a:lnSpc>
              <a:buClr>
                <a:srgbClr val="0033CC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宋体" pitchFamily="2" charset="-122"/>
              </a:rPr>
              <a:t>消息所表达的事件越不可能发生，信息量就越大。</a:t>
            </a:r>
          </a:p>
        </p:txBody>
      </p:sp>
      <p:sp>
        <p:nvSpPr>
          <p:cNvPr id="220165" name="Rectangle 5">
            <a:extLst>
              <a:ext uri="{FF2B5EF4-FFF2-40B4-BE49-F238E27FC236}">
                <a16:creationId xmlns:a16="http://schemas.microsoft.com/office/drawing/2014/main" id="{99AB83AD-95FA-413C-DFDD-A128A5302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7663" y="1073150"/>
            <a:ext cx="5186362" cy="4762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74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CC66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如何度量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消息中所含的</a:t>
            </a:r>
            <a:r>
              <a:rPr lang="zh-CN" altLang="en-US" sz="2800" b="1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信息量</a:t>
            </a:r>
            <a:r>
              <a:rPr lang="zh-CN" altLang="en-US" sz="28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220169" name="Oval 9">
            <a:extLst>
              <a:ext uri="{FF2B5EF4-FFF2-40B4-BE49-F238E27FC236}">
                <a16:creationId xmlns:a16="http://schemas.microsoft.com/office/drawing/2014/main" id="{7FC780A8-138A-7B54-26BF-8188C1574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5300663"/>
            <a:ext cx="1296988" cy="504825"/>
          </a:xfrm>
          <a:prstGeom prst="ellipse">
            <a:avLst/>
          </a:prstGeom>
          <a:noFill/>
          <a:ln w="38100" cmpd="dbl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0171" name="Rectangle 11">
            <a:extLst>
              <a:ext uri="{FF2B5EF4-FFF2-40B4-BE49-F238E27FC236}">
                <a16:creationId xmlns:a16="http://schemas.microsoft.com/office/drawing/2014/main" id="{4B7561F0-35F5-FC21-75FF-8B8A13897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437063"/>
            <a:ext cx="4464050" cy="806450"/>
          </a:xfrm>
          <a:prstGeom prst="rect">
            <a:avLst/>
          </a:prstGeom>
          <a:noFill/>
          <a:ln w="38100" cmpd="dbl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CC66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宋体" charset="-122"/>
                <a:ea typeface="宋体" charset="-122"/>
              </a:rPr>
              <a:t>根据概率论知识：事件的不确定性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CC66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宋体" charset="-122"/>
                <a:ea typeface="宋体" charset="-122"/>
              </a:rPr>
              <a:t>   可用事件出现的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  <a:ea typeface="宋体" charset="-122"/>
              </a:rPr>
              <a:t>概率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宋体" charset="-122"/>
                <a:ea typeface="宋体" charset="-122"/>
              </a:rPr>
              <a:t>来描述。</a:t>
            </a: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BAC31312-0717-340E-E7BE-9C9643403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549275"/>
            <a:ext cx="1134428" cy="868045"/>
          </a:xfrm>
          <a:prstGeom prst="cloudCallout">
            <a:avLst>
              <a:gd name="adj1" fmla="val 70065"/>
              <a:gd name="adj2" fmla="val 67023"/>
            </a:avLst>
          </a:prstGeom>
          <a:solidFill>
            <a:schemeClr val="bg2">
              <a:lumMod val="10000"/>
              <a:lumOff val="90000"/>
            </a:schemeClr>
          </a:solidFill>
          <a:ln w="31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？</a:t>
            </a:r>
            <a:endParaRPr lang="zh-CN" altLang="en-US" sz="3600" dirty="0">
              <a:solidFill>
                <a:schemeClr val="hlink"/>
              </a:solidFill>
              <a:ea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7396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0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1" dur="1000"/>
                                        <p:tgtEl>
                                          <p:spTgt spid="22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0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5" grpId="0"/>
      <p:bldP spid="220169" grpId="0" animBg="1"/>
      <p:bldP spid="22017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>
            <a:extLst>
              <a:ext uri="{FF2B5EF4-FFF2-40B4-BE49-F238E27FC236}">
                <a16:creationId xmlns:a16="http://schemas.microsoft.com/office/drawing/2014/main" id="{E1C34E4A-5680-313A-6E96-F06E5DA8F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700213"/>
            <a:ext cx="8066087" cy="46085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CC66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原则</a:t>
            </a:r>
            <a:r>
              <a:rPr lang="zh-CN" altLang="en-US" sz="2400" dirty="0">
                <a:solidFill>
                  <a:srgbClr val="000099"/>
                </a:solidFill>
                <a:latin typeface="宋体" pitchFamily="2" charset="-122"/>
              </a:rPr>
              <a:t>：</a:t>
            </a:r>
          </a:p>
          <a:p>
            <a:pPr lvl="1" eaLnBrk="1" hangingPunct="1">
              <a:lnSpc>
                <a:spcPct val="120000"/>
              </a:lnSpc>
              <a:buClr>
                <a:srgbClr val="0033CC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宋体" pitchFamily="2" charset="-122"/>
              </a:rPr>
              <a:t>度量方法与消息的</a:t>
            </a:r>
            <a:r>
              <a:rPr lang="zh-CN" altLang="en-US" sz="2400" b="1" dirty="0">
                <a:solidFill>
                  <a:srgbClr val="0000CC"/>
                </a:solidFill>
                <a:latin typeface="宋体" pitchFamily="2" charset="-122"/>
              </a:rPr>
              <a:t>种类</a:t>
            </a:r>
            <a:r>
              <a:rPr lang="zh-CN" altLang="en-US" sz="2400" b="1" dirty="0">
                <a:latin typeface="宋体" pitchFamily="2" charset="-122"/>
              </a:rPr>
              <a:t>无关。</a:t>
            </a:r>
          </a:p>
          <a:p>
            <a:pPr lvl="1" eaLnBrk="1" hangingPunct="1">
              <a:lnSpc>
                <a:spcPct val="120000"/>
              </a:lnSpc>
              <a:buClr>
                <a:srgbClr val="0033CC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宋体" pitchFamily="2" charset="-122"/>
              </a:rPr>
              <a:t>与消息的</a:t>
            </a:r>
            <a:r>
              <a:rPr lang="zh-CN" altLang="en-US" sz="2400" b="1" dirty="0">
                <a:solidFill>
                  <a:srgbClr val="0000CC"/>
                </a:solidFill>
                <a:latin typeface="宋体" pitchFamily="2" charset="-122"/>
              </a:rPr>
              <a:t>重要程度</a:t>
            </a:r>
            <a:r>
              <a:rPr lang="zh-CN" altLang="en-US" sz="2400" b="1" dirty="0">
                <a:latin typeface="宋体" pitchFamily="2" charset="-122"/>
              </a:rPr>
              <a:t>无关。</a:t>
            </a:r>
          </a:p>
          <a:p>
            <a:pPr eaLnBrk="1" hangingPunct="1">
              <a:lnSpc>
                <a:spcPct val="120000"/>
              </a:lnSpc>
              <a:buClr>
                <a:srgbClr val="FFCC66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举例</a:t>
            </a:r>
            <a:r>
              <a:rPr lang="zh-CN" altLang="en-US" sz="2400" dirty="0">
                <a:solidFill>
                  <a:srgbClr val="5F5F5F"/>
                </a:solidFill>
                <a:latin typeface="宋体" pitchFamily="2" charset="-122"/>
              </a:rPr>
              <a:t>：</a:t>
            </a:r>
          </a:p>
          <a:p>
            <a:pPr lvl="1" eaLnBrk="1" hangingPunct="1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宋体" pitchFamily="2" charset="-122"/>
              </a:rPr>
              <a:t>“美国世贸大楼被炸（</a:t>
            </a:r>
            <a:r>
              <a:rPr lang="en-US" altLang="zh-CN" sz="2400" b="1" dirty="0">
                <a:latin typeface="宋体" pitchFamily="2" charset="-122"/>
              </a:rPr>
              <a:t>9.11</a:t>
            </a:r>
            <a:r>
              <a:rPr lang="zh-CN" altLang="en-US" sz="2400" b="1" dirty="0">
                <a:latin typeface="宋体" pitchFamily="2" charset="-122"/>
              </a:rPr>
              <a:t>事件）”</a:t>
            </a:r>
            <a:r>
              <a:rPr lang="zh-CN" altLang="en-US" sz="2400" dirty="0">
                <a:latin typeface="宋体" pitchFamily="2" charset="-122"/>
              </a:rPr>
              <a:t>（时效性）</a:t>
            </a:r>
            <a:r>
              <a:rPr lang="zh-CN" altLang="en-US" sz="2400" b="1" dirty="0">
                <a:latin typeface="宋体" pitchFamily="2" charset="-122"/>
              </a:rPr>
              <a:t> </a:t>
            </a:r>
          </a:p>
          <a:p>
            <a:pPr lvl="1" eaLnBrk="1" hangingPunct="1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宋体" pitchFamily="2" charset="-122"/>
              </a:rPr>
              <a:t>“明天下雨”</a:t>
            </a:r>
          </a:p>
          <a:p>
            <a:pPr eaLnBrk="1" hangingPunct="1">
              <a:lnSpc>
                <a:spcPct val="120000"/>
              </a:lnSpc>
              <a:buClr>
                <a:srgbClr val="FFCC66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可见：</a:t>
            </a:r>
          </a:p>
          <a:p>
            <a:pPr lvl="1" eaLnBrk="1" hangingPunct="1">
              <a:lnSpc>
                <a:spcPct val="120000"/>
              </a:lnSpc>
              <a:buClr>
                <a:srgbClr val="0033CC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宋体" pitchFamily="2" charset="-122"/>
              </a:rPr>
              <a:t>消息中所含信息量和不可预测性或不确定性有关。</a:t>
            </a:r>
          </a:p>
          <a:p>
            <a:pPr lvl="1" eaLnBrk="1" hangingPunct="1">
              <a:lnSpc>
                <a:spcPct val="120000"/>
              </a:lnSpc>
              <a:buClr>
                <a:srgbClr val="0033CC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宋体" pitchFamily="2" charset="-122"/>
              </a:rPr>
              <a:t>消息所表达的事件越不可能发生，信息量就越大。</a:t>
            </a:r>
          </a:p>
        </p:txBody>
      </p:sp>
      <p:sp>
        <p:nvSpPr>
          <p:cNvPr id="40963" name="Rectangle 5">
            <a:extLst>
              <a:ext uri="{FF2B5EF4-FFF2-40B4-BE49-F238E27FC236}">
                <a16:creationId xmlns:a16="http://schemas.microsoft.com/office/drawing/2014/main" id="{FE948F22-9D76-6AC1-5F55-3FF001067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7663" y="1152525"/>
            <a:ext cx="5186362" cy="4762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74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CC66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如何度量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消息中所含的</a:t>
            </a:r>
            <a:r>
              <a:rPr lang="zh-CN" altLang="en-US" sz="2800" b="1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信息量</a:t>
            </a:r>
            <a:r>
              <a:rPr lang="zh-CN" altLang="en-US" sz="28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220166" name="AutoShape 6">
            <a:extLst>
              <a:ext uri="{FF2B5EF4-FFF2-40B4-BE49-F238E27FC236}">
                <a16:creationId xmlns:a16="http://schemas.microsoft.com/office/drawing/2014/main" id="{6258AAE6-DEC7-5B6E-C4B7-2AC64FFE3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549275"/>
            <a:ext cx="1317308" cy="868045"/>
          </a:xfrm>
          <a:prstGeom prst="cloudCallout">
            <a:avLst>
              <a:gd name="adj1" fmla="val 70065"/>
              <a:gd name="adj2" fmla="val 67023"/>
            </a:avLst>
          </a:prstGeom>
          <a:solidFill>
            <a:schemeClr val="bg2">
              <a:lumMod val="10000"/>
              <a:lumOff val="90000"/>
            </a:schemeClr>
          </a:solidFill>
          <a:ln w="31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？</a:t>
            </a:r>
            <a:endParaRPr lang="zh-CN" altLang="en-US" sz="3600" dirty="0">
              <a:solidFill>
                <a:schemeClr val="hlink"/>
              </a:solidFill>
              <a:ea typeface="宋体" charset="-122"/>
            </a:endParaRPr>
          </a:p>
        </p:txBody>
      </p:sp>
      <p:sp>
        <p:nvSpPr>
          <p:cNvPr id="40965" name="Oval 9">
            <a:extLst>
              <a:ext uri="{FF2B5EF4-FFF2-40B4-BE49-F238E27FC236}">
                <a16:creationId xmlns:a16="http://schemas.microsoft.com/office/drawing/2014/main" id="{AFBECF57-F93B-EE69-9A0B-9A38C193A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5300663"/>
            <a:ext cx="1296988" cy="504825"/>
          </a:xfrm>
          <a:prstGeom prst="ellipse">
            <a:avLst/>
          </a:prstGeom>
          <a:noFill/>
          <a:ln w="38100" cmpd="dbl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966" name="Rectangle 11">
            <a:extLst>
              <a:ext uri="{FF2B5EF4-FFF2-40B4-BE49-F238E27FC236}">
                <a16:creationId xmlns:a16="http://schemas.microsoft.com/office/drawing/2014/main" id="{4ED1D9F2-5C65-7C10-29A3-CF4195504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437063"/>
            <a:ext cx="4464050" cy="806450"/>
          </a:xfrm>
          <a:prstGeom prst="rect">
            <a:avLst/>
          </a:prstGeom>
          <a:noFill/>
          <a:ln w="38100" cmpd="dbl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CC66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777777"/>
                </a:solidFill>
                <a:latin typeface="宋体" panose="02010600030101010101" pitchFamily="2" charset="-122"/>
              </a:rPr>
              <a:t>根据概率论知识：事件的不确定性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CC66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777777"/>
                </a:solidFill>
                <a:latin typeface="宋体" panose="02010600030101010101" pitchFamily="2" charset="-122"/>
              </a:rPr>
              <a:t>   可用事件出现的</a:t>
            </a:r>
            <a:r>
              <a:rPr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概率</a:t>
            </a:r>
            <a:r>
              <a:rPr lang="zh-CN" altLang="en-US" sz="2000">
                <a:solidFill>
                  <a:srgbClr val="777777"/>
                </a:solidFill>
                <a:latin typeface="宋体" panose="02010600030101010101" pitchFamily="2" charset="-122"/>
              </a:rPr>
              <a:t>来描述。</a:t>
            </a:r>
          </a:p>
        </p:txBody>
      </p:sp>
      <p:sp>
        <p:nvSpPr>
          <p:cNvPr id="220173" name="Rectangle 13">
            <a:extLst>
              <a:ext uri="{FF2B5EF4-FFF2-40B4-BE49-F238E27FC236}">
                <a16:creationId xmlns:a16="http://schemas.microsoft.com/office/drawing/2014/main" id="{DD893902-42F2-0A13-166C-DF9EA1E60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1785938"/>
            <a:ext cx="7000875" cy="147796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prstShdw prst="shdw17" dist="17961" dir="2700000">
              <a:srgbClr val="FFFFC1">
                <a:gamma/>
                <a:shade val="60000"/>
                <a:invGamma/>
              </a:srgbClr>
            </a:prst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    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信息量 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itchFamily="18" charset="0"/>
              </a:rPr>
              <a:t>I</a:t>
            </a:r>
            <a:r>
              <a:rPr lang="en-US" altLang="zh-CN" sz="2800" dirty="0">
                <a:solidFill>
                  <a:schemeClr val="hlink"/>
                </a:solidFill>
                <a:latin typeface="Times New Roman" pitchFamily="18" charset="0"/>
              </a:rPr>
              <a:t>  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可用概率 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itchFamily="18" charset="0"/>
              </a:rPr>
              <a:t>P </a:t>
            </a:r>
            <a:r>
              <a:rPr lang="en-US" altLang="zh-CN" sz="2800" dirty="0">
                <a:solidFill>
                  <a:schemeClr val="hlink"/>
                </a:solidFill>
                <a:latin typeface="Times New Roman" pitchFamily="18" charset="0"/>
              </a:rPr>
              <a:t> 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来度量：</a:t>
            </a:r>
            <a:endParaRPr lang="en-US" altLang="zh-CN" sz="2800" dirty="0">
              <a:effectLst>
                <a:outerShdw blurRad="38100" dist="38100" dir="2700000" algn="tl">
                  <a:srgbClr val="FFFFFF"/>
                </a:outerShdw>
              </a:effectLst>
              <a:latin typeface="宋体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dirty="0">
                <a:latin typeface="宋体" pitchFamily="2" charset="-122"/>
              </a:rPr>
              <a:t>           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itchFamily="18" charset="0"/>
              </a:rPr>
              <a:t>I</a:t>
            </a:r>
            <a:r>
              <a:rPr lang="en-US" altLang="zh-CN" sz="2800" dirty="0">
                <a:solidFill>
                  <a:schemeClr val="hlink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CC"/>
                </a:solidFill>
                <a:latin typeface="Arial" pitchFamily="34" charset="0"/>
              </a:rPr>
              <a:t>=</a:t>
            </a:r>
            <a:r>
              <a:rPr lang="en-US" altLang="zh-CN" sz="2800" dirty="0">
                <a:latin typeface="Arial" pitchFamily="34" charset="0"/>
              </a:rPr>
              <a:t> </a:t>
            </a:r>
            <a:r>
              <a:rPr lang="en-US" altLang="zh-CN" sz="3200" i="1" dirty="0">
                <a:solidFill>
                  <a:srgbClr val="0000CC"/>
                </a:solidFill>
                <a:latin typeface="Times New Roman" pitchFamily="18" charset="0"/>
                <a:ea typeface="Dotum" pitchFamily="34" charset="-127"/>
              </a:rPr>
              <a:t>f</a:t>
            </a:r>
            <a:r>
              <a:rPr lang="en-US" altLang="zh-CN" sz="2800" dirty="0">
                <a:solidFill>
                  <a:srgbClr val="0000CC"/>
                </a:solidFill>
                <a:latin typeface="Arial" pitchFamily="34" charset="0"/>
              </a:rPr>
              <a:t> [</a:t>
            </a:r>
            <a:r>
              <a:rPr lang="en-US" altLang="zh-CN" sz="2800" dirty="0">
                <a:solidFill>
                  <a:schemeClr val="hlink"/>
                </a:solidFill>
                <a:latin typeface="Arial" pitchFamily="34" charset="0"/>
              </a:rPr>
              <a:t>P(x)</a:t>
            </a:r>
            <a:r>
              <a:rPr lang="en-US" altLang="zh-CN" sz="2800" dirty="0">
                <a:solidFill>
                  <a:srgbClr val="0000CC"/>
                </a:solidFill>
                <a:latin typeface="Arial" pitchFamily="34" charset="0"/>
              </a:rPr>
              <a:t>]</a:t>
            </a:r>
            <a:r>
              <a:rPr lang="en-US" altLang="zh-CN" sz="2800" dirty="0">
                <a:latin typeface="宋体" pitchFamily="2" charset="-122"/>
              </a:rPr>
              <a:t>  </a:t>
            </a:r>
            <a:endParaRPr lang="en-US" altLang="zh-CN" sz="2800" dirty="0">
              <a:solidFill>
                <a:schemeClr val="hlink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64321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2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7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>
            <a:extLst>
              <a:ext uri="{FF2B5EF4-FFF2-40B4-BE49-F238E27FC236}">
                <a16:creationId xmlns:a16="http://schemas.microsoft.com/office/drawing/2014/main" id="{4301462F-8C74-6DBF-69E3-37009B4DA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" name="Text Box 49">
            <a:extLst>
              <a:ext uri="{FF2B5EF4-FFF2-40B4-BE49-F238E27FC236}">
                <a16:creationId xmlns:a16="http://schemas.microsoft.com/office/drawing/2014/main" id="{0B2B480E-DE54-DF72-E3E9-6550F1560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73200"/>
            <a:ext cx="2232025" cy="2676525"/>
          </a:xfrm>
          <a:prstGeom prst="rect">
            <a:avLst/>
          </a:prstGeom>
          <a:noFill/>
          <a:ln w="28575">
            <a:solidFill>
              <a:srgbClr val="CCCC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zh-CN" sz="2400" b="1" i="1" dirty="0">
                <a:latin typeface="+mn-lt"/>
                <a:ea typeface="宋体" charset="-122"/>
              </a:rPr>
              <a:t>P </a:t>
            </a:r>
            <a:r>
              <a:rPr lang="en-US" altLang="zh-CN" sz="2400" b="1" dirty="0">
                <a:latin typeface="+mn-lt"/>
                <a:ea typeface="宋体" charset="-122"/>
                <a:sym typeface="Symbol" pitchFamily="18" charset="2"/>
              </a:rPr>
              <a:t></a:t>
            </a:r>
            <a:r>
              <a:rPr lang="en-US" altLang="zh-CN" sz="2400" b="1" dirty="0">
                <a:latin typeface="+mn-lt"/>
                <a:ea typeface="宋体" charset="-122"/>
              </a:rPr>
              <a:t>1</a:t>
            </a:r>
            <a:r>
              <a:rPr lang="zh-CN" altLang="en-US" sz="2400" b="1" dirty="0">
                <a:latin typeface="+mn-lt"/>
                <a:ea typeface="宋体" charset="-122"/>
              </a:rPr>
              <a:t>，</a:t>
            </a:r>
            <a:r>
              <a:rPr lang="en-US" altLang="zh-CN" sz="2400" b="1" i="1" dirty="0">
                <a:latin typeface="+mn-lt"/>
                <a:ea typeface="宋体" charset="-122"/>
              </a:rPr>
              <a:t>I</a:t>
            </a:r>
            <a:r>
              <a:rPr lang="en-US" altLang="zh-CN" sz="2400" b="1" dirty="0">
                <a:latin typeface="+mn-lt"/>
                <a:ea typeface="宋体" charset="-122"/>
                <a:sym typeface="Symbol" pitchFamily="18" charset="2"/>
              </a:rPr>
              <a:t></a:t>
            </a:r>
            <a:r>
              <a:rPr lang="en-US" altLang="zh-CN" sz="2400" b="1" dirty="0">
                <a:latin typeface="+mn-lt"/>
                <a:ea typeface="宋体" charset="-122"/>
              </a:rPr>
              <a:t>0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sz="2400" b="1" i="1" dirty="0">
                <a:latin typeface="+mn-lt"/>
                <a:ea typeface="宋体" charset="-122"/>
              </a:rPr>
              <a:t>P </a:t>
            </a:r>
            <a:r>
              <a:rPr lang="en-US" altLang="zh-CN" sz="2400" b="1" dirty="0">
                <a:latin typeface="+mn-lt"/>
                <a:ea typeface="宋体" charset="-122"/>
                <a:sym typeface="Symbol" pitchFamily="18" charset="2"/>
              </a:rPr>
              <a:t></a:t>
            </a:r>
            <a:r>
              <a:rPr lang="en-US" altLang="zh-CN" sz="2400" b="1" dirty="0">
                <a:latin typeface="+mn-lt"/>
                <a:ea typeface="宋体" charset="-122"/>
              </a:rPr>
              <a:t>0</a:t>
            </a:r>
            <a:r>
              <a:rPr lang="zh-CN" altLang="en-US" sz="2400" b="1" dirty="0">
                <a:latin typeface="+mn-lt"/>
                <a:ea typeface="宋体" charset="-122"/>
              </a:rPr>
              <a:t>，</a:t>
            </a:r>
            <a:r>
              <a:rPr lang="en-US" altLang="zh-CN" sz="2400" b="1" i="1" dirty="0">
                <a:latin typeface="+mn-lt"/>
                <a:ea typeface="宋体" charset="-122"/>
              </a:rPr>
              <a:t>I</a:t>
            </a:r>
            <a:r>
              <a:rPr lang="en-US" altLang="zh-CN" sz="2400" b="1" dirty="0">
                <a:latin typeface="+mn-lt"/>
                <a:ea typeface="宋体" charset="-122"/>
                <a:sym typeface="Symbol" pitchFamily="18" charset="2"/>
              </a:rPr>
              <a:t>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sz="2400" b="1" i="1" dirty="0">
                <a:latin typeface="+mn-lt"/>
                <a:ea typeface="宋体" charset="-122"/>
                <a:sym typeface="Symbol" pitchFamily="18" charset="2"/>
              </a:rPr>
              <a:t>P</a:t>
            </a:r>
            <a:r>
              <a:rPr lang="en-US" altLang="zh-CN" sz="2400" b="1" dirty="0">
                <a:latin typeface="+mn-lt"/>
                <a:ea typeface="宋体" charset="-122"/>
                <a:sym typeface="Symbol" pitchFamily="18" charset="2"/>
              </a:rPr>
              <a:t>(x) &lt; </a:t>
            </a:r>
            <a:r>
              <a:rPr lang="en-US" altLang="zh-CN" sz="2400" b="1" i="1" dirty="0">
                <a:latin typeface="+mn-lt"/>
                <a:ea typeface="宋体" charset="-122"/>
                <a:sym typeface="Symbol" pitchFamily="18" charset="2"/>
              </a:rPr>
              <a:t>P</a:t>
            </a:r>
            <a:r>
              <a:rPr lang="en-US" altLang="zh-CN" sz="2400" b="1" dirty="0">
                <a:latin typeface="+mn-lt"/>
                <a:ea typeface="宋体" charset="-122"/>
                <a:sym typeface="Symbol" pitchFamily="18" charset="2"/>
              </a:rPr>
              <a:t>(y),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sz="2400" b="1" i="1" dirty="0">
                <a:latin typeface="+mn-lt"/>
                <a:ea typeface="宋体" charset="-122"/>
                <a:sym typeface="Symbol" pitchFamily="18" charset="2"/>
              </a:rPr>
              <a:t>      I</a:t>
            </a:r>
            <a:r>
              <a:rPr lang="en-US" altLang="zh-CN" sz="2400" b="1" dirty="0">
                <a:latin typeface="+mn-lt"/>
                <a:ea typeface="宋体" charset="-122"/>
                <a:sym typeface="Symbol" pitchFamily="18" charset="2"/>
              </a:rPr>
              <a:t>(x) &gt; </a:t>
            </a:r>
            <a:r>
              <a:rPr lang="en-US" altLang="zh-CN" sz="2400" b="1" i="1" dirty="0">
                <a:latin typeface="+mn-lt"/>
                <a:ea typeface="宋体" charset="-122"/>
                <a:sym typeface="Symbol" pitchFamily="18" charset="2"/>
              </a:rPr>
              <a:t>I</a:t>
            </a:r>
            <a:r>
              <a:rPr lang="en-US" altLang="zh-CN" sz="2400" b="1" dirty="0">
                <a:latin typeface="+mn-lt"/>
                <a:ea typeface="宋体" charset="-122"/>
                <a:sym typeface="Symbol" pitchFamily="18" charset="2"/>
              </a:rPr>
              <a:t>(y)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2400" b="1" dirty="0">
                <a:latin typeface="+mn-lt"/>
                <a:ea typeface="宋体" charset="-122"/>
                <a:sym typeface="Symbol" pitchFamily="18" charset="2"/>
              </a:rPr>
              <a:t>相加性</a:t>
            </a:r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248229C9-4336-1DD9-DF22-2E2839496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4035425"/>
            <a:ext cx="4214812" cy="15700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eaLnBrk="1" hangingPunct="1">
              <a:lnSpc>
                <a:spcPts val="4000"/>
              </a:lnSpc>
              <a:defRPr/>
            </a:pPr>
            <a:r>
              <a:rPr lang="en-US" altLang="zh-CN" sz="2400" b="1" i="1" dirty="0">
                <a:latin typeface="Arial" pitchFamily="34" charset="0"/>
                <a:ea typeface="+mn-ea"/>
                <a:cs typeface="Arial" pitchFamily="34" charset="0"/>
              </a:rPr>
              <a:t>a</a:t>
            </a:r>
            <a:r>
              <a:rPr lang="en-US" altLang="zh-CN" sz="2400" b="1" dirty="0">
                <a:latin typeface="Arial" pitchFamily="34" charset="0"/>
                <a:ea typeface="+mn-ea"/>
                <a:cs typeface="Arial" pitchFamily="34" charset="0"/>
              </a:rPr>
              <a:t>= </a:t>
            </a:r>
            <a:r>
              <a:rPr lang="en-US" altLang="zh-CN" sz="2400" b="1" dirty="0">
                <a:solidFill>
                  <a:schemeClr val="hlink"/>
                </a:solidFill>
                <a:latin typeface="Arial" pitchFamily="34" charset="0"/>
                <a:ea typeface="+mn-ea"/>
                <a:cs typeface="Arial" pitchFamily="34" charset="0"/>
              </a:rPr>
              <a:t>2</a:t>
            </a:r>
            <a:r>
              <a:rPr lang="zh-CN" altLang="en-US" sz="2400" b="1" dirty="0">
                <a:solidFill>
                  <a:schemeClr val="hlink"/>
                </a:solidFill>
                <a:latin typeface="Arial" pitchFamily="34" charset="0"/>
                <a:ea typeface="+mn-ea"/>
                <a:cs typeface="Arial" pitchFamily="34" charset="0"/>
              </a:rPr>
              <a:t>，</a:t>
            </a: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比特</a:t>
            </a:r>
            <a:r>
              <a:rPr lang="en-US" altLang="zh-CN" sz="2400" b="1" dirty="0"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bit</a:t>
            </a:r>
            <a:r>
              <a:rPr lang="en-US" altLang="zh-CN" sz="2400" b="1" dirty="0">
                <a:latin typeface="Arial" pitchFamily="34" charset="0"/>
                <a:ea typeface="+mn-ea"/>
                <a:cs typeface="Arial" pitchFamily="34" charset="0"/>
              </a:rPr>
              <a:t>) </a:t>
            </a: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，简记为</a:t>
            </a:r>
            <a:r>
              <a:rPr lang="en-US" altLang="zh-CN" sz="2400" b="1" dirty="0">
                <a:solidFill>
                  <a:schemeClr val="hlink"/>
                </a:solidFill>
                <a:latin typeface="Arial" pitchFamily="34" charset="0"/>
                <a:ea typeface="+mn-ea"/>
                <a:cs typeface="Arial" pitchFamily="34" charset="0"/>
              </a:rPr>
              <a:t>b</a:t>
            </a:r>
            <a:endParaRPr lang="en-US" altLang="zh-CN" sz="2400" b="1" dirty="0">
              <a:latin typeface="Arial" pitchFamily="34" charset="0"/>
              <a:ea typeface="+mn-ea"/>
              <a:cs typeface="Arial" pitchFamily="34" charset="0"/>
            </a:endParaRPr>
          </a:p>
          <a:p>
            <a:pPr eaLnBrk="1" hangingPunct="1">
              <a:lnSpc>
                <a:spcPts val="4000"/>
              </a:lnSpc>
              <a:defRPr/>
            </a:pPr>
            <a:r>
              <a:rPr lang="en-US" altLang="zh-CN" sz="2400" b="1" i="1" dirty="0">
                <a:latin typeface="Arial" pitchFamily="34" charset="0"/>
                <a:ea typeface="+mn-ea"/>
                <a:cs typeface="Arial" pitchFamily="34" charset="0"/>
              </a:rPr>
              <a:t>a</a:t>
            </a:r>
            <a:r>
              <a:rPr lang="en-US" altLang="zh-CN" sz="2400" b="1" dirty="0">
                <a:latin typeface="Arial" pitchFamily="34" charset="0"/>
                <a:ea typeface="+mn-ea"/>
                <a:cs typeface="Arial" pitchFamily="34" charset="0"/>
              </a:rPr>
              <a:t>= </a:t>
            </a:r>
            <a:r>
              <a:rPr lang="en-US" altLang="zh-CN" sz="2400" b="1" i="1" dirty="0">
                <a:latin typeface="Arial" pitchFamily="34" charset="0"/>
                <a:ea typeface="+mn-ea"/>
                <a:cs typeface="Arial" pitchFamily="34" charset="0"/>
              </a:rPr>
              <a:t>e</a:t>
            </a: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，奈特</a:t>
            </a:r>
            <a:r>
              <a:rPr lang="en-US" altLang="zh-CN" sz="2400" b="1" dirty="0"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en-US" altLang="zh-CN" sz="2400" b="1" dirty="0" err="1">
                <a:latin typeface="Arial" pitchFamily="34" charset="0"/>
                <a:ea typeface="+mn-ea"/>
                <a:cs typeface="Arial" pitchFamily="34" charset="0"/>
              </a:rPr>
              <a:t>nat</a:t>
            </a:r>
            <a:r>
              <a:rPr lang="en-US" altLang="zh-CN" sz="2400" b="1" dirty="0">
                <a:latin typeface="Arial" pitchFamily="34" charset="0"/>
                <a:ea typeface="+mn-ea"/>
                <a:cs typeface="Arial" pitchFamily="34" charset="0"/>
              </a:rPr>
              <a:t>)</a:t>
            </a:r>
            <a:r>
              <a:rPr lang="en-US" altLang="zh-CN" sz="2400" b="1" i="1" dirty="0">
                <a:latin typeface="Arial" pitchFamily="34" charset="0"/>
                <a:ea typeface="+mn-ea"/>
                <a:cs typeface="Arial" pitchFamily="34" charset="0"/>
              </a:rPr>
              <a:t> </a:t>
            </a:r>
          </a:p>
          <a:p>
            <a:pPr eaLnBrk="1" hangingPunct="1">
              <a:lnSpc>
                <a:spcPts val="4000"/>
              </a:lnSpc>
              <a:defRPr/>
            </a:pPr>
            <a:r>
              <a:rPr lang="en-US" altLang="zh-CN" sz="2400" b="1" i="1" dirty="0">
                <a:latin typeface="Arial" pitchFamily="34" charset="0"/>
                <a:ea typeface="+mn-ea"/>
                <a:cs typeface="Arial" pitchFamily="34" charset="0"/>
              </a:rPr>
              <a:t>a</a:t>
            </a:r>
            <a:r>
              <a:rPr lang="en-US" altLang="zh-CN" sz="2400" b="1" dirty="0">
                <a:latin typeface="Arial" pitchFamily="34" charset="0"/>
                <a:ea typeface="+mn-ea"/>
                <a:cs typeface="Arial" pitchFamily="34" charset="0"/>
              </a:rPr>
              <a:t>=10</a:t>
            </a: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，哈特莱</a:t>
            </a:r>
            <a:r>
              <a:rPr lang="en-US" altLang="zh-CN" sz="2400" b="1" dirty="0">
                <a:latin typeface="Arial" pitchFamily="34" charset="0"/>
                <a:ea typeface="+mn-ea"/>
                <a:cs typeface="Arial" pitchFamily="34" charset="0"/>
              </a:rPr>
              <a:t>(Hartley)</a:t>
            </a:r>
          </a:p>
        </p:txBody>
      </p:sp>
      <p:sp>
        <p:nvSpPr>
          <p:cNvPr id="20" name="Freeform 57">
            <a:extLst>
              <a:ext uri="{FF2B5EF4-FFF2-40B4-BE49-F238E27FC236}">
                <a16:creationId xmlns:a16="http://schemas.microsoft.com/office/drawing/2014/main" id="{C95C3832-3ACE-9F93-F2B9-925A0D83B219}"/>
              </a:ext>
            </a:extLst>
          </p:cNvPr>
          <p:cNvSpPr>
            <a:spLocks/>
          </p:cNvSpPr>
          <p:nvPr/>
        </p:nvSpPr>
        <p:spPr bwMode="auto">
          <a:xfrm>
            <a:off x="2843213" y="2384425"/>
            <a:ext cx="1223962" cy="1187450"/>
          </a:xfrm>
          <a:custGeom>
            <a:avLst/>
            <a:gdLst>
              <a:gd name="T0" fmla="*/ 2147483647 w 46"/>
              <a:gd name="T1" fmla="*/ 0 h 43"/>
              <a:gd name="T2" fmla="*/ 2147483647 w 46"/>
              <a:gd name="T3" fmla="*/ 2147483647 h 43"/>
              <a:gd name="T4" fmla="*/ 2147483647 w 46"/>
              <a:gd name="T5" fmla="*/ 2147483647 h 43"/>
              <a:gd name="T6" fmla="*/ 2147483647 w 46"/>
              <a:gd name="T7" fmla="*/ 2147483647 h 43"/>
              <a:gd name="T8" fmla="*/ 2147483647 w 46"/>
              <a:gd name="T9" fmla="*/ 2147483647 h 43"/>
              <a:gd name="T10" fmla="*/ 2147483647 w 46"/>
              <a:gd name="T11" fmla="*/ 2147483647 h 43"/>
              <a:gd name="T12" fmla="*/ 0 w 46"/>
              <a:gd name="T13" fmla="*/ 2147483647 h 43"/>
              <a:gd name="T14" fmla="*/ 2147483647 w 46"/>
              <a:gd name="T15" fmla="*/ 0 h 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43"/>
              <a:gd name="T26" fmla="*/ 46 w 46"/>
              <a:gd name="T27" fmla="*/ 43 h 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97979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191CD4-4C2A-9A7C-C1D9-619EE26BD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5753100"/>
            <a:ext cx="228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nat=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1.44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3299284-38C9-54D3-7F9C-B70889DCB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350" y="369888"/>
            <a:ext cx="4756150" cy="5857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FF0000"/>
              </a:buClr>
              <a:buSzPct val="65000"/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3200" b="1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1.</a:t>
            </a:r>
            <a:r>
              <a:rPr lang="en-US" altLang="zh-CN" sz="3200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离散消息 </a:t>
            </a:r>
            <a:r>
              <a:rPr lang="en-US" altLang="zh-CN" sz="3200" b="1" i="1" kern="0" dirty="0">
                <a:solidFill>
                  <a:srgbClr val="FF0000"/>
                </a:solidFill>
                <a:latin typeface="+mj-lt"/>
                <a:ea typeface="+mj-ea"/>
                <a:cs typeface="Arial" pitchFamily="34" charset="0"/>
              </a:rPr>
              <a:t>x</a:t>
            </a:r>
            <a:r>
              <a:rPr lang="en-US" altLang="zh-CN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的信息量</a:t>
            </a:r>
            <a:endParaRPr lang="zh-CN" altLang="en-US" sz="32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7179" name="Picture 11">
            <a:extLst>
              <a:ext uri="{FF2B5EF4-FFF2-40B4-BE49-F238E27FC236}">
                <a16:creationId xmlns:a16="http://schemas.microsoft.com/office/drawing/2014/main" id="{FE5BF112-C76B-DDD5-22C4-B10B3C1F2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58" r="66457"/>
          <a:stretch>
            <a:fillRect/>
          </a:stretch>
        </p:blipFill>
        <p:spPr bwMode="auto">
          <a:xfrm>
            <a:off x="793750" y="4495800"/>
            <a:ext cx="2536825" cy="125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E91E91-901C-F349-DFAB-F70D56C12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7" b="67273"/>
          <a:stretch>
            <a:fillRect/>
          </a:stretch>
        </p:blipFill>
        <p:spPr bwMode="auto">
          <a:xfrm>
            <a:off x="4062413" y="2406650"/>
            <a:ext cx="43624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353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1" dur="20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753A1A73-4CC8-17D6-D48B-825194CA4B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7450" y="4221163"/>
            <a:ext cx="7590790" cy="2232025"/>
          </a:xfrm>
          <a:solidFill>
            <a:schemeClr val="bg1"/>
          </a:solidFill>
          <a:ln w="38100" cmpd="dbl">
            <a:solidFill>
              <a:srgbClr val="B2B2B2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  <a:tabLst>
                <a:tab pos="5029200" algn="l"/>
              </a:tabLst>
            </a:pP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概率相同，每个符号蕴含的信息量也相同；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  <a:tabLst>
                <a:tab pos="5029200" algn="l"/>
              </a:tabLst>
            </a:pPr>
            <a:r>
              <a:rPr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 二</a:t>
            </a:r>
            <a:r>
              <a:rPr lang="zh-CN" altLang="en-US" sz="2400">
                <a:latin typeface="宋体" panose="02010600030101010101" pitchFamily="2" charset="-122"/>
              </a:rPr>
              <a:t>进制的每个码元含 </a:t>
            </a: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>
                <a:latin typeface="Arial" panose="020B0604020202020204" pitchFamily="34" charset="0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b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  <a:tabLst>
                <a:tab pos="5029200" algn="l"/>
              </a:tabLst>
            </a:pPr>
            <a:r>
              <a:rPr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四</a:t>
            </a:r>
            <a:r>
              <a:rPr lang="zh-CN" altLang="en-US" sz="2400">
                <a:latin typeface="宋体" panose="02010600030101010101" pitchFamily="2" charset="-122"/>
              </a:rPr>
              <a:t>进制的每个码元含 </a:t>
            </a: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b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  <a:tabLst>
                <a:tab pos="5029200" algn="l"/>
              </a:tabLst>
            </a:pP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推广：</a:t>
            </a: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</a:rPr>
              <a:t>M</a:t>
            </a:r>
            <a:r>
              <a:rPr lang="zh-CN" altLang="en-US" sz="2400">
                <a:latin typeface="宋体" panose="02010600030101010101" pitchFamily="2" charset="-122"/>
              </a:rPr>
              <a:t>进制的每个码元含 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log</a:t>
            </a:r>
            <a:r>
              <a:rPr lang="en-US" altLang="zh-CN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M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b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r>
              <a:rPr lang="en-US" altLang="zh-CN" sz="2400">
                <a:latin typeface="楷体_GB2312" pitchFamily="49" charset="-122"/>
              </a:rPr>
              <a:t> </a:t>
            </a:r>
          </a:p>
        </p:txBody>
      </p:sp>
      <p:sp>
        <p:nvSpPr>
          <p:cNvPr id="7175" name="Rectangle 3">
            <a:extLst>
              <a:ext uri="{FF2B5EF4-FFF2-40B4-BE49-F238E27FC236}">
                <a16:creationId xmlns:a16="http://schemas.microsoft.com/office/drawing/2014/main" id="{F20D2F44-5E44-F49F-6207-04A41B503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6" name="Rectangle 4">
            <a:extLst>
              <a:ext uri="{FF2B5EF4-FFF2-40B4-BE49-F238E27FC236}">
                <a16:creationId xmlns:a16="http://schemas.microsoft.com/office/drawing/2014/main" id="{A4BE3810-6A38-3EAE-5E17-4C7E2CC21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98342" name="Object 6">
            <a:extLst>
              <a:ext uri="{FF2B5EF4-FFF2-40B4-BE49-F238E27FC236}">
                <a16:creationId xmlns:a16="http://schemas.microsoft.com/office/drawing/2014/main" id="{59DB898F-BB0D-1331-31CB-7321095E36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6113" y="1770063"/>
          <a:ext cx="352742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05000" imgH="393700" progId="Equation.3">
                  <p:embed/>
                </p:oleObj>
              </mc:Choice>
              <mc:Fallback>
                <p:oleObj name="公式" r:id="rId3" imgW="1905000" imgH="393700" progId="Equation.3">
                  <p:embed/>
                  <p:pic>
                    <p:nvPicPr>
                      <p:cNvPr id="398342" name="Object 6">
                        <a:extLst>
                          <a:ext uri="{FF2B5EF4-FFF2-40B4-BE49-F238E27FC236}">
                            <a16:creationId xmlns:a16="http://schemas.microsoft.com/office/drawing/2014/main" id="{59DB898F-BB0D-1331-31CB-7321095E36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1770063"/>
                        <a:ext cx="3527425" cy="722312"/>
                      </a:xfrm>
                      <a:prstGeom prst="rect">
                        <a:avLst/>
                      </a:prstGeom>
                      <a:solidFill>
                        <a:srgbClr val="E1E1FF"/>
                      </a:solidFill>
                      <a:ln>
                        <a:noFill/>
                      </a:ln>
                      <a:effectLst>
                        <a:prstShdw prst="shdw17" dist="17961" dir="13500000">
                          <a:srgbClr val="878799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7">
            <a:extLst>
              <a:ext uri="{FF2B5EF4-FFF2-40B4-BE49-F238E27FC236}">
                <a16:creationId xmlns:a16="http://schemas.microsoft.com/office/drawing/2014/main" id="{FD2B544C-0DAE-D91C-0B3E-FA76135FA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98345" name="Object 9">
            <a:extLst>
              <a:ext uri="{FF2B5EF4-FFF2-40B4-BE49-F238E27FC236}">
                <a16:creationId xmlns:a16="http://schemas.microsoft.com/office/drawing/2014/main" id="{7A5F0912-7151-CA40-51FC-6340471E9B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0400" y="2781300"/>
          <a:ext cx="20621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200" imgH="457200" progId="Equation.DSMT4">
                  <p:embed/>
                </p:oleObj>
              </mc:Choice>
              <mc:Fallback>
                <p:oleObj name="Equation" r:id="rId5" imgW="965200" imgH="457200" progId="Equation.DSMT4">
                  <p:embed/>
                  <p:pic>
                    <p:nvPicPr>
                      <p:cNvPr id="398345" name="Object 9">
                        <a:extLst>
                          <a:ext uri="{FF2B5EF4-FFF2-40B4-BE49-F238E27FC236}">
                            <a16:creationId xmlns:a16="http://schemas.microsoft.com/office/drawing/2014/main" id="{7A5F0912-7151-CA40-51FC-6340471E9B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2781300"/>
                        <a:ext cx="2062163" cy="1117600"/>
                      </a:xfrm>
                      <a:prstGeom prst="rect">
                        <a:avLst/>
                      </a:prstGeom>
                      <a:solidFill>
                        <a:srgbClr val="E1E1FF"/>
                      </a:solidFill>
                      <a:ln>
                        <a:noFill/>
                      </a:ln>
                      <a:effectLst>
                        <a:prstShdw prst="shdw17" dist="17961" dir="13500000">
                          <a:srgbClr val="878799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6" name="Rectangle 10">
            <a:extLst>
              <a:ext uri="{FF2B5EF4-FFF2-40B4-BE49-F238E27FC236}">
                <a16:creationId xmlns:a16="http://schemas.microsoft.com/office/drawing/2014/main" id="{41280919-C859-DE6A-E26E-989550E20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42875"/>
            <a:ext cx="2951162" cy="919163"/>
          </a:xfrm>
          <a:prstGeom prst="rect">
            <a:avLst/>
          </a:prstGeom>
          <a:solidFill>
            <a:srgbClr val="FFFFD5"/>
          </a:solidFill>
          <a:ln>
            <a:noFill/>
          </a:ln>
          <a:effectLst>
            <a:prstShdw prst="shdw17" dist="17961" dir="2700000">
              <a:srgbClr val="999980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solidFill>
                  <a:schemeClr val="hlink"/>
                </a:solidFill>
              </a:rPr>
              <a:t> 【</a:t>
            </a:r>
            <a:r>
              <a:rPr lang="en-US" altLang="zh-CN" sz="2400" b="1">
                <a:solidFill>
                  <a:schemeClr val="hlink"/>
                </a:solidFill>
                <a:latin typeface="Arial" panose="020B0604020202020204" pitchFamily="34" charset="0"/>
              </a:rPr>
              <a:t>1-1</a:t>
            </a:r>
            <a:r>
              <a:rPr lang="en-US" altLang="zh-CN" sz="2400" b="1">
                <a:solidFill>
                  <a:schemeClr val="hlink"/>
                </a:solidFill>
              </a:rPr>
              <a:t>】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二进制信源</a:t>
            </a:r>
            <a:r>
              <a:rPr lang="zh-CN" altLang="en-US" sz="2400" b="1"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</a:rPr>
              <a:t>0</a:t>
            </a:r>
            <a:r>
              <a:rPr lang="zh-CN" altLang="en-US" sz="2400" b="1">
                <a:latin typeface="宋体" panose="02010600030101010101" pitchFamily="2" charset="-122"/>
              </a:rPr>
              <a:t>，</a:t>
            </a:r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98347" name="Rectangle 11">
            <a:extLst>
              <a:ext uri="{FF2B5EF4-FFF2-40B4-BE49-F238E27FC236}">
                <a16:creationId xmlns:a16="http://schemas.microsoft.com/office/drawing/2014/main" id="{B3FF71C6-6231-D610-BB8B-0739220A1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950" y="157163"/>
            <a:ext cx="3962400" cy="919162"/>
          </a:xfrm>
          <a:prstGeom prst="rect">
            <a:avLst/>
          </a:prstGeom>
          <a:solidFill>
            <a:srgbClr val="E1E1FF"/>
          </a:solidFill>
          <a:ln>
            <a:noFill/>
          </a:ln>
          <a:effectLst>
            <a:prstShdw prst="shdw17" dist="17961" dir="13500000">
              <a:srgbClr val="8787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【1-2】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</a:rPr>
              <a:t>四进制信源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2, 3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</a:p>
        </p:txBody>
      </p:sp>
      <p:graphicFrame>
        <p:nvGraphicFramePr>
          <p:cNvPr id="398348" name="Object 12">
            <a:extLst>
              <a:ext uri="{FF2B5EF4-FFF2-40B4-BE49-F238E27FC236}">
                <a16:creationId xmlns:a16="http://schemas.microsoft.com/office/drawing/2014/main" id="{560A8E48-CB3E-5F3B-B485-4010AF3AD1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773238"/>
          <a:ext cx="20161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016000" imgH="393700" progId="Equation.3">
                  <p:embed/>
                </p:oleObj>
              </mc:Choice>
              <mc:Fallback>
                <p:oleObj name="公式" r:id="rId7" imgW="1016000" imgH="393700" progId="Equation.3">
                  <p:embed/>
                  <p:pic>
                    <p:nvPicPr>
                      <p:cNvPr id="398348" name="Object 12">
                        <a:extLst>
                          <a:ext uri="{FF2B5EF4-FFF2-40B4-BE49-F238E27FC236}">
                            <a16:creationId xmlns:a16="http://schemas.microsoft.com/office/drawing/2014/main" id="{560A8E48-CB3E-5F3B-B485-4010AF3AD1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773238"/>
                        <a:ext cx="2016125" cy="774700"/>
                      </a:xfrm>
                      <a:prstGeom prst="rect">
                        <a:avLst/>
                      </a:prstGeom>
                      <a:solidFill>
                        <a:srgbClr val="FFFFD5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999980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A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9" name="Object 13">
            <a:extLst>
              <a:ext uri="{FF2B5EF4-FFF2-40B4-BE49-F238E27FC236}">
                <a16:creationId xmlns:a16="http://schemas.microsoft.com/office/drawing/2014/main" id="{12BE90E6-8430-E606-6B35-523F74B931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636838"/>
          <a:ext cx="2374900" cy="13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80588" imgH="660113" progId="Equation.DSMT4">
                  <p:embed/>
                </p:oleObj>
              </mc:Choice>
              <mc:Fallback>
                <p:oleObj name="Equation" r:id="rId9" imgW="1180588" imgH="660113" progId="Equation.DSMT4">
                  <p:embed/>
                  <p:pic>
                    <p:nvPicPr>
                      <p:cNvPr id="398349" name="Object 13">
                        <a:extLst>
                          <a:ext uri="{FF2B5EF4-FFF2-40B4-BE49-F238E27FC236}">
                            <a16:creationId xmlns:a16="http://schemas.microsoft.com/office/drawing/2014/main" id="{12BE90E6-8430-E606-6B35-523F74B931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636838"/>
                        <a:ext cx="2374900" cy="1325562"/>
                      </a:xfrm>
                      <a:prstGeom prst="rect">
                        <a:avLst/>
                      </a:prstGeom>
                      <a:solidFill>
                        <a:srgbClr val="FFFFD5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999980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51" name="Rectangle 15">
            <a:extLst>
              <a:ext uri="{FF2B5EF4-FFF2-40B4-BE49-F238E27FC236}">
                <a16:creationId xmlns:a16="http://schemas.microsoft.com/office/drawing/2014/main" id="{F46C0B7F-47FB-DBD4-F9A8-EBBFD7699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949825"/>
            <a:ext cx="2736850" cy="711200"/>
          </a:xfrm>
          <a:prstGeom prst="rect">
            <a:avLst/>
          </a:prstGeom>
          <a:noFill/>
          <a:ln w="9525">
            <a:solidFill>
              <a:srgbClr val="9999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每个四进制符号可用</a:t>
            </a:r>
          </a:p>
          <a:p>
            <a:pPr eaLnBrk="1" hangingPunct="1"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2 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个二进制符号表示。</a:t>
            </a:r>
          </a:p>
        </p:txBody>
      </p:sp>
      <p:sp>
        <p:nvSpPr>
          <p:cNvPr id="398353" name="Rectangle 17">
            <a:extLst>
              <a:ext uri="{FF2B5EF4-FFF2-40B4-BE49-F238E27FC236}">
                <a16:creationId xmlns:a16="http://schemas.microsoft.com/office/drawing/2014/main" id="{7C082CDC-D308-7B14-9D73-5BEE8147A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1844675"/>
            <a:ext cx="68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宋体" panose="02010600030101010101" pitchFamily="2" charset="-122"/>
              </a:rPr>
              <a:t>解</a:t>
            </a:r>
            <a:r>
              <a:rPr lang="zh-CN" altLang="en-US" sz="2400">
                <a:latin typeface="宋体" panose="02010600030101010101" pitchFamily="2" charset="-122"/>
              </a:rPr>
              <a:t>：</a:t>
            </a:r>
          </a:p>
        </p:txBody>
      </p:sp>
      <p:sp>
        <p:nvSpPr>
          <p:cNvPr id="398356" name="Rectangle 20">
            <a:extLst>
              <a:ext uri="{FF2B5EF4-FFF2-40B4-BE49-F238E27FC236}">
                <a16:creationId xmlns:a16="http://schemas.microsoft.com/office/drawing/2014/main" id="{7CAC9C7F-4C56-AFFF-A22F-586F6B065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1111250"/>
            <a:ext cx="7516812" cy="4762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b="1">
                <a:latin typeface="宋体" pitchFamily="2" charset="-122"/>
              </a:rPr>
              <a:t>试求：等概独立发送符号时，每个符号的信息量 。</a:t>
            </a:r>
          </a:p>
        </p:txBody>
      </p:sp>
      <p:sp>
        <p:nvSpPr>
          <p:cNvPr id="398357" name="Oval 21">
            <a:extLst>
              <a:ext uri="{FF2B5EF4-FFF2-40B4-BE49-F238E27FC236}">
                <a16:creationId xmlns:a16="http://schemas.microsoft.com/office/drawing/2014/main" id="{DEEAD795-DE6A-DC37-B31F-8C9435856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4005263"/>
            <a:ext cx="1169987" cy="5746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rgbClr val="969696"/>
            </a:solidFill>
            <a:round/>
            <a:headEnd/>
            <a:tailEnd/>
          </a:ln>
          <a:effectLst>
            <a:prstShdw prst="shdw17" dist="17961" dir="13500000">
              <a:srgbClr val="5A5A5A"/>
            </a:prst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评注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55745210-45DB-89B2-F44D-DAD52B161A38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73025"/>
            <a:ext cx="649287" cy="692150"/>
            <a:chOff x="1655" y="845"/>
            <a:chExt cx="454" cy="453"/>
          </a:xfrm>
        </p:grpSpPr>
        <p:grpSp>
          <p:nvGrpSpPr>
            <p:cNvPr id="7194" name="Group 23">
              <a:extLst>
                <a:ext uri="{FF2B5EF4-FFF2-40B4-BE49-F238E27FC236}">
                  <a16:creationId xmlns:a16="http://schemas.microsoft.com/office/drawing/2014/main" id="{EFDBF784-4D5A-0309-DB99-2037F9995D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7196" name="Oval 24">
                <a:extLst>
                  <a:ext uri="{FF2B5EF4-FFF2-40B4-BE49-F238E27FC236}">
                    <a16:creationId xmlns:a16="http://schemas.microsoft.com/office/drawing/2014/main" id="{DA09FEFA-9E71-8E45-FFF9-E84A89EE3F2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97" name="Oval 25">
                <a:extLst>
                  <a:ext uri="{FF2B5EF4-FFF2-40B4-BE49-F238E27FC236}">
                    <a16:creationId xmlns:a16="http://schemas.microsoft.com/office/drawing/2014/main" id="{6A3342B1-41EA-F4EE-B381-119160200E2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98" name="Oval 26">
                <a:extLst>
                  <a:ext uri="{FF2B5EF4-FFF2-40B4-BE49-F238E27FC236}">
                    <a16:creationId xmlns:a16="http://schemas.microsoft.com/office/drawing/2014/main" id="{7D3BC008-3F14-5CED-B1DC-F75F05CAB0E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99" name="Oval 27">
                <a:extLst>
                  <a:ext uri="{FF2B5EF4-FFF2-40B4-BE49-F238E27FC236}">
                    <a16:creationId xmlns:a16="http://schemas.microsoft.com/office/drawing/2014/main" id="{A06E0185-228B-2114-14E8-15A00B927B8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00" name="Oval 28">
                <a:extLst>
                  <a:ext uri="{FF2B5EF4-FFF2-40B4-BE49-F238E27FC236}">
                    <a16:creationId xmlns:a16="http://schemas.microsoft.com/office/drawing/2014/main" id="{DA5273A4-C43B-3819-3ACD-384018A17FB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195" name="Text Box 29">
              <a:extLst>
                <a:ext uri="{FF2B5EF4-FFF2-40B4-BE49-F238E27FC236}">
                  <a16:creationId xmlns:a16="http://schemas.microsoft.com/office/drawing/2014/main" id="{AAB2AA96-6195-9D04-EBAC-55B6A633664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66" y="902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Arial" panose="020B0604020202020204" pitchFamily="34" charset="0"/>
                </a:rPr>
                <a:t>例</a:t>
              </a:r>
            </a:p>
          </p:txBody>
        </p:sp>
      </p:grpSp>
      <p:grpSp>
        <p:nvGrpSpPr>
          <p:cNvPr id="4" name="Group 30">
            <a:extLst>
              <a:ext uri="{FF2B5EF4-FFF2-40B4-BE49-F238E27FC236}">
                <a16:creationId xmlns:a16="http://schemas.microsoft.com/office/drawing/2014/main" id="{424DD6E4-89F6-5D17-602B-2E083FFF4BAA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73025"/>
            <a:ext cx="649288" cy="692150"/>
            <a:chOff x="1655" y="845"/>
            <a:chExt cx="454" cy="453"/>
          </a:xfrm>
        </p:grpSpPr>
        <p:grpSp>
          <p:nvGrpSpPr>
            <p:cNvPr id="7187" name="Group 31">
              <a:extLst>
                <a:ext uri="{FF2B5EF4-FFF2-40B4-BE49-F238E27FC236}">
                  <a16:creationId xmlns:a16="http://schemas.microsoft.com/office/drawing/2014/main" id="{4FC8BC36-5399-4762-01C8-33213BCC47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7189" name="Oval 32">
                <a:extLst>
                  <a:ext uri="{FF2B5EF4-FFF2-40B4-BE49-F238E27FC236}">
                    <a16:creationId xmlns:a16="http://schemas.microsoft.com/office/drawing/2014/main" id="{F3586854-5E8A-EF24-BB37-9DDFB6FCC69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90" name="Oval 33">
                <a:extLst>
                  <a:ext uri="{FF2B5EF4-FFF2-40B4-BE49-F238E27FC236}">
                    <a16:creationId xmlns:a16="http://schemas.microsoft.com/office/drawing/2014/main" id="{AEF86104-5A1F-6F1E-3ECE-3C2D830BF22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91" name="Oval 34">
                <a:extLst>
                  <a:ext uri="{FF2B5EF4-FFF2-40B4-BE49-F238E27FC236}">
                    <a16:creationId xmlns:a16="http://schemas.microsoft.com/office/drawing/2014/main" id="{85844637-1605-6B3D-6771-CE8E3529A71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92" name="Oval 35">
                <a:extLst>
                  <a:ext uri="{FF2B5EF4-FFF2-40B4-BE49-F238E27FC236}">
                    <a16:creationId xmlns:a16="http://schemas.microsoft.com/office/drawing/2014/main" id="{F2F077FE-5FA5-C0CA-11E7-779D3284261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93" name="Oval 36">
                <a:extLst>
                  <a:ext uri="{FF2B5EF4-FFF2-40B4-BE49-F238E27FC236}">
                    <a16:creationId xmlns:a16="http://schemas.microsoft.com/office/drawing/2014/main" id="{96D7F259-978C-2050-6D22-8822DD0432C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188" name="Text Box 37">
              <a:extLst>
                <a:ext uri="{FF2B5EF4-FFF2-40B4-BE49-F238E27FC236}">
                  <a16:creationId xmlns:a16="http://schemas.microsoft.com/office/drawing/2014/main" id="{9AC0F60D-10CB-7EA6-5259-A50AD31FD7F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66" y="902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Arial" panose="020B0604020202020204" pitchFamily="34" charset="0"/>
                </a:rPr>
                <a:t>例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669939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500"/>
                                        <p:tgtEl>
                                          <p:spTgt spid="39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500"/>
                                        <p:tgtEl>
                                          <p:spTgt spid="39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500"/>
                                        <p:tgtEl>
                                          <p:spTgt spid="3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3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9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98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983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98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98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98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9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98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8" grpId="0" build="p" animBg="1"/>
      <p:bldP spid="398346" grpId="0" animBg="1"/>
      <p:bldP spid="398347" grpId="0" animBg="1"/>
      <p:bldP spid="398351" grpId="0" animBg="1"/>
      <p:bldP spid="398353" grpId="0"/>
      <p:bldP spid="398356" grpId="0" animBg="1"/>
      <p:bldP spid="39835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>
            <a:extLst>
              <a:ext uri="{FF2B5EF4-FFF2-40B4-BE49-F238E27FC236}">
                <a16:creationId xmlns:a16="http://schemas.microsoft.com/office/drawing/2014/main" id="{03E1E5BB-2897-754B-75F5-AC63574FA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073150"/>
            <a:ext cx="7705725" cy="5111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7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 </a:t>
            </a:r>
            <a:r>
              <a:rPr lang="en-US" altLang="zh-CN" sz="2400">
                <a:solidFill>
                  <a:srgbClr val="0000CC"/>
                </a:solidFill>
                <a:latin typeface="宋体" panose="02010600030101010101" pitchFamily="2" charset="-122"/>
              </a:rPr>
              <a:t>—— </a:t>
            </a:r>
            <a:r>
              <a:rPr lang="zh-CN" altLang="en-US" sz="2400"/>
              <a:t>信源中每个符号所含信息量的统计平均值。</a:t>
            </a:r>
          </a:p>
          <a:p>
            <a:pPr eaLnBrk="1" hangingPunct="1">
              <a:lnSpc>
                <a:spcPts val="37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</a:t>
            </a:r>
            <a:r>
              <a:rPr lang="zh-CN" altLang="en-US" sz="2400"/>
              <a:t>设</a:t>
            </a:r>
            <a:r>
              <a:rPr lang="zh-CN" altLang="en-US" sz="2800"/>
              <a:t>                                                            </a:t>
            </a:r>
          </a:p>
          <a:p>
            <a:pPr eaLnBrk="1" hangingPunct="1">
              <a:lnSpc>
                <a:spcPts val="3700"/>
              </a:lnSpc>
            </a:pPr>
            <a:endParaRPr lang="zh-CN" altLang="en-US" sz="2800"/>
          </a:p>
          <a:p>
            <a:pPr eaLnBrk="1" hangingPunct="1">
              <a:lnSpc>
                <a:spcPts val="3700"/>
              </a:lnSpc>
            </a:pPr>
            <a:endParaRPr lang="zh-CN" altLang="en-US" sz="2800"/>
          </a:p>
          <a:p>
            <a:pPr eaLnBrk="1" hangingPunct="1">
              <a:lnSpc>
                <a:spcPts val="37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则 统计独立的</a:t>
            </a:r>
            <a:r>
              <a:rPr lang="en-US" altLang="zh-CN" sz="2400">
                <a:solidFill>
                  <a:srgbClr val="0000CC"/>
                </a:solidFill>
              </a:rPr>
              <a:t>M</a:t>
            </a:r>
            <a:r>
              <a:rPr lang="zh-CN" altLang="en-US" sz="2400"/>
              <a:t>个符号的离散信源的平均信息量为  </a:t>
            </a:r>
          </a:p>
          <a:p>
            <a:pPr eaLnBrk="1" hangingPunct="1">
              <a:lnSpc>
                <a:spcPts val="3700"/>
              </a:lnSpc>
              <a:buFont typeface="Wingdings" panose="05000000000000000000" pitchFamily="2" charset="2"/>
              <a:buNone/>
            </a:pPr>
            <a:br>
              <a:rPr lang="zh-CN" altLang="en-US" sz="2800"/>
            </a:br>
            <a:endParaRPr lang="zh-CN" altLang="en-US" sz="2800"/>
          </a:p>
          <a:p>
            <a:pPr eaLnBrk="1" hangingPunct="1">
              <a:lnSpc>
                <a:spcPts val="3700"/>
              </a:lnSpc>
            </a:pPr>
            <a:endParaRPr lang="zh-CN" altLang="en-US" sz="2800"/>
          </a:p>
          <a:p>
            <a:pPr eaLnBrk="1" hangingPunct="1">
              <a:lnSpc>
                <a:spcPts val="37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Arial" panose="020B0604020202020204" pitchFamily="34" charset="0"/>
              </a:rPr>
              <a:t> </a:t>
            </a:r>
            <a:r>
              <a:rPr lang="zh-CN" altLang="en-US" sz="2800" i="1">
                <a:latin typeface="Arial" panose="020B0604020202020204" pitchFamily="34" charset="0"/>
              </a:rPr>
              <a:t> </a:t>
            </a:r>
            <a:r>
              <a:rPr lang="en-US" altLang="zh-CN" sz="2400" i="1">
                <a:solidFill>
                  <a:srgbClr val="FF0000"/>
                </a:solidFill>
                <a:latin typeface="Arial" panose="020B0604020202020204" pitchFamily="34" charset="0"/>
              </a:rPr>
              <a:t>H</a:t>
            </a:r>
            <a:r>
              <a:rPr lang="zh-CN" altLang="en-US" sz="2400">
                <a:latin typeface="宋体" panose="02010600030101010101" pitchFamily="2" charset="-122"/>
              </a:rPr>
              <a:t>与热力学中的熵形式一样，故称为</a:t>
            </a:r>
            <a:r>
              <a:rPr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信源的熵</a:t>
            </a:r>
            <a:r>
              <a:rPr lang="zh-CN" altLang="en-US" sz="240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8197" name="Rectangle 9">
            <a:extLst>
              <a:ext uri="{FF2B5EF4-FFF2-40B4-BE49-F238E27FC236}">
                <a16:creationId xmlns:a16="http://schemas.microsoft.com/office/drawing/2014/main" id="{EFA32CCC-7535-502F-21D1-A0E45E72D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8072" name="Object 8">
            <a:extLst>
              <a:ext uri="{FF2B5EF4-FFF2-40B4-BE49-F238E27FC236}">
                <a16:creationId xmlns:a16="http://schemas.microsoft.com/office/drawing/2014/main" id="{2241DC30-3D0C-9B3C-2A37-1F11F0A199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962150"/>
          <a:ext cx="59753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047976" imgH="464748" progId="Equation.3">
                  <p:embed/>
                </p:oleObj>
              </mc:Choice>
              <mc:Fallback>
                <p:oleObj name="公式" r:id="rId3" imgW="3047976" imgH="464748" progId="Equation.3">
                  <p:embed/>
                  <p:pic>
                    <p:nvPicPr>
                      <p:cNvPr id="88072" name="Object 8">
                        <a:extLst>
                          <a:ext uri="{FF2B5EF4-FFF2-40B4-BE49-F238E27FC236}">
                            <a16:creationId xmlns:a16="http://schemas.microsoft.com/office/drawing/2014/main" id="{2241DC30-3D0C-9B3C-2A37-1F11F0A199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962150"/>
                        <a:ext cx="5975350" cy="1044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999999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1" name="Object 27">
            <a:extLst>
              <a:ext uri="{FF2B5EF4-FFF2-40B4-BE49-F238E27FC236}">
                <a16:creationId xmlns:a16="http://schemas.microsoft.com/office/drawing/2014/main" id="{E25BFAEB-2173-9D1C-C0A6-668A82998D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2775" y="4070350"/>
          <a:ext cx="540067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97100" imgH="444500" progId="Equation.DSMT4">
                  <p:embed/>
                </p:oleObj>
              </mc:Choice>
              <mc:Fallback>
                <p:oleObj name="Equation" r:id="rId5" imgW="2197100" imgH="444500" progId="Equation.DSMT4">
                  <p:embed/>
                  <p:pic>
                    <p:nvPicPr>
                      <p:cNvPr id="88091" name="Object 27">
                        <a:extLst>
                          <a:ext uri="{FF2B5EF4-FFF2-40B4-BE49-F238E27FC236}">
                            <a16:creationId xmlns:a16="http://schemas.microsoft.com/office/drawing/2014/main" id="{E25BFAEB-2173-9D1C-C0A6-668A82998D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4070350"/>
                        <a:ext cx="5400675" cy="10922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8B8B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34F0ABB9-4A78-E847-160E-25D3CABC9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350" y="369888"/>
            <a:ext cx="4889500" cy="5857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FF0000"/>
              </a:buClr>
              <a:buSzPct val="65000"/>
              <a:defRPr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3200" b="1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2.</a:t>
            </a:r>
            <a:r>
              <a:rPr lang="en-US" altLang="zh-CN" sz="3200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离散消息的平均信息量</a:t>
            </a:r>
            <a:endParaRPr lang="zh-CN" altLang="en-US" sz="32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25069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4" name="Picture 24">
            <a:extLst>
              <a:ext uri="{FF2B5EF4-FFF2-40B4-BE49-F238E27FC236}">
                <a16:creationId xmlns:a16="http://schemas.microsoft.com/office/drawing/2014/main" id="{EE0FFD89-11BE-6E99-7C34-223753CA3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762000"/>
            <a:ext cx="7772400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Rectangle 6">
            <a:extLst>
              <a:ext uri="{FF2B5EF4-FFF2-40B4-BE49-F238E27FC236}">
                <a16:creationId xmlns:a16="http://schemas.microsoft.com/office/drawing/2014/main" id="{B4EFA163-A005-DF0C-05D4-780758DD1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4" name="Rectangle 14">
            <a:extLst>
              <a:ext uri="{FF2B5EF4-FFF2-40B4-BE49-F238E27FC236}">
                <a16:creationId xmlns:a16="http://schemas.microsoft.com/office/drawing/2014/main" id="{4E80B482-FCD1-4B34-7DBB-80DBF9FE0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" name="Rectangle 16">
            <a:extLst>
              <a:ext uri="{FF2B5EF4-FFF2-40B4-BE49-F238E27FC236}">
                <a16:creationId xmlns:a16="http://schemas.microsoft.com/office/drawing/2014/main" id="{C5CE6AB3-80A7-FFE7-C835-562535837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" name="Rectangle 18">
            <a:extLst>
              <a:ext uri="{FF2B5EF4-FFF2-40B4-BE49-F238E27FC236}">
                <a16:creationId xmlns:a16="http://schemas.microsoft.com/office/drawing/2014/main" id="{87B08B69-F456-8851-3816-EBAC9B3E5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34">
            <a:extLst>
              <a:ext uri="{FF2B5EF4-FFF2-40B4-BE49-F238E27FC236}">
                <a16:creationId xmlns:a16="http://schemas.microsoft.com/office/drawing/2014/main" id="{8F919610-0B3D-C4F9-4F88-087CF73A3504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632325"/>
            <a:ext cx="6642100" cy="1439863"/>
            <a:chOff x="692" y="2977"/>
            <a:chExt cx="4184" cy="907"/>
          </a:xfrm>
        </p:grpSpPr>
        <p:grpSp>
          <p:nvGrpSpPr>
            <p:cNvPr id="9237" name="Group 33">
              <a:extLst>
                <a:ext uri="{FF2B5EF4-FFF2-40B4-BE49-F238E27FC236}">
                  <a16:creationId xmlns:a16="http://schemas.microsoft.com/office/drawing/2014/main" id="{25AFF2E7-2C03-DD4F-F3A0-803BAC4B3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" y="3113"/>
              <a:ext cx="3810" cy="771"/>
              <a:chOff x="1066" y="3113"/>
              <a:chExt cx="3810" cy="771"/>
            </a:xfrm>
          </p:grpSpPr>
          <p:sp>
            <p:nvSpPr>
              <p:cNvPr id="9239" name="Rectangle 25">
                <a:extLst>
                  <a:ext uri="{FF2B5EF4-FFF2-40B4-BE49-F238E27FC236}">
                    <a16:creationId xmlns:a16="http://schemas.microsoft.com/office/drawing/2014/main" id="{98D7802E-A283-411C-21A1-761437CDDF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" y="3113"/>
                <a:ext cx="3810" cy="771"/>
              </a:xfrm>
              <a:prstGeom prst="rect">
                <a:avLst/>
              </a:prstGeom>
              <a:noFill/>
              <a:ln w="38100" cmpd="dbl">
                <a:solidFill>
                  <a:srgbClr val="B2B2B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marL="342900" indent="-3429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en-US" altLang="zh-CN" sz="2400"/>
                  <a:t>      </a:t>
                </a:r>
                <a:r>
                  <a:rPr lang="zh-CN" altLang="en-US" sz="2400" b="1"/>
                  <a:t>比较例</a:t>
                </a:r>
                <a:r>
                  <a:rPr lang="en-US" altLang="zh-CN" sz="2400" b="1">
                    <a:solidFill>
                      <a:srgbClr val="0000CC"/>
                    </a:solidFill>
                    <a:latin typeface="宋体" panose="02010600030101010101" pitchFamily="2" charset="-122"/>
                  </a:rPr>
                  <a:t>【1-3】</a:t>
                </a:r>
                <a:r>
                  <a:rPr lang="zh-CN" altLang="en-US" sz="2400" b="1">
                    <a:latin typeface="宋体" panose="02010600030101010101" pitchFamily="2" charset="-122"/>
                  </a:rPr>
                  <a:t>与</a:t>
                </a:r>
                <a:r>
                  <a:rPr lang="en-US" altLang="zh-CN" sz="2400" b="1">
                    <a:solidFill>
                      <a:srgbClr val="0000CC"/>
                    </a:solidFill>
                    <a:latin typeface="宋体" panose="02010600030101010101" pitchFamily="2" charset="-122"/>
                  </a:rPr>
                  <a:t>【1-2】</a:t>
                </a:r>
                <a:r>
                  <a:rPr lang="zh-CN" altLang="en-US" sz="2400" b="1"/>
                  <a:t>可知：</a:t>
                </a:r>
              </a:p>
              <a:p>
                <a:pPr eaLnBrk="1" hangingPunct="1">
                  <a:lnSpc>
                    <a:spcPct val="12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zh-CN" altLang="en-US" sz="2400" b="1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    等概时，熵最大</a:t>
                </a:r>
                <a:r>
                  <a:rPr lang="en-US" altLang="zh-CN" sz="2400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:</a:t>
                </a:r>
                <a:endParaRPr lang="en-US" altLang="zh-CN" sz="2400">
                  <a:latin typeface="宋体" panose="02010600030101010101" pitchFamily="2" charset="-122"/>
                </a:endParaRPr>
              </a:p>
            </p:txBody>
          </p:sp>
          <p:graphicFrame>
            <p:nvGraphicFramePr>
              <p:cNvPr id="9221" name="Object 26">
                <a:extLst>
                  <a:ext uri="{FF2B5EF4-FFF2-40B4-BE49-F238E27FC236}">
                    <a16:creationId xmlns:a16="http://schemas.microsoft.com/office/drawing/2014/main" id="{82E5FEDF-EE51-3DF5-32B1-F213493F92A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50" y="3491"/>
              <a:ext cx="1411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914328" imgH="213288" progId="Equation.DSMT4">
                      <p:embed/>
                    </p:oleObj>
                  </mc:Choice>
                  <mc:Fallback>
                    <p:oleObj name="Equation" r:id="rId4" imgW="914328" imgH="213288" progId="Equation.DSMT4">
                      <p:embed/>
                      <p:pic>
                        <p:nvPicPr>
                          <p:cNvPr id="9221" name="Object 26">
                            <a:extLst>
                              <a:ext uri="{FF2B5EF4-FFF2-40B4-BE49-F238E27FC236}">
                                <a16:creationId xmlns:a16="http://schemas.microsoft.com/office/drawing/2014/main" id="{82E5FEDF-EE51-3DF5-32B1-F213493F92A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0" y="3491"/>
                            <a:ext cx="1411" cy="336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>
                            <a:prstShdw prst="shdw17" dist="17961" dir="2700000">
                              <a:srgbClr val="999999"/>
                            </a:prstShdw>
                          </a:effectLst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hlink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" name="Oval 29">
              <a:extLst>
                <a:ext uri="{FF2B5EF4-FFF2-40B4-BE49-F238E27FC236}">
                  <a16:creationId xmlns:a16="http://schemas.microsoft.com/office/drawing/2014/main" id="{606E0627-22DF-E8F9-7A1D-ECA2BA8C8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" y="2977"/>
              <a:ext cx="737" cy="349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19050">
              <a:solidFill>
                <a:srgbClr val="969696"/>
              </a:solidFill>
              <a:round/>
              <a:headEnd/>
              <a:tailEnd/>
            </a:ln>
            <a:effectLst>
              <a:prstShdw prst="shdw17" dist="17961" dir="13500000">
                <a:srgbClr val="5A5A5A"/>
              </a:prst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zh-CN" altLang="en-US" sz="2400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itchFamily="2" charset="-122"/>
                  <a:ea typeface="黑体" pitchFamily="2" charset="-122"/>
                </a:rPr>
                <a:t>评注</a:t>
              </a:r>
            </a:p>
          </p:txBody>
        </p:sp>
      </p:grpSp>
      <p:graphicFrame>
        <p:nvGraphicFramePr>
          <p:cNvPr id="89136" name="Object 48">
            <a:extLst>
              <a:ext uri="{FF2B5EF4-FFF2-40B4-BE49-F238E27FC236}">
                <a16:creationId xmlns:a16="http://schemas.microsoft.com/office/drawing/2014/main" id="{816AA42B-6750-C6AC-FF49-A87327E1A9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560638"/>
          <a:ext cx="324643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4000" imgH="444500" progId="Equation.DSMT4">
                  <p:embed/>
                </p:oleObj>
              </mc:Choice>
              <mc:Fallback>
                <p:oleObj name="Equation" r:id="rId6" imgW="1524000" imgH="444500" progId="Equation.DSMT4">
                  <p:embed/>
                  <p:pic>
                    <p:nvPicPr>
                      <p:cNvPr id="89136" name="Object 48">
                        <a:extLst>
                          <a:ext uri="{FF2B5EF4-FFF2-40B4-BE49-F238E27FC236}">
                            <a16:creationId xmlns:a16="http://schemas.microsoft.com/office/drawing/2014/main" id="{816AA42B-6750-C6AC-FF49-A87327E1A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560638"/>
                        <a:ext cx="3246437" cy="94773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9B9B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38" name="Object 50">
            <a:extLst>
              <a:ext uri="{FF2B5EF4-FFF2-40B4-BE49-F238E27FC236}">
                <a16:creationId xmlns:a16="http://schemas.microsoft.com/office/drawing/2014/main" id="{B40A1BE4-9936-9984-E66B-02A7C858B9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827463"/>
          <a:ext cx="80406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9000" imgH="228600" progId="Equation.DSMT4">
                  <p:embed/>
                </p:oleObj>
              </mc:Choice>
              <mc:Fallback>
                <p:oleObj name="Equation" r:id="rId8" imgW="3429000" imgH="228600" progId="Equation.DSMT4">
                  <p:embed/>
                  <p:pic>
                    <p:nvPicPr>
                      <p:cNvPr id="89138" name="Object 50">
                        <a:extLst>
                          <a:ext uri="{FF2B5EF4-FFF2-40B4-BE49-F238E27FC236}">
                            <a16:creationId xmlns:a16="http://schemas.microsoft.com/office/drawing/2014/main" id="{B40A1BE4-9936-9984-E66B-02A7C858B9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827463"/>
                        <a:ext cx="804068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66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39" name="Object 51">
            <a:extLst>
              <a:ext uri="{FF2B5EF4-FFF2-40B4-BE49-F238E27FC236}">
                <a16:creationId xmlns:a16="http://schemas.microsoft.com/office/drawing/2014/main" id="{6F7398DC-F22B-8ED5-F15E-FD6034326C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7188" y="2546350"/>
          <a:ext cx="2087562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100" imgH="431800" progId="Equation.DSMT4">
                  <p:embed/>
                </p:oleObj>
              </mc:Choice>
              <mc:Fallback>
                <p:oleObj name="Equation" r:id="rId10" imgW="927100" imgH="431800" progId="Equation.DSMT4">
                  <p:embed/>
                  <p:pic>
                    <p:nvPicPr>
                      <p:cNvPr id="89139" name="Object 51">
                        <a:extLst>
                          <a:ext uri="{FF2B5EF4-FFF2-40B4-BE49-F238E27FC236}">
                            <a16:creationId xmlns:a16="http://schemas.microsoft.com/office/drawing/2014/main" id="{6F7398DC-F22B-8ED5-F15E-FD6034326C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188" y="2546350"/>
                        <a:ext cx="2087562" cy="9715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9B9B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D5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2">
            <a:extLst>
              <a:ext uri="{FF2B5EF4-FFF2-40B4-BE49-F238E27FC236}">
                <a16:creationId xmlns:a16="http://schemas.microsoft.com/office/drawing/2014/main" id="{1D9F648F-ED27-61E0-3358-BB0F491B59C7}"/>
              </a:ext>
            </a:extLst>
          </p:cNvPr>
          <p:cNvGrpSpPr>
            <a:grpSpLocks/>
          </p:cNvGrpSpPr>
          <p:nvPr/>
        </p:nvGrpSpPr>
        <p:grpSpPr bwMode="auto">
          <a:xfrm>
            <a:off x="366713" y="381000"/>
            <a:ext cx="649287" cy="692150"/>
            <a:chOff x="1655" y="845"/>
            <a:chExt cx="454" cy="453"/>
          </a:xfrm>
        </p:grpSpPr>
        <p:grpSp>
          <p:nvGrpSpPr>
            <p:cNvPr id="9230" name="Group 23">
              <a:extLst>
                <a:ext uri="{FF2B5EF4-FFF2-40B4-BE49-F238E27FC236}">
                  <a16:creationId xmlns:a16="http://schemas.microsoft.com/office/drawing/2014/main" id="{55617B61-61CF-8E72-D064-238E9290E8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9232" name="Oval 24">
                <a:extLst>
                  <a:ext uri="{FF2B5EF4-FFF2-40B4-BE49-F238E27FC236}">
                    <a16:creationId xmlns:a16="http://schemas.microsoft.com/office/drawing/2014/main" id="{004D6899-1A89-2FC8-AE00-4168190D3C6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3" name="Oval 25">
                <a:extLst>
                  <a:ext uri="{FF2B5EF4-FFF2-40B4-BE49-F238E27FC236}">
                    <a16:creationId xmlns:a16="http://schemas.microsoft.com/office/drawing/2014/main" id="{40C3A7E2-49FE-503F-DAD2-2954550FC26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4" name="Oval 26">
                <a:extLst>
                  <a:ext uri="{FF2B5EF4-FFF2-40B4-BE49-F238E27FC236}">
                    <a16:creationId xmlns:a16="http://schemas.microsoft.com/office/drawing/2014/main" id="{A7E744C9-48C3-DD7B-63BF-54A39EACD82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5" name="Oval 27">
                <a:extLst>
                  <a:ext uri="{FF2B5EF4-FFF2-40B4-BE49-F238E27FC236}">
                    <a16:creationId xmlns:a16="http://schemas.microsoft.com/office/drawing/2014/main" id="{B989DB93-CA31-4F79-E33C-2741DC4AFD6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6" name="Oval 28">
                <a:extLst>
                  <a:ext uri="{FF2B5EF4-FFF2-40B4-BE49-F238E27FC236}">
                    <a16:creationId xmlns:a16="http://schemas.microsoft.com/office/drawing/2014/main" id="{B784ADB9-6BC1-5A7C-CAC6-BA0BFB1620A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9231" name="Text Box 29">
              <a:extLst>
                <a:ext uri="{FF2B5EF4-FFF2-40B4-BE49-F238E27FC236}">
                  <a16:creationId xmlns:a16="http://schemas.microsoft.com/office/drawing/2014/main" id="{7785E960-909C-232F-D2EF-4F72938BCF2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66" y="902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Arial" panose="020B0604020202020204" pitchFamily="34" charset="0"/>
                </a:rPr>
                <a:t>例</a:t>
              </a: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0168688E-F7F3-196E-ACF9-6EA5A0102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2357438"/>
            <a:ext cx="493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753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9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7" name="Picture 23">
            <a:extLst>
              <a:ext uri="{FF2B5EF4-FFF2-40B4-BE49-F238E27FC236}">
                <a16:creationId xmlns:a16="http://schemas.microsoft.com/office/drawing/2014/main" id="{76E11930-809F-358B-C57D-4BDD72F3B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5251450"/>
            <a:ext cx="680085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6" name="Picture 22">
            <a:extLst>
              <a:ext uri="{FF2B5EF4-FFF2-40B4-BE49-F238E27FC236}">
                <a16:creationId xmlns:a16="http://schemas.microsoft.com/office/drawing/2014/main" id="{5F63F5C1-9A7C-D646-928A-7195C4279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628650"/>
            <a:ext cx="80899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50" name="Rectangle 14">
            <a:extLst>
              <a:ext uri="{FF2B5EF4-FFF2-40B4-BE49-F238E27FC236}">
                <a16:creationId xmlns:a16="http://schemas.microsoft.com/office/drawing/2014/main" id="{70032197-9EBB-CE9C-0252-49FE9263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347913"/>
            <a:ext cx="3960812" cy="503237"/>
          </a:xfrm>
          <a:prstGeom prst="rect">
            <a:avLst/>
          </a:prstGeom>
          <a:solidFill>
            <a:srgbClr val="E5E5FF"/>
          </a:solidFill>
          <a:ln>
            <a:noFill/>
          </a:ln>
          <a:effectLst>
            <a:prstShdw prst="shdw17" dist="17961" dir="2700000">
              <a:srgbClr val="898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利用信息相加性概念来计算：</a:t>
            </a:r>
            <a:endParaRPr lang="zh-CN" altLang="en-US" sz="3200" b="1"/>
          </a:p>
        </p:txBody>
      </p:sp>
      <p:graphicFrame>
        <p:nvGraphicFramePr>
          <p:cNvPr id="11269" name="Object 19">
            <a:extLst>
              <a:ext uri="{FF2B5EF4-FFF2-40B4-BE49-F238E27FC236}">
                <a16:creationId xmlns:a16="http://schemas.microsoft.com/office/drawing/2014/main" id="{9333D29C-8850-6849-487C-4C13562608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2525" y="5795963"/>
          <a:ext cx="18796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08696" imgH="213288" progId="Equation.DSMT4">
                  <p:embed/>
                </p:oleObj>
              </mc:Choice>
              <mc:Fallback>
                <p:oleObj name="Equation" r:id="rId5" imgW="708696" imgH="213288" progId="Equation.DSMT4">
                  <p:embed/>
                  <p:pic>
                    <p:nvPicPr>
                      <p:cNvPr id="11269" name="Object 19">
                        <a:extLst>
                          <a:ext uri="{FF2B5EF4-FFF2-40B4-BE49-F238E27FC236}">
                            <a16:creationId xmlns:a16="http://schemas.microsoft.com/office/drawing/2014/main" id="{9333D29C-8850-6849-487C-4C13562608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5795963"/>
                        <a:ext cx="1879600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999999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Oval 20">
            <a:extLst>
              <a:ext uri="{FF2B5EF4-FFF2-40B4-BE49-F238E27FC236}">
                <a16:creationId xmlns:a16="http://schemas.microsoft.com/office/drawing/2014/main" id="{70C135CD-8A9B-75E7-9656-26A904702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5132388"/>
            <a:ext cx="1181100" cy="554037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rgbClr val="969696"/>
            </a:solidFill>
            <a:round/>
            <a:headEnd/>
            <a:tailEnd/>
          </a:ln>
          <a:effectLst>
            <a:prstShdw prst="shdw17" dist="17961" dir="13500000">
              <a:srgbClr val="5A5A5A"/>
            </a:prst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评注</a:t>
            </a:r>
          </a:p>
        </p:txBody>
      </p:sp>
      <p:sp>
        <p:nvSpPr>
          <p:cNvPr id="91158" name="Rectangle 22">
            <a:extLst>
              <a:ext uri="{FF2B5EF4-FFF2-40B4-BE49-F238E27FC236}">
                <a16:creationId xmlns:a16="http://schemas.microsoft.com/office/drawing/2014/main" id="{5DFC391A-F862-68BF-65F8-6B35DB6E0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38" y="3716338"/>
            <a:ext cx="3168650" cy="503237"/>
          </a:xfrm>
          <a:prstGeom prst="rect">
            <a:avLst/>
          </a:prstGeom>
          <a:solidFill>
            <a:srgbClr val="E5E5FF"/>
          </a:solidFill>
          <a:ln>
            <a:noFill/>
          </a:ln>
          <a:effectLst>
            <a:prstShdw prst="shdw17" dist="17961" dir="2700000">
              <a:srgbClr val="898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利用</a:t>
            </a:r>
            <a:r>
              <a:rPr lang="zh-CN" altLang="en-US" sz="2400" b="1">
                <a:solidFill>
                  <a:schemeClr val="hlink"/>
                </a:solidFill>
                <a:latin typeface="宋体" panose="02010600030101010101" pitchFamily="2" charset="-122"/>
              </a:rPr>
              <a:t>熵</a:t>
            </a:r>
            <a:r>
              <a:rPr lang="zh-CN" altLang="en-US" sz="2400" b="1">
                <a:latin typeface="宋体" panose="02010600030101010101" pitchFamily="2" charset="-122"/>
              </a:rPr>
              <a:t>的概念来计算：</a:t>
            </a:r>
            <a:endParaRPr lang="zh-CN" altLang="en-US" sz="3200" b="1"/>
          </a:p>
        </p:txBody>
      </p:sp>
      <p:graphicFrame>
        <p:nvGraphicFramePr>
          <p:cNvPr id="91163" name="Object 27">
            <a:extLst>
              <a:ext uri="{FF2B5EF4-FFF2-40B4-BE49-F238E27FC236}">
                <a16:creationId xmlns:a16="http://schemas.microsoft.com/office/drawing/2014/main" id="{14DA8A06-79DF-51C9-75EB-965064974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050" y="2852738"/>
          <a:ext cx="6108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87600" imgH="228600" progId="Equation.DSMT4">
                  <p:embed/>
                </p:oleObj>
              </mc:Choice>
              <mc:Fallback>
                <p:oleObj name="Equation" r:id="rId7" imgW="2387600" imgH="228600" progId="Equation.DSMT4">
                  <p:embed/>
                  <p:pic>
                    <p:nvPicPr>
                      <p:cNvPr id="91163" name="Object 27">
                        <a:extLst>
                          <a:ext uri="{FF2B5EF4-FFF2-40B4-BE49-F238E27FC236}">
                            <a16:creationId xmlns:a16="http://schemas.microsoft.com/office/drawing/2014/main" id="{14DA8A06-79DF-51C9-75EB-9650649744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2852738"/>
                        <a:ext cx="6108700" cy="5842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BDBD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64" name="Object 28">
            <a:extLst>
              <a:ext uri="{FF2B5EF4-FFF2-40B4-BE49-F238E27FC236}">
                <a16:creationId xmlns:a16="http://schemas.microsoft.com/office/drawing/2014/main" id="{D6B031A4-249F-5A89-D98C-3B7733EF3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4292600"/>
          <a:ext cx="60483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36800" imgH="228600" progId="Equation.DSMT4">
                  <p:embed/>
                </p:oleObj>
              </mc:Choice>
              <mc:Fallback>
                <p:oleObj name="Equation" r:id="rId9" imgW="2336800" imgH="228600" progId="Equation.DSMT4">
                  <p:embed/>
                  <p:pic>
                    <p:nvPicPr>
                      <p:cNvPr id="91164" name="Object 28">
                        <a:extLst>
                          <a:ext uri="{FF2B5EF4-FFF2-40B4-BE49-F238E27FC236}">
                            <a16:creationId xmlns:a16="http://schemas.microsoft.com/office/drawing/2014/main" id="{D6B031A4-249F-5A89-D98C-3B7733EF3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292600"/>
                        <a:ext cx="6048375" cy="59213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BDBD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68" name="Object 32">
            <a:extLst>
              <a:ext uri="{FF2B5EF4-FFF2-40B4-BE49-F238E27FC236}">
                <a16:creationId xmlns:a16="http://schemas.microsoft.com/office/drawing/2014/main" id="{CFAC4190-71D5-B5CA-AB18-660517B7EC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3736975"/>
          <a:ext cx="288131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82700" imgH="215900" progId="Equation.DSMT4">
                  <p:embed/>
                </p:oleObj>
              </mc:Choice>
              <mc:Fallback>
                <p:oleObj name="Equation" r:id="rId11" imgW="1282700" imgH="215900" progId="Equation.DSMT4">
                  <p:embed/>
                  <p:pic>
                    <p:nvPicPr>
                      <p:cNvPr id="91168" name="Object 32">
                        <a:extLst>
                          <a:ext uri="{FF2B5EF4-FFF2-40B4-BE49-F238E27FC236}">
                            <a16:creationId xmlns:a16="http://schemas.microsoft.com/office/drawing/2014/main" id="{CFAC4190-71D5-B5CA-AB18-660517B7EC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736975"/>
                        <a:ext cx="2881312" cy="484188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>
            <a:extLst>
              <a:ext uri="{FF2B5EF4-FFF2-40B4-BE49-F238E27FC236}">
                <a16:creationId xmlns:a16="http://schemas.microsoft.com/office/drawing/2014/main" id="{FFE6FAAA-4FF7-EE8F-7A58-22519EF66950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379413"/>
            <a:ext cx="649288" cy="692150"/>
            <a:chOff x="1655" y="845"/>
            <a:chExt cx="454" cy="453"/>
          </a:xfrm>
        </p:grpSpPr>
        <p:grpSp>
          <p:nvGrpSpPr>
            <p:cNvPr id="10253" name="Group 23">
              <a:extLst>
                <a:ext uri="{FF2B5EF4-FFF2-40B4-BE49-F238E27FC236}">
                  <a16:creationId xmlns:a16="http://schemas.microsoft.com/office/drawing/2014/main" id="{C3F695EA-BDEC-7B80-0AE4-F2F82F6DB1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10255" name="Oval 24">
                <a:extLst>
                  <a:ext uri="{FF2B5EF4-FFF2-40B4-BE49-F238E27FC236}">
                    <a16:creationId xmlns:a16="http://schemas.microsoft.com/office/drawing/2014/main" id="{8E131445-050B-C681-C036-97BBE176B3D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56" name="Oval 25">
                <a:extLst>
                  <a:ext uri="{FF2B5EF4-FFF2-40B4-BE49-F238E27FC236}">
                    <a16:creationId xmlns:a16="http://schemas.microsoft.com/office/drawing/2014/main" id="{DFF35DF6-CD43-5493-0F4F-BBA0CF255AC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57" name="Oval 26">
                <a:extLst>
                  <a:ext uri="{FF2B5EF4-FFF2-40B4-BE49-F238E27FC236}">
                    <a16:creationId xmlns:a16="http://schemas.microsoft.com/office/drawing/2014/main" id="{1EA5AE2B-05C9-CE4E-D706-E43E74BB7E3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58" name="Oval 27">
                <a:extLst>
                  <a:ext uri="{FF2B5EF4-FFF2-40B4-BE49-F238E27FC236}">
                    <a16:creationId xmlns:a16="http://schemas.microsoft.com/office/drawing/2014/main" id="{F35ABFB5-92D9-9EE2-FEBB-A5EBE5C781A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59" name="Oval 28">
                <a:extLst>
                  <a:ext uri="{FF2B5EF4-FFF2-40B4-BE49-F238E27FC236}">
                    <a16:creationId xmlns:a16="http://schemas.microsoft.com/office/drawing/2014/main" id="{A7B6A807-7C73-5EC8-6E8E-F562F660B0C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0254" name="Text Box 29">
              <a:extLst>
                <a:ext uri="{FF2B5EF4-FFF2-40B4-BE49-F238E27FC236}">
                  <a16:creationId xmlns:a16="http://schemas.microsoft.com/office/drawing/2014/main" id="{90BA3DC5-A3B4-5095-0C46-98A1F999943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66" y="902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Arial" panose="020B0604020202020204" pitchFamily="34" charset="0"/>
                </a:rPr>
                <a:t>例</a:t>
              </a: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EDB93F68-E4D5-233E-3C1E-78C29AB9C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23574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2010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0"/>
                                        <p:tgtEl>
                                          <p:spTgt spid="9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9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0"/>
                                        <p:tgtEl>
                                          <p:spTgt spid="9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50" grpId="0" animBg="1"/>
      <p:bldP spid="3" grpId="0" animBg="1"/>
      <p:bldP spid="91158" grpId="0" animBg="1"/>
      <p:bldP spid="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AutoShape 21">
            <a:extLst>
              <a:ext uri="{FF2B5EF4-FFF2-40B4-BE49-F238E27FC236}">
                <a16:creationId xmlns:a16="http://schemas.microsoft.com/office/drawing/2014/main" id="{F6A7B7D1-73A4-0E8B-0B66-E819BF4E5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1071563"/>
            <a:ext cx="1077912" cy="568325"/>
          </a:xfrm>
          <a:prstGeom prst="flowChartAlternateProcess">
            <a:avLst/>
          </a:prstGeom>
          <a:noFill/>
          <a:ln>
            <a:noFill/>
          </a:ln>
          <a:effectLst>
            <a:prstShdw prst="shdw17" dist="17961" dir="2700000">
              <a:srgbClr val="5A5A5A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latin typeface="Arial" panose="020B0604020202020204" pitchFamily="34" charset="0"/>
              </a:rPr>
              <a:t>  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归纳：</a:t>
            </a:r>
          </a:p>
        </p:txBody>
      </p:sp>
      <p:pic>
        <p:nvPicPr>
          <p:cNvPr id="13318" name="Picture 6">
            <a:extLst>
              <a:ext uri="{FF2B5EF4-FFF2-40B4-BE49-F238E27FC236}">
                <a16:creationId xmlns:a16="http://schemas.microsoft.com/office/drawing/2014/main" id="{7797FEA5-B85B-3605-1BB8-183A7F4A9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00"/>
          <a:stretch>
            <a:fillRect/>
          </a:stretch>
        </p:blipFill>
        <p:spPr bwMode="auto">
          <a:xfrm>
            <a:off x="1984375" y="4164013"/>
            <a:ext cx="5476875" cy="215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201B4B39-3538-4A9C-0A1A-26A3F047A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75" y="1663700"/>
            <a:ext cx="5305425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10246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5AEFCEDE-2A3E-7517-4B20-9FF4A7421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8488" y="1427163"/>
            <a:ext cx="7275512" cy="4394200"/>
          </a:xfrm>
        </p:spPr>
        <p:txBody>
          <a:bodyPr/>
          <a:lstStyle/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dirty="0">
                <a:solidFill>
                  <a:srgbClr val="666699"/>
                </a:solidFill>
                <a:latin typeface="微软雅黑" pitchFamily="34" charset="-122"/>
                <a:ea typeface="微软雅黑" pitchFamily="34" charset="-122"/>
              </a:rPr>
              <a:t>基本概念        </a:t>
            </a: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endParaRPr lang="en-US" altLang="zh-CN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dirty="0">
                <a:solidFill>
                  <a:srgbClr val="666699"/>
                </a:solidFill>
                <a:latin typeface="微软雅黑" pitchFamily="34" charset="-122"/>
                <a:ea typeface="微软雅黑" pitchFamily="34" charset="-122"/>
              </a:rPr>
              <a:t>信息度量</a:t>
            </a: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         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52500" eaLnBrk="1" hangingPunct="1">
              <a:lnSpc>
                <a:spcPts val="5000"/>
              </a:lnSpc>
              <a:buClr>
                <a:srgbClr val="0000CC"/>
              </a:buClr>
              <a:buSzPct val="50000"/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性能指标</a:t>
            </a:r>
          </a:p>
          <a:p>
            <a:pPr defTabSz="952500" eaLnBrk="1" hangingPunct="1">
              <a:lnSpc>
                <a:spcPts val="4320"/>
              </a:lnSpc>
              <a:buClr>
                <a:srgbClr val="0000CC"/>
              </a:buClr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r>
              <a:rPr lang="zh-CN" altLang="en-US" sz="2000" dirty="0"/>
              <a:t>                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52500" eaLnBrk="1" hangingPunct="1">
              <a:buClr>
                <a:srgbClr val="0000CC"/>
              </a:buClr>
              <a:buFont typeface="Wingdings" panose="05000000000000000000" pitchFamily="2" charset="2"/>
              <a:buNone/>
              <a:tabLst>
                <a:tab pos="4133850" algn="l"/>
              </a:tabLst>
              <a:defRPr/>
            </a:pPr>
            <a:endParaRPr lang="en-US" altLang="zh-CN" sz="2800" dirty="0">
              <a:solidFill>
                <a:srgbClr val="A50021"/>
              </a:solidFill>
            </a:endParaRPr>
          </a:p>
        </p:txBody>
      </p:sp>
      <p:grpSp>
        <p:nvGrpSpPr>
          <p:cNvPr id="44035" name="Group 8">
            <a:extLst>
              <a:ext uri="{FF2B5EF4-FFF2-40B4-BE49-F238E27FC236}">
                <a16:creationId xmlns:a16="http://schemas.microsoft.com/office/drawing/2014/main" id="{6ED7730B-1DCF-FF34-C407-9EB33589CB7C}"/>
              </a:ext>
            </a:extLst>
          </p:cNvPr>
          <p:cNvGrpSpPr>
            <a:grpSpLocks/>
          </p:cNvGrpSpPr>
          <p:nvPr/>
        </p:nvGrpSpPr>
        <p:grpSpPr bwMode="auto">
          <a:xfrm>
            <a:off x="1612900" y="1749425"/>
            <a:ext cx="169863" cy="215900"/>
            <a:chOff x="2976" y="1008"/>
            <a:chExt cx="1056" cy="432"/>
          </a:xfrm>
        </p:grpSpPr>
        <p:sp>
          <p:nvSpPr>
            <p:cNvPr id="44045" name="Oval 9">
              <a:extLst>
                <a:ext uri="{FF2B5EF4-FFF2-40B4-BE49-F238E27FC236}">
                  <a16:creationId xmlns:a16="http://schemas.microsoft.com/office/drawing/2014/main" id="{B6373DEA-44D2-5431-CC83-5F4255809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046" name="Oval 10">
              <a:extLst>
                <a:ext uri="{FF2B5EF4-FFF2-40B4-BE49-F238E27FC236}">
                  <a16:creationId xmlns:a16="http://schemas.microsoft.com/office/drawing/2014/main" id="{AD4E1E96-5982-9BB3-6024-A194A96E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4036" name="Group 17">
            <a:extLst>
              <a:ext uri="{FF2B5EF4-FFF2-40B4-BE49-F238E27FC236}">
                <a16:creationId xmlns:a16="http://schemas.microsoft.com/office/drawing/2014/main" id="{0BE0331B-9A18-EDDE-14A3-0B7CC729BA3C}"/>
              </a:ext>
            </a:extLst>
          </p:cNvPr>
          <p:cNvGrpSpPr>
            <a:grpSpLocks/>
          </p:cNvGrpSpPr>
          <p:nvPr/>
        </p:nvGrpSpPr>
        <p:grpSpPr bwMode="auto">
          <a:xfrm>
            <a:off x="1627188" y="3176588"/>
            <a:ext cx="169862" cy="215900"/>
            <a:chOff x="2976" y="1008"/>
            <a:chExt cx="1056" cy="432"/>
          </a:xfrm>
        </p:grpSpPr>
        <p:sp>
          <p:nvSpPr>
            <p:cNvPr id="44043" name="Oval 18">
              <a:extLst>
                <a:ext uri="{FF2B5EF4-FFF2-40B4-BE49-F238E27FC236}">
                  <a16:creationId xmlns:a16="http://schemas.microsoft.com/office/drawing/2014/main" id="{5C30C79E-8983-48F6-B933-221D5AB91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044" name="Oval 19">
              <a:extLst>
                <a:ext uri="{FF2B5EF4-FFF2-40B4-BE49-F238E27FC236}">
                  <a16:creationId xmlns:a16="http://schemas.microsoft.com/office/drawing/2014/main" id="{443BB62F-25D2-4E33-4812-1A4A274A1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20">
            <a:extLst>
              <a:ext uri="{FF2B5EF4-FFF2-40B4-BE49-F238E27FC236}">
                <a16:creationId xmlns:a16="http://schemas.microsoft.com/office/drawing/2014/main" id="{F39BF13F-90F5-1C55-202A-3C7C4A1FAE44}"/>
              </a:ext>
            </a:extLst>
          </p:cNvPr>
          <p:cNvGrpSpPr>
            <a:grpSpLocks/>
          </p:cNvGrpSpPr>
          <p:nvPr/>
        </p:nvGrpSpPr>
        <p:grpSpPr bwMode="auto">
          <a:xfrm>
            <a:off x="1627188" y="4605338"/>
            <a:ext cx="169862" cy="215900"/>
            <a:chOff x="2976" y="1008"/>
            <a:chExt cx="1056" cy="432"/>
          </a:xfrm>
        </p:grpSpPr>
        <p:sp>
          <p:nvSpPr>
            <p:cNvPr id="44041" name="Oval 21">
              <a:extLst>
                <a:ext uri="{FF2B5EF4-FFF2-40B4-BE49-F238E27FC236}">
                  <a16:creationId xmlns:a16="http://schemas.microsoft.com/office/drawing/2014/main" id="{16A639E9-C510-1C6B-750F-5947B52B2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042" name="Oval 22">
              <a:extLst>
                <a:ext uri="{FF2B5EF4-FFF2-40B4-BE49-F238E27FC236}">
                  <a16:creationId xmlns:a16="http://schemas.microsoft.com/office/drawing/2014/main" id="{1346ADA8-C44E-867D-65AF-3095DC6E9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" name="Rectangle 2">
            <a:extLst>
              <a:ext uri="{FF2B5EF4-FFF2-40B4-BE49-F238E27FC236}">
                <a16:creationId xmlns:a16="http://schemas.microsoft.com/office/drawing/2014/main" id="{4774D2B7-41D2-FAAD-3792-3EFBDC3AA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1892300"/>
            <a:ext cx="5000625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模型</a:t>
            </a:r>
            <a:r>
              <a:rPr lang="en-US" altLang="zh-C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分类</a:t>
            </a:r>
            <a:r>
              <a:rPr lang="en-US" altLang="zh-C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通信方式</a:t>
            </a:r>
            <a:endParaRPr lang="en-US" altLang="zh-CN" sz="24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endParaRPr lang="en-US" altLang="zh-CN" sz="28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信息量</a:t>
            </a:r>
            <a:r>
              <a:rPr lang="en-US" altLang="zh-C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信源熵 </a:t>
            </a:r>
            <a:endParaRPr lang="en-US" altLang="zh-CN" sz="24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endParaRPr lang="en-US" altLang="zh-CN" sz="28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952500" eaLnBrk="1" hangingPunct="1">
              <a:lnSpc>
                <a:spcPts val="5200"/>
              </a:lnSpc>
              <a:spcBef>
                <a:spcPct val="20000"/>
              </a:spcBef>
              <a:buClr>
                <a:srgbClr val="0000CC"/>
              </a:buClr>
              <a:buSzPct val="50000"/>
              <a:buFont typeface="Wingdings" pitchFamily="2" charset="2"/>
              <a:buNone/>
              <a:tabLst>
                <a:tab pos="4133850" algn="l"/>
              </a:tabLst>
              <a:defRPr/>
            </a:pP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有效性</a:t>
            </a:r>
            <a:r>
              <a:rPr lang="en-US" altLang="zh-C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可靠性</a:t>
            </a:r>
            <a:endParaRPr lang="en-US" altLang="zh-CN" sz="2400" kern="0" dirty="0">
              <a:solidFill>
                <a:srgbClr val="A50021"/>
              </a:solidFill>
              <a:latin typeface="+mn-ea"/>
              <a:ea typeface="+mn-ea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671F263-46DB-1255-061C-357A633A6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100"/>
            <a:ext cx="2928938" cy="70802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4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3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r>
              <a:rPr lang="en-US" altLang="zh-CN" sz="3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endParaRPr lang="zh-CN" altLang="en-US" sz="3600" dirty="0">
              <a:solidFill>
                <a:schemeClr val="bg1"/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89CE317-FE84-5FAA-8C4C-3FA09C3CB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425450"/>
            <a:ext cx="2286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章  绪 论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Arial" pitchFamily="34" charset="0"/>
              </a:rPr>
              <a:t> 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3196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53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5BC5BDC1-6C39-5C95-AC9A-40C8BCE44F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527300" y="3497263"/>
            <a:ext cx="6045200" cy="7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4400" b="1">
                <a:solidFill>
                  <a:srgbClr val="003399"/>
                </a:solidFill>
                <a:latin typeface="Arial" charset="0"/>
                <a:ea typeface="微软雅黑" pitchFamily="34" charset="-122"/>
                <a:cs typeface="Arial" charset="0"/>
              </a:rPr>
              <a:t>通信系统</a:t>
            </a:r>
            <a:r>
              <a:rPr lang="zh-CN" altLang="en-US" sz="4400" b="1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性能指标</a:t>
            </a:r>
            <a:endParaRPr lang="zh-CN" altLang="en-US" sz="4400" b="1">
              <a:solidFill>
                <a:srgbClr val="003399"/>
              </a:solidFill>
              <a:latin typeface="楷体_GB2312" pitchFamily="49" charset="-122"/>
              <a:ea typeface="微软雅黑" pitchFamily="34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86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Oval 13">
            <a:extLst>
              <a:ext uri="{FF2B5EF4-FFF2-40B4-BE49-F238E27FC236}">
                <a16:creationId xmlns:a16="http://schemas.microsoft.com/office/drawing/2014/main" id="{28C64129-AF23-C54F-84C9-DF1A4E31A614}"/>
              </a:ext>
            </a:extLst>
          </p:cNvPr>
          <p:cNvSpPr>
            <a:spLocks noChangeArrowheads="1"/>
          </p:cNvSpPr>
          <p:nvPr/>
        </p:nvSpPr>
        <p:spPr bwMode="auto">
          <a:xfrm rot="-70674">
            <a:off x="4721225" y="1260475"/>
            <a:ext cx="544513" cy="252413"/>
          </a:xfrm>
          <a:prstGeom prst="ellipse">
            <a:avLst/>
          </a:prstGeom>
          <a:gradFill rotWithShape="1">
            <a:gsLst>
              <a:gs pos="0">
                <a:srgbClr val="FFFFFF">
                  <a:alpha val="87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65">
            <a:extLst>
              <a:ext uri="{FF2B5EF4-FFF2-40B4-BE49-F238E27FC236}">
                <a16:creationId xmlns:a16="http://schemas.microsoft.com/office/drawing/2014/main" id="{E50A1058-7235-440D-998B-ADA02A20918D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1250950"/>
            <a:ext cx="1595437" cy="1725613"/>
            <a:chOff x="2381" y="892"/>
            <a:chExt cx="1005" cy="1087"/>
          </a:xfrm>
        </p:grpSpPr>
        <p:sp>
          <p:nvSpPr>
            <p:cNvPr id="46123" name="Oval 8">
              <a:extLst>
                <a:ext uri="{FF2B5EF4-FFF2-40B4-BE49-F238E27FC236}">
                  <a16:creationId xmlns:a16="http://schemas.microsoft.com/office/drawing/2014/main" id="{2829A738-11B2-6150-913D-79A9348B9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854"/>
              <a:ext cx="736" cy="125"/>
            </a:xfrm>
            <a:prstGeom prst="ellipse">
              <a:avLst/>
            </a:prstGeom>
            <a:gradFill rotWithShape="0">
              <a:gsLst>
                <a:gs pos="0">
                  <a:srgbClr val="080808">
                    <a:alpha val="39998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24" name="Oval 11">
              <a:extLst>
                <a:ext uri="{FF2B5EF4-FFF2-40B4-BE49-F238E27FC236}">
                  <a16:creationId xmlns:a16="http://schemas.microsoft.com/office/drawing/2014/main" id="{F968ED50-AF74-BAD3-DA95-2ACFD7D1D4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0674">
              <a:off x="2381" y="892"/>
              <a:ext cx="1005" cy="1038"/>
            </a:xfrm>
            <a:prstGeom prst="ellipse">
              <a:avLst/>
            </a:prstGeom>
            <a:solidFill>
              <a:srgbClr val="CCCCFF"/>
            </a:solidFill>
            <a:ln w="0" algn="ctr">
              <a:solidFill>
                <a:srgbClr val="6666FF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25" name="Oval 12">
              <a:extLst>
                <a:ext uri="{FF2B5EF4-FFF2-40B4-BE49-F238E27FC236}">
                  <a16:creationId xmlns:a16="http://schemas.microsoft.com/office/drawing/2014/main" id="{05E06C4A-1B9B-126C-D125-95CD88F69A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0674">
              <a:off x="2525" y="901"/>
              <a:ext cx="699" cy="429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alpha val="8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26" name="Oval 14">
              <a:extLst>
                <a:ext uri="{FF2B5EF4-FFF2-40B4-BE49-F238E27FC236}">
                  <a16:creationId xmlns:a16="http://schemas.microsoft.com/office/drawing/2014/main" id="{22AD1DF7-FA62-27B6-36CC-50672E79A8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7280">
              <a:off x="2447" y="1298"/>
              <a:ext cx="873" cy="626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29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34210" name="Freeform 34">
            <a:extLst>
              <a:ext uri="{FF2B5EF4-FFF2-40B4-BE49-F238E27FC236}">
                <a16:creationId xmlns:a16="http://schemas.microsoft.com/office/drawing/2014/main" id="{A4D4A0A3-E3CE-1A9C-2F74-7E99EC065696}"/>
              </a:ext>
            </a:extLst>
          </p:cNvPr>
          <p:cNvSpPr>
            <a:spLocks/>
          </p:cNvSpPr>
          <p:nvPr/>
        </p:nvSpPr>
        <p:spPr bwMode="auto">
          <a:xfrm>
            <a:off x="5292725" y="1679575"/>
            <a:ext cx="769938" cy="720725"/>
          </a:xfrm>
          <a:custGeom>
            <a:avLst/>
            <a:gdLst>
              <a:gd name="T0" fmla="*/ 2147483647 w 46"/>
              <a:gd name="T1" fmla="*/ 0 h 43"/>
              <a:gd name="T2" fmla="*/ 2147483647 w 46"/>
              <a:gd name="T3" fmla="*/ 2147483647 h 43"/>
              <a:gd name="T4" fmla="*/ 2147483647 w 46"/>
              <a:gd name="T5" fmla="*/ 2147483647 h 43"/>
              <a:gd name="T6" fmla="*/ 2147483647 w 46"/>
              <a:gd name="T7" fmla="*/ 2147483647 h 43"/>
              <a:gd name="T8" fmla="*/ 2147483647 w 46"/>
              <a:gd name="T9" fmla="*/ 2147483647 h 43"/>
              <a:gd name="T10" fmla="*/ 2147483647 w 46"/>
              <a:gd name="T11" fmla="*/ 2147483647 h 43"/>
              <a:gd name="T12" fmla="*/ 0 w 46"/>
              <a:gd name="T13" fmla="*/ 2147483647 h 43"/>
              <a:gd name="T14" fmla="*/ 2147483647 w 46"/>
              <a:gd name="T15" fmla="*/ 0 h 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43"/>
              <a:gd name="T26" fmla="*/ 46 w 46"/>
              <a:gd name="T27" fmla="*/ 43 h 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79797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211" name="Freeform 35">
            <a:extLst>
              <a:ext uri="{FF2B5EF4-FFF2-40B4-BE49-F238E27FC236}">
                <a16:creationId xmlns:a16="http://schemas.microsoft.com/office/drawing/2014/main" id="{DEF684B5-B2A4-B02D-DE76-BD09099C22A8}"/>
              </a:ext>
            </a:extLst>
          </p:cNvPr>
          <p:cNvSpPr>
            <a:spLocks/>
          </p:cNvSpPr>
          <p:nvPr/>
        </p:nvSpPr>
        <p:spPr bwMode="auto">
          <a:xfrm>
            <a:off x="3051175" y="1708150"/>
            <a:ext cx="771525" cy="720725"/>
          </a:xfrm>
          <a:custGeom>
            <a:avLst/>
            <a:gdLst>
              <a:gd name="T0" fmla="*/ 2147483647 w 46"/>
              <a:gd name="T1" fmla="*/ 0 h 43"/>
              <a:gd name="T2" fmla="*/ 2147483647 w 46"/>
              <a:gd name="T3" fmla="*/ 2147483647 h 43"/>
              <a:gd name="T4" fmla="*/ 2147483647 w 46"/>
              <a:gd name="T5" fmla="*/ 2147483647 h 43"/>
              <a:gd name="T6" fmla="*/ 0 w 46"/>
              <a:gd name="T7" fmla="*/ 2147483647 h 43"/>
              <a:gd name="T8" fmla="*/ 2147483647 w 46"/>
              <a:gd name="T9" fmla="*/ 2147483647 h 43"/>
              <a:gd name="T10" fmla="*/ 2147483647 w 46"/>
              <a:gd name="T11" fmla="*/ 2147483647 h 43"/>
              <a:gd name="T12" fmla="*/ 2147483647 w 46"/>
              <a:gd name="T13" fmla="*/ 2147483647 h 43"/>
              <a:gd name="T14" fmla="*/ 2147483647 w 46"/>
              <a:gd name="T15" fmla="*/ 0 h 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43"/>
              <a:gd name="T26" fmla="*/ 46 w 46"/>
              <a:gd name="T27" fmla="*/ 43 h 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43">
                <a:moveTo>
                  <a:pt x="42" y="0"/>
                </a:moveTo>
                <a:cubicBezTo>
                  <a:pt x="42" y="0"/>
                  <a:pt x="22" y="13"/>
                  <a:pt x="11" y="15"/>
                </a:cubicBezTo>
                <a:lnTo>
                  <a:pt x="16" y="6"/>
                </a:lnTo>
                <a:lnTo>
                  <a:pt x="0" y="22"/>
                </a:lnTo>
                <a:lnTo>
                  <a:pt x="19" y="40"/>
                </a:lnTo>
                <a:lnTo>
                  <a:pt x="12" y="30"/>
                </a:lnTo>
                <a:cubicBezTo>
                  <a:pt x="12" y="30"/>
                  <a:pt x="40" y="33"/>
                  <a:pt x="46" y="43"/>
                </a:cubicBezTo>
                <a:lnTo>
                  <a:pt x="42" y="0"/>
                </a:lnTo>
              </a:path>
            </a:pathLst>
          </a:custGeom>
          <a:gradFill rotWithShape="0">
            <a:gsLst>
              <a:gs pos="0">
                <a:srgbClr val="797979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36">
            <a:extLst>
              <a:ext uri="{FF2B5EF4-FFF2-40B4-BE49-F238E27FC236}">
                <a16:creationId xmlns:a16="http://schemas.microsoft.com/office/drawing/2014/main" id="{34CAEA02-A801-CDD4-2357-C327382F7788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979863"/>
            <a:ext cx="2952750" cy="2663825"/>
            <a:chOff x="732" y="2584"/>
            <a:chExt cx="1129" cy="1337"/>
          </a:xfrm>
        </p:grpSpPr>
        <p:grpSp>
          <p:nvGrpSpPr>
            <p:cNvPr id="46114" name="Group 37">
              <a:extLst>
                <a:ext uri="{FF2B5EF4-FFF2-40B4-BE49-F238E27FC236}">
                  <a16:creationId xmlns:a16="http://schemas.microsoft.com/office/drawing/2014/main" id="{6512F5B0-BB83-BACC-E75A-632D7FA03B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2" y="2584"/>
              <a:ext cx="1129" cy="1056"/>
              <a:chOff x="1606" y="1213"/>
              <a:chExt cx="1129" cy="1056"/>
            </a:xfrm>
          </p:grpSpPr>
          <p:sp>
            <p:nvSpPr>
              <p:cNvPr id="48164" name="Rectangle 38">
                <a:extLst>
                  <a:ext uri="{FF2B5EF4-FFF2-40B4-BE49-F238E27FC236}">
                    <a16:creationId xmlns:a16="http://schemas.microsoft.com/office/drawing/2014/main" id="{16E448AE-11DE-BDBF-2241-B2C1AF5E5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" y="1519"/>
                <a:ext cx="1119" cy="750"/>
              </a:xfrm>
              <a:prstGeom prst="rect">
                <a:avLst/>
              </a:prstGeom>
              <a:gradFill rotWithShape="0">
                <a:gsLst>
                  <a:gs pos="0">
                    <a:srgbClr val="EBEBEB"/>
                  </a:gs>
                  <a:gs pos="100000">
                    <a:srgbClr val="B0B0B0"/>
                  </a:gs>
                </a:gsLst>
                <a:lin ang="2700000" scaled="1"/>
              </a:gradFill>
              <a:ln w="0" algn="ctr">
                <a:noFill/>
                <a:miter lim="800000"/>
                <a:headEnd/>
                <a:tailEnd/>
              </a:ln>
              <a:effectLst>
                <a:outerShdw dist="53882" dir="2700000" algn="ctr" rotWithShape="0">
                  <a:srgbClr val="5F5F5F"/>
                </a:out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8165" name="Rectangle 39">
                <a:extLst>
                  <a:ext uri="{FF2B5EF4-FFF2-40B4-BE49-F238E27FC236}">
                    <a16:creationId xmlns:a16="http://schemas.microsoft.com/office/drawing/2014/main" id="{B0D7895B-5A91-A1A1-1B5F-282A2B8A8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7" y="1213"/>
                <a:ext cx="1119" cy="264"/>
              </a:xfrm>
              <a:prstGeom prst="rect">
                <a:avLst/>
              </a:prstGeom>
              <a:gradFill rotWithShape="0">
                <a:gsLst>
                  <a:gs pos="0">
                    <a:srgbClr val="D7D7D7"/>
                  </a:gs>
                  <a:gs pos="100000">
                    <a:srgbClr val="686868"/>
                  </a:gs>
                </a:gsLst>
                <a:lin ang="5400000" scaled="1"/>
              </a:gradFill>
              <a:ln w="9525" algn="ctr">
                <a:noFill/>
                <a:miter lim="800000"/>
                <a:headEnd/>
                <a:tailEnd/>
              </a:ln>
              <a:effectLst>
                <a:outerShdw dist="28398" dir="3806097" algn="ctr" rotWithShape="0">
                  <a:srgbClr val="333333"/>
                </a:outerShdw>
              </a:effec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6118" name="Freeform 40">
                <a:extLst>
                  <a:ext uri="{FF2B5EF4-FFF2-40B4-BE49-F238E27FC236}">
                    <a16:creationId xmlns:a16="http://schemas.microsoft.com/office/drawing/2014/main" id="{016A23AC-4F7F-F3C3-7A3D-DFADA3CDF1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1234"/>
                <a:ext cx="73" cy="222"/>
              </a:xfrm>
              <a:custGeom>
                <a:avLst/>
                <a:gdLst>
                  <a:gd name="T0" fmla="*/ 2147483647 w 7"/>
                  <a:gd name="T1" fmla="*/ 0 h 21"/>
                  <a:gd name="T2" fmla="*/ 2147483647 w 7"/>
                  <a:gd name="T3" fmla="*/ 2147483647 h 21"/>
                  <a:gd name="T4" fmla="*/ 0 w 7"/>
                  <a:gd name="T5" fmla="*/ 2147483647 h 21"/>
                  <a:gd name="T6" fmla="*/ 2147483647 w 7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21"/>
                  <a:gd name="T14" fmla="*/ 7 w 7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21">
                    <a:moveTo>
                      <a:pt x="7" y="0"/>
                    </a:moveTo>
                    <a:lnTo>
                      <a:pt x="7" y="21"/>
                    </a:lnTo>
                    <a:cubicBezTo>
                      <a:pt x="3" y="19"/>
                      <a:pt x="0" y="15"/>
                      <a:pt x="0" y="11"/>
                    </a:cubicBezTo>
                    <a:cubicBezTo>
                      <a:pt x="0" y="6"/>
                      <a:pt x="3" y="3"/>
                      <a:pt x="7" y="0"/>
                    </a:cubicBezTo>
                  </a:path>
                </a:pathLst>
              </a:custGeom>
              <a:gradFill rotWithShape="0">
                <a:gsLst>
                  <a:gs pos="0">
                    <a:srgbClr val="C3C3C3"/>
                  </a:gs>
                  <a:gs pos="100000">
                    <a:srgbClr val="68686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19" name="Freeform 41">
                <a:extLst>
                  <a:ext uri="{FF2B5EF4-FFF2-40B4-BE49-F238E27FC236}">
                    <a16:creationId xmlns:a16="http://schemas.microsoft.com/office/drawing/2014/main" id="{EC3C78E9-C2E2-D99F-58DF-449A46C3A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" y="1234"/>
                <a:ext cx="74" cy="232"/>
              </a:xfrm>
              <a:custGeom>
                <a:avLst/>
                <a:gdLst>
                  <a:gd name="T0" fmla="*/ 0 w 7"/>
                  <a:gd name="T1" fmla="*/ 2147483647 h 22"/>
                  <a:gd name="T2" fmla="*/ 0 w 7"/>
                  <a:gd name="T3" fmla="*/ 0 h 22"/>
                  <a:gd name="T4" fmla="*/ 2147483647 w 7"/>
                  <a:gd name="T5" fmla="*/ 2147483647 h 22"/>
                  <a:gd name="T6" fmla="*/ 0 w 7"/>
                  <a:gd name="T7" fmla="*/ 2147483647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22"/>
                  <a:gd name="T14" fmla="*/ 7 w 7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22">
                    <a:moveTo>
                      <a:pt x="0" y="22"/>
                    </a:moveTo>
                    <a:lnTo>
                      <a:pt x="0" y="0"/>
                    </a:lnTo>
                    <a:cubicBezTo>
                      <a:pt x="4" y="2"/>
                      <a:pt x="7" y="6"/>
                      <a:pt x="7" y="11"/>
                    </a:cubicBezTo>
                    <a:cubicBezTo>
                      <a:pt x="7" y="15"/>
                      <a:pt x="4" y="19"/>
                      <a:pt x="0" y="22"/>
                    </a:cubicBezTo>
                  </a:path>
                </a:pathLst>
              </a:custGeom>
              <a:gradFill rotWithShape="0">
                <a:gsLst>
                  <a:gs pos="0">
                    <a:srgbClr val="C3C3C3"/>
                  </a:gs>
                  <a:gs pos="100000">
                    <a:srgbClr val="686868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0" name="Freeform 42">
                <a:extLst>
                  <a:ext uri="{FF2B5EF4-FFF2-40B4-BE49-F238E27FC236}">
                    <a16:creationId xmlns:a16="http://schemas.microsoft.com/office/drawing/2014/main" id="{122D92E0-0B02-74E2-DC30-2E812D771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6" y="1234"/>
                <a:ext cx="1109" cy="63"/>
              </a:xfrm>
              <a:custGeom>
                <a:avLst/>
                <a:gdLst>
                  <a:gd name="T0" fmla="*/ 0 w 105"/>
                  <a:gd name="T1" fmla="*/ 0 h 6"/>
                  <a:gd name="T2" fmla="*/ 2147483647 w 105"/>
                  <a:gd name="T3" fmla="*/ 0 h 6"/>
                  <a:gd name="T4" fmla="*/ 2147483647 w 105"/>
                  <a:gd name="T5" fmla="*/ 2147483647 h 6"/>
                  <a:gd name="T6" fmla="*/ 2147483647 w 105"/>
                  <a:gd name="T7" fmla="*/ 2147483647 h 6"/>
                  <a:gd name="T8" fmla="*/ 0 w 10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"/>
                  <a:gd name="T16" fmla="*/ 0 h 6"/>
                  <a:gd name="T17" fmla="*/ 105 w 10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" h="6">
                    <a:moveTo>
                      <a:pt x="0" y="0"/>
                    </a:moveTo>
                    <a:lnTo>
                      <a:pt x="105" y="0"/>
                    </a:lnTo>
                    <a:cubicBezTo>
                      <a:pt x="103" y="2"/>
                      <a:pt x="101" y="4"/>
                      <a:pt x="100" y="6"/>
                    </a:cubicBezTo>
                    <a:lnTo>
                      <a:pt x="5" y="6"/>
                    </a:lnTo>
                    <a:cubicBezTo>
                      <a:pt x="4" y="4"/>
                      <a:pt x="2" y="2"/>
                      <a:pt x="0" y="0"/>
                    </a:cubicBez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1" name="Rectangle 43">
                <a:extLst>
                  <a:ext uri="{FF2B5EF4-FFF2-40B4-BE49-F238E27FC236}">
                    <a16:creationId xmlns:a16="http://schemas.microsoft.com/office/drawing/2014/main" id="{41697C82-043A-D7A8-67A4-66077B310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" y="1519"/>
                <a:ext cx="1119" cy="43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122" name="Freeform 44">
                <a:extLst>
                  <a:ext uri="{FF2B5EF4-FFF2-40B4-BE49-F238E27FC236}">
                    <a16:creationId xmlns:a16="http://schemas.microsoft.com/office/drawing/2014/main" id="{389B7420-33D4-A07C-E859-A7F9EAE7B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" y="1519"/>
                <a:ext cx="1129" cy="465"/>
              </a:xfrm>
              <a:custGeom>
                <a:avLst/>
                <a:gdLst>
                  <a:gd name="T0" fmla="*/ 0 w 107"/>
                  <a:gd name="T1" fmla="*/ 0 h 44"/>
                  <a:gd name="T2" fmla="*/ 2147483647 w 107"/>
                  <a:gd name="T3" fmla="*/ 0 h 44"/>
                  <a:gd name="T4" fmla="*/ 2147483647 w 107"/>
                  <a:gd name="T5" fmla="*/ 2147483647 h 44"/>
                  <a:gd name="T6" fmla="*/ 2147483647 w 107"/>
                  <a:gd name="T7" fmla="*/ 2147483647 h 44"/>
                  <a:gd name="T8" fmla="*/ 0 w 107"/>
                  <a:gd name="T9" fmla="*/ 2147483647 h 44"/>
                  <a:gd name="T10" fmla="*/ 0 w 107"/>
                  <a:gd name="T11" fmla="*/ 0 h 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7"/>
                  <a:gd name="T19" fmla="*/ 0 h 44"/>
                  <a:gd name="T20" fmla="*/ 107 w 107"/>
                  <a:gd name="T21" fmla="*/ 44 h 4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7" h="44">
                    <a:moveTo>
                      <a:pt x="0" y="0"/>
                    </a:moveTo>
                    <a:lnTo>
                      <a:pt x="107" y="0"/>
                    </a:lnTo>
                    <a:lnTo>
                      <a:pt x="107" y="27"/>
                    </a:lnTo>
                    <a:cubicBezTo>
                      <a:pt x="94" y="20"/>
                      <a:pt x="79" y="16"/>
                      <a:pt x="63" y="16"/>
                    </a:cubicBezTo>
                    <a:cubicBezTo>
                      <a:pt x="38" y="16"/>
                      <a:pt x="15" y="27"/>
                      <a:pt x="0" y="44"/>
                    </a:cubicBez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FFFFFF">
                      <a:alpha val="67998"/>
                    </a:srgb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6115" name="Rectangle 45">
              <a:extLst>
                <a:ext uri="{FF2B5EF4-FFF2-40B4-BE49-F238E27FC236}">
                  <a16:creationId xmlns:a16="http://schemas.microsoft.com/office/drawing/2014/main" id="{752C6889-749D-88BD-CDFC-19ADD5096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3697"/>
              <a:ext cx="1112" cy="224"/>
            </a:xfrm>
            <a:prstGeom prst="rect">
              <a:avLst/>
            </a:prstGeom>
            <a:gradFill rotWithShape="0">
              <a:gsLst>
                <a:gs pos="0">
                  <a:srgbClr val="CECECE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34224" name="Rectangle 48">
            <a:extLst>
              <a:ext uri="{FF2B5EF4-FFF2-40B4-BE49-F238E27FC236}">
                <a16:creationId xmlns:a16="http://schemas.microsoft.com/office/drawing/2014/main" id="{0BCF2912-7A6F-E2C2-FB04-83017C9C9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627188"/>
            <a:ext cx="1776412" cy="989012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100000">
                <a:srgbClr val="B0B0B0"/>
              </a:gs>
            </a:gsLst>
            <a:lin ang="2700000" scaled="1"/>
          </a:gradFill>
          <a:ln w="0" algn="ctr">
            <a:noFill/>
            <a:miter lim="800000"/>
            <a:headEnd/>
            <a:tailEnd/>
          </a:ln>
          <a:effectLst>
            <a:outerShdw dist="53882" dir="2700000" algn="ctr" rotWithShape="0">
              <a:srgbClr val="5F5F5F"/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34229" name="Rectangle 53">
            <a:extLst>
              <a:ext uri="{FF2B5EF4-FFF2-40B4-BE49-F238E27FC236}">
                <a16:creationId xmlns:a16="http://schemas.microsoft.com/office/drawing/2014/main" id="{2B497263-FF25-20CE-C703-399CCD8EA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611313"/>
            <a:ext cx="1776412" cy="68262"/>
          </a:xfrm>
          <a:prstGeom prst="rect">
            <a:avLst/>
          </a:prstGeom>
          <a:solidFill>
            <a:srgbClr val="757575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4230" name="Freeform 54">
            <a:extLst>
              <a:ext uri="{FF2B5EF4-FFF2-40B4-BE49-F238E27FC236}">
                <a16:creationId xmlns:a16="http://schemas.microsoft.com/office/drawing/2014/main" id="{18B4F60D-58FE-4657-19A0-1BAF0C967531}"/>
              </a:ext>
            </a:extLst>
          </p:cNvPr>
          <p:cNvSpPr>
            <a:spLocks/>
          </p:cNvSpPr>
          <p:nvPr/>
        </p:nvSpPr>
        <p:spPr bwMode="auto">
          <a:xfrm>
            <a:off x="6084888" y="1517650"/>
            <a:ext cx="1792287" cy="738188"/>
          </a:xfrm>
          <a:custGeom>
            <a:avLst/>
            <a:gdLst>
              <a:gd name="T0" fmla="*/ 0 w 107"/>
              <a:gd name="T1" fmla="*/ 0 h 44"/>
              <a:gd name="T2" fmla="*/ 2147483647 w 107"/>
              <a:gd name="T3" fmla="*/ 0 h 44"/>
              <a:gd name="T4" fmla="*/ 2147483647 w 107"/>
              <a:gd name="T5" fmla="*/ 2147483647 h 44"/>
              <a:gd name="T6" fmla="*/ 2147483647 w 107"/>
              <a:gd name="T7" fmla="*/ 2147483647 h 44"/>
              <a:gd name="T8" fmla="*/ 0 w 107"/>
              <a:gd name="T9" fmla="*/ 2147483647 h 44"/>
              <a:gd name="T10" fmla="*/ 0 w 107"/>
              <a:gd name="T11" fmla="*/ 0 h 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44"/>
              <a:gd name="T20" fmla="*/ 107 w 107"/>
              <a:gd name="T21" fmla="*/ 44 h 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44">
                <a:moveTo>
                  <a:pt x="0" y="0"/>
                </a:moveTo>
                <a:lnTo>
                  <a:pt x="107" y="0"/>
                </a:lnTo>
                <a:lnTo>
                  <a:pt x="107" y="27"/>
                </a:lnTo>
                <a:cubicBezTo>
                  <a:pt x="94" y="20"/>
                  <a:pt x="79" y="16"/>
                  <a:pt x="63" y="16"/>
                </a:cubicBezTo>
                <a:cubicBezTo>
                  <a:pt x="38" y="16"/>
                  <a:pt x="15" y="27"/>
                  <a:pt x="0" y="44"/>
                </a:cubicBezTo>
                <a:lnTo>
                  <a:pt x="0" y="0"/>
                </a:lnTo>
              </a:path>
            </a:pathLst>
          </a:custGeom>
          <a:gradFill rotWithShape="1">
            <a:gsLst>
              <a:gs pos="0">
                <a:srgbClr val="FFFFFF">
                  <a:alpha val="67998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235" name="Text Box 59">
            <a:extLst>
              <a:ext uri="{FF2B5EF4-FFF2-40B4-BE49-F238E27FC236}">
                <a16:creationId xmlns:a16="http://schemas.microsoft.com/office/drawing/2014/main" id="{C340EE5E-1CAF-3FC2-7711-BEA940AFF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638" y="1808163"/>
            <a:ext cx="1425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hlink"/>
                </a:solidFill>
                <a:latin typeface="Arial" panose="020B0604020202020204" pitchFamily="34" charset="0"/>
              </a:rPr>
              <a:t>可靠性</a:t>
            </a:r>
          </a:p>
        </p:txBody>
      </p:sp>
      <p:sp>
        <p:nvSpPr>
          <p:cNvPr id="46093" name="Text Box 36">
            <a:extLst>
              <a:ext uri="{FF2B5EF4-FFF2-40B4-BE49-F238E27FC236}">
                <a16:creationId xmlns:a16="http://schemas.microsoft.com/office/drawing/2014/main" id="{D5AB530A-946F-B148-9023-BB4F945D8C6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081463" y="360363"/>
            <a:ext cx="10445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5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434243" name="Rectangle 67">
            <a:extLst>
              <a:ext uri="{FF2B5EF4-FFF2-40B4-BE49-F238E27FC236}">
                <a16:creationId xmlns:a16="http://schemas.microsoft.com/office/drawing/2014/main" id="{42AFA45F-4251-42A2-3AFF-083DDA5AC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388" y="1679575"/>
            <a:ext cx="1776412" cy="935038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100000">
                <a:srgbClr val="B0B0B0"/>
              </a:gs>
            </a:gsLst>
            <a:lin ang="2700000" scaled="1"/>
          </a:gradFill>
          <a:ln w="0" algn="ctr">
            <a:noFill/>
            <a:miter lim="800000"/>
            <a:headEnd/>
            <a:tailEnd/>
          </a:ln>
          <a:effectLst>
            <a:outerShdw dist="53882" dir="2700000" algn="ctr" rotWithShape="0">
              <a:srgbClr val="5F5F5F"/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34244" name="Rectangle 68">
            <a:extLst>
              <a:ext uri="{FF2B5EF4-FFF2-40B4-BE49-F238E27FC236}">
                <a16:creationId xmlns:a16="http://schemas.microsoft.com/office/drawing/2014/main" id="{64B7B04E-B374-AAC0-E2A3-1C85197FC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388" y="1668463"/>
            <a:ext cx="1776412" cy="68262"/>
          </a:xfrm>
          <a:prstGeom prst="rect">
            <a:avLst/>
          </a:prstGeom>
          <a:solidFill>
            <a:srgbClr val="757575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4245" name="Freeform 69">
            <a:extLst>
              <a:ext uri="{FF2B5EF4-FFF2-40B4-BE49-F238E27FC236}">
                <a16:creationId xmlns:a16="http://schemas.microsoft.com/office/drawing/2014/main" id="{BC9789A5-BF80-694B-C035-8BEF65B998DB}"/>
              </a:ext>
            </a:extLst>
          </p:cNvPr>
          <p:cNvSpPr>
            <a:spLocks/>
          </p:cNvSpPr>
          <p:nvPr/>
        </p:nvSpPr>
        <p:spPr bwMode="auto">
          <a:xfrm>
            <a:off x="1195388" y="1619250"/>
            <a:ext cx="1792287" cy="738188"/>
          </a:xfrm>
          <a:custGeom>
            <a:avLst/>
            <a:gdLst>
              <a:gd name="T0" fmla="*/ 0 w 107"/>
              <a:gd name="T1" fmla="*/ 0 h 44"/>
              <a:gd name="T2" fmla="*/ 2147483647 w 107"/>
              <a:gd name="T3" fmla="*/ 0 h 44"/>
              <a:gd name="T4" fmla="*/ 2147483647 w 107"/>
              <a:gd name="T5" fmla="*/ 2147483647 h 44"/>
              <a:gd name="T6" fmla="*/ 2147483647 w 107"/>
              <a:gd name="T7" fmla="*/ 2147483647 h 44"/>
              <a:gd name="T8" fmla="*/ 0 w 107"/>
              <a:gd name="T9" fmla="*/ 2147483647 h 44"/>
              <a:gd name="T10" fmla="*/ 0 w 107"/>
              <a:gd name="T11" fmla="*/ 0 h 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44"/>
              <a:gd name="T20" fmla="*/ 107 w 107"/>
              <a:gd name="T21" fmla="*/ 44 h 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44">
                <a:moveTo>
                  <a:pt x="0" y="0"/>
                </a:moveTo>
                <a:lnTo>
                  <a:pt x="107" y="0"/>
                </a:lnTo>
                <a:lnTo>
                  <a:pt x="107" y="27"/>
                </a:lnTo>
                <a:cubicBezTo>
                  <a:pt x="94" y="20"/>
                  <a:pt x="79" y="16"/>
                  <a:pt x="63" y="16"/>
                </a:cubicBezTo>
                <a:cubicBezTo>
                  <a:pt x="38" y="16"/>
                  <a:pt x="15" y="27"/>
                  <a:pt x="0" y="44"/>
                </a:cubicBezTo>
                <a:lnTo>
                  <a:pt x="0" y="0"/>
                </a:lnTo>
              </a:path>
            </a:pathLst>
          </a:custGeom>
          <a:gradFill rotWithShape="1">
            <a:gsLst>
              <a:gs pos="0">
                <a:srgbClr val="FFFFFF">
                  <a:alpha val="67998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247" name="Text Box 71">
            <a:extLst>
              <a:ext uri="{FF2B5EF4-FFF2-40B4-BE49-F238E27FC236}">
                <a16:creationId xmlns:a16="http://schemas.microsoft.com/office/drawing/2014/main" id="{287DD61A-90F1-688C-3B61-0A2239E0A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638" y="1824038"/>
            <a:ext cx="1425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hlink"/>
                </a:solidFill>
                <a:latin typeface="Arial" panose="020B0604020202020204" pitchFamily="34" charset="0"/>
              </a:rPr>
              <a:t>有效性</a:t>
            </a:r>
          </a:p>
        </p:txBody>
      </p:sp>
      <p:sp>
        <p:nvSpPr>
          <p:cNvPr id="434248" name="Text Box 72">
            <a:extLst>
              <a:ext uri="{FF2B5EF4-FFF2-40B4-BE49-F238E27FC236}">
                <a16:creationId xmlns:a16="http://schemas.microsoft.com/office/drawing/2014/main" id="{B37E485A-D2C1-5FD1-7064-9C9A73493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1535113"/>
            <a:ext cx="14255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性能</a:t>
            </a:r>
          </a:p>
          <a:p>
            <a:pPr algn="ctr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指标</a:t>
            </a:r>
          </a:p>
        </p:txBody>
      </p:sp>
      <p:grpSp>
        <p:nvGrpSpPr>
          <p:cNvPr id="7" name="Group 84">
            <a:extLst>
              <a:ext uri="{FF2B5EF4-FFF2-40B4-BE49-F238E27FC236}">
                <a16:creationId xmlns:a16="http://schemas.microsoft.com/office/drawing/2014/main" id="{7A4A5C2A-20DB-E084-7665-FB360AB5270D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3979863"/>
            <a:ext cx="2952750" cy="2663825"/>
            <a:chOff x="732" y="2584"/>
            <a:chExt cx="1129" cy="1337"/>
          </a:xfrm>
        </p:grpSpPr>
        <p:grpSp>
          <p:nvGrpSpPr>
            <p:cNvPr id="46105" name="Group 85">
              <a:extLst>
                <a:ext uri="{FF2B5EF4-FFF2-40B4-BE49-F238E27FC236}">
                  <a16:creationId xmlns:a16="http://schemas.microsoft.com/office/drawing/2014/main" id="{56D59943-41A3-3C3A-B414-CCF51B185D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2" y="2584"/>
              <a:ext cx="1129" cy="1056"/>
              <a:chOff x="1606" y="1213"/>
              <a:chExt cx="1129" cy="1056"/>
            </a:xfrm>
          </p:grpSpPr>
          <p:sp>
            <p:nvSpPr>
              <p:cNvPr id="48155" name="Rectangle 86">
                <a:extLst>
                  <a:ext uri="{FF2B5EF4-FFF2-40B4-BE49-F238E27FC236}">
                    <a16:creationId xmlns:a16="http://schemas.microsoft.com/office/drawing/2014/main" id="{CC0EC20E-B42D-D9CD-67F8-6D693D118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" y="1519"/>
                <a:ext cx="1119" cy="750"/>
              </a:xfrm>
              <a:prstGeom prst="rect">
                <a:avLst/>
              </a:prstGeom>
              <a:gradFill rotWithShape="0">
                <a:gsLst>
                  <a:gs pos="0">
                    <a:srgbClr val="EBEBEB"/>
                  </a:gs>
                  <a:gs pos="100000">
                    <a:srgbClr val="B0B0B0"/>
                  </a:gs>
                </a:gsLst>
                <a:lin ang="2700000" scaled="1"/>
              </a:gradFill>
              <a:ln w="0" algn="ctr">
                <a:noFill/>
                <a:miter lim="800000"/>
                <a:headEnd/>
                <a:tailEnd/>
              </a:ln>
              <a:effectLst>
                <a:outerShdw dist="53882" dir="2700000" algn="ctr" rotWithShape="0">
                  <a:srgbClr val="5F5F5F"/>
                </a:out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8156" name="Rectangle 87">
                <a:extLst>
                  <a:ext uri="{FF2B5EF4-FFF2-40B4-BE49-F238E27FC236}">
                    <a16:creationId xmlns:a16="http://schemas.microsoft.com/office/drawing/2014/main" id="{97234227-02DD-33EE-638B-85E3B70FC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7" y="1213"/>
                <a:ext cx="1119" cy="264"/>
              </a:xfrm>
              <a:prstGeom prst="rect">
                <a:avLst/>
              </a:prstGeom>
              <a:gradFill rotWithShape="0">
                <a:gsLst>
                  <a:gs pos="0">
                    <a:srgbClr val="D7D7D7"/>
                  </a:gs>
                  <a:gs pos="100000">
                    <a:srgbClr val="686868"/>
                  </a:gs>
                </a:gsLst>
                <a:lin ang="5400000" scaled="1"/>
              </a:gradFill>
              <a:ln w="9525" algn="ctr">
                <a:noFill/>
                <a:miter lim="800000"/>
                <a:headEnd/>
                <a:tailEnd/>
              </a:ln>
              <a:effectLst>
                <a:outerShdw dist="28398" dir="3806097" algn="ctr" rotWithShape="0">
                  <a:srgbClr val="333333"/>
                </a:outerShdw>
              </a:effec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6109" name="Freeform 88">
                <a:extLst>
                  <a:ext uri="{FF2B5EF4-FFF2-40B4-BE49-F238E27FC236}">
                    <a16:creationId xmlns:a16="http://schemas.microsoft.com/office/drawing/2014/main" id="{10E4F0CD-2E92-5DC6-AF04-30B995F808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1234"/>
                <a:ext cx="73" cy="222"/>
              </a:xfrm>
              <a:custGeom>
                <a:avLst/>
                <a:gdLst>
                  <a:gd name="T0" fmla="*/ 2147483647 w 7"/>
                  <a:gd name="T1" fmla="*/ 0 h 21"/>
                  <a:gd name="T2" fmla="*/ 2147483647 w 7"/>
                  <a:gd name="T3" fmla="*/ 2147483647 h 21"/>
                  <a:gd name="T4" fmla="*/ 0 w 7"/>
                  <a:gd name="T5" fmla="*/ 2147483647 h 21"/>
                  <a:gd name="T6" fmla="*/ 2147483647 w 7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21"/>
                  <a:gd name="T14" fmla="*/ 7 w 7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21">
                    <a:moveTo>
                      <a:pt x="7" y="0"/>
                    </a:moveTo>
                    <a:lnTo>
                      <a:pt x="7" y="21"/>
                    </a:lnTo>
                    <a:cubicBezTo>
                      <a:pt x="3" y="19"/>
                      <a:pt x="0" y="15"/>
                      <a:pt x="0" y="11"/>
                    </a:cubicBezTo>
                    <a:cubicBezTo>
                      <a:pt x="0" y="6"/>
                      <a:pt x="3" y="3"/>
                      <a:pt x="7" y="0"/>
                    </a:cubicBezTo>
                  </a:path>
                </a:pathLst>
              </a:custGeom>
              <a:gradFill rotWithShape="0">
                <a:gsLst>
                  <a:gs pos="0">
                    <a:srgbClr val="C3C3C3"/>
                  </a:gs>
                  <a:gs pos="100000">
                    <a:srgbClr val="68686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10" name="Freeform 89">
                <a:extLst>
                  <a:ext uri="{FF2B5EF4-FFF2-40B4-BE49-F238E27FC236}">
                    <a16:creationId xmlns:a16="http://schemas.microsoft.com/office/drawing/2014/main" id="{5E309F8F-FB36-406A-81E7-38B7155D0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" y="1234"/>
                <a:ext cx="74" cy="232"/>
              </a:xfrm>
              <a:custGeom>
                <a:avLst/>
                <a:gdLst>
                  <a:gd name="T0" fmla="*/ 0 w 7"/>
                  <a:gd name="T1" fmla="*/ 2147483647 h 22"/>
                  <a:gd name="T2" fmla="*/ 0 w 7"/>
                  <a:gd name="T3" fmla="*/ 0 h 22"/>
                  <a:gd name="T4" fmla="*/ 2147483647 w 7"/>
                  <a:gd name="T5" fmla="*/ 2147483647 h 22"/>
                  <a:gd name="T6" fmla="*/ 0 w 7"/>
                  <a:gd name="T7" fmla="*/ 2147483647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22"/>
                  <a:gd name="T14" fmla="*/ 7 w 7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22">
                    <a:moveTo>
                      <a:pt x="0" y="22"/>
                    </a:moveTo>
                    <a:lnTo>
                      <a:pt x="0" y="0"/>
                    </a:lnTo>
                    <a:cubicBezTo>
                      <a:pt x="4" y="2"/>
                      <a:pt x="7" y="6"/>
                      <a:pt x="7" y="11"/>
                    </a:cubicBezTo>
                    <a:cubicBezTo>
                      <a:pt x="7" y="15"/>
                      <a:pt x="4" y="19"/>
                      <a:pt x="0" y="22"/>
                    </a:cubicBezTo>
                  </a:path>
                </a:pathLst>
              </a:custGeom>
              <a:gradFill rotWithShape="0">
                <a:gsLst>
                  <a:gs pos="0">
                    <a:srgbClr val="C3C3C3"/>
                  </a:gs>
                  <a:gs pos="100000">
                    <a:srgbClr val="686868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11" name="Freeform 90">
                <a:extLst>
                  <a:ext uri="{FF2B5EF4-FFF2-40B4-BE49-F238E27FC236}">
                    <a16:creationId xmlns:a16="http://schemas.microsoft.com/office/drawing/2014/main" id="{37488136-380C-28BB-A12C-99548F503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6" y="1234"/>
                <a:ext cx="1109" cy="63"/>
              </a:xfrm>
              <a:custGeom>
                <a:avLst/>
                <a:gdLst>
                  <a:gd name="T0" fmla="*/ 0 w 105"/>
                  <a:gd name="T1" fmla="*/ 0 h 6"/>
                  <a:gd name="T2" fmla="*/ 2147483647 w 105"/>
                  <a:gd name="T3" fmla="*/ 0 h 6"/>
                  <a:gd name="T4" fmla="*/ 2147483647 w 105"/>
                  <a:gd name="T5" fmla="*/ 2147483647 h 6"/>
                  <a:gd name="T6" fmla="*/ 2147483647 w 105"/>
                  <a:gd name="T7" fmla="*/ 2147483647 h 6"/>
                  <a:gd name="T8" fmla="*/ 0 w 10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"/>
                  <a:gd name="T16" fmla="*/ 0 h 6"/>
                  <a:gd name="T17" fmla="*/ 105 w 10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" h="6">
                    <a:moveTo>
                      <a:pt x="0" y="0"/>
                    </a:moveTo>
                    <a:lnTo>
                      <a:pt x="105" y="0"/>
                    </a:lnTo>
                    <a:cubicBezTo>
                      <a:pt x="103" y="2"/>
                      <a:pt x="101" y="4"/>
                      <a:pt x="100" y="6"/>
                    </a:cubicBezTo>
                    <a:lnTo>
                      <a:pt x="5" y="6"/>
                    </a:lnTo>
                    <a:cubicBezTo>
                      <a:pt x="4" y="4"/>
                      <a:pt x="2" y="2"/>
                      <a:pt x="0" y="0"/>
                    </a:cubicBez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12" name="Rectangle 91">
                <a:extLst>
                  <a:ext uri="{FF2B5EF4-FFF2-40B4-BE49-F238E27FC236}">
                    <a16:creationId xmlns:a16="http://schemas.microsoft.com/office/drawing/2014/main" id="{6830044D-AE51-4104-2F2E-392D24B0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" y="1519"/>
                <a:ext cx="1119" cy="43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113" name="Freeform 92">
                <a:extLst>
                  <a:ext uri="{FF2B5EF4-FFF2-40B4-BE49-F238E27FC236}">
                    <a16:creationId xmlns:a16="http://schemas.microsoft.com/office/drawing/2014/main" id="{9DEB87BF-73EC-7A9A-1473-2EDF5353B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" y="1519"/>
                <a:ext cx="1129" cy="465"/>
              </a:xfrm>
              <a:custGeom>
                <a:avLst/>
                <a:gdLst>
                  <a:gd name="T0" fmla="*/ 0 w 107"/>
                  <a:gd name="T1" fmla="*/ 0 h 44"/>
                  <a:gd name="T2" fmla="*/ 2147483647 w 107"/>
                  <a:gd name="T3" fmla="*/ 0 h 44"/>
                  <a:gd name="T4" fmla="*/ 2147483647 w 107"/>
                  <a:gd name="T5" fmla="*/ 2147483647 h 44"/>
                  <a:gd name="T6" fmla="*/ 2147483647 w 107"/>
                  <a:gd name="T7" fmla="*/ 2147483647 h 44"/>
                  <a:gd name="T8" fmla="*/ 0 w 107"/>
                  <a:gd name="T9" fmla="*/ 2147483647 h 44"/>
                  <a:gd name="T10" fmla="*/ 0 w 107"/>
                  <a:gd name="T11" fmla="*/ 0 h 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7"/>
                  <a:gd name="T19" fmla="*/ 0 h 44"/>
                  <a:gd name="T20" fmla="*/ 107 w 107"/>
                  <a:gd name="T21" fmla="*/ 44 h 4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7" h="44">
                    <a:moveTo>
                      <a:pt x="0" y="0"/>
                    </a:moveTo>
                    <a:lnTo>
                      <a:pt x="107" y="0"/>
                    </a:lnTo>
                    <a:lnTo>
                      <a:pt x="107" y="27"/>
                    </a:lnTo>
                    <a:cubicBezTo>
                      <a:pt x="94" y="20"/>
                      <a:pt x="79" y="16"/>
                      <a:pt x="63" y="16"/>
                    </a:cubicBezTo>
                    <a:cubicBezTo>
                      <a:pt x="38" y="16"/>
                      <a:pt x="15" y="27"/>
                      <a:pt x="0" y="44"/>
                    </a:cubicBez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FFFFFF">
                      <a:alpha val="67998"/>
                    </a:srgb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6106" name="Rectangle 93">
              <a:extLst>
                <a:ext uri="{FF2B5EF4-FFF2-40B4-BE49-F238E27FC236}">
                  <a16:creationId xmlns:a16="http://schemas.microsoft.com/office/drawing/2014/main" id="{F2B4681F-4C8D-EFEC-5537-04D04CDC0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3697"/>
              <a:ext cx="1112" cy="224"/>
            </a:xfrm>
            <a:prstGeom prst="rect">
              <a:avLst/>
            </a:prstGeom>
            <a:gradFill rotWithShape="0">
              <a:gsLst>
                <a:gs pos="0">
                  <a:srgbClr val="CECECE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" name="Text Box 36">
            <a:extLst>
              <a:ext uri="{FF2B5EF4-FFF2-40B4-BE49-F238E27FC236}">
                <a16:creationId xmlns:a16="http://schemas.microsoft.com/office/drawing/2014/main" id="{5E53A3C2-6060-569D-6E87-5DF95D355CB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535113" y="4008438"/>
            <a:ext cx="2232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8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 拟 通 信</a:t>
            </a:r>
          </a:p>
        </p:txBody>
      </p:sp>
      <p:sp>
        <p:nvSpPr>
          <p:cNvPr id="5" name="Text Box 36">
            <a:extLst>
              <a:ext uri="{FF2B5EF4-FFF2-40B4-BE49-F238E27FC236}">
                <a16:creationId xmlns:a16="http://schemas.microsoft.com/office/drawing/2014/main" id="{71EFB738-C421-53AE-8702-3624E6D7385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64163" y="4037013"/>
            <a:ext cx="2233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8016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8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 字 通 信</a:t>
            </a:r>
          </a:p>
        </p:txBody>
      </p:sp>
      <p:sp>
        <p:nvSpPr>
          <p:cNvPr id="434232" name="Text Box 56">
            <a:extLst>
              <a:ext uri="{FF2B5EF4-FFF2-40B4-BE49-F238E27FC236}">
                <a16:creationId xmlns:a16="http://schemas.microsoft.com/office/drawing/2014/main" id="{E73D8DD5-37EA-CFD7-11DD-46B87B7AA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4916488"/>
            <a:ext cx="23749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buClr>
                <a:srgbClr val="6666FF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</a:rPr>
              <a:t>传输带宽</a:t>
            </a:r>
          </a:p>
          <a:p>
            <a:pPr eaLnBrk="1" hangingPunct="1">
              <a:lnSpc>
                <a:spcPts val="3500"/>
              </a:lnSpc>
              <a:buClr>
                <a:srgbClr val="6666FF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>
                <a:latin typeface="宋体" panose="02010600030101010101" pitchFamily="2" charset="-122"/>
              </a:rPr>
              <a:t> 输出信噪比</a:t>
            </a:r>
          </a:p>
        </p:txBody>
      </p:sp>
      <p:sp>
        <p:nvSpPr>
          <p:cNvPr id="434271" name="Text Box 95">
            <a:extLst>
              <a:ext uri="{FF2B5EF4-FFF2-40B4-BE49-F238E27FC236}">
                <a16:creationId xmlns:a16="http://schemas.microsoft.com/office/drawing/2014/main" id="{008E13FA-84F4-D7A8-ACF0-5E2EE964A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4916488"/>
            <a:ext cx="25209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buClr>
                <a:srgbClr val="6666FF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</a:rPr>
              <a:t>频带利用率</a:t>
            </a:r>
            <a:r>
              <a:rPr lang="el-GR" altLang="zh-CN" sz="2400" b="1" i="1">
                <a:latin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ts val="3500"/>
              </a:lnSpc>
              <a:buClr>
                <a:srgbClr val="6666FF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>
                <a:latin typeface="宋体" panose="02010600030101010101" pitchFamily="2" charset="-122"/>
              </a:rPr>
              <a:t>  差错概率</a:t>
            </a:r>
          </a:p>
        </p:txBody>
      </p:sp>
      <p:sp>
        <p:nvSpPr>
          <p:cNvPr id="434272" name="Rectangle 96">
            <a:extLst>
              <a:ext uri="{FF2B5EF4-FFF2-40B4-BE49-F238E27FC236}">
                <a16:creationId xmlns:a16="http://schemas.microsoft.com/office/drawing/2014/main" id="{FC2ECD54-7B30-7ACE-A169-D174DE0DC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028950"/>
            <a:ext cx="2879725" cy="522288"/>
          </a:xfrm>
          <a:prstGeom prst="rect">
            <a:avLst/>
          </a:prstGeom>
          <a:noFill/>
          <a:ln w="38100" cmpd="dbl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矛盾、关联、互换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02915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43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43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34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4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4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34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34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34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34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4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34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34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34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34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43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34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34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4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34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34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34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34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34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34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34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34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34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3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34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34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34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34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34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34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224" grpId="0" animBg="1"/>
      <p:bldP spid="434229" grpId="0" animBg="1"/>
      <p:bldP spid="434235" grpId="0"/>
      <p:bldP spid="434243" grpId="0" animBg="1"/>
      <p:bldP spid="434244" grpId="0" animBg="1"/>
      <p:bldP spid="434247" grpId="0"/>
      <p:bldP spid="434248" grpId="0"/>
      <p:bldP spid="4" grpId="0"/>
      <p:bldP spid="5" grpId="0"/>
      <p:bldP spid="434232" grpId="0"/>
      <p:bldP spid="434271" grpId="0"/>
      <p:bldP spid="43427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3955" name="Object 19">
            <a:extLst>
              <a:ext uri="{FF2B5EF4-FFF2-40B4-BE49-F238E27FC236}">
                <a16:creationId xmlns:a16="http://schemas.microsoft.com/office/drawing/2014/main" id="{E44958F6-34FB-3C94-1A38-9E5911862928}"/>
              </a:ext>
            </a:extLst>
          </p:cNvPr>
          <p:cNvGraphicFramePr>
            <a:graphicFrameLocks noGrp="1" noChangeAspect="1"/>
          </p:cNvGraphicFramePr>
          <p:nvPr>
            <p:ph sz="half" idx="3"/>
            <p:extLst>
              <p:ext uri="{D42A27DB-BD31-4B8C-83A1-F6EECF244321}">
                <p14:modId xmlns:p14="http://schemas.microsoft.com/office/powerpoint/2010/main" val="3425334287"/>
              </p:ext>
            </p:extLst>
          </p:nvPr>
        </p:nvGraphicFramePr>
        <p:xfrm>
          <a:off x="4206240" y="3839256"/>
          <a:ext cx="1296988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0474" imgH="431613" progId="Equation.DSMT4">
                  <p:embed/>
                </p:oleObj>
              </mc:Choice>
              <mc:Fallback>
                <p:oleObj name="Equation" r:id="rId3" imgW="520474" imgH="431613" progId="Equation.DSMT4">
                  <p:embed/>
                  <p:pic>
                    <p:nvPicPr>
                      <p:cNvPr id="423955" name="Object 19">
                        <a:extLst>
                          <a:ext uri="{FF2B5EF4-FFF2-40B4-BE49-F238E27FC236}">
                            <a16:creationId xmlns:a16="http://schemas.microsoft.com/office/drawing/2014/main" id="{E44958F6-34FB-3C94-1A38-9E59118629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240" y="3839256"/>
                        <a:ext cx="1296988" cy="107473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8B8B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8" name="Rectangle 22">
            <a:extLst>
              <a:ext uri="{FF2B5EF4-FFF2-40B4-BE49-F238E27FC236}">
                <a16:creationId xmlns:a16="http://schemas.microsoft.com/office/drawing/2014/main" id="{0E724129-B1B5-0F10-455F-778A25178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36" y="5257800"/>
            <a:ext cx="7354887" cy="576263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28575">
            <a:noFill/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宋体" pitchFamily="2" charset="-122"/>
              </a:rPr>
              <a:t> </a:t>
            </a:r>
            <a:r>
              <a:rPr lang="zh-CN" altLang="en-US" sz="2400" b="1" dirty="0">
                <a:latin typeface="宋体" pitchFamily="2" charset="-122"/>
              </a:rPr>
              <a:t>例如：</a:t>
            </a:r>
            <a:r>
              <a:rPr lang="en-US" altLang="zh-CN" sz="2400" b="1" dirty="0">
                <a:latin typeface="宋体" pitchFamily="2" charset="-122"/>
              </a:rPr>
              <a:t>1</a:t>
            </a:r>
            <a:r>
              <a:rPr lang="zh-CN" altLang="en-US" sz="2400" b="1" dirty="0">
                <a:latin typeface="宋体" pitchFamily="2" charset="-122"/>
              </a:rPr>
              <a:t>秒内传输</a:t>
            </a:r>
            <a:r>
              <a:rPr lang="en-US" altLang="zh-CN" sz="2400" b="1" dirty="0">
                <a:latin typeface="宋体" pitchFamily="2" charset="-122"/>
              </a:rPr>
              <a:t>1000</a:t>
            </a:r>
            <a:r>
              <a:rPr lang="zh-CN" altLang="en-US" sz="2400" b="1" dirty="0">
                <a:latin typeface="宋体" pitchFamily="2" charset="-122"/>
              </a:rPr>
              <a:t>个码元，则</a:t>
            </a:r>
            <a:r>
              <a:rPr lang="zh-CN" altLang="en-US" sz="2400" b="1" dirty="0">
                <a:solidFill>
                  <a:schemeClr val="hlink"/>
                </a:solidFill>
                <a:latin typeface="宋体" pitchFamily="2" charset="-122"/>
              </a:rPr>
              <a:t> </a:t>
            </a:r>
            <a:r>
              <a:rPr lang="en-US" altLang="zh-CN" sz="2400" b="1" i="1" dirty="0">
                <a:solidFill>
                  <a:schemeClr val="hlink"/>
                </a:solidFill>
                <a:latin typeface="Arial" charset="0"/>
              </a:rPr>
              <a:t>R</a:t>
            </a:r>
            <a:r>
              <a:rPr lang="en-US" altLang="zh-CN" sz="2400" b="1" i="1" baseline="-25000" dirty="0">
                <a:solidFill>
                  <a:schemeClr val="hlink"/>
                </a:solidFill>
                <a:latin typeface="Arial" charset="0"/>
              </a:rPr>
              <a:t>B</a:t>
            </a:r>
            <a:r>
              <a:rPr lang="en-US" altLang="zh-CN" sz="2400" b="1" i="1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Arial" charset="0"/>
              </a:rPr>
              <a:t>=1000</a:t>
            </a:r>
            <a:r>
              <a:rPr lang="en-US" altLang="zh-CN" sz="2400" b="1" i="1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Baud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9D953F6-604E-256E-0F72-E59EFDDB6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350" y="361950"/>
            <a:ext cx="6800850" cy="584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FF0000"/>
              </a:buClr>
              <a:buSzPct val="65000"/>
              <a:defRPr/>
            </a:pP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数字通信系统的</a:t>
            </a:r>
            <a:r>
              <a:rPr lang="zh-CN" altLang="en-US" sz="32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有效性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指标</a:t>
            </a:r>
            <a:endParaRPr lang="zh-CN" altLang="en-US" sz="32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14344" name="Picture 8">
            <a:extLst>
              <a:ext uri="{FF2B5EF4-FFF2-40B4-BE49-F238E27FC236}">
                <a16:creationId xmlns:a16="http://schemas.microsoft.com/office/drawing/2014/main" id="{5D70AC12-286E-5EA3-B705-944CAB5FA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27"/>
          <a:stretch>
            <a:fillRect/>
          </a:stretch>
        </p:blipFill>
        <p:spPr bwMode="auto">
          <a:xfrm>
            <a:off x="793750" y="1212583"/>
            <a:ext cx="7505700" cy="168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281CDF73-12CF-9C1B-B36B-5F0C9CC0F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41" b="37799"/>
          <a:stretch>
            <a:fillRect/>
          </a:stretch>
        </p:blipFill>
        <p:spPr bwMode="auto">
          <a:xfrm>
            <a:off x="793750" y="2851150"/>
            <a:ext cx="7505700" cy="644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2117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2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1000"/>
                                        <p:tgtEl>
                                          <p:spTgt spid="42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58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9" name="Rectangle 5">
            <a:extLst>
              <a:ext uri="{FF2B5EF4-FFF2-40B4-BE49-F238E27FC236}">
                <a16:creationId xmlns:a16="http://schemas.microsoft.com/office/drawing/2014/main" id="{0F35E1B0-5F5E-DBCD-7AA1-A21C07790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551238"/>
            <a:ext cx="7561262" cy="266382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28575">
            <a:noFill/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800" b="1" i="1" dirty="0" err="1">
                <a:solidFill>
                  <a:srgbClr val="000099"/>
                </a:solidFill>
                <a:latin typeface="Arial" charset="0"/>
              </a:rPr>
              <a:t>R</a:t>
            </a:r>
            <a:r>
              <a:rPr lang="en-US" altLang="zh-CN" sz="2800" b="1" i="1" baseline="-25000" dirty="0" err="1">
                <a:solidFill>
                  <a:srgbClr val="000099"/>
                </a:solidFill>
                <a:latin typeface="Arial" charset="0"/>
              </a:rPr>
              <a:t>b</a:t>
            </a:r>
            <a:r>
              <a:rPr lang="zh-CN" altLang="en-US" sz="2800" b="1" dirty="0">
                <a:solidFill>
                  <a:srgbClr val="000099"/>
                </a:solidFill>
                <a:latin typeface="Arial" charset="0"/>
              </a:rPr>
              <a:t>与 </a:t>
            </a:r>
            <a:r>
              <a:rPr lang="en-US" altLang="zh-CN" sz="2800" b="1" i="1" dirty="0">
                <a:solidFill>
                  <a:srgbClr val="000099"/>
                </a:solidFill>
                <a:latin typeface="Arial" charset="0"/>
              </a:rPr>
              <a:t>R</a:t>
            </a:r>
            <a:r>
              <a:rPr lang="en-US" altLang="zh-CN" sz="2800" b="1" i="1" baseline="-25000" dirty="0">
                <a:solidFill>
                  <a:srgbClr val="000099"/>
                </a:solidFill>
                <a:latin typeface="Arial" charset="0"/>
              </a:rPr>
              <a:t>B</a:t>
            </a:r>
            <a:r>
              <a:rPr lang="zh-CN" altLang="en-US" sz="2800" b="1" dirty="0">
                <a:solidFill>
                  <a:srgbClr val="000099"/>
                </a:solidFill>
                <a:latin typeface="Arial" charset="0"/>
              </a:rPr>
              <a:t>的关系</a:t>
            </a:r>
            <a:r>
              <a:rPr lang="en-US" altLang="zh-CN" sz="2800" i="1" dirty="0">
                <a:solidFill>
                  <a:srgbClr val="000099"/>
                </a:solidFill>
                <a:latin typeface="Arial" charset="0"/>
              </a:rPr>
              <a:t>——</a:t>
            </a:r>
            <a:endParaRPr lang="zh-CN" altLang="en-US" sz="2800" dirty="0">
              <a:solidFill>
                <a:schemeClr val="hlink"/>
              </a:solidFill>
              <a:latin typeface="Arial" charset="0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endParaRPr lang="en-US" altLang="zh-CN" sz="2800" dirty="0">
              <a:latin typeface="Arial" charset="0"/>
            </a:endParaRPr>
          </a:p>
        </p:txBody>
      </p:sp>
      <p:graphicFrame>
        <p:nvGraphicFramePr>
          <p:cNvPr id="436242" name="Object 18">
            <a:extLst>
              <a:ext uri="{FF2B5EF4-FFF2-40B4-BE49-F238E27FC236}">
                <a16:creationId xmlns:a16="http://schemas.microsoft.com/office/drawing/2014/main" id="{5DAB0780-900D-F3A2-BE3F-37EBDE4684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6738" y="4270375"/>
          <a:ext cx="26638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6600" imgH="228600" progId="Equation.DSMT4">
                  <p:embed/>
                </p:oleObj>
              </mc:Choice>
              <mc:Fallback>
                <p:oleObj name="Equation" r:id="rId3" imgW="736600" imgH="228600" progId="Equation.DSMT4">
                  <p:embed/>
                  <p:pic>
                    <p:nvPicPr>
                      <p:cNvPr id="436242" name="Object 18">
                        <a:extLst>
                          <a:ext uri="{FF2B5EF4-FFF2-40B4-BE49-F238E27FC236}">
                            <a16:creationId xmlns:a16="http://schemas.microsoft.com/office/drawing/2014/main" id="{5DAB0780-900D-F3A2-BE3F-37EBDE468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4270375"/>
                        <a:ext cx="2663825" cy="774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999999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43" name="Object 19">
            <a:extLst>
              <a:ext uri="{FF2B5EF4-FFF2-40B4-BE49-F238E27FC236}">
                <a16:creationId xmlns:a16="http://schemas.microsoft.com/office/drawing/2014/main" id="{A621CC06-D0DE-96A3-607C-1A7152607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0700" y="5207000"/>
          <a:ext cx="314166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6000" imgH="228600" progId="Equation.DSMT4">
                  <p:embed/>
                </p:oleObj>
              </mc:Choice>
              <mc:Fallback>
                <p:oleObj name="Equation" r:id="rId5" imgW="1016000" imgH="228600" progId="Equation.DSMT4">
                  <p:embed/>
                  <p:pic>
                    <p:nvPicPr>
                      <p:cNvPr id="436243" name="Object 19">
                        <a:extLst>
                          <a:ext uri="{FF2B5EF4-FFF2-40B4-BE49-F238E27FC236}">
                            <a16:creationId xmlns:a16="http://schemas.microsoft.com/office/drawing/2014/main" id="{A621CC06-D0DE-96A3-607C-1A7152607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5207000"/>
                        <a:ext cx="3141663" cy="7747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99997A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44" name="Object 20">
            <a:extLst>
              <a:ext uri="{FF2B5EF4-FFF2-40B4-BE49-F238E27FC236}">
                <a16:creationId xmlns:a16="http://schemas.microsoft.com/office/drawing/2014/main" id="{B99310DE-1CD5-EE65-9AED-3DEC44F3D6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0813" y="4929188"/>
          <a:ext cx="15716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22300" imgH="457200" progId="Equation.DSMT4">
                  <p:embed/>
                </p:oleObj>
              </mc:Choice>
              <mc:Fallback>
                <p:oleObj name="Equation" r:id="rId7" imgW="622300" imgH="457200" progId="Equation.DSMT4">
                  <p:embed/>
                  <p:pic>
                    <p:nvPicPr>
                      <p:cNvPr id="436244" name="Object 20">
                        <a:extLst>
                          <a:ext uri="{FF2B5EF4-FFF2-40B4-BE49-F238E27FC236}">
                            <a16:creationId xmlns:a16="http://schemas.microsoft.com/office/drawing/2014/main" id="{B99310DE-1CD5-EE65-9AED-3DEC44F3D6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4929188"/>
                        <a:ext cx="1571625" cy="1152525"/>
                      </a:xfrm>
                      <a:prstGeom prst="rect">
                        <a:avLst/>
                      </a:prstGeom>
                      <a:solidFill>
                        <a:srgbClr val="E7E7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8B8B99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48" name="AutoShape 24">
            <a:extLst>
              <a:ext uri="{FF2B5EF4-FFF2-40B4-BE49-F238E27FC236}">
                <a16:creationId xmlns:a16="http://schemas.microsoft.com/office/drawing/2014/main" id="{D008CFC6-70EB-9D18-3970-6EFF45EDD59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17625" y="4545013"/>
            <a:ext cx="325438" cy="1223962"/>
          </a:xfrm>
          <a:prstGeom prst="curvedLeftArrow">
            <a:avLst>
              <a:gd name="adj1" fmla="val 67941"/>
              <a:gd name="adj2" fmla="val 135848"/>
              <a:gd name="adj3" fmla="val 33333"/>
            </a:avLst>
          </a:prstGeom>
          <a:solidFill>
            <a:srgbClr val="D9D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EEB7ED-DE4B-6C79-E808-E16EF9274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3594100"/>
            <a:ext cx="15255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FF0000"/>
                </a:solidFill>
                <a:latin typeface="Arial" panose="020B0604020202020204" pitchFamily="34" charset="0"/>
              </a:rPr>
              <a:t>H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为纽带</a:t>
            </a:r>
            <a:endParaRPr lang="zh-CN" altLang="en-US"/>
          </a:p>
        </p:txBody>
      </p:sp>
      <p:pic>
        <p:nvPicPr>
          <p:cNvPr id="15370" name="Picture 10">
            <a:extLst>
              <a:ext uri="{FF2B5EF4-FFF2-40B4-BE49-F238E27FC236}">
                <a16:creationId xmlns:a16="http://schemas.microsoft.com/office/drawing/2014/main" id="{D7395516-EB0B-9F31-7A3B-D81576EC0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8" y="1073150"/>
            <a:ext cx="77755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10766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3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36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6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36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43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36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36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36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43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9" grpId="0" animBg="1"/>
      <p:bldP spid="436248" grpId="0" animBg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1" name="Picture 11">
            <a:extLst>
              <a:ext uri="{FF2B5EF4-FFF2-40B4-BE49-F238E27FC236}">
                <a16:creationId xmlns:a16="http://schemas.microsoft.com/office/drawing/2014/main" id="{75F1C8C5-AF64-920E-E1B2-EAA640018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8" y="4940300"/>
            <a:ext cx="6534150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8515" name="Rectangle 3">
            <a:extLst>
              <a:ext uri="{FF2B5EF4-FFF2-40B4-BE49-F238E27FC236}">
                <a16:creationId xmlns:a16="http://schemas.microsoft.com/office/drawing/2014/main" id="{A2D2ABD2-6C79-C45D-EEAF-05EFD6F79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520" y="1196975"/>
            <a:ext cx="7561263" cy="3311525"/>
          </a:xfrm>
          <a:ln w="28575" cap="flat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（</a:t>
            </a:r>
            <a:r>
              <a:rPr lang="en-US" altLang="zh-CN" sz="2800" dirty="0">
                <a:solidFill>
                  <a:schemeClr val="hlink"/>
                </a:solidFill>
              </a:rPr>
              <a:t>3</a:t>
            </a:r>
            <a:r>
              <a:rPr lang="zh-CN" altLang="en-US" sz="2800" dirty="0">
                <a:solidFill>
                  <a:schemeClr val="hlink"/>
                </a:solidFill>
              </a:rPr>
              <a:t>）频带利用率</a:t>
            </a:r>
            <a:r>
              <a:rPr lang="en-US" altLang="zh-CN" sz="2800" dirty="0"/>
              <a:t>——</a:t>
            </a:r>
            <a:r>
              <a:rPr lang="zh-CN" altLang="en-US" sz="2400" dirty="0">
                <a:latin typeface="Arial" charset="0"/>
              </a:rPr>
              <a:t>把 </a:t>
            </a:r>
            <a:r>
              <a:rPr lang="en-US" altLang="zh-CN" sz="2400" dirty="0">
                <a:solidFill>
                  <a:srgbClr val="000099"/>
                </a:solidFill>
                <a:latin typeface="Arial" charset="0"/>
              </a:rPr>
              <a:t>B</a:t>
            </a:r>
            <a:r>
              <a:rPr lang="en-US" altLang="zh-CN" sz="2400" dirty="0">
                <a:latin typeface="Arial" charset="0"/>
              </a:rPr>
              <a:t> </a:t>
            </a:r>
            <a:r>
              <a:rPr lang="zh-CN" altLang="en-US" sz="2400" dirty="0">
                <a:latin typeface="Arial" charset="0"/>
              </a:rPr>
              <a:t>与 </a:t>
            </a:r>
            <a:r>
              <a:rPr lang="zh-CN" altLang="en-US" sz="2400" dirty="0">
                <a:solidFill>
                  <a:srgbClr val="000099"/>
                </a:solidFill>
                <a:latin typeface="Arial" charset="0"/>
              </a:rPr>
              <a:t>传输速率</a:t>
            </a:r>
            <a:r>
              <a:rPr lang="zh-CN" altLang="en-US" sz="2400" dirty="0">
                <a:latin typeface="Arial" charset="0"/>
              </a:rPr>
              <a:t> 联系起来</a:t>
            </a:r>
          </a:p>
          <a:p>
            <a:pPr lvl="1" eaLnBrk="1" hangingPunct="1">
              <a:buClr>
                <a:schemeClr val="folHlink"/>
              </a:buClr>
              <a:buFont typeface="Wingdings" panose="05000000000000000000" pitchFamily="2" charset="2"/>
              <a:buChar char="r"/>
              <a:defRPr/>
            </a:pPr>
            <a:r>
              <a:rPr lang="zh-CN" altLang="en-US" sz="2400" b="1" dirty="0"/>
              <a:t>定义为单位带宽内的传输速率，</a:t>
            </a:r>
            <a:r>
              <a:rPr lang="zh-CN" altLang="en-US" sz="2400" dirty="0"/>
              <a:t>即</a:t>
            </a:r>
          </a:p>
          <a:p>
            <a:pPr eaLnBrk="1" hangingPunct="1">
              <a:defRPr/>
            </a:pP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                                         </a:t>
            </a:r>
          </a:p>
          <a:p>
            <a:pPr eaLnBrk="1" hangingPunct="1">
              <a:defRPr/>
            </a:pPr>
            <a:endParaRPr lang="zh-CN" altLang="en-US" sz="2800" dirty="0"/>
          </a:p>
          <a:p>
            <a:pPr eaLnBrk="1" hangingPunct="1">
              <a:defRPr/>
            </a:pPr>
            <a:endParaRPr lang="zh-CN" altLang="en-US" sz="2800" dirty="0"/>
          </a:p>
          <a:p>
            <a:pPr eaLnBrk="1" hangingPunct="1">
              <a:defRPr/>
            </a:pPr>
            <a:endParaRPr lang="zh-CN" altLang="en-US" sz="2800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  <p:sp>
        <p:nvSpPr>
          <p:cNvPr id="13319" name="Rectangle 4">
            <a:extLst>
              <a:ext uri="{FF2B5EF4-FFF2-40B4-BE49-F238E27FC236}">
                <a16:creationId xmlns:a16="http://schemas.microsoft.com/office/drawing/2014/main" id="{4CD4D2FF-5648-5E74-F1A5-FDA176ACD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48517" name="Object 5">
            <a:extLst>
              <a:ext uri="{FF2B5EF4-FFF2-40B4-BE49-F238E27FC236}">
                <a16:creationId xmlns:a16="http://schemas.microsoft.com/office/drawing/2014/main" id="{4FE44810-263C-FFF6-8942-28870355D4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2276475"/>
          <a:ext cx="28797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449" imgH="393529" progId="Equation.DSMT4">
                  <p:embed/>
                </p:oleObj>
              </mc:Choice>
              <mc:Fallback>
                <p:oleObj name="Equation" r:id="rId4" imgW="1269449" imgH="393529" progId="Equation.DSMT4">
                  <p:embed/>
                  <p:pic>
                    <p:nvPicPr>
                      <p:cNvPr id="448517" name="Object 5">
                        <a:extLst>
                          <a:ext uri="{FF2B5EF4-FFF2-40B4-BE49-F238E27FC236}">
                            <a16:creationId xmlns:a16="http://schemas.microsoft.com/office/drawing/2014/main" id="{4FE44810-263C-FFF6-8942-28870355D4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276475"/>
                        <a:ext cx="2879725" cy="9064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 cmpd="dbl">
                        <a:solidFill>
                          <a:srgbClr val="FF9B9B"/>
                        </a:solidFill>
                        <a:miter lim="800000"/>
                        <a:headEnd/>
                        <a:tailEnd/>
                      </a:ln>
                      <a:effectLst>
                        <a:prstShdw prst="shdw17" dist="17961" dir="2700000">
                          <a:srgbClr val="995D5D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6">
            <a:extLst>
              <a:ext uri="{FF2B5EF4-FFF2-40B4-BE49-F238E27FC236}">
                <a16:creationId xmlns:a16="http://schemas.microsoft.com/office/drawing/2014/main" id="{02C593A3-ECE6-94E4-4116-FE1E039A6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48519" name="Object 7">
            <a:extLst>
              <a:ext uri="{FF2B5EF4-FFF2-40B4-BE49-F238E27FC236}">
                <a16:creationId xmlns:a16="http://schemas.microsoft.com/office/drawing/2014/main" id="{2CE3B4AC-197D-6AD5-B38F-6C10F9C3BA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6713" y="3429000"/>
          <a:ext cx="3135312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700" imgH="393700" progId="Equation.DSMT4">
                  <p:embed/>
                </p:oleObj>
              </mc:Choice>
              <mc:Fallback>
                <p:oleObj name="Equation" r:id="rId6" imgW="1282700" imgH="393700" progId="Equation.DSMT4">
                  <p:embed/>
                  <p:pic>
                    <p:nvPicPr>
                      <p:cNvPr id="448519" name="Object 7">
                        <a:extLst>
                          <a:ext uri="{FF2B5EF4-FFF2-40B4-BE49-F238E27FC236}">
                            <a16:creationId xmlns:a16="http://schemas.microsoft.com/office/drawing/2014/main" id="{2CE3B4AC-197D-6AD5-B38F-6C10F9C3BA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3429000"/>
                        <a:ext cx="3135312" cy="954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 cmpd="dbl">
                        <a:solidFill>
                          <a:srgbClr val="FF9B9B"/>
                        </a:solidFill>
                        <a:miter lim="800000"/>
                        <a:headEnd/>
                        <a:tailEnd/>
                      </a:ln>
                      <a:effectLst>
                        <a:prstShdw prst="shdw17" dist="17961" dir="2700000">
                          <a:srgbClr val="995D5D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8">
            <a:extLst>
              <a:ext uri="{FF2B5EF4-FFF2-40B4-BE49-F238E27FC236}">
                <a16:creationId xmlns:a16="http://schemas.microsoft.com/office/drawing/2014/main" id="{54ED6DD6-2353-53F4-3F7F-FE77133B3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48521" name="Object 9">
            <a:extLst>
              <a:ext uri="{FF2B5EF4-FFF2-40B4-BE49-F238E27FC236}">
                <a16:creationId xmlns:a16="http://schemas.microsoft.com/office/drawing/2014/main" id="{94A1B8A9-6FFE-CF7F-0163-235223982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2852738"/>
          <a:ext cx="26638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228600" progId="Equation.DSMT4">
                  <p:embed/>
                </p:oleObj>
              </mc:Choice>
              <mc:Fallback>
                <p:oleObj name="Equation" r:id="rId8" imgW="914400" imgH="228600" progId="Equation.DSMT4">
                  <p:embed/>
                  <p:pic>
                    <p:nvPicPr>
                      <p:cNvPr id="448521" name="Object 9">
                        <a:extLst>
                          <a:ext uri="{FF2B5EF4-FFF2-40B4-BE49-F238E27FC236}">
                            <a16:creationId xmlns:a16="http://schemas.microsoft.com/office/drawing/2014/main" id="{94A1B8A9-6FFE-CF7F-0163-2352239827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852738"/>
                        <a:ext cx="2663825" cy="663575"/>
                      </a:xfrm>
                      <a:prstGeom prst="rect">
                        <a:avLst/>
                      </a:prstGeom>
                      <a:solidFill>
                        <a:srgbClr val="E7E7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8B8B99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5">
            <a:extLst>
              <a:ext uri="{FF2B5EF4-FFF2-40B4-BE49-F238E27FC236}">
                <a16:creationId xmlns:a16="http://schemas.microsoft.com/office/drawing/2014/main" id="{8CAD5D7D-9824-DFEC-BFE1-F01CB75CA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5072063"/>
            <a:ext cx="1500187" cy="1071562"/>
          </a:xfrm>
          <a:prstGeom prst="cloudCallout">
            <a:avLst>
              <a:gd name="adj1" fmla="val 84395"/>
              <a:gd name="adj2" fmla="val -20147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Q</a:t>
            </a:r>
            <a:r>
              <a:rPr lang="en-US" altLang="zh-CN" sz="2800" dirty="0">
                <a:solidFill>
                  <a:srgbClr val="8D8D8D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&amp;</a:t>
            </a:r>
            <a:r>
              <a:rPr lang="en-US" altLang="zh-CN" sz="2800" dirty="0">
                <a:solidFill>
                  <a:schemeClr val="hlink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A</a:t>
            </a:r>
            <a:endParaRPr lang="zh-CN" altLang="en-US" sz="2800" dirty="0">
              <a:solidFill>
                <a:schemeClr val="hlink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9923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48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8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4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3" name="Rectangle 3">
            <a:extLst>
              <a:ext uri="{FF2B5EF4-FFF2-40B4-BE49-F238E27FC236}">
                <a16:creationId xmlns:a16="http://schemas.microsoft.com/office/drawing/2014/main" id="{B3CD753A-5414-0623-7B8D-6A6830A3A46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827088" y="1196975"/>
            <a:ext cx="7354887" cy="1944688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误码率</a:t>
            </a:r>
            <a:r>
              <a:rPr lang="zh-CN" altLang="en-US" sz="2800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i="1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i="1">
                <a:solidFill>
                  <a:schemeClr val="hlink"/>
                </a:solidFill>
                <a:latin typeface="Arial" panose="020B0604020202020204" pitchFamily="34" charset="0"/>
              </a:rPr>
              <a:t>P</a:t>
            </a:r>
            <a:r>
              <a:rPr lang="en-US" altLang="zh-CN" sz="2800" baseline="-25000">
                <a:solidFill>
                  <a:schemeClr val="hlink"/>
                </a:solidFill>
                <a:latin typeface="Arial" panose="020B0604020202020204" pitchFamily="34" charset="0"/>
              </a:rPr>
              <a:t>e</a:t>
            </a:r>
            <a:endParaRPr lang="en-US" altLang="zh-CN" sz="240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5000"/>
              </a:lnSpc>
              <a:buClr>
                <a:srgbClr val="6666FF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   </a:t>
            </a:r>
          </a:p>
        </p:txBody>
      </p:sp>
      <p:sp>
        <p:nvSpPr>
          <p:cNvPr id="450569" name="Rectangle 9">
            <a:extLst>
              <a:ext uri="{FF2B5EF4-FFF2-40B4-BE49-F238E27FC236}">
                <a16:creationId xmlns:a16="http://schemas.microsoft.com/office/drawing/2014/main" id="{7E8DDB8B-3E29-3A41-4339-C7FA8BC4F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5562600"/>
            <a:ext cx="7354888" cy="576263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31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Arial" charset="0"/>
              </a:rPr>
              <a:t>    </a:t>
            </a:r>
            <a:r>
              <a:rPr lang="zh-CN" altLang="en-US" sz="2400" b="1" dirty="0">
                <a:latin typeface="Arial" charset="0"/>
              </a:rPr>
              <a:t>二进制：</a:t>
            </a:r>
            <a:r>
              <a:rPr lang="en-US" altLang="zh-CN" sz="2400" b="1" i="1" dirty="0" err="1">
                <a:solidFill>
                  <a:srgbClr val="000099"/>
                </a:solidFill>
                <a:latin typeface="Arial" charset="0"/>
              </a:rPr>
              <a:t>P</a:t>
            </a:r>
            <a:r>
              <a:rPr lang="en-US" altLang="zh-CN" sz="2400" b="1" baseline="-25000" dirty="0" err="1">
                <a:solidFill>
                  <a:srgbClr val="000099"/>
                </a:solidFill>
                <a:latin typeface="Arial" charset="0"/>
              </a:rPr>
              <a:t>b</a:t>
            </a:r>
            <a:r>
              <a:rPr lang="en-US" altLang="zh-CN" sz="2400" b="1" dirty="0">
                <a:solidFill>
                  <a:srgbClr val="000099"/>
                </a:solidFill>
                <a:latin typeface="Arial" charset="0"/>
              </a:rPr>
              <a:t>=</a:t>
            </a:r>
            <a:r>
              <a:rPr lang="en-US" altLang="zh-CN" sz="2400" b="1" i="1" dirty="0" err="1">
                <a:solidFill>
                  <a:srgbClr val="000099"/>
                </a:solidFill>
                <a:latin typeface="Arial" charset="0"/>
              </a:rPr>
              <a:t>P</a:t>
            </a:r>
            <a:r>
              <a:rPr lang="en-US" altLang="zh-CN" sz="2400" b="1" baseline="-25000" dirty="0" err="1">
                <a:solidFill>
                  <a:srgbClr val="000099"/>
                </a:solidFill>
                <a:latin typeface="Arial" charset="0"/>
              </a:rPr>
              <a:t>e</a:t>
            </a:r>
            <a:r>
              <a:rPr lang="en-US" altLang="zh-CN" sz="2400" b="1" baseline="-25000" dirty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zh-CN" altLang="en-US" sz="2400" b="1" dirty="0">
                <a:latin typeface="Arial" charset="0"/>
              </a:rPr>
              <a:t>；  </a:t>
            </a:r>
            <a:r>
              <a:rPr lang="en-US" altLang="zh-CN" sz="2400" b="1" dirty="0">
                <a:latin typeface="Arial" charset="0"/>
              </a:rPr>
              <a:t>M</a:t>
            </a:r>
            <a:r>
              <a:rPr lang="zh-CN" altLang="en-US" sz="2400" b="1" dirty="0">
                <a:latin typeface="Arial" charset="0"/>
              </a:rPr>
              <a:t>进制：</a:t>
            </a:r>
            <a:r>
              <a:rPr lang="en-US" altLang="zh-CN" sz="2400" b="1" i="1" dirty="0">
                <a:solidFill>
                  <a:srgbClr val="000099"/>
                </a:solidFill>
                <a:latin typeface="Arial" charset="0"/>
              </a:rPr>
              <a:t>P</a:t>
            </a:r>
            <a:r>
              <a:rPr lang="en-US" altLang="zh-CN" sz="2400" b="1" baseline="-25000" dirty="0">
                <a:solidFill>
                  <a:srgbClr val="000099"/>
                </a:solidFill>
                <a:latin typeface="Arial" charset="0"/>
              </a:rPr>
              <a:t>b</a:t>
            </a:r>
            <a:r>
              <a:rPr lang="en-US" altLang="zh-CN" sz="2400" b="1" dirty="0">
                <a:solidFill>
                  <a:srgbClr val="000099"/>
                </a:solidFill>
                <a:latin typeface="Arial" charset="0"/>
              </a:rPr>
              <a:t>&lt;</a:t>
            </a:r>
            <a:r>
              <a:rPr lang="en-US" altLang="zh-CN" sz="2400" b="1" i="1" dirty="0">
                <a:solidFill>
                  <a:srgbClr val="000099"/>
                </a:solidFill>
                <a:latin typeface="Arial" charset="0"/>
              </a:rPr>
              <a:t>P</a:t>
            </a:r>
            <a:r>
              <a:rPr lang="en-US" altLang="zh-CN" sz="2400" b="1" baseline="-25000" dirty="0">
                <a:solidFill>
                  <a:srgbClr val="000099"/>
                </a:solidFill>
                <a:latin typeface="Arial" charset="0"/>
              </a:rPr>
              <a:t>e</a:t>
            </a:r>
            <a:r>
              <a:rPr lang="en-US" altLang="zh-CN" sz="2800" b="1" baseline="-25000" dirty="0">
                <a:solidFill>
                  <a:srgbClr val="000099"/>
                </a:solidFill>
                <a:latin typeface="Arial" charset="0"/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  <a:latin typeface="Arial" charset="0"/>
              </a:rPr>
              <a:t>；</a:t>
            </a:r>
            <a:endParaRPr lang="en-US" altLang="zh-CN" sz="2400" b="1" baseline="-250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450574" name="Rectangle 14">
            <a:extLst>
              <a:ext uri="{FF2B5EF4-FFF2-40B4-BE49-F238E27FC236}">
                <a16:creationId xmlns:a16="http://schemas.microsoft.com/office/drawing/2014/main" id="{747190EB-9311-6B6B-6A59-171C969C9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284538"/>
            <a:ext cx="7354887" cy="19446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）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误信率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误比特率）</a:t>
            </a:r>
            <a:r>
              <a:rPr lang="zh-CN" altLang="en-US" sz="2400" i="1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i="1">
                <a:solidFill>
                  <a:schemeClr val="hlink"/>
                </a:solidFill>
                <a:latin typeface="Arial" panose="020B0604020202020204" pitchFamily="34" charset="0"/>
              </a:rPr>
              <a:t>P</a:t>
            </a:r>
            <a:r>
              <a:rPr lang="en-US" altLang="zh-CN" sz="2800" baseline="-25000">
                <a:solidFill>
                  <a:schemeClr val="hlink"/>
                </a:solidFill>
                <a:latin typeface="Arial" panose="020B0604020202020204" pitchFamily="34" charset="0"/>
              </a:rPr>
              <a:t>b</a:t>
            </a:r>
            <a:endParaRPr lang="en-US" altLang="zh-CN" sz="240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  <a:buClr>
                <a:srgbClr val="6666FF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   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A8F3B1F-8391-3527-856F-EAD6E98A5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350" y="361950"/>
            <a:ext cx="6800850" cy="584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FF0000"/>
              </a:buClr>
              <a:buSzPct val="65000"/>
              <a:defRPr/>
            </a:pP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数字通信系统的</a:t>
            </a:r>
            <a:r>
              <a:rPr lang="zh-CN" altLang="en-US" sz="32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可靠性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指标</a:t>
            </a:r>
            <a:endParaRPr lang="zh-CN" altLang="en-US" sz="32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17418" name="Picture 10">
            <a:extLst>
              <a:ext uri="{FF2B5EF4-FFF2-40B4-BE49-F238E27FC236}">
                <a16:creationId xmlns:a16="http://schemas.microsoft.com/office/drawing/2014/main" id="{20AE2707-3C63-3F21-D6BB-3BDE0600A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893"/>
          <a:stretch>
            <a:fillRect/>
          </a:stretch>
        </p:blipFill>
        <p:spPr bwMode="auto">
          <a:xfrm>
            <a:off x="2816225" y="1873250"/>
            <a:ext cx="3800475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1DBDCB9E-5818-B6C9-7E2F-C1B68BA7A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50"/>
          <a:stretch>
            <a:fillRect/>
          </a:stretch>
        </p:blipFill>
        <p:spPr bwMode="auto">
          <a:xfrm>
            <a:off x="2838450" y="3962400"/>
            <a:ext cx="3800475" cy="126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00879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50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1000"/>
                                        <p:tgtEl>
                                          <p:spTgt spid="45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3" grpId="0" build="allAtOnce"/>
      <p:bldP spid="450569" grpId="0" animBg="1"/>
      <p:bldP spid="450574" grpId="0" build="allAtOnce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F549B26-47E1-280A-2E7F-8F71D451E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1214438"/>
            <a:ext cx="7127875" cy="421481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 eaLnBrk="1" hangingPunct="1">
              <a:lnSpc>
                <a:spcPts val="4800"/>
              </a:lnSpc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None/>
              <a:tabLst>
                <a:tab pos="3595688" algn="l"/>
              </a:tabLst>
              <a:defRPr/>
            </a:pPr>
            <a:r>
              <a:rPr lang="zh-CN" altLang="en-US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3200" b="1" kern="0" dirty="0">
                <a:solidFill>
                  <a:srgbClr val="003399"/>
                </a:solidFill>
                <a:latin typeface="+mn-lt"/>
                <a:ea typeface="微软雅黑" pitchFamily="34" charset="-122"/>
              </a:rPr>
              <a:t>本章小结：</a:t>
            </a:r>
          </a:p>
          <a:p>
            <a:pPr marL="1200150" lvl="2" indent="-285750" eaLnBrk="1" hangingPunct="1">
              <a:lnSpc>
                <a:spcPts val="48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l"/>
              <a:tabLst>
                <a:tab pos="3595688" algn="l"/>
              </a:tabLst>
              <a:defRPr/>
            </a:pPr>
            <a:r>
              <a:rPr lang="zh-CN" altLang="en-US" sz="2800" b="1" kern="0" dirty="0">
                <a:latin typeface="+mn-lt"/>
                <a:ea typeface="+mn-ea"/>
              </a:rPr>
              <a:t> </a:t>
            </a:r>
            <a:r>
              <a:rPr lang="zh-CN" altLang="en-US" sz="2800" kern="0" dirty="0">
                <a:latin typeface="+mn-lt"/>
                <a:ea typeface="黑体" pitchFamily="2" charset="-122"/>
                <a:cs typeface="Arial" charset="0"/>
              </a:rPr>
              <a:t>术语，模型，分类，通信方式</a:t>
            </a:r>
          </a:p>
          <a:p>
            <a:pPr marL="1200150" lvl="2" indent="-285750" eaLnBrk="1" hangingPunct="1">
              <a:lnSpc>
                <a:spcPts val="48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l"/>
              <a:tabLst>
                <a:tab pos="3595688" algn="l"/>
              </a:tabLst>
              <a:defRPr/>
            </a:pPr>
            <a:r>
              <a:rPr lang="zh-CN" altLang="en-US" sz="2800" kern="0" dirty="0">
                <a:latin typeface="+mn-lt"/>
                <a:ea typeface="黑体" pitchFamily="2" charset="-122"/>
                <a:cs typeface="Arial" charset="0"/>
              </a:rPr>
              <a:t> 数字通信的优缺点</a:t>
            </a:r>
          </a:p>
          <a:p>
            <a:pPr marL="1200150" lvl="2" indent="-285750" eaLnBrk="1" hangingPunct="1">
              <a:lnSpc>
                <a:spcPts val="48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l"/>
              <a:tabLst>
                <a:tab pos="3595688" algn="l"/>
              </a:tabLst>
              <a:defRPr/>
            </a:pPr>
            <a:r>
              <a:rPr lang="zh-CN" altLang="en-US" sz="2800" kern="0" dirty="0">
                <a:latin typeface="+mn-lt"/>
                <a:ea typeface="黑体" pitchFamily="2" charset="-122"/>
                <a:cs typeface="Arial" charset="0"/>
              </a:rPr>
              <a:t> 信息量：</a:t>
            </a:r>
            <a:r>
              <a:rPr lang="en-US" altLang="zh-CN" sz="2800" i="1" kern="0" dirty="0">
                <a:latin typeface="+mn-lt"/>
                <a:ea typeface="黑体" pitchFamily="2" charset="-122"/>
                <a:cs typeface="Arial" charset="0"/>
              </a:rPr>
              <a:t>I</a:t>
            </a:r>
            <a:r>
              <a:rPr lang="en-US" altLang="zh-CN" sz="2800" kern="0" baseline="-25000" dirty="0">
                <a:latin typeface="+mn-lt"/>
                <a:ea typeface="黑体" pitchFamily="2" charset="-122"/>
                <a:cs typeface="Arial" charset="0"/>
              </a:rPr>
              <a:t>i  </a:t>
            </a:r>
            <a:r>
              <a:rPr lang="zh-CN" altLang="en-US" sz="2800" kern="0" dirty="0">
                <a:latin typeface="+mn-lt"/>
                <a:ea typeface="黑体" pitchFamily="2" charset="-122"/>
                <a:cs typeface="Arial" charset="0"/>
              </a:rPr>
              <a:t>，</a:t>
            </a:r>
            <a:r>
              <a:rPr lang="en-US" altLang="zh-CN" sz="2800" i="1" kern="0" dirty="0">
                <a:latin typeface="+mn-lt"/>
                <a:ea typeface="黑体" pitchFamily="2" charset="-122"/>
                <a:cs typeface="Arial" charset="0"/>
              </a:rPr>
              <a:t>H</a:t>
            </a:r>
            <a:r>
              <a:rPr lang="zh-CN" altLang="en-US" sz="2800" kern="0" dirty="0">
                <a:latin typeface="+mn-lt"/>
                <a:ea typeface="黑体" pitchFamily="2" charset="-122"/>
                <a:cs typeface="Arial" charset="0"/>
              </a:rPr>
              <a:t>，</a:t>
            </a:r>
            <a:r>
              <a:rPr lang="en-US" altLang="zh-CN" sz="2800" i="1" kern="0" dirty="0">
                <a:latin typeface="+mn-lt"/>
                <a:ea typeface="黑体" pitchFamily="2" charset="-122"/>
                <a:cs typeface="Arial" charset="0"/>
              </a:rPr>
              <a:t>I</a:t>
            </a:r>
            <a:r>
              <a:rPr lang="zh-CN" altLang="en-US" sz="2800" kern="0" baseline="-25000" dirty="0">
                <a:latin typeface="+mn-lt"/>
                <a:ea typeface="黑体" pitchFamily="2" charset="-122"/>
                <a:cs typeface="Arial" charset="0"/>
              </a:rPr>
              <a:t>总</a:t>
            </a:r>
          </a:p>
          <a:p>
            <a:pPr marL="1200150" lvl="2" indent="-285750" eaLnBrk="1" hangingPunct="1">
              <a:lnSpc>
                <a:spcPts val="48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l"/>
              <a:tabLst>
                <a:tab pos="3595688" algn="l"/>
              </a:tabLst>
              <a:defRPr/>
            </a:pPr>
            <a:r>
              <a:rPr lang="zh-CN" altLang="en-US" sz="2800" kern="0" dirty="0">
                <a:latin typeface="+mn-lt"/>
                <a:ea typeface="黑体" pitchFamily="2" charset="-122"/>
                <a:cs typeface="Arial" charset="0"/>
              </a:rPr>
              <a:t>  </a:t>
            </a:r>
            <a:r>
              <a:rPr lang="en-US" altLang="zh-CN" sz="2800" kern="0" dirty="0">
                <a:latin typeface="+mn-lt"/>
                <a:ea typeface="黑体" pitchFamily="2" charset="-122"/>
                <a:cs typeface="Arial" charset="0"/>
              </a:rPr>
              <a:t>R</a:t>
            </a:r>
            <a:r>
              <a:rPr lang="en-US" altLang="zh-CN" sz="2800" kern="0" baseline="-25000" dirty="0">
                <a:latin typeface="+mn-lt"/>
                <a:ea typeface="黑体" pitchFamily="2" charset="-122"/>
                <a:cs typeface="Arial" charset="0"/>
              </a:rPr>
              <a:t>B</a:t>
            </a:r>
            <a:r>
              <a:rPr lang="zh-CN" altLang="en-US" sz="2800" kern="0" dirty="0">
                <a:latin typeface="+mn-lt"/>
                <a:ea typeface="黑体" pitchFamily="2" charset="-122"/>
                <a:cs typeface="Arial" charset="0"/>
              </a:rPr>
              <a:t>，</a:t>
            </a:r>
            <a:r>
              <a:rPr lang="en-US" altLang="zh-CN" sz="2800" kern="0" dirty="0" err="1">
                <a:latin typeface="+mn-lt"/>
                <a:ea typeface="黑体" pitchFamily="2" charset="-122"/>
                <a:cs typeface="Arial" charset="0"/>
              </a:rPr>
              <a:t>R</a:t>
            </a:r>
            <a:r>
              <a:rPr lang="en-US" altLang="zh-CN" sz="2800" kern="0" baseline="-25000" dirty="0" err="1">
                <a:latin typeface="+mn-lt"/>
                <a:ea typeface="黑体" pitchFamily="2" charset="-122"/>
                <a:cs typeface="Arial" charset="0"/>
              </a:rPr>
              <a:t>b</a:t>
            </a:r>
            <a:r>
              <a:rPr lang="zh-CN" altLang="en-US" sz="2800" kern="0" dirty="0">
                <a:latin typeface="+mn-lt"/>
                <a:ea typeface="黑体" pitchFamily="2" charset="-122"/>
                <a:cs typeface="Arial" charset="0"/>
              </a:rPr>
              <a:t>，</a:t>
            </a:r>
            <a:r>
              <a:rPr lang="el-GR" altLang="zh-CN" sz="2800" kern="0" dirty="0">
                <a:latin typeface="+mn-lt"/>
                <a:ea typeface="黑体" pitchFamily="2" charset="-122"/>
                <a:cs typeface="Arial" charset="0"/>
              </a:rPr>
              <a:t>η</a:t>
            </a:r>
            <a:r>
              <a:rPr lang="zh-CN" altLang="en-US" sz="2800" kern="0" dirty="0">
                <a:latin typeface="+mn-lt"/>
                <a:ea typeface="黑体" pitchFamily="2" charset="-122"/>
                <a:cs typeface="Arial" charset="0"/>
              </a:rPr>
              <a:t>；</a:t>
            </a:r>
            <a:r>
              <a:rPr lang="en-US" altLang="zh-CN" sz="2800" i="1" kern="0" dirty="0" err="1">
                <a:latin typeface="+mn-lt"/>
                <a:ea typeface="黑体" pitchFamily="2" charset="-122"/>
                <a:cs typeface="Arial" charset="0"/>
              </a:rPr>
              <a:t>P</a:t>
            </a:r>
            <a:r>
              <a:rPr lang="en-US" altLang="zh-CN" sz="2800" kern="0" baseline="-25000" dirty="0" err="1">
                <a:latin typeface="+mn-lt"/>
                <a:ea typeface="黑体" pitchFamily="2" charset="-122"/>
                <a:cs typeface="Arial" charset="0"/>
              </a:rPr>
              <a:t>e</a:t>
            </a:r>
            <a:r>
              <a:rPr lang="en-US" altLang="zh-CN" sz="2800" kern="0" dirty="0">
                <a:latin typeface="+mn-lt"/>
                <a:ea typeface="黑体" pitchFamily="2" charset="-122"/>
                <a:cs typeface="Arial" charset="0"/>
              </a:rPr>
              <a:t> </a:t>
            </a:r>
            <a:r>
              <a:rPr lang="zh-CN" altLang="en-US" sz="2800" kern="0" dirty="0">
                <a:latin typeface="+mn-lt"/>
                <a:ea typeface="黑体" pitchFamily="2" charset="-122"/>
                <a:cs typeface="Arial" charset="0"/>
              </a:rPr>
              <a:t>，</a:t>
            </a:r>
            <a:r>
              <a:rPr lang="en-US" altLang="zh-CN" sz="2800" i="1" kern="0" dirty="0" err="1">
                <a:latin typeface="+mn-lt"/>
                <a:ea typeface="黑体" pitchFamily="2" charset="-122"/>
                <a:cs typeface="Arial" charset="0"/>
              </a:rPr>
              <a:t>P</a:t>
            </a:r>
            <a:r>
              <a:rPr lang="en-US" altLang="zh-CN" sz="2800" kern="0" baseline="-25000" dirty="0" err="1">
                <a:latin typeface="+mn-lt"/>
                <a:ea typeface="黑体" pitchFamily="2" charset="-122"/>
                <a:cs typeface="Arial" charset="0"/>
              </a:rPr>
              <a:t>b</a:t>
            </a:r>
            <a:r>
              <a:rPr lang="en-US" altLang="zh-CN" sz="3200" kern="0" dirty="0">
                <a:latin typeface="+mn-lt"/>
                <a:ea typeface="黑体" pitchFamily="2" charset="-122"/>
                <a:cs typeface="Arial" charset="0"/>
              </a:rPr>
              <a:t>   </a:t>
            </a:r>
            <a:r>
              <a:rPr lang="en-US" altLang="zh-CN" sz="3200" kern="0" dirty="0">
                <a:latin typeface="+mn-lt"/>
                <a:ea typeface="+mn-ea"/>
              </a:rPr>
              <a:t>                             </a:t>
            </a:r>
            <a:endParaRPr lang="en-US" altLang="zh-CN" sz="3200" kern="0" dirty="0">
              <a:latin typeface="+mn-lt"/>
              <a:ea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407188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F31CFE-30EE-4BFB-C70C-14986B70E4EE}"/>
              </a:ext>
            </a:extLst>
          </p:cNvPr>
          <p:cNvSpPr txBox="1">
            <a:spLocks/>
          </p:cNvSpPr>
          <p:nvPr/>
        </p:nvSpPr>
        <p:spPr bwMode="auto">
          <a:xfrm>
            <a:off x="2857500" y="2482850"/>
            <a:ext cx="4143375" cy="151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7200" kern="0" dirty="0">
                <a:solidFill>
                  <a:srgbClr val="003399"/>
                </a:solidFill>
                <a:latin typeface="隶书" pitchFamily="49" charset="-122"/>
                <a:ea typeface="隶书" pitchFamily="49" charset="-122"/>
              </a:rPr>
              <a:t> 谢谢！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3.8|5|2|12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27.3|14.4|79|19.3|39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4|7|5.2|141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.6|5.6|4.6|2.4|6.3|9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2.2|1.1|1.4|19.4|1.3|1.5|12.6|0.9|8.7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1.8|1.7|20.2|30.7|54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4|1.7|37.9|10.1|89.9|34.3|24.7|8.3|6.2|3.7|0.4|5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3.8|10.1|12.9|3.1|15.4|11.1|1.3|10.9|3.6|9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1.4|8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36.5|7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3.8|28.4|7.2|22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9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9|8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20.8|4.3|21.4|14.1|1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6|5.3|6.9|8.9|9.3|41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2.5|5.4|2.8|2.8|7.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3.8|14.3|5.9|6.6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5689</TotalTime>
  <Words>1978</Words>
  <Application>Microsoft Macintosh PowerPoint</Application>
  <PresentationFormat>On-screen Show (4:3)</PresentationFormat>
  <Paragraphs>321</Paragraphs>
  <Slides>36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51" baseType="lpstr">
      <vt:lpstr>Color Emoji</vt:lpstr>
      <vt:lpstr>楷体_GB2312</vt:lpstr>
      <vt:lpstr>隶书</vt:lpstr>
      <vt:lpstr>微软雅黑</vt:lpstr>
      <vt:lpstr>黑体</vt:lpstr>
      <vt:lpstr>宋体</vt:lpstr>
      <vt:lpstr>Arial</vt:lpstr>
      <vt:lpstr>Arial Black</vt:lpstr>
      <vt:lpstr>Helvetica</vt:lpstr>
      <vt:lpstr>Times New Roman</vt:lpstr>
      <vt:lpstr>Wingdings</vt:lpstr>
      <vt:lpstr>Pixel</vt:lpstr>
      <vt:lpstr>公式</vt:lpstr>
      <vt:lpstr>Visio</vt:lpstr>
      <vt:lpstr>Equation</vt:lpstr>
      <vt:lpstr>PowerPoint Presentation</vt:lpstr>
      <vt:lpstr>PowerPoint Presentation</vt:lpstr>
      <vt:lpstr>课程考核方式</vt:lpstr>
      <vt:lpstr>本课程课程资料链接:(同步更新)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Jiangnan 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江南大学</dc:title>
  <dc:subject/>
  <dc:creator>cgy</dc:creator>
  <cp:keywords/>
  <dc:description/>
  <cp:lastModifiedBy>GY Chu</cp:lastModifiedBy>
  <cp:revision>645</cp:revision>
  <cp:lastPrinted>2024-09-09T01:20:36Z</cp:lastPrinted>
  <dcterms:created xsi:type="dcterms:W3CDTF">1601-01-01T00:00:00Z</dcterms:created>
  <dcterms:modified xsi:type="dcterms:W3CDTF">2026-09-07T03:29:19Z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