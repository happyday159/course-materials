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44"/>
  </p:notesMasterIdLst>
  <p:handoutMasterIdLst>
    <p:handoutMasterId r:id="rId45"/>
  </p:handoutMasterIdLst>
  <p:sldIdLst>
    <p:sldId id="278" r:id="rId2"/>
    <p:sldId id="313" r:id="rId3"/>
    <p:sldId id="489" r:id="rId4"/>
    <p:sldId id="490" r:id="rId5"/>
    <p:sldId id="491" r:id="rId6"/>
    <p:sldId id="492" r:id="rId7"/>
    <p:sldId id="493" r:id="rId8"/>
    <p:sldId id="494" r:id="rId9"/>
    <p:sldId id="495" r:id="rId10"/>
    <p:sldId id="496" r:id="rId11"/>
    <p:sldId id="497" r:id="rId12"/>
    <p:sldId id="498" r:id="rId13"/>
    <p:sldId id="499" r:id="rId14"/>
    <p:sldId id="500" r:id="rId15"/>
    <p:sldId id="501" r:id="rId16"/>
    <p:sldId id="502" r:id="rId17"/>
    <p:sldId id="503" r:id="rId18"/>
    <p:sldId id="504" r:id="rId19"/>
    <p:sldId id="505" r:id="rId20"/>
    <p:sldId id="506" r:id="rId21"/>
    <p:sldId id="507" r:id="rId22"/>
    <p:sldId id="508" r:id="rId23"/>
    <p:sldId id="509" r:id="rId24"/>
    <p:sldId id="510" r:id="rId25"/>
    <p:sldId id="551" r:id="rId26"/>
    <p:sldId id="552" r:id="rId27"/>
    <p:sldId id="553" r:id="rId28"/>
    <p:sldId id="554" r:id="rId29"/>
    <p:sldId id="555" r:id="rId30"/>
    <p:sldId id="556" r:id="rId31"/>
    <p:sldId id="557" r:id="rId32"/>
    <p:sldId id="558" r:id="rId33"/>
    <p:sldId id="559" r:id="rId34"/>
    <p:sldId id="560" r:id="rId35"/>
    <p:sldId id="561" r:id="rId36"/>
    <p:sldId id="562" r:id="rId37"/>
    <p:sldId id="563" r:id="rId38"/>
    <p:sldId id="564" r:id="rId39"/>
    <p:sldId id="565" r:id="rId40"/>
    <p:sldId id="566" r:id="rId41"/>
    <p:sldId id="567" r:id="rId42"/>
    <p:sldId id="568" r:id="rId43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000000"/>
    <a:srgbClr val="FF0066"/>
    <a:srgbClr val="CC3300"/>
    <a:srgbClr val="0000FF"/>
    <a:srgbClr val="FF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88529" autoAdjust="0"/>
  </p:normalViewPr>
  <p:slideViewPr>
    <p:cSldViewPr>
      <p:cViewPr varScale="1">
        <p:scale>
          <a:sx n="127" d="100"/>
          <a:sy n="127" d="100"/>
        </p:scale>
        <p:origin x="1744" y="192"/>
      </p:cViewPr>
      <p:guideLst>
        <p:guide orient="horz" pos="2160"/>
        <p:guide pos="2880"/>
      </p:guideLst>
    </p:cSldViewPr>
  </p:slid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2880" cy="18288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837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6FCE91A-0762-430C-9443-008F3C58F77C}" type="datetimeFigureOut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009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837" y="9428009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2E26172-585F-4C17-8FC6-7CB045F67F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5811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837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009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837" y="9428009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CD0BF65-707B-463A-8A80-1512746788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049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1">
                <a:latin typeface="Arial" panose="020B0604020202020204" pitchFamily="34" charset="0"/>
              </a:rPr>
              <a:t>星座图</a:t>
            </a:r>
            <a:r>
              <a:rPr lang="en-US" altLang="zh-CN" b="1">
                <a:latin typeface="Arial" panose="020B0604020202020204" pitchFamily="34" charset="0"/>
              </a:rPr>
              <a:t>——</a:t>
            </a:r>
            <a:r>
              <a:rPr lang="zh-CN" altLang="en-US" b="1">
                <a:solidFill>
                  <a:srgbClr val="0000CC"/>
                </a:solidFill>
                <a:latin typeface="Arial" panose="020B0604020202020204" pitchFamily="34" charset="0"/>
              </a:rPr>
              <a:t>信号矢量端点的分布图。</a:t>
            </a:r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035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由</a:t>
            </a:r>
            <a:r>
              <a:rPr lang="en-US" altLang="zh-CN">
                <a:latin typeface="Arial" panose="020B0604020202020204" pitchFamily="34" charset="0"/>
              </a:rPr>
              <a:t>MPSK</a:t>
            </a:r>
            <a:r>
              <a:rPr lang="zh-CN" altLang="en-US">
                <a:latin typeface="Arial" panose="020B0604020202020204" pitchFamily="34" charset="0"/>
              </a:rPr>
              <a:t>的星座图可见，所有信号点（图中黑点）平均分布在一个圆周上，圆周半径就等于该信号的幅度。  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      在信号幅度相同（功率相等）的条件下，</a:t>
            </a:r>
            <a:r>
              <a:rPr lang="en-US" altLang="zh-CN">
                <a:latin typeface="Arial" panose="020B0604020202020204" pitchFamily="34" charset="0"/>
              </a:rPr>
              <a:t>8PSK</a:t>
            </a:r>
            <a:r>
              <a:rPr lang="zh-CN" altLang="en-US">
                <a:latin typeface="Arial" panose="020B0604020202020204" pitchFamily="34" charset="0"/>
              </a:rPr>
              <a:t>相邻信号点的距离比</a:t>
            </a:r>
            <a:r>
              <a:rPr lang="en-US" altLang="zh-CN">
                <a:latin typeface="Arial" panose="020B0604020202020204" pitchFamily="34" charset="0"/>
              </a:rPr>
              <a:t>4PSK</a:t>
            </a:r>
            <a:r>
              <a:rPr lang="zh-CN" altLang="en-US">
                <a:latin typeface="Arial" panose="020B0604020202020204" pitchFamily="34" charset="0"/>
              </a:rPr>
              <a:t>的小，并且随着 </a:t>
            </a:r>
            <a:r>
              <a:rPr lang="en-US" altLang="zh-CN" b="1">
                <a:latin typeface="Arial" panose="020B0604020202020204" pitchFamily="34" charset="0"/>
              </a:rPr>
              <a:t>M </a:t>
            </a:r>
            <a:r>
              <a:rPr lang="zh-CN" altLang="en-US">
                <a:latin typeface="Arial" panose="020B0604020202020204" pitchFamily="34" charset="0"/>
              </a:rPr>
              <a:t>的增加，星座图上的相邻信号点的距离会越来越小。这意味着在相同噪声条件下，系统的误码率增大。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由</a:t>
            </a:r>
            <a:r>
              <a:rPr lang="en-US" altLang="zh-CN">
                <a:latin typeface="Arial" panose="020B0604020202020204" pitchFamily="34" charset="0"/>
              </a:rPr>
              <a:t>MPSK</a:t>
            </a:r>
            <a:r>
              <a:rPr lang="zh-CN" altLang="en-US">
                <a:latin typeface="Arial" panose="020B0604020202020204" pitchFamily="34" charset="0"/>
              </a:rPr>
              <a:t>的星座图可见，所有信号点（图中黑点）平均分布在一个圆周上，圆周半径就等于该信号的幅度。  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      在信号幅度相同（功率相等）的条件下，</a:t>
            </a:r>
            <a:r>
              <a:rPr lang="en-US" altLang="zh-CN">
                <a:latin typeface="Arial" panose="020B0604020202020204" pitchFamily="34" charset="0"/>
              </a:rPr>
              <a:t>8PSK</a:t>
            </a:r>
            <a:r>
              <a:rPr lang="zh-CN" altLang="en-US">
                <a:latin typeface="Arial" panose="020B0604020202020204" pitchFamily="34" charset="0"/>
              </a:rPr>
              <a:t>相邻信号点的距离比</a:t>
            </a:r>
            <a:r>
              <a:rPr lang="en-US" altLang="zh-CN">
                <a:latin typeface="Arial" panose="020B0604020202020204" pitchFamily="34" charset="0"/>
              </a:rPr>
              <a:t>4PSK</a:t>
            </a:r>
            <a:r>
              <a:rPr lang="zh-CN" altLang="en-US">
                <a:latin typeface="Arial" panose="020B0604020202020204" pitchFamily="34" charset="0"/>
              </a:rPr>
              <a:t>的小，并且随着 </a:t>
            </a:r>
            <a:r>
              <a:rPr lang="en-US" altLang="zh-CN" b="1">
                <a:latin typeface="Arial" panose="020B0604020202020204" pitchFamily="34" charset="0"/>
              </a:rPr>
              <a:t>M </a:t>
            </a:r>
            <a:r>
              <a:rPr lang="zh-CN" altLang="en-US">
                <a:latin typeface="Arial" panose="020B0604020202020204" pitchFamily="34" charset="0"/>
              </a:rPr>
              <a:t>的增加，星座图上的相邻信号点的距离会越来越小。这意味着在相同噪声条件下，系统的误码率增大。</a:t>
            </a:r>
          </a:p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460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D61088-C8B8-450A-8F9F-7021F5EE2D64}" type="slidenum">
              <a:rPr lang="en-US" altLang="zh-CN">
                <a:latin typeface="Arial" panose="020B0604020202020204" pitchFamily="34" charset="0"/>
              </a:rPr>
              <a:pPr eaLnBrk="1" hangingPunct="1"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261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16PSK</a:t>
            </a:r>
            <a:r>
              <a:rPr lang="zh-CN" altLang="en-US">
                <a:latin typeface="Arial" panose="020B0604020202020204" pitchFamily="34" charset="0"/>
              </a:rPr>
              <a:t>信号的平均功率（振幅）就等于其最大功率（振幅）</a:t>
            </a:r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745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06DA9E-EB98-4E59-BC39-1A5A208FEA5E}" type="slidenum">
              <a:rPr lang="zh-CN" altLang="en-US">
                <a:latin typeface="Arial" panose="020B0604020202020204" pitchFamily="34" charset="0"/>
              </a:rPr>
              <a:pPr eaLnBrk="1" hangingPunct="1"/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440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indent="266700">
              <a:defRPr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①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所谓“最小”是指这种调制方式能以最小的调制指数（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0.5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）获得正交信号；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indent="266700">
              <a:defRPr/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②正交的信号，接收时便于分离。</a:t>
            </a:r>
            <a:endParaRPr lang="zh-CN" altLang="en-US" dirty="0">
              <a:latin typeface="Arial" pitchFamily="34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20EA7DC-7D93-411D-B222-D3464EA56035}" type="slidenum">
              <a:rPr lang="zh-CN" altLang="en-US">
                <a:latin typeface="Arial" panose="020B0604020202020204" pitchFamily="34" charset="0"/>
              </a:rPr>
              <a:pPr eaLnBrk="1" hangingPunct="1"/>
              <a:t>24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515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华文中宋" panose="02010600040101010101" pitchFamily="2" charset="-122"/>
              </a:rPr>
              <a:t>均衡可消除</a:t>
            </a:r>
            <a:r>
              <a:rPr lang="en-US" altLang="zh-CN" b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ISI</a:t>
            </a:r>
            <a:r>
              <a:rPr lang="zh-CN" altLang="en-US">
                <a:latin typeface="Arial" panose="020B0604020202020204" pitchFamily="34" charset="0"/>
                <a:ea typeface="华文中宋" panose="02010600040101010101" pitchFamily="2" charset="-122"/>
              </a:rPr>
              <a:t>，但 需复杂的均衡算法。</a:t>
            </a:r>
            <a:endParaRPr lang="zh-CN" altLang="en-US">
              <a:latin typeface="Arial" panose="020B0604020202020204" pitchFamily="34" charset="0"/>
            </a:endParaRP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FEEB647-9802-4DD7-86D8-BA69EFAE7BDC}" type="slidenum">
              <a:rPr lang="zh-CN" altLang="en-US">
                <a:latin typeface="Arial" panose="020B0604020202020204" pitchFamily="34" charset="0"/>
              </a:rPr>
              <a:pPr eaLnBrk="1" hangingPunct="1"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876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01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F4DD2-422A-41DA-9080-89F305368B8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1C54B-5A19-4882-95F9-107653956FBD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20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D2F65-437E-4789-9831-A844E3644B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ACA6D-885F-49EB-92D5-E6D1F40F1089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842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BB8D3-24C0-4B63-9816-594584F32F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33A43-3A4A-4271-9334-0943030C10F8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95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21131-2DDB-411F-B40F-C5ABF2A2CE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A1029-0DCA-43B1-945D-5C0BD72BACA2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62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ACB1B-25F5-42C2-8C17-05F7901526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B9F4F-83BB-4507-8E1C-200674B3B7F7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82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F8DD2-70FB-48AA-9613-8154DC6E27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B11F7-9194-4353-AFE0-A72EBEBAE035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39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9163E-8B72-4631-811E-3AC619DBDC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2AC5A-D3A4-4F46-B6FC-7437E0F6051A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20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5EEE5-1961-4C2C-AF86-4DC5702EEF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B4C5C-A613-4ECF-BA87-F5EBD84C43BA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849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97A8E-9E9F-4DED-B9B7-D9DED5BB43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4689DC-9171-4E69-80DB-FB7D4349460D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121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48E3B6-BC36-46B8-B2CB-9FEFFD43BC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88241-8567-49B0-9390-BD0DBD608791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8196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A73E6-4913-456D-8627-5940B84A4C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1CDEB-05FF-4761-AA2B-489AF6EAA877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9420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6CE11-B1EC-4C7A-B5A8-8C1DF5EFB53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81FDD5-F9D6-4059-A502-4B4009CAE0EA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3525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32A31C-E524-49F5-BE35-669D1870EA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98FBD-1204-4D3F-AC57-8D238E0D213C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130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C5319-BD06-46C7-B55D-C3F7BD61CD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89965-BF5B-4164-9027-C65F7B0E7849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496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31" name="Picture 14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20638"/>
            <a:ext cx="1281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20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11" Type="http://schemas.openxmlformats.org/officeDocument/2006/relationships/image" Target="../media/image22.wmf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5.bin"/><Relationship Id="rId4" Type="http://schemas.openxmlformats.org/officeDocument/2006/relationships/image" Target="../media/image18.wmf"/><Relationship Id="rId9" Type="http://schemas.openxmlformats.org/officeDocument/2006/relationships/image" Target="../media/image2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jpe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1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1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4.wmf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7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89865"/>
            <a:ext cx="2736176" cy="79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17487" y="1234440"/>
            <a:ext cx="8709025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通信原理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0459" y="2697480"/>
            <a:ext cx="6583680" cy="18288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None/>
              <a:defRPr/>
            </a:pPr>
            <a:r>
              <a:rPr lang="zh-CN" altLang="en-US" sz="4800" b="1" i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新型数字带通调制技术</a:t>
            </a:r>
            <a:endParaRPr lang="en-US" altLang="zh-CN" sz="4800" b="1" i="1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40480" y="1600200"/>
            <a:ext cx="13436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600" b="1" kern="0" dirty="0">
                <a:solidFill>
                  <a:srgbClr val="003399"/>
                </a:solidFill>
                <a:latin typeface="+mj-ea"/>
                <a:ea typeface="+mj-ea"/>
              </a:rPr>
              <a:t>第</a:t>
            </a:r>
            <a:r>
              <a:rPr lang="en-US" altLang="zh-CN" sz="3600" b="1" kern="0" dirty="0">
                <a:solidFill>
                  <a:srgbClr val="7030A0"/>
                </a:solidFill>
                <a:latin typeface="+mj-ea"/>
                <a:ea typeface="+mj-ea"/>
                <a:cs typeface="Arial" pitchFamily="34" charset="0"/>
              </a:rPr>
              <a:t>8</a:t>
            </a:r>
            <a:r>
              <a:rPr lang="zh-CN" altLang="en-US" sz="3600" b="1" kern="0" dirty="0">
                <a:solidFill>
                  <a:srgbClr val="003399"/>
                </a:solidFill>
                <a:latin typeface="+mj-ea"/>
                <a:ea typeface="+mj-ea"/>
              </a:rPr>
              <a:t>章</a:t>
            </a:r>
            <a:endParaRPr lang="zh-CN" altLang="en-US" sz="3600" b="1" dirty="0">
              <a:solidFill>
                <a:srgbClr val="003399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0990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9588" y="1917700"/>
            <a:ext cx="6721475" cy="431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800"/>
              </a:lnSpc>
              <a:buClr>
                <a:srgbClr val="969696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正交</a:t>
            </a:r>
            <a:r>
              <a:rPr lang="zh-CN" altLang="en-US" sz="2800" dirty="0">
                <a:solidFill>
                  <a:srgbClr val="003399"/>
                </a:solidFill>
                <a:ea typeface="微软雅黑" panose="020B0503020204020204" pitchFamily="34" charset="-122"/>
              </a:rPr>
              <a:t>振幅调制 </a:t>
            </a:r>
            <a:r>
              <a:rPr lang="zh-CN" altLang="en-US" sz="2800" dirty="0">
                <a:solidFill>
                  <a:srgbClr val="003399"/>
                </a:solidFill>
              </a:rPr>
              <a:t>（</a:t>
            </a:r>
            <a:r>
              <a:rPr lang="en-US" altLang="zh-CN" sz="2800" dirty="0">
                <a:solidFill>
                  <a:srgbClr val="003399"/>
                </a:solidFill>
              </a:rPr>
              <a:t>QAM</a:t>
            </a:r>
            <a:r>
              <a:rPr lang="zh-CN" altLang="en-US" sz="2800" dirty="0">
                <a:solidFill>
                  <a:srgbClr val="003399"/>
                </a:solidFill>
              </a:rPr>
              <a:t>）</a:t>
            </a:r>
            <a:endParaRPr lang="en-US" altLang="zh-CN" sz="2800" dirty="0">
              <a:solidFill>
                <a:srgbClr val="003399"/>
              </a:solidFill>
              <a:ea typeface="微软雅黑" panose="020B0503020204020204" pitchFamily="34" charset="-122"/>
            </a:endParaRPr>
          </a:p>
          <a:p>
            <a:pPr eaLnBrk="1" hangingPunct="1">
              <a:lnSpc>
                <a:spcPts val="4800"/>
              </a:lnSpc>
              <a:buClr>
                <a:srgbClr val="969696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3399"/>
                </a:solidFill>
                <a:ea typeface="微软雅黑" panose="020B0503020204020204" pitchFamily="34" charset="-122"/>
              </a:rPr>
              <a:t>*最小移频键控</a:t>
            </a:r>
            <a:r>
              <a:rPr lang="zh-CN" altLang="en-US" sz="2800" dirty="0">
                <a:solidFill>
                  <a:srgbClr val="003399"/>
                </a:solidFill>
              </a:rPr>
              <a:t>（</a:t>
            </a:r>
            <a:r>
              <a:rPr lang="en-US" altLang="zh-CN" sz="2800" dirty="0">
                <a:solidFill>
                  <a:srgbClr val="003399"/>
                </a:solidFill>
              </a:rPr>
              <a:t>MSK</a:t>
            </a:r>
            <a:r>
              <a:rPr lang="zh-CN" altLang="en-US" sz="2800" dirty="0">
                <a:solidFill>
                  <a:srgbClr val="003399"/>
                </a:solidFill>
              </a:rPr>
              <a:t>）</a:t>
            </a:r>
            <a:endParaRPr lang="zh-CN" altLang="zh-CN" sz="2800" dirty="0">
              <a:solidFill>
                <a:srgbClr val="003399"/>
              </a:solidFill>
            </a:endParaRPr>
          </a:p>
          <a:p>
            <a:pPr eaLnBrk="1" hangingPunct="1">
              <a:lnSpc>
                <a:spcPts val="4800"/>
              </a:lnSpc>
              <a:buClr>
                <a:srgbClr val="969696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3399"/>
                </a:solidFill>
                <a:ea typeface="微软雅黑" panose="020B0503020204020204" pitchFamily="34" charset="-122"/>
              </a:rPr>
              <a:t>*高斯最小移频键控</a:t>
            </a:r>
            <a:r>
              <a:rPr lang="zh-CN" altLang="en-US" sz="2800" dirty="0">
                <a:solidFill>
                  <a:srgbClr val="003399"/>
                </a:solidFill>
              </a:rPr>
              <a:t>（</a:t>
            </a:r>
            <a:r>
              <a:rPr lang="en-US" altLang="zh-CN" sz="2800" dirty="0">
                <a:solidFill>
                  <a:srgbClr val="003399"/>
                </a:solidFill>
              </a:rPr>
              <a:t>GMSK</a:t>
            </a:r>
            <a:r>
              <a:rPr lang="zh-CN" altLang="en-US" sz="2800" dirty="0">
                <a:solidFill>
                  <a:srgbClr val="003399"/>
                </a:solidFill>
              </a:rPr>
              <a:t>）</a:t>
            </a:r>
            <a:endParaRPr lang="en-US" altLang="zh-CN" sz="2800" dirty="0">
              <a:solidFill>
                <a:srgbClr val="003399"/>
              </a:solidFill>
              <a:ea typeface="微软雅黑" panose="020B0503020204020204" pitchFamily="34" charset="-122"/>
            </a:endParaRPr>
          </a:p>
          <a:p>
            <a:pPr eaLnBrk="1" hangingPunct="1"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3399"/>
                </a:solidFill>
                <a:ea typeface="微软雅黑" panose="020B0503020204020204" pitchFamily="34" charset="-122"/>
              </a:rPr>
              <a:t>正交频分复用</a:t>
            </a:r>
            <a:r>
              <a:rPr lang="zh-CN" altLang="en-US" sz="2800" dirty="0">
                <a:solidFill>
                  <a:srgbClr val="003399"/>
                </a:solidFill>
              </a:rPr>
              <a:t>（</a:t>
            </a:r>
            <a:r>
              <a:rPr lang="en-US" altLang="zh-CN" sz="2800" dirty="0">
                <a:solidFill>
                  <a:srgbClr val="003399"/>
                </a:solidFill>
              </a:rPr>
              <a:t>OFDM</a:t>
            </a:r>
            <a:r>
              <a:rPr lang="zh-CN" altLang="en-US" sz="2800" dirty="0">
                <a:solidFill>
                  <a:srgbClr val="003399"/>
                </a:solidFill>
              </a:rPr>
              <a:t>）</a:t>
            </a:r>
            <a:endParaRPr lang="zh-CN" altLang="zh-CN" sz="2800" dirty="0">
              <a:solidFill>
                <a:srgbClr val="003399"/>
              </a:solidFill>
            </a:endParaRPr>
          </a:p>
          <a:p>
            <a:pPr eaLnBrk="1" hangingPunct="1">
              <a:lnSpc>
                <a:spcPts val="4200"/>
              </a:lnSpc>
              <a:buFont typeface="Wingdings" panose="05000000000000000000" pitchFamily="2" charset="2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969696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504950" y="2157413"/>
            <a:ext cx="185738" cy="207962"/>
            <a:chOff x="2976" y="1008"/>
            <a:chExt cx="1056" cy="432"/>
          </a:xfrm>
        </p:grpSpPr>
        <p:sp>
          <p:nvSpPr>
            <p:cNvPr id="29711" name="Oval 9"/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29712" name="Oval 10"/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1506538" y="2878138"/>
            <a:ext cx="185737" cy="207962"/>
            <a:chOff x="2976" y="1008"/>
            <a:chExt cx="1056" cy="432"/>
          </a:xfrm>
        </p:grpSpPr>
        <p:sp>
          <p:nvSpPr>
            <p:cNvPr id="29709" name="Oval 18"/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29710" name="Oval 19"/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1492250" y="3563938"/>
            <a:ext cx="185738" cy="207962"/>
            <a:chOff x="2976" y="1008"/>
            <a:chExt cx="1056" cy="432"/>
          </a:xfrm>
        </p:grpSpPr>
        <p:sp>
          <p:nvSpPr>
            <p:cNvPr id="29707" name="Oval 21"/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29708" name="Oval 22"/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1492250" y="4264025"/>
            <a:ext cx="185738" cy="207963"/>
            <a:chOff x="2976" y="1008"/>
            <a:chExt cx="1056" cy="432"/>
          </a:xfrm>
        </p:grpSpPr>
        <p:sp>
          <p:nvSpPr>
            <p:cNvPr id="29705" name="Oval 9"/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29706" name="Oval 10"/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2194560" y="1234440"/>
            <a:ext cx="47634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章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新型数字带通调制技术</a:t>
            </a:r>
            <a:endParaRPr lang="en-US" altLang="zh-CN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300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/>
          <p:cNvSpPr txBox="1">
            <a:spLocks noChangeArrowheads="1"/>
          </p:cNvSpPr>
          <p:nvPr/>
        </p:nvSpPr>
        <p:spPr bwMode="gray">
          <a:xfrm>
            <a:off x="2438400" y="3143250"/>
            <a:ext cx="5715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4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正交</a:t>
            </a:r>
            <a:r>
              <a:rPr lang="zh-CN" altLang="en-US" sz="4400" b="1" dirty="0">
                <a:solidFill>
                  <a:srgbClr val="003399"/>
                </a:solidFill>
                <a:ea typeface="微软雅黑" pitchFamily="34" charset="-122"/>
              </a:rPr>
              <a:t>振幅调制 </a:t>
            </a:r>
            <a:r>
              <a:rPr lang="zh-CN" altLang="en-US" sz="3600" b="1" dirty="0">
                <a:solidFill>
                  <a:srgbClr val="003399"/>
                </a:solidFill>
                <a:ea typeface="宋体" charset="-122"/>
              </a:rPr>
              <a:t>（</a:t>
            </a:r>
            <a:r>
              <a:rPr lang="en-US" altLang="zh-CN" sz="3600" b="1" dirty="0">
                <a:solidFill>
                  <a:srgbClr val="003399"/>
                </a:solidFill>
                <a:ea typeface="宋体" charset="-122"/>
              </a:rPr>
              <a:t>QAM</a:t>
            </a:r>
            <a:r>
              <a:rPr lang="zh-CN" altLang="en-US" sz="3600" b="1" dirty="0">
                <a:solidFill>
                  <a:srgbClr val="003399"/>
                </a:solidFill>
                <a:ea typeface="宋体" charset="-122"/>
              </a:rPr>
              <a:t>）</a:t>
            </a:r>
            <a:endParaRPr lang="en-US" altLang="zh-CN" sz="3600" b="1" dirty="0">
              <a:solidFill>
                <a:srgbClr val="003399"/>
              </a:solidFill>
              <a:ea typeface="微软雅黑" pitchFamily="34" charset="-122"/>
            </a:endParaRPr>
          </a:p>
        </p:txBody>
      </p:sp>
      <p:sp>
        <p:nvSpPr>
          <p:cNvPr id="30723" name="矩形 4"/>
          <p:cNvSpPr>
            <a:spLocks noChangeArrowheads="1"/>
          </p:cNvSpPr>
          <p:nvPr/>
        </p:nvSpPr>
        <p:spPr bwMode="auto">
          <a:xfrm>
            <a:off x="527050" y="2214563"/>
            <a:ext cx="1698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US" sz="4000" b="1" u="sng">
                <a:solidFill>
                  <a:srgbClr val="800080"/>
                </a:solidFill>
              </a:rPr>
              <a:t>§</a:t>
            </a:r>
            <a:r>
              <a:rPr lang="en-US" altLang="en-US" sz="4000" b="1" u="sng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en-US" altLang="zh-CN" sz="4000" b="1" u="sng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.1  </a:t>
            </a:r>
            <a:endParaRPr lang="zh-CN" altLang="en-US" sz="4000" b="1" u="sng">
              <a:solidFill>
                <a:srgbClr val="800080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06588" y="3857625"/>
            <a:ext cx="63992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003399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400">
                <a:solidFill>
                  <a:srgbClr val="003399"/>
                </a:solidFill>
                <a:ea typeface="华文中宋" panose="02010600040101010101" pitchFamily="2" charset="-122"/>
              </a:rPr>
              <a:t>Quadrature Amplitude Modulation</a:t>
            </a:r>
            <a:r>
              <a:rPr lang="zh-CN" altLang="en-US" sz="2400">
                <a:solidFill>
                  <a:srgbClr val="003399"/>
                </a:solidFill>
                <a:ea typeface="华文中宋" panose="02010600040101010101" pitchFamily="2" charset="-122"/>
              </a:rPr>
              <a:t>，</a:t>
            </a:r>
            <a:r>
              <a:rPr lang="en-US" altLang="zh-CN" sz="2400">
                <a:solidFill>
                  <a:srgbClr val="003399"/>
                </a:solidFill>
                <a:ea typeface="华文中宋" panose="02010600040101010101" pitchFamily="2" charset="-122"/>
              </a:rPr>
              <a:t>QAM</a:t>
            </a:r>
            <a:r>
              <a:rPr lang="zh-CN" altLang="en-US" sz="2400">
                <a:solidFill>
                  <a:srgbClr val="003399"/>
                </a:solidFill>
                <a:ea typeface="华文中宋" panose="02010600040101010101" pitchFamily="2" charset="-122"/>
              </a:rPr>
              <a:t>）</a:t>
            </a:r>
            <a:endParaRPr lang="zh-CN" altLang="en-US" sz="2400">
              <a:solidFill>
                <a:srgbClr val="003399"/>
              </a:solidFill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174875" y="4857750"/>
            <a:ext cx="5730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一种</a:t>
            </a:r>
            <a:r>
              <a:rPr lang="zh-CN" altLang="en-US" sz="2400" b="1">
                <a:solidFill>
                  <a:srgbClr val="99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振幅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400" b="1">
                <a:solidFill>
                  <a:srgbClr val="99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相位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联合键控的数字调制技术</a:t>
            </a:r>
          </a:p>
        </p:txBody>
      </p:sp>
    </p:spTree>
    <p:extLst>
      <p:ext uri="{BB962C8B-B14F-4D97-AF65-F5344CB8AC3E}">
        <p14:creationId xmlns:p14="http://schemas.microsoft.com/office/powerpoint/2010/main" val="323810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070"/>
          <a:stretch>
            <a:fillRect/>
          </a:stretch>
        </p:blipFill>
        <p:spPr bwMode="auto">
          <a:xfrm>
            <a:off x="718185" y="1066800"/>
            <a:ext cx="770763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85812" y="1157288"/>
            <a:ext cx="3603307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400" dirty="0">
                <a:ea typeface="华文中宋" pitchFamily="2" charset="-122"/>
              </a:rPr>
              <a:t>  </a:t>
            </a:r>
            <a:r>
              <a:rPr lang="zh-CN" altLang="en-US" sz="2400" b="1" dirty="0">
                <a:latin typeface="+mn-lt"/>
                <a:ea typeface="+mn-ea"/>
              </a:rPr>
              <a:t>观察</a:t>
            </a:r>
            <a:r>
              <a:rPr lang="en-US" altLang="zh-CN" sz="2400" b="1" dirty="0">
                <a:solidFill>
                  <a:srgbClr val="0000CC"/>
                </a:solidFill>
                <a:latin typeface="+mn-lt"/>
                <a:ea typeface="+mn-ea"/>
              </a:rPr>
              <a:t>MPSK</a:t>
            </a:r>
            <a:r>
              <a:rPr lang="zh-CN" altLang="en-US" sz="2400" b="1" dirty="0">
                <a:latin typeface="+mn-lt"/>
                <a:ea typeface="+mn-ea"/>
              </a:rPr>
              <a:t>的星座图：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28009" name="Rectangle 9"/>
          <p:cNvSpPr>
            <a:spLocks noChangeArrowheads="1"/>
          </p:cNvSpPr>
          <p:nvPr/>
        </p:nvSpPr>
        <p:spPr bwMode="auto">
          <a:xfrm>
            <a:off x="0" y="30527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14375" y="476250"/>
            <a:ext cx="41703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 需求背景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86625" y="571500"/>
            <a:ext cx="121126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问题引出</a:t>
            </a: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22" b="-1550"/>
          <a:stretch>
            <a:fillRect/>
          </a:stretch>
        </p:blipFill>
        <p:spPr bwMode="auto">
          <a:xfrm>
            <a:off x="704850" y="4718050"/>
            <a:ext cx="7918450" cy="168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2219325"/>
            <a:ext cx="741997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535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2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5118100"/>
            <a:ext cx="7526338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985838" y="4487863"/>
            <a:ext cx="7443787" cy="6302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buClr>
                <a:srgbClr val="0000CC"/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容易想到的一种办法：</a:t>
            </a:r>
          </a:p>
        </p:txBody>
      </p:sp>
      <p:sp>
        <p:nvSpPr>
          <p:cNvPr id="52234" name="Freeform 12"/>
          <p:cNvSpPr>
            <a:spLocks noEditPoints="1"/>
          </p:cNvSpPr>
          <p:nvPr/>
        </p:nvSpPr>
        <p:spPr bwMode="auto">
          <a:xfrm>
            <a:off x="3217863" y="5072063"/>
            <a:ext cx="496887" cy="500062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5" name="Freeform 12"/>
          <p:cNvSpPr>
            <a:spLocks noEditPoints="1"/>
          </p:cNvSpPr>
          <p:nvPr/>
        </p:nvSpPr>
        <p:spPr bwMode="auto">
          <a:xfrm>
            <a:off x="1428750" y="5643563"/>
            <a:ext cx="496888" cy="500062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6" name="矩形 11"/>
          <p:cNvSpPr>
            <a:spLocks noChangeArrowheads="1"/>
          </p:cNvSpPr>
          <p:nvPr/>
        </p:nvSpPr>
        <p:spPr bwMode="auto">
          <a:xfrm>
            <a:off x="2257425" y="5729288"/>
            <a:ext cx="4714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80808"/>
                </a:solidFill>
                <a:ea typeface="华文中宋" panose="02010600040101010101" pitchFamily="2" charset="-122"/>
              </a:rPr>
              <a:t>-----</a:t>
            </a:r>
            <a:r>
              <a:rPr lang="zh-CN" altLang="en-US" sz="2400">
                <a:solidFill>
                  <a:srgbClr val="080808"/>
                </a:solidFill>
                <a:ea typeface="华文中宋" panose="02010600040101010101" pitchFamily="2" charset="-122"/>
              </a:rPr>
              <a:t>往往会受发射功率的限制。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286625" y="571500"/>
            <a:ext cx="121126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解决途径</a:t>
            </a:r>
          </a:p>
        </p:txBody>
      </p:sp>
      <p:pic>
        <p:nvPicPr>
          <p:cNvPr id="43022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50"/>
          <a:stretch>
            <a:fillRect/>
          </a:stretch>
        </p:blipFill>
        <p:spPr bwMode="auto">
          <a:xfrm>
            <a:off x="1104900" y="2806700"/>
            <a:ext cx="607060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650"/>
          <a:stretch>
            <a:fillRect/>
          </a:stretch>
        </p:blipFill>
        <p:spPr bwMode="auto">
          <a:xfrm>
            <a:off x="1104900" y="1250950"/>
            <a:ext cx="607060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639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9" dur="1000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0" dur="1000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000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2234" grpId="0" animBg="1"/>
      <p:bldP spid="52235" grpId="0" animBg="1"/>
      <p:bldP spid="52236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4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22"/>
          <a:stretch>
            <a:fillRect/>
          </a:stretch>
        </p:blipFill>
        <p:spPr bwMode="auto">
          <a:xfrm>
            <a:off x="823913" y="4125913"/>
            <a:ext cx="7645400" cy="170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28688" y="3500438"/>
            <a:ext cx="7429500" cy="6302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buClr>
                <a:srgbClr val="0000CC"/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400" dirty="0">
                <a:ea typeface="华文中宋" pitchFamily="2" charset="-122"/>
              </a:rPr>
              <a:t> 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可行性方案：</a:t>
            </a:r>
          </a:p>
        </p:txBody>
      </p:sp>
      <p:sp>
        <p:nvSpPr>
          <p:cNvPr id="47110" name="矩形 7"/>
          <p:cNvSpPr>
            <a:spLocks noChangeArrowheads="1"/>
          </p:cNvSpPr>
          <p:nvPr/>
        </p:nvSpPr>
        <p:spPr bwMode="auto">
          <a:xfrm>
            <a:off x="2719388" y="5199063"/>
            <a:ext cx="5053012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zh-CN" altLang="en-US" sz="2400">
                <a:solidFill>
                  <a:srgbClr val="99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振幅</a:t>
            </a:r>
            <a:r>
              <a:rPr lang="zh-CN" altLang="en-US" sz="240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 </a:t>
            </a:r>
            <a:r>
              <a:rPr lang="zh-CN" altLang="en-US" sz="2400">
                <a:solidFill>
                  <a:srgbClr val="99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相位</a:t>
            </a:r>
            <a:r>
              <a:rPr lang="zh-CN" altLang="en-US" sz="240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联合键控的调制方式</a:t>
            </a:r>
            <a:r>
              <a:rPr lang="zh-CN" altLang="en-US" sz="2400">
                <a:solidFill>
                  <a:srgbClr val="080808"/>
                </a:solidFill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786063" y="2814638"/>
            <a:ext cx="1620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星座结构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86625" y="571500"/>
            <a:ext cx="121126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设计思想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287"/>
          <a:stretch>
            <a:fillRect/>
          </a:stretch>
        </p:blipFill>
        <p:spPr bwMode="auto">
          <a:xfrm>
            <a:off x="838200" y="1028700"/>
            <a:ext cx="76454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4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7110" grpId="0"/>
      <p:bldP spid="8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417320"/>
            <a:ext cx="8731740" cy="26822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8891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073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212850"/>
            <a:ext cx="5951538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52963"/>
            <a:ext cx="2879725" cy="949325"/>
          </a:xfrm>
          <a:prstGeom prst="rect">
            <a:avLst/>
          </a:prstGeom>
          <a:noFill/>
          <a:ln w="38100" cmpd="dbl">
            <a:solidFill>
              <a:srgbClr val="66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013" y="4616450"/>
            <a:ext cx="3714750" cy="968375"/>
          </a:xfrm>
          <a:prstGeom prst="rect">
            <a:avLst/>
          </a:prstGeom>
          <a:noFill/>
          <a:ln w="38100" cmpd="dbl">
            <a:solidFill>
              <a:srgbClr val="66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727200" y="3790950"/>
            <a:ext cx="5581650" cy="549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400" b="1">
                <a:ea typeface="华文中宋" panose="02010600040101010101" pitchFamily="2" charset="-122"/>
              </a:rPr>
              <a:t>  16QAM</a:t>
            </a:r>
            <a:r>
              <a:rPr lang="zh-CN" altLang="en-US" sz="2400">
                <a:ea typeface="华文中宋" panose="02010600040101010101" pitchFamily="2" charset="-122"/>
              </a:rPr>
              <a:t>信号                  </a:t>
            </a:r>
            <a:r>
              <a:rPr lang="en-US" altLang="zh-CN" sz="2400" b="1">
                <a:ea typeface="华文中宋" panose="02010600040101010101" pitchFamily="2" charset="-122"/>
              </a:rPr>
              <a:t>16PSK</a:t>
            </a:r>
            <a:r>
              <a:rPr lang="zh-CN" altLang="en-US" sz="2400">
                <a:ea typeface="华文中宋" panose="02010600040101010101" pitchFamily="2" charset="-122"/>
              </a:rPr>
              <a:t>信号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143250" y="1071563"/>
            <a:ext cx="2519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最大振幅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同</a:t>
            </a:r>
            <a:r>
              <a:rPr lang="zh-CN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为</a:t>
            </a:r>
            <a:r>
              <a:rPr lang="en-US" altLang="zh-CN" sz="2400" b="1" dirty="0">
                <a:solidFill>
                  <a:srgbClr val="800080"/>
                </a:solidFill>
              </a:rPr>
              <a:t>A</a:t>
            </a:r>
            <a:r>
              <a:rPr lang="en-US" altLang="zh-CN" sz="2400" b="1" baseline="-25000" dirty="0">
                <a:solidFill>
                  <a:srgbClr val="800080"/>
                </a:solidFill>
              </a:rPr>
              <a:t>M</a:t>
            </a:r>
            <a:endParaRPr lang="zh-CN" altLang="zh-CN" sz="2400" b="1" dirty="0">
              <a:solidFill>
                <a:srgbClr val="800080"/>
              </a:solidFill>
            </a:endParaRPr>
          </a:p>
        </p:txBody>
      </p:sp>
      <p:sp>
        <p:nvSpPr>
          <p:cNvPr id="132109" name="AutoShape 13"/>
          <p:cNvSpPr>
            <a:spLocks noChangeArrowheads="1"/>
          </p:cNvSpPr>
          <p:nvPr/>
        </p:nvSpPr>
        <p:spPr bwMode="auto">
          <a:xfrm>
            <a:off x="7286625" y="1071563"/>
            <a:ext cx="928688" cy="714375"/>
          </a:xfrm>
          <a:prstGeom prst="wedgeRoundRectCallout">
            <a:avLst>
              <a:gd name="adj1" fmla="val -90014"/>
              <a:gd name="adj2" fmla="val 41218"/>
              <a:gd name="adj3" fmla="val 16667"/>
            </a:avLst>
          </a:prstGeom>
          <a:noFill/>
          <a:ln w="9525">
            <a:solidFill>
              <a:srgbClr val="990099"/>
            </a:solidFill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>
              <a:lnSpc>
                <a:spcPts val="2400"/>
              </a:lnSpc>
              <a:defRPr/>
            </a:pPr>
            <a:r>
              <a:rPr lang="zh-CN" altLang="zh-CN" sz="240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最小</a:t>
            </a:r>
            <a:endParaRPr lang="zh-CN" altLang="en-US" sz="2400">
              <a:solidFill>
                <a:srgbClr val="000099"/>
              </a:solidFill>
              <a:latin typeface="隶书" pitchFamily="49" charset="-122"/>
              <a:ea typeface="隶书" pitchFamily="49" charset="-122"/>
            </a:endParaRPr>
          </a:p>
          <a:p>
            <a:pPr algn="ctr">
              <a:lnSpc>
                <a:spcPts val="2400"/>
              </a:lnSpc>
              <a:defRPr/>
            </a:pPr>
            <a:r>
              <a:rPr lang="zh-CN" altLang="zh-CN" sz="240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距离</a:t>
            </a:r>
            <a:endParaRPr lang="zh-CN" altLang="en-US" sz="2400">
              <a:solidFill>
                <a:srgbClr val="000099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000250" y="5857875"/>
            <a:ext cx="5643563" cy="4762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400" b="1" dirty="0">
                <a:solidFill>
                  <a:srgbClr val="0000CC"/>
                </a:solidFill>
                <a:latin typeface="宋体" pitchFamily="2" charset="-122"/>
                <a:cs typeface="Times New Roman" pitchFamily="18" charset="0"/>
              </a:rPr>
              <a:t>——</a:t>
            </a:r>
            <a:r>
              <a:rPr lang="zh-CN" altLang="zh-CN" sz="2400" b="1" dirty="0">
                <a:latin typeface="宋体" pitchFamily="2" charset="-122"/>
                <a:cs typeface="Times New Roman" pitchFamily="18" charset="0"/>
              </a:rPr>
              <a:t>此</a:t>
            </a:r>
            <a:r>
              <a:rPr lang="zh-CN" altLang="zh-CN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cs typeface="Times New Roman" pitchFamily="18" charset="0"/>
              </a:rPr>
              <a:t>最小距离</a:t>
            </a:r>
            <a:r>
              <a:rPr lang="zh-CN" altLang="zh-CN" sz="2400" b="1" dirty="0">
                <a:latin typeface="宋体" pitchFamily="2" charset="-122"/>
                <a:cs typeface="Times New Roman" pitchFamily="18" charset="0"/>
              </a:rPr>
              <a:t>代表</a:t>
            </a:r>
            <a:r>
              <a:rPr lang="zh-CN" altLang="zh-CN" sz="2400" b="1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噪声容限</a:t>
            </a:r>
            <a:r>
              <a:rPr lang="zh-CN" altLang="en-US" sz="2400" b="1" dirty="0">
                <a:latin typeface="宋体" pitchFamily="2" charset="-122"/>
                <a:cs typeface="Times New Roman" pitchFamily="18" charset="0"/>
              </a:rPr>
              <a:t>的</a:t>
            </a:r>
            <a:r>
              <a:rPr lang="zh-CN" altLang="zh-CN" sz="2400" b="1" dirty="0">
                <a:latin typeface="宋体" pitchFamily="2" charset="-122"/>
                <a:cs typeface="Times New Roman" pitchFamily="18" charset="0"/>
              </a:rPr>
              <a:t>大小</a:t>
            </a:r>
            <a:r>
              <a:rPr lang="zh-CN" altLang="en-US" sz="2400" b="1" dirty="0">
                <a:latin typeface="宋体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14375" y="476250"/>
            <a:ext cx="2286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 举例 对比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3857625" y="3071813"/>
            <a:ext cx="928688" cy="714375"/>
          </a:xfrm>
          <a:prstGeom prst="wedgeRoundRectCallout">
            <a:avLst>
              <a:gd name="adj1" fmla="val -99602"/>
              <a:gd name="adj2" fmla="val -26509"/>
              <a:gd name="adj3" fmla="val 16667"/>
            </a:avLst>
          </a:prstGeom>
          <a:noFill/>
          <a:ln w="9525">
            <a:solidFill>
              <a:srgbClr val="990099"/>
            </a:solidFill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>
              <a:lnSpc>
                <a:spcPts val="2400"/>
              </a:lnSpc>
              <a:defRPr/>
            </a:pPr>
            <a:r>
              <a:rPr lang="zh-CN" altLang="zh-CN" sz="2400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最小</a:t>
            </a:r>
            <a:endParaRPr lang="zh-CN" altLang="en-US" sz="2400" dirty="0">
              <a:solidFill>
                <a:srgbClr val="000099"/>
              </a:solidFill>
              <a:latin typeface="隶书" pitchFamily="49" charset="-122"/>
              <a:ea typeface="隶书" pitchFamily="49" charset="-122"/>
            </a:endParaRPr>
          </a:p>
          <a:p>
            <a:pPr algn="ctr">
              <a:lnSpc>
                <a:spcPts val="2400"/>
              </a:lnSpc>
              <a:defRPr/>
            </a:pPr>
            <a:r>
              <a:rPr lang="zh-CN" altLang="zh-CN" sz="2400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距离</a:t>
            </a:r>
            <a:endParaRPr lang="zh-CN" altLang="en-US" sz="2400" dirty="0">
              <a:solidFill>
                <a:srgbClr val="000099"/>
              </a:solidFill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02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20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3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20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20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132109" grpId="0" animBg="1"/>
      <p:bldP spid="5" grpId="0" animBg="1"/>
      <p:bldP spid="11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857375" y="1466850"/>
            <a:ext cx="6572250" cy="4619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99"/>
                </a:solidFill>
                <a:latin typeface="宋体" pitchFamily="2" charset="-122"/>
                <a:cs typeface="Times New Roman" pitchFamily="18" charset="0"/>
              </a:rPr>
              <a:t>   </a:t>
            </a:r>
            <a:r>
              <a:rPr lang="zh-CN" altLang="en-US" sz="2400" b="1" dirty="0">
                <a:solidFill>
                  <a:srgbClr val="0000CC"/>
                </a:solidFill>
                <a:latin typeface="宋体" pitchFamily="2" charset="-122"/>
                <a:cs typeface="Times New Roman" pitchFamily="18" charset="0"/>
              </a:rPr>
              <a:t> </a:t>
            </a:r>
            <a:r>
              <a:rPr lang="zh-CN" altLang="zh-CN" sz="2400" b="1" dirty="0">
                <a:solidFill>
                  <a:srgbClr val="0000CC"/>
                </a:solidFill>
                <a:latin typeface="宋体" pitchFamily="2" charset="-122"/>
                <a:cs typeface="Times New Roman" pitchFamily="18" charset="0"/>
              </a:rPr>
              <a:t>噪声容限</a:t>
            </a:r>
            <a:r>
              <a:rPr lang="zh-CN" altLang="zh-CN" sz="2400" b="1" dirty="0">
                <a:latin typeface="宋体" pitchFamily="2" charset="-122"/>
                <a:cs typeface="Times New Roman" pitchFamily="18" charset="0"/>
              </a:rPr>
              <a:t>越</a:t>
            </a:r>
            <a:r>
              <a:rPr lang="zh-CN" altLang="zh-CN" sz="2400" b="1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大</a:t>
            </a:r>
            <a:r>
              <a:rPr lang="zh-CN" altLang="zh-CN" sz="2400" b="1" dirty="0">
                <a:latin typeface="宋体" pitchFamily="2" charset="-122"/>
                <a:cs typeface="Times New Roman" pitchFamily="18" charset="0"/>
              </a:rPr>
              <a:t>，抗噪声性能就越</a:t>
            </a:r>
            <a:r>
              <a:rPr lang="zh-CN" altLang="zh-CN" sz="2400" b="1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强</a:t>
            </a:r>
            <a:r>
              <a:rPr lang="zh-CN" altLang="zh-CN" sz="2400" b="1" dirty="0">
                <a:latin typeface="宋体" pitchFamily="2" charset="-122"/>
                <a:cs typeface="Times New Roman" pitchFamily="18" charset="0"/>
              </a:rPr>
              <a:t>。</a:t>
            </a:r>
            <a:endParaRPr lang="zh-CN" altLang="en-US" sz="2400" b="1" dirty="0">
              <a:latin typeface="宋体" pitchFamily="2" charset="-122"/>
              <a:cs typeface="Times New Roman" pitchFamily="18" charset="0"/>
            </a:endParaRPr>
          </a:p>
        </p:txBody>
      </p:sp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368550"/>
            <a:ext cx="1571625" cy="703263"/>
          </a:xfrm>
          <a:prstGeom prst="rect">
            <a:avLst/>
          </a:prstGeom>
          <a:solidFill>
            <a:schemeClr val="bg1"/>
          </a:solidFill>
          <a:ln w="38100" cmpd="dbl">
            <a:solidFill>
              <a:srgbClr val="6666FF"/>
            </a:solidFill>
            <a:miter lim="800000"/>
            <a:headEnd/>
            <a:tailEnd/>
          </a:ln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857250" y="4000500"/>
            <a:ext cx="7759700" cy="120015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Clr>
                <a:schemeClr val="bg1">
                  <a:lumMod val="50000"/>
                </a:schemeClr>
              </a:buClr>
              <a:buSzPct val="65000"/>
              <a:buFont typeface="Wingdings" pitchFamily="2" charset="2"/>
              <a:buChar char="l"/>
              <a:defRPr/>
            </a:pPr>
            <a:r>
              <a:rPr lang="en-US" altLang="zh-CN" sz="2400" b="1" dirty="0">
                <a:latin typeface="Arial" pitchFamily="34" charset="0"/>
                <a:ea typeface="宋体" charset="-122"/>
                <a:cs typeface="Arial" pitchFamily="34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 </a:t>
            </a:r>
            <a:r>
              <a:rPr lang="en-US" altLang="zh-CN" sz="2400" b="1" i="1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d</a:t>
            </a:r>
            <a:r>
              <a:rPr lang="en-US" altLang="zh-CN" sz="2400" b="1" baseline="-25000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2</a:t>
            </a:r>
            <a:r>
              <a:rPr lang="zh-CN" altLang="en-US" sz="2400" b="1" dirty="0">
                <a:latin typeface="Arial" pitchFamily="34" charset="0"/>
                <a:ea typeface="宋体" charset="-122"/>
                <a:cs typeface="Arial" pitchFamily="34" charset="0"/>
              </a:rPr>
              <a:t>超过</a:t>
            </a:r>
            <a:r>
              <a:rPr lang="en-US" altLang="zh-CN" sz="2400" b="1" i="1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d</a:t>
            </a:r>
            <a:r>
              <a:rPr lang="en-US" altLang="zh-CN" sz="2400" b="1" baseline="-25000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1</a:t>
            </a:r>
            <a:r>
              <a:rPr lang="zh-CN" altLang="en-US" sz="2400" b="1" dirty="0">
                <a:latin typeface="Arial" pitchFamily="34" charset="0"/>
                <a:ea typeface="宋体" charset="-122"/>
                <a:cs typeface="Arial" pitchFamily="34" charset="0"/>
              </a:rPr>
              <a:t>约</a:t>
            </a:r>
            <a:r>
              <a:rPr lang="en-US" altLang="zh-CN" sz="2400" b="1" dirty="0">
                <a:latin typeface="Arial" pitchFamily="34" charset="0"/>
                <a:ea typeface="宋体" charset="-122"/>
                <a:cs typeface="Arial" pitchFamily="34" charset="0"/>
              </a:rPr>
              <a:t>1.57 dB</a:t>
            </a:r>
            <a:r>
              <a:rPr lang="zh-CN" altLang="en-US" sz="2400" b="1" dirty="0">
                <a:latin typeface="Arial" pitchFamily="34" charset="0"/>
                <a:ea typeface="宋体" charset="-122"/>
                <a:cs typeface="Arial" pitchFamily="34" charset="0"/>
              </a:rPr>
              <a:t>（最大功率</a:t>
            </a:r>
            <a:r>
              <a:rPr lang="en-US" altLang="zh-CN" sz="2400" b="1" dirty="0">
                <a:latin typeface="Arial" pitchFamily="34" charset="0"/>
                <a:ea typeface="宋体" charset="-122"/>
                <a:cs typeface="Arial" pitchFamily="34" charset="0"/>
              </a:rPr>
              <a:t>(</a:t>
            </a:r>
            <a:r>
              <a:rPr lang="zh-CN" altLang="en-US" sz="2400" b="1" dirty="0">
                <a:latin typeface="Arial" pitchFamily="34" charset="0"/>
                <a:ea typeface="宋体" charset="-122"/>
                <a:cs typeface="Arial" pitchFamily="34" charset="0"/>
              </a:rPr>
              <a:t>振幅</a:t>
            </a:r>
            <a:r>
              <a:rPr lang="en-US" altLang="zh-CN" sz="2400" b="1" dirty="0">
                <a:latin typeface="Arial" pitchFamily="34" charset="0"/>
                <a:ea typeface="宋体" charset="-122"/>
                <a:cs typeface="Arial" pitchFamily="34" charset="0"/>
              </a:rPr>
              <a:t>)</a:t>
            </a:r>
            <a:r>
              <a:rPr lang="zh-CN" altLang="en-US" sz="2400" b="1" dirty="0">
                <a:latin typeface="Arial" pitchFamily="34" charset="0"/>
                <a:ea typeface="宋体" charset="-122"/>
                <a:cs typeface="Arial" pitchFamily="34" charset="0"/>
              </a:rPr>
              <a:t>相等条件下）</a:t>
            </a:r>
          </a:p>
          <a:p>
            <a:pPr lvl="1">
              <a:lnSpc>
                <a:spcPct val="150000"/>
              </a:lnSpc>
              <a:buClr>
                <a:schemeClr val="bg1">
                  <a:lumMod val="50000"/>
                </a:schemeClr>
              </a:buClr>
              <a:buSzPct val="65000"/>
              <a:buFont typeface="Wingdings" pitchFamily="2" charset="2"/>
              <a:buChar char="l"/>
              <a:defRPr/>
            </a:pPr>
            <a:r>
              <a:rPr lang="en-US" altLang="zh-CN" sz="2400" b="1" i="1" dirty="0">
                <a:latin typeface="Arial" pitchFamily="34" charset="0"/>
                <a:ea typeface="宋体" charset="-122"/>
                <a:cs typeface="Arial" pitchFamily="34" charset="0"/>
              </a:rPr>
              <a:t>  </a:t>
            </a:r>
            <a:r>
              <a:rPr lang="en-US" altLang="zh-CN" sz="2400" b="1" i="1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d</a:t>
            </a:r>
            <a:r>
              <a:rPr lang="en-US" altLang="zh-CN" sz="2400" b="1" baseline="-25000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2</a:t>
            </a:r>
            <a:r>
              <a:rPr lang="zh-CN" altLang="en-US" sz="2400" b="1" dirty="0">
                <a:latin typeface="Arial" pitchFamily="34" charset="0"/>
                <a:ea typeface="宋体" charset="-122"/>
                <a:cs typeface="Arial" pitchFamily="34" charset="0"/>
              </a:rPr>
              <a:t>超过</a:t>
            </a:r>
            <a:r>
              <a:rPr lang="en-US" altLang="zh-CN" sz="2400" b="1" i="1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d</a:t>
            </a:r>
            <a:r>
              <a:rPr lang="en-US" altLang="zh-CN" sz="2400" b="1" baseline="-25000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1</a:t>
            </a:r>
            <a:r>
              <a:rPr lang="zh-CN" altLang="en-US" sz="2400" b="1" dirty="0">
                <a:latin typeface="Arial" pitchFamily="34" charset="0"/>
                <a:ea typeface="宋体" charset="-122"/>
                <a:cs typeface="Arial" pitchFamily="34" charset="0"/>
              </a:rPr>
              <a:t>约</a:t>
            </a:r>
            <a:r>
              <a:rPr lang="en-US" altLang="zh-CN" sz="2400" b="1" dirty="0">
                <a:latin typeface="Arial" pitchFamily="34" charset="0"/>
                <a:ea typeface="宋体" charset="-122"/>
                <a:cs typeface="Arial" pitchFamily="34" charset="0"/>
              </a:rPr>
              <a:t>4.12 dB</a:t>
            </a:r>
            <a:r>
              <a:rPr lang="zh-CN" altLang="en-US" sz="2400" b="1" dirty="0">
                <a:latin typeface="Arial" pitchFamily="34" charset="0"/>
                <a:ea typeface="宋体" charset="-122"/>
                <a:cs typeface="Arial" pitchFamily="34" charset="0"/>
              </a:rPr>
              <a:t>（平均功率相等条件下）</a:t>
            </a:r>
          </a:p>
        </p:txBody>
      </p:sp>
      <p:sp>
        <p:nvSpPr>
          <p:cNvPr id="10" name="椭圆 9"/>
          <p:cNvSpPr/>
          <p:nvPr/>
        </p:nvSpPr>
        <p:spPr bwMode="auto">
          <a:xfrm>
            <a:off x="785813" y="1071563"/>
            <a:ext cx="1143000" cy="7143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rgbClr val="6666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>
              <a:defRPr/>
            </a:pPr>
            <a:endParaRPr lang="zh-CN" altLang="en-US" sz="2800" b="1" dirty="0">
              <a:solidFill>
                <a:srgbClr val="9900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511" name="矩形 8"/>
          <p:cNvSpPr>
            <a:spLocks noChangeArrowheads="1"/>
          </p:cNvSpPr>
          <p:nvPr/>
        </p:nvSpPr>
        <p:spPr bwMode="auto">
          <a:xfrm>
            <a:off x="857250" y="5786438"/>
            <a:ext cx="7537450" cy="46196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990099"/>
                </a:solidFill>
                <a:latin typeface="Arial" pitchFamily="34" charset="0"/>
                <a:cs typeface="Arial" pitchFamily="34" charset="0"/>
              </a:rPr>
              <a:t> 16</a:t>
            </a:r>
            <a:r>
              <a:rPr lang="en-US" altLang="zh-CN" sz="2400" b="1" dirty="0">
                <a:latin typeface="Arial" pitchFamily="34" charset="0"/>
                <a:cs typeface="Arial" pitchFamily="34" charset="0"/>
              </a:rPr>
              <a:t>QAM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是最具有代表性的</a:t>
            </a:r>
            <a:r>
              <a:rPr lang="en-US" altLang="zh-CN" sz="2400" b="1" dirty="0">
                <a:solidFill>
                  <a:srgbClr val="990099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zh-CN" sz="2400" b="1" dirty="0">
                <a:latin typeface="Arial" pitchFamily="34" charset="0"/>
                <a:cs typeface="Arial" pitchFamily="34" charset="0"/>
              </a:rPr>
              <a:t>QAM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信号，此外：</a:t>
            </a:r>
          </a:p>
        </p:txBody>
      </p:sp>
      <p:sp>
        <p:nvSpPr>
          <p:cNvPr id="36871" name="矩形 8"/>
          <p:cNvSpPr>
            <a:spLocks noChangeArrowheads="1"/>
          </p:cNvSpPr>
          <p:nvPr/>
        </p:nvSpPr>
        <p:spPr bwMode="auto">
          <a:xfrm>
            <a:off x="857250" y="1176338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99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比较：</a:t>
            </a:r>
          </a:p>
        </p:txBody>
      </p:sp>
      <p:pic>
        <p:nvPicPr>
          <p:cNvPr id="4711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3162300"/>
            <a:ext cx="781685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76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10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215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2"/>
          <p:cNvSpPr>
            <a:spLocks noChangeArrowheads="1"/>
          </p:cNvSpPr>
          <p:nvPr/>
        </p:nvSpPr>
        <p:spPr bwMode="auto">
          <a:xfrm>
            <a:off x="930275" y="1143000"/>
            <a:ext cx="6713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M=4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时，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QPSK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信号就是一种最简单的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QAM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信号</a:t>
            </a:r>
          </a:p>
        </p:txBody>
      </p:sp>
      <p:sp>
        <p:nvSpPr>
          <p:cNvPr id="388" name="Rectangle 17"/>
          <p:cNvSpPr>
            <a:spLocks noChangeArrowheads="1"/>
          </p:cNvSpPr>
          <p:nvPr/>
        </p:nvSpPr>
        <p:spPr bwMode="auto">
          <a:xfrm>
            <a:off x="714375" y="5895975"/>
            <a:ext cx="7572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990099"/>
                </a:solidFill>
              </a:rPr>
              <a:t> 注：</a:t>
            </a:r>
            <a:r>
              <a:rPr lang="en-US" altLang="zh-CN" sz="2400" b="1" dirty="0">
                <a:solidFill>
                  <a:srgbClr val="990099"/>
                </a:solidFill>
              </a:rPr>
              <a:t> </a:t>
            </a:r>
            <a:r>
              <a:rPr lang="en-US" altLang="zh-CN" sz="2400" dirty="0"/>
              <a:t>QAM</a:t>
            </a:r>
            <a:r>
              <a:rPr lang="zh-CN" altLang="en-US" sz="2400" b="1" dirty="0"/>
              <a:t>星座图除</a:t>
            </a:r>
            <a:r>
              <a:rPr lang="zh-CN" altLang="en-US" sz="2400" b="1" dirty="0">
                <a:solidFill>
                  <a:srgbClr val="0000CC"/>
                </a:solidFill>
              </a:rPr>
              <a:t>方型</a:t>
            </a:r>
            <a:r>
              <a:rPr lang="zh-CN" altLang="en-US" sz="2400" b="1" dirty="0"/>
              <a:t>结构外，还有</a:t>
            </a:r>
            <a:r>
              <a:rPr lang="zh-CN" altLang="en-US" sz="2400" b="1" dirty="0">
                <a:solidFill>
                  <a:srgbClr val="0000CC"/>
                </a:solidFill>
              </a:rPr>
              <a:t>星型</a:t>
            </a:r>
            <a:r>
              <a:rPr lang="zh-CN" altLang="en-US" sz="2400" b="1" dirty="0"/>
              <a:t>或其他结构</a:t>
            </a:r>
          </a:p>
        </p:txBody>
      </p:sp>
      <p:sp>
        <p:nvSpPr>
          <p:cNvPr id="391" name="矩形 390"/>
          <p:cNvSpPr>
            <a:spLocks noChangeArrowheads="1"/>
          </p:cNvSpPr>
          <p:nvPr/>
        </p:nvSpPr>
        <p:spPr bwMode="auto">
          <a:xfrm>
            <a:off x="928688" y="1714500"/>
            <a:ext cx="6715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M=64</a:t>
            </a:r>
            <a:r>
              <a:rPr lang="zh-CN" altLang="en-US" sz="24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256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时，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QAM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信号的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星座图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509" name="Picture 38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7638" y="2184400"/>
            <a:ext cx="6621462" cy="342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260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48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388" grpId="0"/>
      <p:bldP spid="3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矩形 2"/>
          <p:cNvSpPr>
            <a:spLocks noChangeArrowheads="1"/>
          </p:cNvSpPr>
          <p:nvPr/>
        </p:nvSpPr>
        <p:spPr bwMode="auto">
          <a:xfrm>
            <a:off x="714375" y="1071563"/>
            <a:ext cx="1666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星座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349" name="矩形 5"/>
          <p:cNvSpPr>
            <a:spLocks noChangeArrowheads="1"/>
          </p:cNvSpPr>
          <p:nvPr/>
        </p:nvSpPr>
        <p:spPr bwMode="auto">
          <a:xfrm>
            <a:off x="785813" y="3295650"/>
            <a:ext cx="1731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设计准则</a:t>
            </a:r>
          </a:p>
        </p:txBody>
      </p:sp>
      <p:sp>
        <p:nvSpPr>
          <p:cNvPr id="8" name="矩形 7"/>
          <p:cNvSpPr/>
          <p:nvPr/>
        </p:nvSpPr>
        <p:spPr>
          <a:xfrm>
            <a:off x="5127625" y="538163"/>
            <a:ext cx="35877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星座结构影响系统性能！</a:t>
            </a:r>
          </a:p>
        </p:txBody>
      </p:sp>
      <p:pic>
        <p:nvPicPr>
          <p:cNvPr id="4915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10"/>
          <a:stretch>
            <a:fillRect/>
          </a:stretch>
        </p:blipFill>
        <p:spPr bwMode="auto">
          <a:xfrm>
            <a:off x="868363" y="3784600"/>
            <a:ext cx="7645400" cy="250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577"/>
          <a:stretch>
            <a:fillRect/>
          </a:stretch>
        </p:blipFill>
        <p:spPr bwMode="auto">
          <a:xfrm>
            <a:off x="882650" y="1562100"/>
            <a:ext cx="76454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75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57349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0" y="21478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285750" y="71438"/>
          <a:ext cx="9467850" cy="405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487784" imgH="1924460" progId="Visio.Drawing.11">
                  <p:embed/>
                </p:oleObj>
              </mc:Choice>
              <mc:Fallback>
                <p:oleObj name="Visio" r:id="rId2" imgW="4487784" imgH="19244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71438"/>
                        <a:ext cx="9467850" cy="40560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AutoShape 6"/>
          <p:cNvSpPr>
            <a:spLocks noChangeArrowheads="1"/>
          </p:cNvSpPr>
          <p:nvPr/>
        </p:nvSpPr>
        <p:spPr bwMode="auto">
          <a:xfrm>
            <a:off x="714375" y="3643313"/>
            <a:ext cx="1619250" cy="857250"/>
          </a:xfrm>
          <a:prstGeom prst="wedgeRoundRectCallout">
            <a:avLst>
              <a:gd name="adj1" fmla="val 20185"/>
              <a:gd name="adj2" fmla="val -61106"/>
              <a:gd name="adj3" fmla="val 16667"/>
            </a:avLst>
          </a:prstGeom>
          <a:noFill/>
          <a:ln w="9525">
            <a:solidFill>
              <a:srgbClr val="66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</a:rPr>
              <a:t>2</a:t>
            </a:r>
            <a:r>
              <a:rPr lang="zh-CN" altLang="en-US" sz="2000" b="1"/>
              <a:t>种振幅值</a:t>
            </a:r>
          </a:p>
          <a:p>
            <a: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</a:rPr>
              <a:t>8</a:t>
            </a:r>
            <a:r>
              <a:rPr lang="zh-CN" altLang="en-US" sz="2000" b="1"/>
              <a:t>种相位值</a:t>
            </a:r>
          </a:p>
        </p:txBody>
      </p:sp>
      <p:sp>
        <p:nvSpPr>
          <p:cNvPr id="2053" name="AutoShape 7"/>
          <p:cNvSpPr>
            <a:spLocks noChangeArrowheads="1"/>
          </p:cNvSpPr>
          <p:nvPr/>
        </p:nvSpPr>
        <p:spPr bwMode="auto">
          <a:xfrm>
            <a:off x="7072313" y="3643313"/>
            <a:ext cx="1500187" cy="787400"/>
          </a:xfrm>
          <a:prstGeom prst="wedgeRoundRectCallout">
            <a:avLst>
              <a:gd name="adj1" fmla="val -22139"/>
              <a:gd name="adj2" fmla="val -69069"/>
              <a:gd name="adj3" fmla="val 16667"/>
            </a:avLst>
          </a:prstGeom>
          <a:noFill/>
          <a:ln w="9525">
            <a:solidFill>
              <a:srgbClr val="66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b="1">
                <a:solidFill>
                  <a:srgbClr val="FF0000"/>
                </a:solidFill>
              </a:rPr>
              <a:t>3</a:t>
            </a:r>
            <a:r>
              <a:rPr lang="zh-CN" altLang="en-US" sz="2000" b="1"/>
              <a:t>种振幅值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>
                <a:solidFill>
                  <a:srgbClr val="FF0000"/>
                </a:solidFill>
              </a:rPr>
              <a:t>12</a:t>
            </a:r>
            <a:r>
              <a:rPr lang="zh-CN" altLang="en-US" sz="2000" b="1"/>
              <a:t>种相位</a:t>
            </a:r>
          </a:p>
        </p:txBody>
      </p:sp>
      <p:sp>
        <p:nvSpPr>
          <p:cNvPr id="2055" name="AutoShape 8"/>
          <p:cNvSpPr>
            <a:spLocks noChangeArrowheads="1"/>
          </p:cNvSpPr>
          <p:nvPr/>
        </p:nvSpPr>
        <p:spPr bwMode="auto">
          <a:xfrm>
            <a:off x="5230813" y="3922713"/>
            <a:ext cx="1841500" cy="506412"/>
          </a:xfrm>
          <a:prstGeom prst="wedgeRoundRectCallout">
            <a:avLst>
              <a:gd name="adj1" fmla="val -19308"/>
              <a:gd name="adj2" fmla="val -53148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solidFill>
                  <a:srgbClr val="0000CC"/>
                </a:solidFill>
                <a:ea typeface="宋体" charset="-122"/>
              </a:rPr>
              <a:t>方型</a:t>
            </a:r>
            <a:r>
              <a:rPr lang="en-US" altLang="zh-CN" sz="2000" b="1" dirty="0">
                <a:ea typeface="宋体" charset="-122"/>
              </a:rPr>
              <a:t>16QAM</a:t>
            </a:r>
          </a:p>
          <a:p>
            <a:pPr>
              <a:defRPr/>
            </a:pPr>
            <a:r>
              <a:rPr lang="zh-CN" altLang="en-US" sz="2000" b="1" dirty="0">
                <a:ea typeface="宋体" charset="-122"/>
              </a:rPr>
              <a:t>    </a:t>
            </a:r>
          </a:p>
        </p:txBody>
      </p:sp>
      <p:sp>
        <p:nvSpPr>
          <p:cNvPr id="2056" name="AutoShape 9"/>
          <p:cNvSpPr>
            <a:spLocks noChangeArrowheads="1"/>
          </p:cNvSpPr>
          <p:nvPr/>
        </p:nvSpPr>
        <p:spPr bwMode="auto">
          <a:xfrm>
            <a:off x="2357438" y="4000500"/>
            <a:ext cx="1785937" cy="504825"/>
          </a:xfrm>
          <a:prstGeom prst="wedgeRoundRectCallout">
            <a:avLst>
              <a:gd name="adj1" fmla="val 8222"/>
              <a:gd name="adj2" fmla="val -56602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rgbClr val="0000CC"/>
                </a:solidFill>
                <a:ea typeface="宋体" charset="-122"/>
              </a:rPr>
              <a:t>星型</a:t>
            </a:r>
            <a:r>
              <a:rPr lang="en-US" altLang="zh-CN" sz="2000" b="1" dirty="0">
                <a:ea typeface="宋体" charset="-122"/>
              </a:rPr>
              <a:t>16QAM</a:t>
            </a:r>
            <a:endParaRPr lang="zh-CN" altLang="en-US" sz="2000" b="1" dirty="0">
              <a:ea typeface="宋体" charset="-122"/>
            </a:endParaRPr>
          </a:p>
          <a:p>
            <a:pPr algn="ctr">
              <a:defRPr/>
            </a:pPr>
            <a:endParaRPr lang="zh-CN" altLang="en-US" sz="2000" b="1" dirty="0">
              <a:ea typeface="宋体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42938" y="4786313"/>
            <a:ext cx="7940675" cy="9286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 eaLnBrk="0" hangingPunct="0">
              <a:lnSpc>
                <a:spcPts val="32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latin typeface="宋体" pitchFamily="2" charset="-122"/>
              </a:rPr>
              <a:t>在多径衰落信道中，信号振幅和相位取值越多，受到的影响越大，因而</a:t>
            </a:r>
            <a:r>
              <a:rPr lang="zh-CN" altLang="en-US" sz="2400" b="1" kern="0" dirty="0">
                <a:solidFill>
                  <a:srgbClr val="0000CC"/>
                </a:solidFill>
                <a:latin typeface="宋体" pitchFamily="2" charset="-122"/>
              </a:rPr>
              <a:t>星型 </a:t>
            </a:r>
            <a:r>
              <a:rPr lang="zh-CN" altLang="en-US" sz="2400" b="1" kern="0" dirty="0">
                <a:latin typeface="宋体" pitchFamily="2" charset="-122"/>
              </a:rPr>
              <a:t>比</a:t>
            </a:r>
            <a:r>
              <a:rPr lang="zh-CN" altLang="en-US" sz="2400" b="1" kern="0" dirty="0">
                <a:solidFill>
                  <a:srgbClr val="0000CC"/>
                </a:solidFill>
                <a:latin typeface="宋体" pitchFamily="2" charset="-122"/>
              </a:rPr>
              <a:t>方型</a:t>
            </a:r>
            <a:r>
              <a:rPr lang="zh-CN" altLang="en-US" sz="2400" b="1" kern="0" dirty="0">
                <a:latin typeface="宋体" pitchFamily="2" charset="-122"/>
              </a:rPr>
              <a:t>更具有吸引力。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42938" y="5872163"/>
            <a:ext cx="7940675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 eaLnBrk="0" hangingPunct="0">
              <a:lnSpc>
                <a:spcPts val="32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latin typeface="宋体" pitchFamily="2" charset="-122"/>
              </a:rPr>
              <a:t>但</a:t>
            </a:r>
            <a:r>
              <a:rPr lang="zh-CN" altLang="en-US" sz="2400" b="1" kern="0" dirty="0">
                <a:solidFill>
                  <a:srgbClr val="0000CC"/>
                </a:solidFill>
                <a:latin typeface="宋体" pitchFamily="2" charset="-122"/>
              </a:rPr>
              <a:t>方型</a:t>
            </a:r>
            <a:r>
              <a:rPr lang="zh-CN" altLang="en-US" sz="2400" b="1" kern="0" dirty="0">
                <a:latin typeface="宋体" pitchFamily="2" charset="-122"/>
              </a:rPr>
              <a:t>星座的</a:t>
            </a:r>
            <a:r>
              <a:rPr lang="en-US" altLang="zh-CN" sz="2400" b="1" kern="0" dirty="0">
                <a:latin typeface="宋体" pitchFamily="2" charset="-122"/>
              </a:rPr>
              <a:t>QAM</a:t>
            </a:r>
            <a:r>
              <a:rPr lang="zh-CN" altLang="en-US" sz="2400" b="1" kern="0" dirty="0">
                <a:latin typeface="宋体" pitchFamily="2" charset="-122"/>
              </a:rPr>
              <a:t>信号的产生与接收更易实现。</a:t>
            </a:r>
          </a:p>
        </p:txBody>
      </p:sp>
      <p:sp>
        <p:nvSpPr>
          <p:cNvPr id="10" name="椭圆 9"/>
          <p:cNvSpPr/>
          <p:nvPr/>
        </p:nvSpPr>
        <p:spPr bwMode="auto">
          <a:xfrm>
            <a:off x="5243513" y="957263"/>
            <a:ext cx="2471737" cy="2655887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5543550" y="1285875"/>
            <a:ext cx="1873250" cy="1985963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6043613" y="1812925"/>
            <a:ext cx="857250" cy="9588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043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animBg="1"/>
      <p:bldP spid="2053" grpId="0" animBg="1"/>
      <p:bldP spid="2055" grpId="0" animBg="1"/>
      <p:bldP spid="2056" grpId="0" animBg="1"/>
      <p:bldP spid="11" grpId="0" animBg="1"/>
      <p:bldP spid="12" grpId="0" animBg="1"/>
      <p:bldP spid="10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74"/>
          <a:stretch>
            <a:fillRect/>
          </a:stretch>
        </p:blipFill>
        <p:spPr bwMode="auto">
          <a:xfrm>
            <a:off x="793750" y="5695950"/>
            <a:ext cx="77724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85813" y="1143000"/>
            <a:ext cx="785812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800"/>
              </a:lnSpc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      在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QAM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中，载波 的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振幅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和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相位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同时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受基带信号控制，因此，       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itchFamily="34" charset="-122"/>
            </a:endParaRPr>
          </a:p>
          <a:p>
            <a:pPr>
              <a:lnSpc>
                <a:spcPts val="3800"/>
              </a:lnSpc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它的一个码元可表示为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60425" y="2851150"/>
            <a:ext cx="12112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展开为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</a:p>
        </p:txBody>
      </p:sp>
      <p:sp>
        <p:nvSpPr>
          <p:cNvPr id="49169" name="Rectangle 17"/>
          <p:cNvSpPr>
            <a:spLocks noChangeArrowheads="1"/>
          </p:cNvSpPr>
          <p:nvPr/>
        </p:nvSpPr>
        <p:spPr bwMode="auto">
          <a:xfrm>
            <a:off x="798513" y="4056063"/>
            <a:ext cx="7702550" cy="10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indent="304800">
              <a:lnSpc>
                <a:spcPct val="125000"/>
              </a:lnSpc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式中</a:t>
            </a:r>
            <a:r>
              <a:rPr lang="zh-CN" altLang="en-US" sz="2400" dirty="0">
                <a:ea typeface="宋体" charset="-122"/>
              </a:rPr>
              <a:t>：</a:t>
            </a:r>
            <a:r>
              <a:rPr lang="zh-CN" altLang="en-US" sz="2400" b="1" dirty="0">
                <a:ea typeface="宋体" charset="-122"/>
              </a:rPr>
              <a:t>     </a:t>
            </a:r>
            <a:r>
              <a:rPr lang="en-US" altLang="zh-CN" sz="2400" dirty="0" err="1">
                <a:latin typeface="+mn-lt"/>
                <a:ea typeface="华文中宋" pitchFamily="2" charset="-122"/>
              </a:rPr>
              <a:t>X</a:t>
            </a:r>
            <a:r>
              <a:rPr lang="en-US" altLang="zh-CN" sz="2400" baseline="-25000" dirty="0" err="1">
                <a:latin typeface="+mn-lt"/>
                <a:ea typeface="华文中宋" pitchFamily="2" charset="-122"/>
              </a:rPr>
              <a:t>k</a:t>
            </a:r>
            <a:r>
              <a:rPr lang="en-US" altLang="zh-CN" sz="2400" dirty="0">
                <a:latin typeface="+mn-lt"/>
                <a:ea typeface="华文中宋" pitchFamily="2" charset="-122"/>
              </a:rPr>
              <a:t> = </a:t>
            </a:r>
            <a:r>
              <a:rPr lang="en-US" altLang="zh-CN" sz="2400" dirty="0" err="1">
                <a:latin typeface="+mn-lt"/>
                <a:ea typeface="华文中宋" pitchFamily="2" charset="-122"/>
              </a:rPr>
              <a:t>A</a:t>
            </a:r>
            <a:r>
              <a:rPr lang="en-US" altLang="zh-CN" sz="2400" baseline="-25000" dirty="0" err="1">
                <a:latin typeface="+mn-lt"/>
                <a:ea typeface="华文中宋" pitchFamily="2" charset="-122"/>
              </a:rPr>
              <a:t>k</a:t>
            </a:r>
            <a:r>
              <a:rPr lang="en-US" altLang="zh-CN" sz="2400" dirty="0" err="1">
                <a:latin typeface="+mn-lt"/>
                <a:ea typeface="华文中宋" pitchFamily="2" charset="-122"/>
              </a:rPr>
              <a:t>cos</a:t>
            </a:r>
            <a:r>
              <a:rPr lang="en-US" altLang="zh-CN" sz="2400" dirty="0" err="1">
                <a:latin typeface="+mn-lt"/>
                <a:ea typeface="华文中宋" pitchFamily="2" charset="-122"/>
                <a:sym typeface="Symbol" pitchFamily="18" charset="2"/>
              </a:rPr>
              <a:t></a:t>
            </a:r>
            <a:r>
              <a:rPr lang="en-US" altLang="zh-CN" sz="2400" baseline="-25000" dirty="0" err="1">
                <a:latin typeface="+mn-lt"/>
                <a:ea typeface="华文中宋" pitchFamily="2" charset="-122"/>
              </a:rPr>
              <a:t>k</a:t>
            </a:r>
            <a:r>
              <a:rPr lang="zh-CN" altLang="en-US" sz="2400" dirty="0">
                <a:latin typeface="+mn-lt"/>
                <a:ea typeface="华文中宋" pitchFamily="2" charset="-122"/>
                <a:sym typeface="Symbol" pitchFamily="18" charset="2"/>
              </a:rPr>
              <a:t>，</a:t>
            </a:r>
            <a:r>
              <a:rPr lang="en-US" altLang="zh-CN" sz="2400" dirty="0" err="1">
                <a:latin typeface="+mn-lt"/>
                <a:ea typeface="华文中宋" pitchFamily="2" charset="-122"/>
                <a:sym typeface="Symbol" pitchFamily="18" charset="2"/>
              </a:rPr>
              <a:t>Yk</a:t>
            </a:r>
            <a:r>
              <a:rPr lang="en-US" altLang="zh-CN" sz="2400" dirty="0">
                <a:latin typeface="+mn-lt"/>
                <a:ea typeface="华文中宋" pitchFamily="2" charset="-122"/>
                <a:sym typeface="Symbol" pitchFamily="18" charset="2"/>
              </a:rPr>
              <a:t> = -</a:t>
            </a:r>
            <a:r>
              <a:rPr lang="en-US" altLang="zh-CN" sz="2400" dirty="0" err="1">
                <a:latin typeface="+mn-lt"/>
                <a:ea typeface="华文中宋" pitchFamily="2" charset="-122"/>
                <a:sym typeface="Symbol" pitchFamily="18" charset="2"/>
              </a:rPr>
              <a:t>A</a:t>
            </a:r>
            <a:r>
              <a:rPr lang="en-US" altLang="zh-CN" sz="2400" baseline="-25000" dirty="0" err="1">
                <a:latin typeface="+mn-lt"/>
                <a:ea typeface="华文中宋" pitchFamily="2" charset="-122"/>
                <a:sym typeface="Symbol" pitchFamily="18" charset="2"/>
              </a:rPr>
              <a:t>k</a:t>
            </a:r>
            <a:r>
              <a:rPr lang="en-US" altLang="zh-CN" sz="2400" dirty="0" err="1">
                <a:latin typeface="+mn-lt"/>
                <a:ea typeface="华文中宋" pitchFamily="2" charset="-122"/>
                <a:sym typeface="Symbol" pitchFamily="18" charset="2"/>
              </a:rPr>
              <a:t>sin</a:t>
            </a:r>
            <a:r>
              <a:rPr lang="en-US" altLang="zh-CN" sz="2400" baseline="-25000" dirty="0" err="1">
                <a:latin typeface="+mn-lt"/>
                <a:ea typeface="华文中宋" pitchFamily="2" charset="-122"/>
              </a:rPr>
              <a:t>k</a:t>
            </a:r>
            <a:endParaRPr lang="zh-CN" altLang="en-US" sz="2400" dirty="0">
              <a:latin typeface="+mn-lt"/>
              <a:ea typeface="华文中宋" pitchFamily="2" charset="-122"/>
              <a:sym typeface="Symbol" pitchFamily="18" charset="2"/>
            </a:endParaRPr>
          </a:p>
          <a:p>
            <a:pPr indent="304800">
              <a:lnSpc>
                <a:spcPct val="125000"/>
              </a:lnSpc>
              <a:defRPr/>
            </a:pPr>
            <a:r>
              <a:rPr lang="en-US" altLang="zh-CN" sz="2400" dirty="0">
                <a:latin typeface="+mn-lt"/>
                <a:ea typeface="华文中宋" pitchFamily="2" charset="-122"/>
                <a:sym typeface="Symbol" pitchFamily="18" charset="2"/>
              </a:rPr>
              <a:t>                </a:t>
            </a:r>
            <a:r>
              <a:rPr lang="en-US" altLang="zh-CN" sz="2400" dirty="0" err="1">
                <a:latin typeface="+mn-lt"/>
                <a:ea typeface="华文中宋" pitchFamily="2" charset="-122"/>
                <a:sym typeface="Symbol" pitchFamily="18" charset="2"/>
              </a:rPr>
              <a:t>A</a:t>
            </a:r>
            <a:r>
              <a:rPr lang="en-US" altLang="zh-CN" sz="2400" baseline="-25000" dirty="0" err="1">
                <a:latin typeface="+mn-lt"/>
                <a:ea typeface="华文中宋" pitchFamily="2" charset="-122"/>
                <a:sym typeface="Symbol" pitchFamily="18" charset="2"/>
              </a:rPr>
              <a:t>k</a:t>
            </a:r>
            <a:r>
              <a:rPr lang="zh-CN" altLang="en-US" sz="2400" dirty="0">
                <a:latin typeface="+mn-lt"/>
                <a:ea typeface="华文中宋" pitchFamily="2" charset="-122"/>
                <a:sym typeface="Symbol" pitchFamily="18" charset="2"/>
              </a:rPr>
              <a:t>、</a:t>
            </a:r>
            <a:r>
              <a:rPr lang="en-US" altLang="zh-CN" sz="2400" baseline="-25000" dirty="0">
                <a:latin typeface="+mn-lt"/>
                <a:ea typeface="华文中宋" pitchFamily="2" charset="-122"/>
              </a:rPr>
              <a:t>k</a:t>
            </a:r>
            <a:r>
              <a:rPr lang="zh-CN" altLang="en-US" sz="2400" dirty="0">
                <a:latin typeface="+mn-lt"/>
                <a:ea typeface="华文中宋" pitchFamily="2" charset="-122"/>
                <a:sym typeface="Symbol" pitchFamily="18" charset="2"/>
              </a:rPr>
              <a:t>、 </a:t>
            </a:r>
            <a:r>
              <a:rPr lang="en-US" altLang="zh-CN" sz="2400" dirty="0" err="1">
                <a:latin typeface="+mn-lt"/>
                <a:ea typeface="华文中宋" pitchFamily="2" charset="-122"/>
                <a:sym typeface="Symbol" pitchFamily="18" charset="2"/>
              </a:rPr>
              <a:t>X</a:t>
            </a:r>
            <a:r>
              <a:rPr lang="en-US" altLang="zh-CN" sz="2400" baseline="-25000" dirty="0" err="1">
                <a:latin typeface="+mn-lt"/>
                <a:ea typeface="华文中宋" pitchFamily="2" charset="-122"/>
                <a:sym typeface="Symbol" pitchFamily="18" charset="2"/>
              </a:rPr>
              <a:t>k</a:t>
            </a:r>
            <a:r>
              <a:rPr lang="zh-CN" altLang="en-US" sz="2400" dirty="0">
                <a:latin typeface="+mn-lt"/>
                <a:ea typeface="华文中宋" pitchFamily="2" charset="-122"/>
                <a:sym typeface="Symbol" pitchFamily="18" charset="2"/>
              </a:rPr>
              <a:t>和</a:t>
            </a:r>
            <a:r>
              <a:rPr lang="en-US" altLang="zh-CN" sz="2400" dirty="0" err="1">
                <a:latin typeface="+mn-lt"/>
                <a:ea typeface="华文中宋" pitchFamily="2" charset="-122"/>
                <a:sym typeface="Symbol" pitchFamily="18" charset="2"/>
              </a:rPr>
              <a:t>Y</a:t>
            </a:r>
            <a:r>
              <a:rPr lang="en-US" altLang="zh-CN" sz="2400" baseline="-25000" dirty="0" err="1">
                <a:latin typeface="+mn-lt"/>
                <a:ea typeface="华文中宋" pitchFamily="2" charset="-122"/>
                <a:sym typeface="Symbol" pitchFamily="18" charset="2"/>
              </a:rPr>
              <a:t>k</a:t>
            </a:r>
            <a:r>
              <a:rPr lang="zh-CN" altLang="en-US" sz="2400" dirty="0">
                <a:latin typeface="+mn-lt"/>
                <a:ea typeface="华文中宋" pitchFamily="2" charset="-122"/>
                <a:sym typeface="Symbol" pitchFamily="18" charset="2"/>
              </a:rPr>
              <a:t>分别可以取多个离散值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14375" y="476250"/>
            <a:ext cx="41703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+mn-lt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800" b="1" dirty="0">
                <a:latin typeface="+mn-lt"/>
                <a:ea typeface="黑体" pitchFamily="2" charset="-122"/>
                <a:cs typeface="Times New Roman" pitchFamily="18" charset="0"/>
              </a:rPr>
              <a:t>16QAM</a:t>
            </a:r>
            <a:r>
              <a:rPr lang="zh-CN" altLang="en-US" sz="2800" b="1" dirty="0">
                <a:latin typeface="+mn-lt"/>
                <a:ea typeface="黑体" pitchFamily="2" charset="-122"/>
                <a:cs typeface="Times New Roman" pitchFamily="18" charset="0"/>
              </a:rPr>
              <a:t>信号的产生</a:t>
            </a:r>
          </a:p>
        </p:txBody>
      </p:sp>
      <p:sp>
        <p:nvSpPr>
          <p:cNvPr id="3083" name="矩形 12"/>
          <p:cNvSpPr>
            <a:spLocks noChangeArrowheads="1"/>
          </p:cNvSpPr>
          <p:nvPr/>
        </p:nvSpPr>
        <p:spPr bwMode="auto">
          <a:xfrm>
            <a:off x="1016000" y="5189538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表明</a:t>
            </a:r>
            <a:r>
              <a:rPr lang="zh-CN" altLang="en-US" sz="2400">
                <a:solidFill>
                  <a:srgbClr val="080808"/>
                </a:solidFill>
                <a:sym typeface="Symbol" panose="05050102010706020507" pitchFamily="18" charset="2"/>
              </a:rPr>
              <a:t>：</a:t>
            </a:r>
            <a:endParaRPr lang="zh-CN" altLang="en-US"/>
          </a:p>
        </p:txBody>
      </p:sp>
      <p:sp>
        <p:nvSpPr>
          <p:cNvPr id="3084" name="Freeform 10"/>
          <p:cNvSpPr>
            <a:spLocks/>
          </p:cNvSpPr>
          <p:nvPr/>
        </p:nvSpPr>
        <p:spPr bwMode="auto">
          <a:xfrm flipV="1">
            <a:off x="1857375" y="3900488"/>
            <a:ext cx="714375" cy="1357312"/>
          </a:xfrm>
          <a:custGeom>
            <a:avLst/>
            <a:gdLst>
              <a:gd name="T0" fmla="*/ 2147483647 w 1612"/>
              <a:gd name="T1" fmla="*/ 2147483647 h 1618"/>
              <a:gd name="T2" fmla="*/ 2147483647 w 1612"/>
              <a:gd name="T3" fmla="*/ 2147483647 h 1618"/>
              <a:gd name="T4" fmla="*/ 2147483647 w 1612"/>
              <a:gd name="T5" fmla="*/ 2147483647 h 1618"/>
              <a:gd name="T6" fmla="*/ 2147483647 w 1612"/>
              <a:gd name="T7" fmla="*/ 2147483647 h 1618"/>
              <a:gd name="T8" fmla="*/ 2147483647 w 1612"/>
              <a:gd name="T9" fmla="*/ 2147483647 h 1618"/>
              <a:gd name="T10" fmla="*/ 2147483647 w 1612"/>
              <a:gd name="T11" fmla="*/ 2147483647 h 1618"/>
              <a:gd name="T12" fmla="*/ 2147483647 w 1612"/>
              <a:gd name="T13" fmla="*/ 2147483647 h 1618"/>
              <a:gd name="T14" fmla="*/ 2147483647 w 1612"/>
              <a:gd name="T15" fmla="*/ 0 h 1618"/>
              <a:gd name="T16" fmla="*/ 2147483647 w 1612"/>
              <a:gd name="T17" fmla="*/ 2147483647 h 1618"/>
              <a:gd name="T18" fmla="*/ 2147483647 w 1612"/>
              <a:gd name="T19" fmla="*/ 2147483647 h 1618"/>
              <a:gd name="T20" fmla="*/ 2147483647 w 1612"/>
              <a:gd name="T21" fmla="*/ 2147483647 h 1618"/>
              <a:gd name="T22" fmla="*/ 2147483647 w 1612"/>
              <a:gd name="T23" fmla="*/ 2147483647 h 1618"/>
              <a:gd name="T24" fmla="*/ 2147483647 w 1612"/>
              <a:gd name="T25" fmla="*/ 2147483647 h 1618"/>
              <a:gd name="T26" fmla="*/ 2147483647 w 1612"/>
              <a:gd name="T27" fmla="*/ 2147483647 h 1618"/>
              <a:gd name="T28" fmla="*/ 2147483647 w 1612"/>
              <a:gd name="T29" fmla="*/ 2147483647 h 1618"/>
              <a:gd name="T30" fmla="*/ 2147483647 w 1612"/>
              <a:gd name="T31" fmla="*/ 2147483647 h 1618"/>
              <a:gd name="T32" fmla="*/ 2147483647 w 1612"/>
              <a:gd name="T33" fmla="*/ 2147483647 h 1618"/>
              <a:gd name="T34" fmla="*/ 2147483647 w 1612"/>
              <a:gd name="T35" fmla="*/ 2147483647 h 1618"/>
              <a:gd name="T36" fmla="*/ 2147483647 w 1612"/>
              <a:gd name="T37" fmla="*/ 2147483647 h 1618"/>
              <a:gd name="T38" fmla="*/ 2147483647 w 1612"/>
              <a:gd name="T39" fmla="*/ 2147483647 h 1618"/>
              <a:gd name="T40" fmla="*/ 2147483647 w 1612"/>
              <a:gd name="T41" fmla="*/ 2147483647 h 1618"/>
              <a:gd name="T42" fmla="*/ 2147483647 w 1612"/>
              <a:gd name="T43" fmla="*/ 2147483647 h 1618"/>
              <a:gd name="T44" fmla="*/ 2147483647 w 1612"/>
              <a:gd name="T45" fmla="*/ 2147483647 h 1618"/>
              <a:gd name="T46" fmla="*/ 2147483647 w 1612"/>
              <a:gd name="T47" fmla="*/ 2147483647 h 1618"/>
              <a:gd name="T48" fmla="*/ 2147483647 w 1612"/>
              <a:gd name="T49" fmla="*/ 2147483647 h 1618"/>
              <a:gd name="T50" fmla="*/ 2147483647 w 1612"/>
              <a:gd name="T51" fmla="*/ 2147483647 h 1618"/>
              <a:gd name="T52" fmla="*/ 2147483647 w 1612"/>
              <a:gd name="T53" fmla="*/ 2147483647 h 1618"/>
              <a:gd name="T54" fmla="*/ 2147483647 w 1612"/>
              <a:gd name="T55" fmla="*/ 2147483647 h 1618"/>
              <a:gd name="T56" fmla="*/ 2147483647 w 1612"/>
              <a:gd name="T57" fmla="*/ 2147483647 h 1618"/>
              <a:gd name="T58" fmla="*/ 2147483647 w 1612"/>
              <a:gd name="T59" fmla="*/ 2147483647 h 1618"/>
              <a:gd name="T60" fmla="*/ 2147483647 w 1612"/>
              <a:gd name="T61" fmla="*/ 2147483647 h 1618"/>
              <a:gd name="T62" fmla="*/ 2147483647 w 1612"/>
              <a:gd name="T63" fmla="*/ 2147483647 h 1618"/>
              <a:gd name="T64" fmla="*/ 2147483647 w 1612"/>
              <a:gd name="T65" fmla="*/ 2147483647 h 1618"/>
              <a:gd name="T66" fmla="*/ 2147483647 w 1612"/>
              <a:gd name="T67" fmla="*/ 2147483647 h 1618"/>
              <a:gd name="T68" fmla="*/ 2147483647 w 1612"/>
              <a:gd name="T69" fmla="*/ 2147483647 h 1618"/>
              <a:gd name="T70" fmla="*/ 2147483647 w 1612"/>
              <a:gd name="T71" fmla="*/ 2147483647 h 1618"/>
              <a:gd name="T72" fmla="*/ 2147483647 w 1612"/>
              <a:gd name="T73" fmla="*/ 2147483647 h 1618"/>
              <a:gd name="T74" fmla="*/ 2147483647 w 1612"/>
              <a:gd name="T75" fmla="*/ 2147483647 h 1618"/>
              <a:gd name="T76" fmla="*/ 2147483647 w 1612"/>
              <a:gd name="T77" fmla="*/ 2147483647 h 1618"/>
              <a:gd name="T78" fmla="*/ 2147483647 w 1612"/>
              <a:gd name="T79" fmla="*/ 2147483647 h 1618"/>
              <a:gd name="T80" fmla="*/ 2147483647 w 1612"/>
              <a:gd name="T81" fmla="*/ 2147483647 h 161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612"/>
              <a:gd name="T124" fmla="*/ 0 h 1618"/>
              <a:gd name="T125" fmla="*/ 1612 w 1612"/>
              <a:gd name="T126" fmla="*/ 1618 h 161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close/>
              </a:path>
            </a:pathLst>
          </a:custGeom>
          <a:solidFill>
            <a:srgbClr val="60198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74" name="Object 12"/>
          <p:cNvGraphicFramePr>
            <a:graphicFrameLocks noChangeAspect="1"/>
          </p:cNvGraphicFramePr>
          <p:nvPr/>
        </p:nvGraphicFramePr>
        <p:xfrm>
          <a:off x="5283200" y="5749925"/>
          <a:ext cx="6381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7160" imgH="215640" progId="Equation.DSMT4">
                  <p:embed/>
                </p:oleObj>
              </mc:Choice>
              <mc:Fallback>
                <p:oleObj name="Equation" r:id="rId3" imgW="317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5749925"/>
                        <a:ext cx="6381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3" descr="新闻纸"/>
          <p:cNvGraphicFramePr>
            <a:graphicFrameLocks noChangeAspect="1"/>
          </p:cNvGraphicFramePr>
          <p:nvPr/>
        </p:nvGraphicFramePr>
        <p:xfrm>
          <a:off x="2286000" y="2236788"/>
          <a:ext cx="34226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360" imgH="228600" progId="Equation.DSMT4">
                  <p:embed/>
                </p:oleObj>
              </mc:Choice>
              <mc:Fallback>
                <p:oleObj name="Equation" r:id="rId5" imgW="1422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236788"/>
                        <a:ext cx="3422650" cy="549275"/>
                      </a:xfrm>
                      <a:prstGeom prst="rect">
                        <a:avLst/>
                      </a:prstGeom>
                      <a:blipFill dpi="0" rotWithShape="0">
                        <a:blip r:embed="rId7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3076" name="Object 14"/>
          <p:cNvGraphicFramePr>
            <a:graphicFrameLocks noChangeAspect="1"/>
          </p:cNvGraphicFramePr>
          <p:nvPr/>
        </p:nvGraphicFramePr>
        <p:xfrm>
          <a:off x="6072188" y="2274888"/>
          <a:ext cx="24384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600" imgH="228600" progId="Equation.DSMT4">
                  <p:embed/>
                </p:oleObj>
              </mc:Choice>
              <mc:Fallback>
                <p:oleObj name="Equation" r:id="rId8" imgW="1117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2274888"/>
                        <a:ext cx="2438400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3077" name="Object 16"/>
          <p:cNvGraphicFramePr>
            <a:graphicFrameLocks noChangeAspect="1"/>
          </p:cNvGraphicFramePr>
          <p:nvPr/>
        </p:nvGraphicFramePr>
        <p:xfrm>
          <a:off x="2398713" y="3281363"/>
          <a:ext cx="45005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8000" imgH="228600" progId="Equation.DSMT4">
                  <p:embed/>
                </p:oleObj>
              </mc:Choice>
              <mc:Fallback>
                <p:oleObj name="Equation" r:id="rId10" imgW="1778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3281363"/>
                        <a:ext cx="4500562" cy="576262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206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2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49169" grpId="0" animBg="1" autoUpdateAnimBg="0"/>
      <p:bldP spid="10" grpId="0" autoUpdateAnimBg="0"/>
      <p:bldP spid="3083" grpId="0"/>
      <p:bldP spid="308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928688" y="2879725"/>
            <a:ext cx="3376612" cy="2835275"/>
            <a:chOff x="2128" y="1659"/>
            <a:chExt cx="3450" cy="3330"/>
          </a:xfrm>
        </p:grpSpPr>
        <p:sp>
          <p:nvSpPr>
            <p:cNvPr id="3078" name="Text Box 15"/>
            <p:cNvSpPr txBox="1">
              <a:spLocks noChangeArrowheads="1"/>
            </p:cNvSpPr>
            <p:nvPr/>
          </p:nvSpPr>
          <p:spPr bwMode="auto">
            <a:xfrm>
              <a:off x="4392" y="2395"/>
              <a:ext cx="67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M</a:t>
              </a:r>
              <a:endParaRPr lang="en-US" altLang="zh-CN" sz="3200"/>
            </a:p>
          </p:txBody>
        </p:sp>
        <p:grpSp>
          <p:nvGrpSpPr>
            <p:cNvPr id="3079" name="Group 16"/>
            <p:cNvGrpSpPr>
              <a:grpSpLocks/>
            </p:cNvGrpSpPr>
            <p:nvPr/>
          </p:nvGrpSpPr>
          <p:grpSpPr bwMode="auto">
            <a:xfrm>
              <a:off x="2128" y="1659"/>
              <a:ext cx="3450" cy="3330"/>
              <a:chOff x="2128" y="1659"/>
              <a:chExt cx="3450" cy="3330"/>
            </a:xfrm>
          </p:grpSpPr>
          <p:grpSp>
            <p:nvGrpSpPr>
              <p:cNvPr id="3080" name="Group 17"/>
              <p:cNvGrpSpPr>
                <a:grpSpLocks/>
              </p:cNvGrpSpPr>
              <p:nvPr/>
            </p:nvGrpSpPr>
            <p:grpSpPr bwMode="auto">
              <a:xfrm>
                <a:off x="2821" y="2351"/>
                <a:ext cx="1966" cy="2041"/>
                <a:chOff x="6643" y="8505"/>
                <a:chExt cx="1966" cy="2041"/>
              </a:xfrm>
            </p:grpSpPr>
            <p:grpSp>
              <p:nvGrpSpPr>
                <p:cNvPr id="3098" name="Group 18"/>
                <p:cNvGrpSpPr>
                  <a:grpSpLocks/>
                </p:cNvGrpSpPr>
                <p:nvPr/>
              </p:nvGrpSpPr>
              <p:grpSpPr bwMode="auto">
                <a:xfrm>
                  <a:off x="6643" y="8505"/>
                  <a:ext cx="1966" cy="61"/>
                  <a:chOff x="2712" y="8325"/>
                  <a:chExt cx="1966" cy="61"/>
                </a:xfrm>
              </p:grpSpPr>
              <p:sp>
                <p:nvSpPr>
                  <p:cNvPr id="3108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4618" y="832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109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2712" y="832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099" name="Group 21"/>
                <p:cNvGrpSpPr>
                  <a:grpSpLocks/>
                </p:cNvGrpSpPr>
                <p:nvPr/>
              </p:nvGrpSpPr>
              <p:grpSpPr bwMode="auto">
                <a:xfrm>
                  <a:off x="6643" y="10485"/>
                  <a:ext cx="1966" cy="61"/>
                  <a:chOff x="2712" y="8325"/>
                  <a:chExt cx="1966" cy="61"/>
                </a:xfrm>
              </p:grpSpPr>
              <p:sp>
                <p:nvSpPr>
                  <p:cNvPr id="3106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4618" y="832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107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2712" y="832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100" name="Group 24"/>
                <p:cNvGrpSpPr>
                  <a:grpSpLocks/>
                </p:cNvGrpSpPr>
                <p:nvPr/>
              </p:nvGrpSpPr>
              <p:grpSpPr bwMode="auto">
                <a:xfrm>
                  <a:off x="6643" y="9165"/>
                  <a:ext cx="1966" cy="61"/>
                  <a:chOff x="2712" y="8325"/>
                  <a:chExt cx="1966" cy="61"/>
                </a:xfrm>
              </p:grpSpPr>
              <p:sp>
                <p:nvSpPr>
                  <p:cNvPr id="3104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4618" y="832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105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2712" y="832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101" name="Group 27"/>
                <p:cNvGrpSpPr>
                  <a:grpSpLocks/>
                </p:cNvGrpSpPr>
                <p:nvPr/>
              </p:nvGrpSpPr>
              <p:grpSpPr bwMode="auto">
                <a:xfrm>
                  <a:off x="6643" y="9825"/>
                  <a:ext cx="1966" cy="61"/>
                  <a:chOff x="2712" y="8325"/>
                  <a:chExt cx="1966" cy="61"/>
                </a:xfrm>
              </p:grpSpPr>
              <p:sp>
                <p:nvSpPr>
                  <p:cNvPr id="3102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4618" y="832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103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2712" y="832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3081" name="Group 30"/>
              <p:cNvGrpSpPr>
                <a:grpSpLocks/>
              </p:cNvGrpSpPr>
              <p:nvPr/>
            </p:nvGrpSpPr>
            <p:grpSpPr bwMode="auto">
              <a:xfrm>
                <a:off x="3466" y="2350"/>
                <a:ext cx="660" cy="2041"/>
                <a:chOff x="7288" y="8490"/>
                <a:chExt cx="660" cy="2041"/>
              </a:xfrm>
            </p:grpSpPr>
            <p:grpSp>
              <p:nvGrpSpPr>
                <p:cNvPr id="3088" name="Group 31"/>
                <p:cNvGrpSpPr>
                  <a:grpSpLocks/>
                </p:cNvGrpSpPr>
                <p:nvPr/>
              </p:nvGrpSpPr>
              <p:grpSpPr bwMode="auto">
                <a:xfrm>
                  <a:off x="7288" y="8490"/>
                  <a:ext cx="60" cy="2041"/>
                  <a:chOff x="7288" y="8505"/>
                  <a:chExt cx="60" cy="2041"/>
                </a:xfrm>
              </p:grpSpPr>
              <p:sp>
                <p:nvSpPr>
                  <p:cNvPr id="3094" name="Oval 32"/>
                  <p:cNvSpPr>
                    <a:spLocks noChangeArrowheads="1"/>
                  </p:cNvSpPr>
                  <p:nvPr/>
                </p:nvSpPr>
                <p:spPr bwMode="auto">
                  <a:xfrm>
                    <a:off x="7288" y="850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095" name="Oval 33"/>
                  <p:cNvSpPr>
                    <a:spLocks noChangeArrowheads="1"/>
                  </p:cNvSpPr>
                  <p:nvPr/>
                </p:nvSpPr>
                <p:spPr bwMode="auto">
                  <a:xfrm>
                    <a:off x="7288" y="1048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096" name="Oval 34"/>
                  <p:cNvSpPr>
                    <a:spLocks noChangeArrowheads="1"/>
                  </p:cNvSpPr>
                  <p:nvPr/>
                </p:nvSpPr>
                <p:spPr bwMode="auto">
                  <a:xfrm>
                    <a:off x="7288" y="916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097" name="Oval 35"/>
                  <p:cNvSpPr>
                    <a:spLocks noChangeArrowheads="1"/>
                  </p:cNvSpPr>
                  <p:nvPr/>
                </p:nvSpPr>
                <p:spPr bwMode="auto">
                  <a:xfrm>
                    <a:off x="7288" y="9825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089" name="Group 36"/>
                <p:cNvGrpSpPr>
                  <a:grpSpLocks/>
                </p:cNvGrpSpPr>
                <p:nvPr/>
              </p:nvGrpSpPr>
              <p:grpSpPr bwMode="auto">
                <a:xfrm>
                  <a:off x="7888" y="8490"/>
                  <a:ext cx="60" cy="2041"/>
                  <a:chOff x="7888" y="8490"/>
                  <a:chExt cx="60" cy="2041"/>
                </a:xfrm>
              </p:grpSpPr>
              <p:sp>
                <p:nvSpPr>
                  <p:cNvPr id="3090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7888" y="8490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091" name="Oval 38"/>
                  <p:cNvSpPr>
                    <a:spLocks noChangeArrowheads="1"/>
                  </p:cNvSpPr>
                  <p:nvPr/>
                </p:nvSpPr>
                <p:spPr bwMode="auto">
                  <a:xfrm>
                    <a:off x="7888" y="10470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092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7888" y="9150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093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7888" y="9810"/>
                    <a:ext cx="60" cy="6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sp>
            <p:nvSpPr>
              <p:cNvPr id="3082" name="Line 41"/>
              <p:cNvSpPr>
                <a:spLocks noChangeShapeType="1"/>
              </p:cNvSpPr>
              <p:nvPr/>
            </p:nvSpPr>
            <p:spPr bwMode="auto">
              <a:xfrm flipV="1">
                <a:off x="3793" y="3038"/>
                <a:ext cx="944" cy="330"/>
              </a:xfrm>
              <a:prstGeom prst="line">
                <a:avLst/>
              </a:prstGeom>
              <a:noFill/>
              <a:ln w="28575">
                <a:solidFill>
                  <a:srgbClr val="99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083" name="Group 42"/>
              <p:cNvGrpSpPr>
                <a:grpSpLocks/>
              </p:cNvGrpSpPr>
              <p:nvPr/>
            </p:nvGrpSpPr>
            <p:grpSpPr bwMode="auto">
              <a:xfrm>
                <a:off x="2128" y="1659"/>
                <a:ext cx="3450" cy="3330"/>
                <a:chOff x="6026" y="2736"/>
                <a:chExt cx="3450" cy="3330"/>
              </a:xfrm>
            </p:grpSpPr>
            <p:sp>
              <p:nvSpPr>
                <p:cNvPr id="3086" name="Line 43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6026" y="4440"/>
                  <a:ext cx="345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" name="Line 44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35" y="4401"/>
                  <a:ext cx="33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084" name="Line 45"/>
              <p:cNvSpPr>
                <a:spLocks noChangeShapeType="1"/>
              </p:cNvSpPr>
              <p:nvPr/>
            </p:nvSpPr>
            <p:spPr bwMode="auto">
              <a:xfrm>
                <a:off x="3794" y="3360"/>
                <a:ext cx="976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5" name="Line 46"/>
              <p:cNvSpPr>
                <a:spLocks noChangeShapeType="1"/>
              </p:cNvSpPr>
              <p:nvPr/>
            </p:nvSpPr>
            <p:spPr bwMode="auto">
              <a:xfrm flipV="1">
                <a:off x="4769" y="3077"/>
                <a:ext cx="0" cy="30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61442" name="Object 7"/>
          <p:cNvGraphicFramePr>
            <a:graphicFrameLocks noChangeAspect="1"/>
          </p:cNvGraphicFramePr>
          <p:nvPr/>
        </p:nvGraphicFramePr>
        <p:xfrm>
          <a:off x="4786313" y="5715000"/>
          <a:ext cx="11430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215640" progId="Equation.DSMT4">
                  <p:embed/>
                </p:oleObj>
              </mc:Choice>
              <mc:Fallback>
                <p:oleObj name="Equation" r:id="rId2" imgW="558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5715000"/>
                        <a:ext cx="11430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6" name="Picture 3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128"/>
          <a:stretch>
            <a:fillRect/>
          </a:stretch>
        </p:blipFill>
        <p:spPr bwMode="auto">
          <a:xfrm>
            <a:off x="488950" y="1090613"/>
            <a:ext cx="8128000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3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6" t="33141"/>
          <a:stretch>
            <a:fillRect/>
          </a:stretch>
        </p:blipFill>
        <p:spPr bwMode="auto">
          <a:xfrm>
            <a:off x="4394200" y="2584450"/>
            <a:ext cx="4186238" cy="304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530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3"/>
          <p:cNvGrpSpPr>
            <a:grpSpLocks/>
          </p:cNvGrpSpPr>
          <p:nvPr/>
        </p:nvGrpSpPr>
        <p:grpSpPr bwMode="auto">
          <a:xfrm>
            <a:off x="500063" y="357188"/>
            <a:ext cx="7751762" cy="3513137"/>
            <a:chOff x="605940" y="357166"/>
            <a:chExt cx="7752274" cy="3513817"/>
          </a:xfrm>
        </p:grpSpPr>
        <p:pic>
          <p:nvPicPr>
            <p:cNvPr id="39941" name="Picture 4" descr="073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40" y="357166"/>
              <a:ext cx="7752274" cy="3513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9942" name="直接箭头连接符 12"/>
            <p:cNvCxnSpPr>
              <a:cxnSpLocks noChangeShapeType="1"/>
            </p:cNvCxnSpPr>
            <p:nvPr/>
          </p:nvCxnSpPr>
          <p:spPr bwMode="auto">
            <a:xfrm rot="5400000">
              <a:off x="5129784" y="3056164"/>
              <a:ext cx="428628" cy="158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5018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37"/>
          <a:stretch>
            <a:fillRect/>
          </a:stretch>
        </p:blipFill>
        <p:spPr bwMode="auto">
          <a:xfrm>
            <a:off x="711200" y="5384800"/>
            <a:ext cx="78613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957"/>
          <a:stretch>
            <a:fillRect/>
          </a:stretch>
        </p:blipFill>
        <p:spPr bwMode="auto">
          <a:xfrm>
            <a:off x="711200" y="4006850"/>
            <a:ext cx="78613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64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571500" y="1071563"/>
            <a:ext cx="7929563" cy="1143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 eaLnBrk="0" hangingPunct="0">
              <a:lnSpc>
                <a:spcPts val="3800"/>
              </a:lnSpc>
              <a:spcBef>
                <a:spcPct val="20000"/>
              </a:spcBef>
              <a:buClr>
                <a:srgbClr val="0000CC"/>
              </a:buClr>
              <a:buSzPct val="60000"/>
              <a:buFont typeface="Wingdings" pitchFamily="2" charset="2"/>
              <a:buChar char="u"/>
              <a:defRPr/>
            </a:pPr>
            <a:r>
              <a:rPr lang="zh-CN" altLang="en-US" sz="2400" b="1" kern="0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</a:rPr>
              <a:t>复合相移法</a:t>
            </a:r>
            <a:r>
              <a:rPr lang="zh-CN" altLang="en-US" sz="2400" kern="0" dirty="0">
                <a:solidFill>
                  <a:srgbClr val="990099"/>
                </a:solidFill>
                <a:latin typeface="+mn-lt"/>
                <a:ea typeface="+mn-ea"/>
              </a:rPr>
              <a:t>：</a:t>
            </a:r>
            <a:r>
              <a:rPr lang="en-US" altLang="zh-CN" sz="2400" b="1" kern="0" dirty="0">
                <a:solidFill>
                  <a:srgbClr val="990099"/>
                </a:solidFill>
                <a:latin typeface="+mn-lt"/>
                <a:ea typeface="+mn-ea"/>
              </a:rPr>
              <a:t> </a:t>
            </a:r>
            <a:r>
              <a:rPr lang="zh-CN" altLang="en-US" sz="2400" b="1" kern="0" dirty="0">
                <a:latin typeface="+mn-lt"/>
                <a:ea typeface="+mn-ea"/>
              </a:rPr>
              <a:t>用两路独立的</a:t>
            </a:r>
            <a:r>
              <a:rPr lang="en-US" altLang="zh-CN" sz="2400" b="1" dirty="0">
                <a:solidFill>
                  <a:srgbClr val="0000CC"/>
                </a:solidFill>
                <a:ea typeface="宋体" charset="-122"/>
              </a:rPr>
              <a:t>QPSK</a:t>
            </a:r>
            <a:r>
              <a:rPr lang="zh-CN" altLang="en-US" sz="2400" b="1" kern="0" dirty="0">
                <a:latin typeface="+mn-lt"/>
                <a:ea typeface="+mn-ea"/>
              </a:rPr>
              <a:t>信号叠加，即可形成 </a:t>
            </a:r>
            <a:endParaRPr lang="en-US" altLang="zh-CN" sz="2400" b="1" kern="0" dirty="0">
              <a:latin typeface="+mn-lt"/>
              <a:ea typeface="+mn-ea"/>
            </a:endParaRPr>
          </a:p>
          <a:p>
            <a:pPr marL="342900" indent="-342900" eaLnBrk="0" hangingPunct="0">
              <a:lnSpc>
                <a:spcPts val="3800"/>
              </a:lnSpc>
              <a:spcBef>
                <a:spcPct val="20000"/>
              </a:spcBef>
              <a:buClr>
                <a:srgbClr val="990099"/>
              </a:buClr>
              <a:buSzPct val="60000"/>
              <a:defRPr/>
            </a:pPr>
            <a:r>
              <a:rPr lang="en-US" altLang="zh-CN" sz="2400" b="1" kern="0" dirty="0">
                <a:solidFill>
                  <a:srgbClr val="0000CC"/>
                </a:solidFill>
                <a:latin typeface="+mn-lt"/>
                <a:ea typeface="+mn-ea"/>
              </a:rPr>
              <a:t>                           16QAM</a:t>
            </a:r>
            <a:r>
              <a:rPr lang="zh-CN" altLang="en-US" sz="2400" b="1" kern="0" dirty="0">
                <a:latin typeface="+mn-lt"/>
                <a:ea typeface="+mn-ea"/>
              </a:rPr>
              <a:t>信号。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714375" y="2490788"/>
            <a:ext cx="3856038" cy="3509962"/>
            <a:chOff x="5878" y="1644"/>
            <a:chExt cx="3450" cy="3330"/>
          </a:xfrm>
        </p:grpSpPr>
        <p:sp>
          <p:nvSpPr>
            <p:cNvPr id="40970" name="Text Box 49"/>
            <p:cNvSpPr txBox="1">
              <a:spLocks noChangeArrowheads="1"/>
            </p:cNvSpPr>
            <p:nvPr/>
          </p:nvSpPr>
          <p:spPr bwMode="auto">
            <a:xfrm>
              <a:off x="7528" y="2037"/>
              <a:ext cx="67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M</a:t>
              </a:r>
              <a:endParaRPr lang="en-US" altLang="zh-CN" sz="3200"/>
            </a:p>
          </p:txBody>
        </p:sp>
        <p:sp>
          <p:nvSpPr>
            <p:cNvPr id="40971" name="Text Box 50"/>
            <p:cNvSpPr txBox="1">
              <a:spLocks noChangeArrowheads="1"/>
            </p:cNvSpPr>
            <p:nvPr/>
          </p:nvSpPr>
          <p:spPr bwMode="auto">
            <a:xfrm>
              <a:off x="8444" y="4062"/>
              <a:ext cx="67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M</a:t>
              </a:r>
              <a:endParaRPr lang="en-US" altLang="zh-CN" sz="3200"/>
            </a:p>
          </p:txBody>
        </p:sp>
        <p:grpSp>
          <p:nvGrpSpPr>
            <p:cNvPr id="40972" name="Group 51"/>
            <p:cNvGrpSpPr>
              <a:grpSpLocks/>
            </p:cNvGrpSpPr>
            <p:nvPr/>
          </p:nvGrpSpPr>
          <p:grpSpPr bwMode="auto">
            <a:xfrm>
              <a:off x="5878" y="1644"/>
              <a:ext cx="3450" cy="3330"/>
              <a:chOff x="5878" y="1644"/>
              <a:chExt cx="3450" cy="3330"/>
            </a:xfrm>
          </p:grpSpPr>
          <p:sp>
            <p:nvSpPr>
              <p:cNvPr id="55309" name="Oval 52"/>
              <p:cNvSpPr>
                <a:spLocks noChangeArrowheads="1"/>
              </p:cNvSpPr>
              <p:nvPr/>
            </p:nvSpPr>
            <p:spPr bwMode="auto">
              <a:xfrm rot="635279">
                <a:off x="6693" y="2531"/>
                <a:ext cx="1677" cy="1649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grpSp>
            <p:nvGrpSpPr>
              <p:cNvPr id="40974" name="Group 53"/>
              <p:cNvGrpSpPr>
                <a:grpSpLocks/>
              </p:cNvGrpSpPr>
              <p:nvPr/>
            </p:nvGrpSpPr>
            <p:grpSpPr bwMode="auto">
              <a:xfrm>
                <a:off x="6540" y="2424"/>
                <a:ext cx="1981" cy="1861"/>
                <a:chOff x="6540" y="2424"/>
                <a:chExt cx="1981" cy="1861"/>
              </a:xfrm>
            </p:grpSpPr>
            <p:grpSp>
              <p:nvGrpSpPr>
                <p:cNvPr id="40988" name="Group 54"/>
                <p:cNvGrpSpPr>
                  <a:grpSpLocks/>
                </p:cNvGrpSpPr>
                <p:nvPr/>
              </p:nvGrpSpPr>
              <p:grpSpPr bwMode="auto">
                <a:xfrm>
                  <a:off x="6540" y="2424"/>
                  <a:ext cx="1967" cy="663"/>
                  <a:chOff x="6540" y="2424"/>
                  <a:chExt cx="1967" cy="663"/>
                </a:xfrm>
              </p:grpSpPr>
              <p:grpSp>
                <p:nvGrpSpPr>
                  <p:cNvPr id="41000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6540" y="2424"/>
                    <a:ext cx="1966" cy="63"/>
                    <a:chOff x="6541" y="2364"/>
                    <a:chExt cx="1966" cy="63"/>
                  </a:xfrm>
                </p:grpSpPr>
                <p:sp>
                  <p:nvSpPr>
                    <p:cNvPr id="41006" name="Oval 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47" y="2366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1007" name="Oval 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41" y="2366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1008" name="Oval 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86" y="2365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1009" name="Oval 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786" y="2364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grpSp>
                <p:nvGrpSpPr>
                  <p:cNvPr id="41001" name="Group 60"/>
                  <p:cNvGrpSpPr>
                    <a:grpSpLocks/>
                  </p:cNvGrpSpPr>
                  <p:nvPr/>
                </p:nvGrpSpPr>
                <p:grpSpPr bwMode="auto">
                  <a:xfrm>
                    <a:off x="6541" y="3025"/>
                    <a:ext cx="1966" cy="62"/>
                    <a:chOff x="6541" y="3025"/>
                    <a:chExt cx="1966" cy="62"/>
                  </a:xfrm>
                </p:grpSpPr>
                <p:sp>
                  <p:nvSpPr>
                    <p:cNvPr id="41002" name="Oval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47" y="3026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1003" name="Oval 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41" y="3026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1004" name="Oval 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86" y="3025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1005" name="Oval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786" y="3025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40989" name="Group 65"/>
                <p:cNvGrpSpPr>
                  <a:grpSpLocks/>
                </p:cNvGrpSpPr>
                <p:nvPr/>
              </p:nvGrpSpPr>
              <p:grpSpPr bwMode="auto">
                <a:xfrm>
                  <a:off x="6540" y="3624"/>
                  <a:ext cx="1981" cy="661"/>
                  <a:chOff x="6541" y="3685"/>
                  <a:chExt cx="1981" cy="661"/>
                </a:xfrm>
              </p:grpSpPr>
              <p:grpSp>
                <p:nvGrpSpPr>
                  <p:cNvPr id="40990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6556" y="4284"/>
                    <a:ext cx="1966" cy="62"/>
                    <a:chOff x="6541" y="4345"/>
                    <a:chExt cx="1966" cy="62"/>
                  </a:xfrm>
                </p:grpSpPr>
                <p:sp>
                  <p:nvSpPr>
                    <p:cNvPr id="40996" name="Oval 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47" y="4346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0997" name="Oval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41" y="4346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0998" name="Oval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86" y="4345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0999" name="Oval 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786" y="4345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grpSp>
                <p:nvGrpSpPr>
                  <p:cNvPr id="40991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6541" y="3685"/>
                    <a:ext cx="1966" cy="62"/>
                    <a:chOff x="6541" y="3685"/>
                    <a:chExt cx="1966" cy="62"/>
                  </a:xfrm>
                </p:grpSpPr>
                <p:sp>
                  <p:nvSpPr>
                    <p:cNvPr id="40992" name="Oval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47" y="3686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0993" name="Oval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41" y="3686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0994" name="Oval 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86" y="3685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40995" name="Oval 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786" y="3685"/>
                      <a:ext cx="60" cy="61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40975" name="Line 76"/>
              <p:cNvSpPr>
                <a:spLocks noChangeShapeType="1"/>
              </p:cNvSpPr>
              <p:nvPr/>
            </p:nvSpPr>
            <p:spPr bwMode="auto">
              <a:xfrm flipH="1" flipV="1">
                <a:off x="7814" y="2445"/>
                <a:ext cx="300" cy="3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76" name="Line 77"/>
              <p:cNvSpPr>
                <a:spLocks noChangeShapeType="1"/>
              </p:cNvSpPr>
              <p:nvPr/>
            </p:nvSpPr>
            <p:spPr bwMode="auto">
              <a:xfrm flipV="1">
                <a:off x="7558" y="2751"/>
                <a:ext cx="542" cy="5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0977" name="Group 78"/>
              <p:cNvGrpSpPr>
                <a:grpSpLocks/>
              </p:cNvGrpSpPr>
              <p:nvPr/>
            </p:nvGrpSpPr>
            <p:grpSpPr bwMode="auto">
              <a:xfrm>
                <a:off x="5878" y="1644"/>
                <a:ext cx="3450" cy="3330"/>
                <a:chOff x="5878" y="1644"/>
                <a:chExt cx="3450" cy="3330"/>
              </a:xfrm>
            </p:grpSpPr>
            <p:sp>
              <p:nvSpPr>
                <p:cNvPr id="40980" name="Line 79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5878" y="3348"/>
                  <a:ext cx="345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81" name="Line 80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5887" y="3309"/>
                  <a:ext cx="33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82" name="Line 81"/>
                <p:cNvSpPr>
                  <a:spLocks noChangeShapeType="1"/>
                </p:cNvSpPr>
                <p:nvPr/>
              </p:nvSpPr>
              <p:spPr bwMode="auto">
                <a:xfrm flipV="1">
                  <a:off x="7558" y="2385"/>
                  <a:ext cx="300" cy="9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40983" name="Group 82"/>
                <p:cNvGrpSpPr>
                  <a:grpSpLocks/>
                </p:cNvGrpSpPr>
                <p:nvPr/>
              </p:nvGrpSpPr>
              <p:grpSpPr bwMode="auto">
                <a:xfrm>
                  <a:off x="7544" y="3345"/>
                  <a:ext cx="914" cy="930"/>
                  <a:chOff x="7514" y="3375"/>
                  <a:chExt cx="898" cy="930"/>
                </a:xfrm>
              </p:grpSpPr>
              <p:sp>
                <p:nvSpPr>
                  <p:cNvPr id="40986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7514" y="3375"/>
                    <a:ext cx="600" cy="60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87" name="Line 8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8112" y="3990"/>
                    <a:ext cx="300" cy="315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0984" name="Line 85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872" y="3916"/>
                  <a:ext cx="300" cy="31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85" name="Line 86"/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8188" y="3631"/>
                  <a:ext cx="300" cy="31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314" name="Oval 87"/>
              <p:cNvSpPr>
                <a:spLocks noChangeArrowheads="1"/>
              </p:cNvSpPr>
              <p:nvPr/>
            </p:nvSpPr>
            <p:spPr bwMode="auto">
              <a:xfrm>
                <a:off x="7724" y="3555"/>
                <a:ext cx="842" cy="795"/>
              </a:xfrm>
              <a:prstGeom prst="ellipse">
                <a:avLst/>
              </a:prstGeom>
              <a:noFill/>
              <a:ln w="9525">
                <a:solidFill>
                  <a:srgbClr val="0000CC"/>
                </a:solidFill>
                <a:prstDash val="dash"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5315" name="Oval 88"/>
              <p:cNvSpPr>
                <a:spLocks noChangeArrowheads="1"/>
              </p:cNvSpPr>
              <p:nvPr/>
            </p:nvSpPr>
            <p:spPr bwMode="auto">
              <a:xfrm>
                <a:off x="7724" y="2370"/>
                <a:ext cx="855" cy="810"/>
              </a:xfrm>
              <a:prstGeom prst="ellipse">
                <a:avLst/>
              </a:prstGeom>
              <a:noFill/>
              <a:ln w="12700">
                <a:solidFill>
                  <a:srgbClr val="0000CC"/>
                </a:solidFill>
                <a:prstDash val="dash"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</p:grpSp>
      <p:sp>
        <p:nvSpPr>
          <p:cNvPr id="80" name="矩形 79"/>
          <p:cNvSpPr/>
          <p:nvPr/>
        </p:nvSpPr>
        <p:spPr>
          <a:xfrm>
            <a:off x="5000625" y="2857500"/>
            <a:ext cx="3500438" cy="13239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en-US" sz="2400" b="1" dirty="0">
                <a:latin typeface="+mn-lt"/>
                <a:ea typeface="宋体" charset="-122"/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宋体" charset="-122"/>
              </a:rPr>
              <a:t>大</a:t>
            </a:r>
            <a:r>
              <a:rPr lang="zh-CN" altLang="en-US" sz="2400" b="1" dirty="0">
                <a:latin typeface="+mn-lt"/>
                <a:ea typeface="宋体" charset="-122"/>
              </a:rPr>
              <a:t>圆上的</a:t>
            </a:r>
            <a:r>
              <a:rPr lang="en-US" altLang="zh-CN" sz="2400" b="1" dirty="0">
                <a:latin typeface="+mn-lt"/>
                <a:ea typeface="宋体" charset="-122"/>
              </a:rPr>
              <a:t>4</a:t>
            </a:r>
            <a:r>
              <a:rPr lang="zh-CN" altLang="en-US" sz="2400" b="1" dirty="0">
                <a:latin typeface="+mn-lt"/>
                <a:ea typeface="宋体" charset="-122"/>
              </a:rPr>
              <a:t>个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宋体" charset="-122"/>
              </a:rPr>
              <a:t>红</a:t>
            </a:r>
            <a:r>
              <a:rPr lang="zh-CN" altLang="en-US" sz="2400" b="1" dirty="0">
                <a:solidFill>
                  <a:srgbClr val="CC0000"/>
                </a:solidFill>
                <a:latin typeface="+mn-lt"/>
                <a:ea typeface="宋体" charset="-122"/>
              </a:rPr>
              <a:t>点</a:t>
            </a:r>
            <a:r>
              <a:rPr lang="zh-CN" altLang="en-US" sz="2400" b="1" dirty="0">
                <a:latin typeface="+mn-lt"/>
                <a:ea typeface="宋体" charset="-122"/>
              </a:rPr>
              <a:t>表示</a:t>
            </a:r>
            <a:endParaRPr lang="en-US" altLang="zh-CN" sz="2400" b="1" dirty="0">
              <a:latin typeface="+mn-lt"/>
              <a:ea typeface="宋体" charset="-122"/>
            </a:endParaRPr>
          </a:p>
          <a:p>
            <a:pPr>
              <a:lnSpc>
                <a:spcPts val="3200"/>
              </a:lnSpc>
              <a:defRPr/>
            </a:pPr>
            <a:r>
              <a:rPr lang="zh-CN" altLang="en-US" sz="2400" b="1" dirty="0">
                <a:latin typeface="+mn-lt"/>
                <a:ea typeface="宋体" charset="-122"/>
              </a:rPr>
              <a:t>第一个</a:t>
            </a:r>
            <a:r>
              <a:rPr lang="en-US" altLang="zh-CN" sz="2400" b="1" dirty="0">
                <a:latin typeface="+mn-lt"/>
                <a:ea typeface="宋体" charset="-122"/>
              </a:rPr>
              <a:t>QPSK</a:t>
            </a:r>
            <a:r>
              <a:rPr lang="zh-CN" altLang="en-US" sz="2400" b="1" dirty="0">
                <a:latin typeface="+mn-lt"/>
                <a:ea typeface="宋体" charset="-122"/>
              </a:rPr>
              <a:t>信号矢量的位置。</a:t>
            </a:r>
            <a:endParaRPr lang="en-US" altLang="zh-CN" sz="2400" b="1" dirty="0">
              <a:latin typeface="+mn-lt"/>
              <a:ea typeface="宋体" charset="-122"/>
            </a:endParaRPr>
          </a:p>
        </p:txBody>
      </p:sp>
      <p:sp>
        <p:nvSpPr>
          <p:cNvPr id="81" name="椭圆 80"/>
          <p:cNvSpPr/>
          <p:nvPr/>
        </p:nvSpPr>
        <p:spPr bwMode="auto">
          <a:xfrm>
            <a:off x="1800225" y="3686175"/>
            <a:ext cx="71438" cy="46038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82" name="椭圆 81"/>
          <p:cNvSpPr/>
          <p:nvPr/>
        </p:nvSpPr>
        <p:spPr bwMode="auto">
          <a:xfrm>
            <a:off x="1843088" y="4883150"/>
            <a:ext cx="71437" cy="46038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83" name="椭圆 82"/>
          <p:cNvSpPr/>
          <p:nvPr/>
        </p:nvSpPr>
        <p:spPr bwMode="auto">
          <a:xfrm>
            <a:off x="3171825" y="3629025"/>
            <a:ext cx="71438" cy="46038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84" name="椭圆 83"/>
          <p:cNvSpPr/>
          <p:nvPr/>
        </p:nvSpPr>
        <p:spPr bwMode="auto">
          <a:xfrm>
            <a:off x="3228975" y="4900613"/>
            <a:ext cx="71438" cy="46037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5072063" y="4552950"/>
            <a:ext cx="3429000" cy="17335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en-US" sz="2400" b="1" dirty="0">
                <a:solidFill>
                  <a:srgbClr val="080808"/>
                </a:solidFill>
                <a:latin typeface="+mn-lt"/>
                <a:ea typeface="宋体" charset="-122"/>
              </a:rPr>
              <a:t>   在这</a:t>
            </a:r>
            <a:r>
              <a:rPr lang="en-US" altLang="zh-CN" sz="2400" b="1" dirty="0">
                <a:solidFill>
                  <a:srgbClr val="080808"/>
                </a:solidFill>
                <a:latin typeface="+mn-lt"/>
                <a:ea typeface="宋体" charset="-122"/>
              </a:rPr>
              <a:t>4</a:t>
            </a:r>
            <a:r>
              <a:rPr lang="zh-CN" altLang="en-US" sz="2400" b="1" dirty="0">
                <a:solidFill>
                  <a:srgbClr val="080808"/>
                </a:solidFill>
                <a:latin typeface="+mn-lt"/>
                <a:ea typeface="宋体" charset="-122"/>
              </a:rPr>
              <a:t>个位置上可以叠加上第二个</a:t>
            </a:r>
            <a:r>
              <a:rPr lang="en-US" altLang="zh-CN" sz="2400" b="1" dirty="0">
                <a:solidFill>
                  <a:srgbClr val="080808"/>
                </a:solidFill>
                <a:latin typeface="+mn-lt"/>
                <a:ea typeface="宋体" charset="-122"/>
              </a:rPr>
              <a:t>QPSK</a:t>
            </a:r>
            <a:r>
              <a:rPr lang="zh-CN" altLang="en-US" sz="2400" b="1" dirty="0">
                <a:solidFill>
                  <a:srgbClr val="080808"/>
                </a:solidFill>
                <a:latin typeface="+mn-lt"/>
                <a:ea typeface="宋体" charset="-122"/>
              </a:rPr>
              <a:t>矢量，后者的位置用虚线</a:t>
            </a:r>
            <a:r>
              <a:rPr lang="zh-CN" altLang="en-US" sz="2400" b="1" dirty="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小</a:t>
            </a:r>
            <a:r>
              <a:rPr lang="zh-CN" altLang="en-US" sz="2400" b="1" dirty="0">
                <a:solidFill>
                  <a:srgbClr val="080808"/>
                </a:solidFill>
                <a:latin typeface="+mn-lt"/>
                <a:ea typeface="宋体" charset="-122"/>
              </a:rPr>
              <a:t>圆上的</a:t>
            </a:r>
            <a:r>
              <a:rPr lang="en-US" altLang="zh-CN" sz="2400" b="1" dirty="0">
                <a:solidFill>
                  <a:srgbClr val="080808"/>
                </a:solidFill>
                <a:latin typeface="+mn-lt"/>
                <a:ea typeface="宋体" charset="-122"/>
              </a:rPr>
              <a:t>4</a:t>
            </a:r>
            <a:r>
              <a:rPr lang="zh-CN" altLang="en-US" sz="2400" b="1" dirty="0">
                <a:solidFill>
                  <a:srgbClr val="080808"/>
                </a:solidFill>
                <a:latin typeface="+mn-lt"/>
                <a:ea typeface="宋体" charset="-122"/>
              </a:rPr>
              <a:t>个小黑点表示。</a:t>
            </a:r>
          </a:p>
        </p:txBody>
      </p:sp>
    </p:spTree>
    <p:extLst>
      <p:ext uri="{BB962C8B-B14F-4D97-AF65-F5344CB8AC3E}">
        <p14:creationId xmlns:p14="http://schemas.microsoft.com/office/powerpoint/2010/main" val="319899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3" descr="07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071563"/>
            <a:ext cx="8324850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14375" y="428625"/>
            <a:ext cx="41703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+mn-lt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+mn-lt"/>
                <a:ea typeface="黑体" pitchFamily="2" charset="-122"/>
              </a:rPr>
              <a:t>16QAM</a:t>
            </a:r>
            <a:r>
              <a:rPr lang="zh-CN" altLang="en-US" sz="2800" b="1" dirty="0">
                <a:latin typeface="+mn-lt"/>
                <a:ea typeface="黑体" pitchFamily="2" charset="-122"/>
              </a:rPr>
              <a:t>信号的解调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857875" y="500063"/>
            <a:ext cx="2857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en-US" altLang="zh-CN" sz="2400" b="1" dirty="0">
                <a:solidFill>
                  <a:srgbClr val="003399"/>
                </a:solidFill>
                <a:latin typeface="+mn-ea"/>
                <a:ea typeface="+mn-ea"/>
                <a:cs typeface="Times New Roman" pitchFamily="18" charset="0"/>
              </a:rPr>
              <a:t>——</a:t>
            </a:r>
            <a:r>
              <a:rPr lang="zh-CN" altLang="en-US" sz="2400" b="1" dirty="0">
                <a:solidFill>
                  <a:srgbClr val="003399"/>
                </a:solidFill>
                <a:latin typeface="+mn-ea"/>
                <a:ea typeface="+mn-ea"/>
                <a:cs typeface="Times New Roman" pitchFamily="18" charset="0"/>
              </a:rPr>
              <a:t>正交相干解调</a:t>
            </a:r>
          </a:p>
        </p:txBody>
      </p:sp>
      <p:pic>
        <p:nvPicPr>
          <p:cNvPr id="522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07"/>
          <a:stretch>
            <a:fillRect/>
          </a:stretch>
        </p:blipFill>
        <p:spPr bwMode="auto">
          <a:xfrm>
            <a:off x="622300" y="5207000"/>
            <a:ext cx="78613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23"/>
          <a:stretch>
            <a:fillRect/>
          </a:stretch>
        </p:blipFill>
        <p:spPr bwMode="auto">
          <a:xfrm>
            <a:off x="704850" y="3784600"/>
            <a:ext cx="78613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10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42938" y="5681663"/>
            <a:ext cx="67865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以上两式适用于其他线性数字调制信号。</a:t>
            </a:r>
          </a:p>
        </p:txBody>
      </p:sp>
      <p:sp>
        <p:nvSpPr>
          <p:cNvPr id="52242" name="Rectangle 18"/>
          <p:cNvSpPr>
            <a:spLocks noChangeArrowheads="1"/>
          </p:cNvSpPr>
          <p:nvPr/>
        </p:nvSpPr>
        <p:spPr bwMode="auto">
          <a:xfrm>
            <a:off x="3465513" y="3506788"/>
            <a:ext cx="4222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endParaRPr lang="zh-CN" altLang="en-US" sz="1500" b="1">
              <a:solidFill>
                <a:srgbClr val="8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0" hangingPunct="0">
              <a:defRPr/>
            </a:pPr>
            <a:r>
              <a:rPr lang="zh-CN" altLang="en-US" sz="1500" b="1">
                <a:solidFill>
                  <a:srgbClr val="8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</a:t>
            </a:r>
            <a:endParaRPr lang="zh-CN" altLang="en-US">
              <a:ea typeface="宋体" charset="-122"/>
            </a:endParaRPr>
          </a:p>
        </p:txBody>
      </p:sp>
      <p:sp>
        <p:nvSpPr>
          <p:cNvPr id="52247" name="Rectangle 23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85813" y="476250"/>
            <a:ext cx="5572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+mn-lt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+mn-lt"/>
                <a:ea typeface="黑体" pitchFamily="2" charset="-122"/>
                <a:cs typeface="Times New Roman" pitchFamily="18" charset="0"/>
              </a:rPr>
              <a:t>MQAM</a:t>
            </a:r>
            <a:r>
              <a:rPr lang="zh-CN" altLang="en-US" sz="2800" b="1" dirty="0">
                <a:latin typeface="+mn-lt"/>
                <a:ea typeface="黑体" pitchFamily="2" charset="-122"/>
                <a:cs typeface="Times New Roman" pitchFamily="18" charset="0"/>
              </a:rPr>
              <a:t>信号的</a:t>
            </a:r>
            <a:r>
              <a:rPr lang="zh-CN" altLang="en-US" sz="2800" b="1" dirty="0">
                <a:solidFill>
                  <a:srgbClr val="990099"/>
                </a:solidFill>
                <a:latin typeface="+mn-lt"/>
                <a:ea typeface="黑体" pitchFamily="2" charset="-122"/>
                <a:cs typeface="Times New Roman" pitchFamily="18" charset="0"/>
              </a:rPr>
              <a:t>谱零点带宽</a:t>
            </a:r>
            <a:endParaRPr lang="zh-CN" altLang="en-US" sz="2400" b="1" dirty="0">
              <a:solidFill>
                <a:srgbClr val="99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黑体" pitchFamily="2" charset="-122"/>
              <a:cs typeface="Times New Roman" pitchFamily="18" charset="0"/>
            </a:endParaRPr>
          </a:p>
        </p:txBody>
      </p:sp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23"/>
          <a:stretch>
            <a:fillRect/>
          </a:stretch>
        </p:blipFill>
        <p:spPr bwMode="auto">
          <a:xfrm>
            <a:off x="993775" y="4140200"/>
            <a:ext cx="72675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107"/>
          <a:stretch>
            <a:fillRect/>
          </a:stretch>
        </p:blipFill>
        <p:spPr bwMode="auto">
          <a:xfrm>
            <a:off x="1349375" y="1295400"/>
            <a:ext cx="726757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75"/>
          <a:stretch>
            <a:fillRect/>
          </a:stretch>
        </p:blipFill>
        <p:spPr bwMode="auto">
          <a:xfrm>
            <a:off x="468313" y="2786063"/>
            <a:ext cx="8134350" cy="130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110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8" name="Rectangle 10"/>
          <p:cNvSpPr>
            <a:spLocks noChangeArrowheads="1"/>
          </p:cNvSpPr>
          <p:nvPr/>
        </p:nvSpPr>
        <p:spPr bwMode="auto">
          <a:xfrm>
            <a:off x="857250" y="4560888"/>
            <a:ext cx="20320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频带利用率</a:t>
            </a:r>
            <a:r>
              <a:rPr lang="zh-CN" altLang="en-US" sz="2400" dirty="0">
                <a:solidFill>
                  <a:srgbClr val="000099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：</a:t>
            </a:r>
          </a:p>
          <a:p>
            <a:pPr eaLnBrk="0" hangingPunct="0">
              <a:defRPr/>
            </a:pPr>
            <a:r>
              <a:rPr lang="zh-CN" altLang="en-US" sz="1200" dirty="0">
                <a:solidFill>
                  <a:srgbClr val="8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               </a:t>
            </a:r>
            <a:endParaRPr lang="zh-CN" altLang="en-US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5419" name="Rectangle 11"/>
          <p:cNvSpPr>
            <a:spLocks noChangeArrowheads="1"/>
          </p:cNvSpPr>
          <p:nvPr/>
        </p:nvSpPr>
        <p:spPr bwMode="auto">
          <a:xfrm>
            <a:off x="5580063" y="5073650"/>
            <a:ext cx="1749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bps/Hz</a:t>
            </a:r>
            <a:r>
              <a:rPr lang="zh-CN" altLang="en-US" sz="24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）</a:t>
            </a:r>
            <a:r>
              <a:rPr lang="zh-CN" altLang="en-US" sz="1100" dirty="0">
                <a:ea typeface="宋体" charset="-122"/>
              </a:rPr>
              <a:t> </a:t>
            </a:r>
            <a:endParaRPr lang="zh-CN" altLang="en-US" dirty="0">
              <a:ea typeface="宋体" charset="-122"/>
            </a:endParaRPr>
          </a:p>
        </p:txBody>
      </p:sp>
      <p:sp>
        <p:nvSpPr>
          <p:cNvPr id="145420" name="Rectangle 12"/>
          <p:cNvSpPr>
            <a:spLocks noChangeArrowheads="1"/>
          </p:cNvSpPr>
          <p:nvPr/>
        </p:nvSpPr>
        <p:spPr bwMode="auto">
          <a:xfrm>
            <a:off x="827088" y="5900738"/>
            <a:ext cx="6069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ea typeface="宋体" charset="-122"/>
              </a:rPr>
              <a:t>以上两式也适用于其他线性数字调制信号。</a:t>
            </a:r>
            <a:r>
              <a:rPr lang="zh-CN" altLang="en-US" dirty="0">
                <a:ea typeface="宋体" charset="-122"/>
              </a:rPr>
              <a:t> </a:t>
            </a:r>
          </a:p>
        </p:txBody>
      </p:sp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41" b="26363"/>
          <a:stretch>
            <a:fillRect/>
          </a:stretch>
        </p:blipFill>
        <p:spPr bwMode="auto">
          <a:xfrm>
            <a:off x="414338" y="3384550"/>
            <a:ext cx="8216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520"/>
          <a:stretch>
            <a:fillRect/>
          </a:stretch>
        </p:blipFill>
        <p:spPr bwMode="auto">
          <a:xfrm>
            <a:off x="690563" y="1073150"/>
            <a:ext cx="8089900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77403" r="36708"/>
          <a:stretch>
            <a:fillRect/>
          </a:stretch>
        </p:blipFill>
        <p:spPr bwMode="auto">
          <a:xfrm>
            <a:off x="3238500" y="4806950"/>
            <a:ext cx="2444750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80" b="49159"/>
          <a:stretch>
            <a:fillRect/>
          </a:stretch>
        </p:blipFill>
        <p:spPr bwMode="auto">
          <a:xfrm>
            <a:off x="704850" y="2184400"/>
            <a:ext cx="80899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064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8" grpId="0"/>
      <p:bldP spid="145419" grpId="0"/>
      <p:bldP spid="1454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/>
          <p:cNvSpPr txBox="1">
            <a:spLocks noChangeArrowheads="1"/>
          </p:cNvSpPr>
          <p:nvPr/>
        </p:nvSpPr>
        <p:spPr bwMode="gray">
          <a:xfrm>
            <a:off x="2357438" y="3143250"/>
            <a:ext cx="5715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3600" b="1" dirty="0">
                <a:solidFill>
                  <a:srgbClr val="003399"/>
                </a:solidFill>
                <a:latin typeface="+mn-lt"/>
                <a:ea typeface="微软雅黑" pitchFamily="34" charset="-122"/>
              </a:rPr>
              <a:t>*最小频移键控（</a:t>
            </a:r>
            <a:r>
              <a:rPr lang="en-US" altLang="zh-CN" sz="3600" b="1" dirty="0">
                <a:solidFill>
                  <a:srgbClr val="003399"/>
                </a:solidFill>
                <a:latin typeface="+mn-lt"/>
                <a:ea typeface="微软雅黑" pitchFamily="34" charset="-122"/>
              </a:rPr>
              <a:t>MSK</a:t>
            </a:r>
            <a:r>
              <a:rPr lang="zh-CN" altLang="en-US" sz="3600" b="1" dirty="0">
                <a:solidFill>
                  <a:srgbClr val="003399"/>
                </a:solidFill>
                <a:latin typeface="+mn-lt"/>
                <a:ea typeface="微软雅黑" pitchFamily="34" charset="-122"/>
              </a:rPr>
              <a:t>）</a:t>
            </a:r>
            <a:endParaRPr lang="en-US" altLang="zh-CN" sz="3600" b="1" dirty="0">
              <a:solidFill>
                <a:srgbClr val="003399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45059" name="矩形 4"/>
          <p:cNvSpPr>
            <a:spLocks noChangeArrowheads="1"/>
          </p:cNvSpPr>
          <p:nvPr/>
        </p:nvSpPr>
        <p:spPr bwMode="auto">
          <a:xfrm>
            <a:off x="642938" y="2214563"/>
            <a:ext cx="15462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US" sz="3600" b="1" u="sng">
                <a:solidFill>
                  <a:srgbClr val="800080"/>
                </a:solidFill>
              </a:rPr>
              <a:t>§</a:t>
            </a:r>
            <a:r>
              <a:rPr lang="en-US" altLang="en-US" sz="3600" b="1" u="sng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en-US" altLang="zh-CN" sz="3600" b="1" u="sng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.2  </a:t>
            </a:r>
            <a:endParaRPr lang="zh-CN" altLang="en-US" sz="3600" b="1" u="sng">
              <a:solidFill>
                <a:srgbClr val="800080"/>
              </a:solidFill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870200" y="3857625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—— </a:t>
            </a:r>
            <a:r>
              <a:rPr lang="en-US" altLang="zh-CN" sz="2800">
                <a:ea typeface="华文中宋" panose="02010600040101010101" pitchFamily="2" charset="-122"/>
              </a:rPr>
              <a:t>2FSK</a:t>
            </a:r>
            <a:r>
              <a:rPr lang="zh-CN" altLang="en-US" sz="2800">
                <a:ea typeface="华文中宋" panose="02010600040101010101" pitchFamily="2" charset="-122"/>
              </a:rPr>
              <a:t>的改进型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441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71500" y="428625"/>
            <a:ext cx="2428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问题引出</a:t>
            </a:r>
            <a:r>
              <a:rPr lang="zh-CN" altLang="zh-CN" sz="2400" b="1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：</a:t>
            </a:r>
            <a:endParaRPr lang="zh-CN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42938" y="5732463"/>
            <a:ext cx="7667625" cy="4905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65000"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            </a:t>
            </a:r>
            <a:r>
              <a:rPr lang="en-US" altLang="zh-CN" sz="2400" b="1" dirty="0">
                <a:latin typeface="宋体" pitchFamily="2" charset="-122"/>
                <a:cs typeface="Times New Roman" pitchFamily="18" charset="0"/>
              </a:rPr>
              <a:t>——</a:t>
            </a:r>
            <a:r>
              <a:rPr lang="zh-CN" altLang="en-US" sz="2400" b="1" dirty="0">
                <a:latin typeface="宋体" pitchFamily="2" charset="-122"/>
              </a:rPr>
              <a:t>相位不连续引起</a:t>
            </a:r>
            <a:endParaRPr lang="en-US" altLang="zh-CN" sz="2400" b="1" dirty="0">
              <a:latin typeface="宋体" pitchFamily="2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71500" y="5137150"/>
            <a:ext cx="7858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究其原因</a:t>
            </a:r>
            <a:r>
              <a:rPr lang="zh-CN" altLang="zh-CN" sz="2400" b="1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：</a:t>
            </a:r>
            <a:endParaRPr lang="zh-CN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3" name="矩形 7"/>
          <p:cNvSpPr>
            <a:spLocks noChangeArrowheads="1"/>
          </p:cNvSpPr>
          <p:nvPr/>
        </p:nvSpPr>
        <p:spPr bwMode="auto">
          <a:xfrm>
            <a:off x="7156450" y="571500"/>
            <a:ext cx="14160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需求背景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428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51"/>
          <a:stretch>
            <a:fillRect/>
          </a:stretch>
        </p:blipFill>
        <p:spPr bwMode="auto">
          <a:xfrm>
            <a:off x="615950" y="3841750"/>
            <a:ext cx="7921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80"/>
          <a:stretch>
            <a:fillRect/>
          </a:stretch>
        </p:blipFill>
        <p:spPr bwMode="auto">
          <a:xfrm>
            <a:off x="615950" y="1295400"/>
            <a:ext cx="792162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76" b="34758"/>
          <a:stretch>
            <a:fillRect/>
          </a:stretch>
        </p:blipFill>
        <p:spPr bwMode="auto">
          <a:xfrm>
            <a:off x="606425" y="2540000"/>
            <a:ext cx="7921625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509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9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5130800"/>
            <a:ext cx="604520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42938" y="1071563"/>
            <a:ext cx="7858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解决途径</a:t>
            </a:r>
            <a:r>
              <a:rPr lang="zh-CN" altLang="zh-CN" sz="2400" b="1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：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00125" y="1857375"/>
            <a:ext cx="7358063" cy="46196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ea typeface="宋体" charset="-122"/>
              </a:rPr>
              <a:t>——</a:t>
            </a:r>
            <a:r>
              <a:rPr lang="zh-CN" sz="2400" b="1" dirty="0">
                <a:ea typeface="宋体" charset="-122"/>
              </a:rPr>
              <a:t>改善已调波的相位路径</a:t>
            </a:r>
            <a:endParaRPr lang="zh-CN" altLang="en-US" sz="2400" dirty="0">
              <a:ea typeface="宋体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00125" y="2786063"/>
            <a:ext cx="7358063" cy="46196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ea typeface="宋体" charset="-122"/>
              </a:rPr>
              <a:t>——</a:t>
            </a:r>
            <a:r>
              <a:rPr lang="zh-CN" altLang="en-US" sz="2400" b="1" dirty="0">
                <a:ea typeface="宋体" charset="-122"/>
              </a:rPr>
              <a:t>采用相位连续变化的调制方式</a:t>
            </a:r>
            <a:r>
              <a:rPr lang="en-US" altLang="zh-CN" sz="2400" b="1" dirty="0">
                <a:ea typeface="宋体" charset="-122"/>
              </a:rPr>
              <a:t>CPM</a:t>
            </a:r>
            <a:endParaRPr lang="zh-CN" altLang="en-US" sz="2400" dirty="0">
              <a:ea typeface="宋体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00125" y="3657600"/>
            <a:ext cx="7358063" cy="120015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ea typeface="宋体" charset="-122"/>
              </a:rPr>
              <a:t>——</a:t>
            </a:r>
            <a:r>
              <a:rPr lang="en-US" altLang="zh-CN" sz="2400" b="1" dirty="0">
                <a:solidFill>
                  <a:srgbClr val="990099"/>
                </a:solidFill>
                <a:ea typeface="宋体" charset="-122"/>
              </a:rPr>
              <a:t>MSK</a:t>
            </a:r>
            <a:r>
              <a:rPr lang="zh-CN" altLang="en-US" sz="2400" b="1" dirty="0">
                <a:ea typeface="宋体" charset="-122"/>
              </a:rPr>
              <a:t>就是一种</a:t>
            </a:r>
            <a:r>
              <a:rPr lang="zh-CN" altLang="en-US" sz="2400" b="1" dirty="0">
                <a:ea typeface="华文中宋" pitchFamily="2" charset="-122"/>
              </a:rPr>
              <a:t>包络恒定</a:t>
            </a:r>
            <a:r>
              <a:rPr lang="zh-CN" altLang="en-US" sz="2400" dirty="0">
                <a:ea typeface="华文中宋" pitchFamily="2" charset="-122"/>
              </a:rPr>
              <a:t>、</a:t>
            </a:r>
            <a:r>
              <a:rPr lang="zh-CN" altLang="en-US" sz="2400" b="1" dirty="0">
                <a:ea typeface="华文中宋" pitchFamily="2" charset="-122"/>
              </a:rPr>
              <a:t>相位连续</a:t>
            </a:r>
            <a:r>
              <a:rPr lang="zh-CN" altLang="en-US" sz="2400" dirty="0">
                <a:ea typeface="华文中宋" pitchFamily="2" charset="-122"/>
              </a:rPr>
              <a:t>、</a:t>
            </a:r>
            <a:r>
              <a:rPr lang="zh-CN" altLang="en-US" sz="2400" b="1" dirty="0">
                <a:ea typeface="华文中宋" pitchFamily="2" charset="-122"/>
                <a:cs typeface="Times New Roman" pitchFamily="18" charset="0"/>
              </a:rPr>
              <a:t>频差</a:t>
            </a:r>
            <a:r>
              <a:rPr lang="zh-CN" altLang="en-US" sz="2400" b="1" dirty="0">
                <a:ea typeface="华文中宋" pitchFamily="2" charset="-122"/>
              </a:rPr>
              <a:t>最小，</a:t>
            </a:r>
            <a:r>
              <a:rPr lang="zh-CN" altLang="en-US" sz="2400" dirty="0">
                <a:ea typeface="华文中宋" pitchFamily="2" charset="-122"/>
              </a:rPr>
              <a:t>并且严格</a:t>
            </a:r>
            <a:r>
              <a:rPr lang="zh-CN" altLang="en-US" sz="2400" b="1" dirty="0">
                <a:ea typeface="华文中宋" pitchFamily="2" charset="-122"/>
              </a:rPr>
              <a:t>正交</a:t>
            </a:r>
            <a:r>
              <a:rPr lang="zh-CN" altLang="en-US" sz="2400" dirty="0">
                <a:ea typeface="华文中宋" pitchFamily="2" charset="-122"/>
              </a:rPr>
              <a:t>的</a:t>
            </a:r>
            <a:r>
              <a:rPr lang="en-US" altLang="zh-CN" sz="2400" b="1" dirty="0">
                <a:solidFill>
                  <a:srgbClr val="0000CC"/>
                </a:solidFill>
                <a:ea typeface="华文中宋" pitchFamily="2" charset="-122"/>
              </a:rPr>
              <a:t>2FSK</a:t>
            </a:r>
            <a:r>
              <a:rPr lang="zh-CN" altLang="en-US" sz="2400" dirty="0">
                <a:solidFill>
                  <a:srgbClr val="0000CC"/>
                </a:solidFill>
                <a:ea typeface="华文中宋" pitchFamily="2" charset="-122"/>
              </a:rPr>
              <a:t>（</a:t>
            </a:r>
            <a:r>
              <a:rPr lang="en-US" altLang="zh-CN" sz="2400" b="1" dirty="0">
                <a:ea typeface="宋体" charset="-122"/>
              </a:rPr>
              <a:t>CPFSK</a:t>
            </a:r>
            <a:r>
              <a:rPr lang="zh-CN" altLang="en-US" sz="2400" dirty="0">
                <a:solidFill>
                  <a:srgbClr val="0000CC"/>
                </a:solidFill>
                <a:ea typeface="华文中宋" pitchFamily="2" charset="-122"/>
              </a:rPr>
              <a:t>）</a:t>
            </a:r>
            <a:r>
              <a:rPr lang="zh-CN" altLang="en-US" sz="2400" dirty="0">
                <a:ea typeface="华文中宋" pitchFamily="2" charset="-122"/>
              </a:rPr>
              <a:t>信号。</a:t>
            </a:r>
            <a:endParaRPr lang="zh-CN" altLang="en-US" sz="2400" dirty="0">
              <a:ea typeface="宋体" charset="-122"/>
            </a:endParaRPr>
          </a:p>
        </p:txBody>
      </p:sp>
      <p:sp>
        <p:nvSpPr>
          <p:cNvPr id="67593" name="椭圆 14"/>
          <p:cNvSpPr>
            <a:spLocks noChangeArrowheads="1"/>
          </p:cNvSpPr>
          <p:nvPr/>
        </p:nvSpPr>
        <p:spPr bwMode="auto">
          <a:xfrm>
            <a:off x="6643688" y="3643313"/>
            <a:ext cx="1214437" cy="642937"/>
          </a:xfrm>
          <a:prstGeom prst="ellipse">
            <a:avLst/>
          </a:prstGeom>
          <a:noFill/>
          <a:ln w="12700" algn="ctr">
            <a:solidFill>
              <a:srgbClr val="9900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28" name="直接连接符 27"/>
          <p:cNvCxnSpPr>
            <a:cxnSpLocks noChangeShapeType="1"/>
          </p:cNvCxnSpPr>
          <p:nvPr/>
        </p:nvCxnSpPr>
        <p:spPr bwMode="auto">
          <a:xfrm rot="5400000">
            <a:off x="2486819" y="5001419"/>
            <a:ext cx="285750" cy="1588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29"/>
          <p:cNvCxnSpPr/>
          <p:nvPr/>
        </p:nvCxnSpPr>
        <p:spPr bwMode="auto">
          <a:xfrm>
            <a:off x="2357438" y="4829175"/>
            <a:ext cx="500062" cy="158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05384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10" grpId="0" animBg="1"/>
      <p:bldP spid="11" grpId="0" animBg="1"/>
      <p:bldP spid="6759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237"/>
          <a:stretch>
            <a:fillRect/>
          </a:stretch>
        </p:blipFill>
        <p:spPr bwMode="auto">
          <a:xfrm>
            <a:off x="800100" y="1206500"/>
            <a:ext cx="7639050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52"/>
          <a:stretch>
            <a:fillRect/>
          </a:stretch>
        </p:blipFill>
        <p:spPr bwMode="auto">
          <a:xfrm>
            <a:off x="749300" y="4629150"/>
            <a:ext cx="7639050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42" b="32518"/>
          <a:stretch>
            <a:fillRect/>
          </a:stretch>
        </p:blipFill>
        <p:spPr bwMode="auto">
          <a:xfrm>
            <a:off x="808038" y="2717800"/>
            <a:ext cx="7639050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616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/>
          <p:cNvSpPr txBox="1">
            <a:spLocks noChangeArrowheads="1"/>
          </p:cNvSpPr>
          <p:nvPr/>
        </p:nvSpPr>
        <p:spPr bwMode="gray">
          <a:xfrm>
            <a:off x="2071688" y="2643188"/>
            <a:ext cx="535781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3600" b="1" dirty="0">
                <a:solidFill>
                  <a:srgbClr val="003399"/>
                </a:solidFill>
                <a:latin typeface="+mn-lt"/>
                <a:ea typeface="微软雅黑" pitchFamily="34" charset="-122"/>
              </a:rPr>
              <a:t> 正交频分复用（</a:t>
            </a:r>
            <a:r>
              <a:rPr lang="en-US" altLang="zh-CN" sz="3600" b="1" dirty="0">
                <a:solidFill>
                  <a:srgbClr val="003399"/>
                </a:solidFill>
                <a:latin typeface="+mn-lt"/>
                <a:ea typeface="微软雅黑" pitchFamily="34" charset="-122"/>
              </a:rPr>
              <a:t>OFDM</a:t>
            </a:r>
            <a:r>
              <a:rPr lang="zh-CN" altLang="en-US" sz="3600" b="1" dirty="0">
                <a:solidFill>
                  <a:srgbClr val="003399"/>
                </a:solidFill>
                <a:latin typeface="+mn-lt"/>
                <a:ea typeface="微软雅黑" pitchFamily="34" charset="-122"/>
              </a:rPr>
              <a:t>）</a:t>
            </a:r>
            <a:endParaRPr lang="en-US" altLang="zh-CN" sz="3600" b="1" dirty="0">
              <a:solidFill>
                <a:srgbClr val="003399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73731" name="矩形 4"/>
          <p:cNvSpPr>
            <a:spLocks noChangeArrowheads="1"/>
          </p:cNvSpPr>
          <p:nvPr/>
        </p:nvSpPr>
        <p:spPr bwMode="auto">
          <a:xfrm>
            <a:off x="500063" y="1928813"/>
            <a:ext cx="15462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US" sz="3600" b="1" u="sng">
                <a:solidFill>
                  <a:srgbClr val="800080"/>
                </a:solidFill>
              </a:rPr>
              <a:t>§</a:t>
            </a:r>
            <a:r>
              <a:rPr lang="en-US" altLang="en-US" sz="3600" b="1" u="sng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en-US" altLang="zh-CN" sz="3600" b="1" u="sng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.3  </a:t>
            </a:r>
            <a:endParaRPr lang="zh-CN" altLang="en-US" sz="3600" b="1" u="sng">
              <a:solidFill>
                <a:srgbClr val="800080"/>
              </a:solidFill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433638" y="3714750"/>
            <a:ext cx="3852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——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一种多载波调制技术</a:t>
            </a:r>
          </a:p>
        </p:txBody>
      </p:sp>
      <p:sp>
        <p:nvSpPr>
          <p:cNvPr id="10" name="矩形 9"/>
          <p:cNvSpPr/>
          <p:nvPr/>
        </p:nvSpPr>
        <p:spPr>
          <a:xfrm>
            <a:off x="1571625" y="3286125"/>
            <a:ext cx="6840855" cy="461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ea typeface="华文中宋" pitchFamily="2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ea typeface="华文中宋" pitchFamily="2" charset="-122"/>
              </a:rPr>
              <a:t>Orthogonal Frequency Division Multiplexing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ea typeface="华文中宋" pitchFamily="2" charset="-122"/>
              </a:rPr>
              <a:t>）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ea typeface="宋体" charset="-12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3914775" y="3786188"/>
            <a:ext cx="172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多载波调制</a:t>
            </a:r>
          </a:p>
        </p:txBody>
      </p:sp>
      <p:pic>
        <p:nvPicPr>
          <p:cNvPr id="7373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4495800"/>
            <a:ext cx="69342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3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6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1620838"/>
            <a:ext cx="7808913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7000875" y="547688"/>
            <a:ext cx="17145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zh-CN" altLang="en-US" sz="2800" b="1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问题引出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14375" y="1357313"/>
            <a:ext cx="2214563" cy="52387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单载波调制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0" y="428625"/>
            <a:ext cx="5286375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ea typeface="宋体" charset="-122"/>
                <a:cs typeface="Arial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ea typeface="微软雅黑" pitchFamily="34" charset="-122"/>
                <a:cs typeface="Arial" charset="0"/>
              </a:rPr>
              <a:t>8</a:t>
            </a:r>
            <a:r>
              <a:rPr lang="en-US" altLang="zh-CN" sz="3200" b="1" dirty="0">
                <a:solidFill>
                  <a:srgbClr val="000099"/>
                </a:solidFill>
                <a:ea typeface="微软雅黑" pitchFamily="34" charset="-122"/>
                <a:cs typeface="Arial" charset="0"/>
              </a:rPr>
              <a:t>.3.</a:t>
            </a:r>
            <a:r>
              <a:rPr lang="en-US" altLang="zh-CN" sz="3200" b="1" dirty="0">
                <a:solidFill>
                  <a:srgbClr val="990099"/>
                </a:solidFill>
                <a:ea typeface="微软雅黑" pitchFamily="34" charset="-122"/>
                <a:cs typeface="Arial" charset="0"/>
              </a:rPr>
              <a:t>1  </a:t>
            </a:r>
            <a:r>
              <a:rPr lang="zh-CN" altLang="en-US" sz="3200" b="1" dirty="0">
                <a:solidFill>
                  <a:srgbClr val="000099"/>
                </a:solidFill>
                <a:latin typeface="+mn-lt"/>
                <a:ea typeface="微软雅黑" pitchFamily="34" charset="-122"/>
              </a:rPr>
              <a:t>概述</a:t>
            </a:r>
            <a:endParaRPr lang="en-US" altLang="zh-CN" sz="3200" b="1" dirty="0">
              <a:solidFill>
                <a:srgbClr val="003399"/>
              </a:solidFill>
              <a:latin typeface="+mn-lt"/>
              <a:ea typeface="微软雅黑" pitchFamily="34" charset="-122"/>
            </a:endParaRPr>
          </a:p>
        </p:txBody>
      </p:sp>
      <p:grpSp>
        <p:nvGrpSpPr>
          <p:cNvPr id="2" name="组合 57"/>
          <p:cNvGrpSpPr>
            <a:grpSpLocks/>
          </p:cNvGrpSpPr>
          <p:nvPr/>
        </p:nvGrpSpPr>
        <p:grpSpPr bwMode="auto">
          <a:xfrm>
            <a:off x="642938" y="3786188"/>
            <a:ext cx="1685925" cy="642937"/>
            <a:chOff x="2500298" y="3214686"/>
            <a:chExt cx="1685495" cy="642942"/>
          </a:xfrm>
        </p:grpSpPr>
        <p:sp>
          <p:nvSpPr>
            <p:cNvPr id="17" name="椭圆 16"/>
            <p:cNvSpPr/>
            <p:nvPr/>
          </p:nvSpPr>
          <p:spPr bwMode="auto">
            <a:xfrm>
              <a:off x="2500298" y="3214686"/>
              <a:ext cx="1571224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74763" name="矩形 17"/>
            <p:cNvSpPr>
              <a:spLocks noChangeArrowheads="1"/>
            </p:cNvSpPr>
            <p:nvPr/>
          </p:nvSpPr>
          <p:spPr bwMode="auto">
            <a:xfrm>
              <a:off x="2597110" y="3286124"/>
              <a:ext cx="1588683" cy="4619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存在问题</a:t>
              </a:r>
              <a:endParaRPr lang="zh-CN" altLang="en-US" sz="2400" b="1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7334250" y="1728788"/>
            <a:ext cx="800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单个</a:t>
            </a:r>
            <a:endParaRPr lang="zh-CN" altLang="en-US" sz="240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808038" y="221456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载波</a:t>
            </a:r>
            <a:r>
              <a:rPr lang="zh-CN" altLang="en-US" sz="240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82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08" name="Picture 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4206875"/>
            <a:ext cx="7615237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79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1620838"/>
            <a:ext cx="7808913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7000875" y="547688"/>
            <a:ext cx="17145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zh-CN" altLang="en-US" sz="2800" b="1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问题引出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14375" y="1357313"/>
            <a:ext cx="2214563" cy="52387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单载波调制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0" y="428625"/>
            <a:ext cx="6429375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ea typeface="宋体" charset="-122"/>
                <a:cs typeface="Arial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ea typeface="微软雅黑" pitchFamily="34" charset="-122"/>
                <a:cs typeface="Arial" charset="0"/>
              </a:rPr>
              <a:t>8</a:t>
            </a:r>
            <a:r>
              <a:rPr lang="en-US" altLang="zh-CN" sz="3200" b="1" dirty="0">
                <a:solidFill>
                  <a:srgbClr val="000099"/>
                </a:solidFill>
                <a:ea typeface="微软雅黑" pitchFamily="34" charset="-122"/>
                <a:cs typeface="Arial" charset="0"/>
              </a:rPr>
              <a:t>.3.</a:t>
            </a:r>
            <a:r>
              <a:rPr lang="en-US" altLang="zh-CN" sz="3200" b="1" dirty="0">
                <a:solidFill>
                  <a:srgbClr val="990099"/>
                </a:solidFill>
                <a:ea typeface="微软雅黑" pitchFamily="34" charset="-122"/>
                <a:cs typeface="Arial" charset="0"/>
              </a:rPr>
              <a:t>1  </a:t>
            </a:r>
            <a:r>
              <a:rPr lang="zh-CN" altLang="en-US" sz="3200" b="1" dirty="0">
                <a:solidFill>
                  <a:srgbClr val="000099"/>
                </a:solidFill>
                <a:latin typeface="+mn-lt"/>
                <a:ea typeface="微软雅黑" pitchFamily="34" charset="-122"/>
              </a:rPr>
              <a:t>概述</a:t>
            </a:r>
            <a:endParaRPr lang="en-US" altLang="zh-CN" sz="3200" b="1" dirty="0">
              <a:solidFill>
                <a:srgbClr val="003399"/>
              </a:solidFill>
              <a:latin typeface="+mn-lt"/>
              <a:ea typeface="微软雅黑" pitchFamily="34" charset="-122"/>
            </a:endParaRPr>
          </a:p>
        </p:txBody>
      </p:sp>
      <p:grpSp>
        <p:nvGrpSpPr>
          <p:cNvPr id="2" name="组合 40"/>
          <p:cNvGrpSpPr>
            <a:grpSpLocks/>
          </p:cNvGrpSpPr>
          <p:nvPr/>
        </p:nvGrpSpPr>
        <p:grpSpPr bwMode="auto">
          <a:xfrm>
            <a:off x="4043363" y="1522413"/>
            <a:ext cx="4314825" cy="2178050"/>
            <a:chOff x="4042906" y="1522832"/>
            <a:chExt cx="4315308" cy="2177406"/>
          </a:xfrm>
        </p:grpSpPr>
        <p:grpSp>
          <p:nvGrpSpPr>
            <p:cNvPr id="75797" name="组合 29"/>
            <p:cNvGrpSpPr>
              <a:grpSpLocks/>
            </p:cNvGrpSpPr>
            <p:nvPr/>
          </p:nvGrpSpPr>
          <p:grpSpPr bwMode="auto">
            <a:xfrm>
              <a:off x="4208449" y="1522832"/>
              <a:ext cx="4149765" cy="2177406"/>
              <a:chOff x="500034" y="1000108"/>
              <a:chExt cx="4149765" cy="2177406"/>
            </a:xfrm>
          </p:grpSpPr>
          <p:grpSp>
            <p:nvGrpSpPr>
              <p:cNvPr id="75799" name="组合 65"/>
              <p:cNvGrpSpPr>
                <a:grpSpLocks/>
              </p:cNvGrpSpPr>
              <p:nvPr/>
            </p:nvGrpSpPr>
            <p:grpSpPr bwMode="auto">
              <a:xfrm>
                <a:off x="642910" y="1000108"/>
                <a:ext cx="4006889" cy="2177406"/>
                <a:chOff x="642910" y="1000108"/>
                <a:chExt cx="4006889" cy="2177406"/>
              </a:xfrm>
            </p:grpSpPr>
            <p:grpSp>
              <p:nvGrpSpPr>
                <p:cNvPr id="75801" name="组合 63"/>
                <p:cNvGrpSpPr>
                  <a:grpSpLocks/>
                </p:cNvGrpSpPr>
                <p:nvPr/>
              </p:nvGrpSpPr>
              <p:grpSpPr bwMode="auto">
                <a:xfrm>
                  <a:off x="642910" y="1000108"/>
                  <a:ext cx="4006889" cy="2169777"/>
                  <a:chOff x="642910" y="1000108"/>
                  <a:chExt cx="4006889" cy="2169777"/>
                </a:xfrm>
              </p:grpSpPr>
              <p:pic>
                <p:nvPicPr>
                  <p:cNvPr id="75806" name="Picture 7" descr="MSK串扰2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95654" t="62376"/>
                  <a:stretch>
                    <a:fillRect/>
                  </a:stretch>
                </p:blipFill>
                <p:spPr bwMode="auto">
                  <a:xfrm>
                    <a:off x="4429124" y="1256832"/>
                    <a:ext cx="220675" cy="19130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75807" name="Picture 10" descr="MSK串扰2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4773" r="24039" b="57285"/>
                  <a:stretch>
                    <a:fillRect/>
                  </a:stretch>
                </p:blipFill>
                <p:spPr bwMode="auto">
                  <a:xfrm>
                    <a:off x="642910" y="1000108"/>
                    <a:ext cx="3857652" cy="192882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sp>
              <p:nvSpPr>
                <p:cNvPr id="20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014017" y="1001695"/>
                  <a:ext cx="811316" cy="34858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>
                    <a:defRPr/>
                  </a:pPr>
                  <a:r>
                    <a:rPr lang="en-US" altLang="zh-CN" b="1" dirty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宋体" charset="-122"/>
                    </a:rPr>
                    <a:t>|</a:t>
                  </a:r>
                  <a:r>
                    <a:rPr lang="en-US" altLang="zh-CN" b="1" i="1" dirty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宋体" charset="-122"/>
                    </a:rPr>
                    <a:t>C</a:t>
                  </a:r>
                  <a:r>
                    <a:rPr lang="en-US" altLang="zh-CN" b="1" dirty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宋体" charset="-122"/>
                    </a:rPr>
                    <a:t>(</a:t>
                  </a:r>
                  <a:r>
                    <a:rPr lang="en-US" altLang="zh-CN" b="1" i="1" dirty="0">
                      <a:solidFill>
                        <a:schemeClr val="bg1">
                          <a:lumMod val="50000"/>
                        </a:schemeClr>
                      </a:solidFill>
                      <a:latin typeface="Times New Roman" pitchFamily="18" charset="0"/>
                      <a:ea typeface="宋体" charset="-122"/>
                      <a:cs typeface="Times New Roman" pitchFamily="18" charset="0"/>
                    </a:rPr>
                    <a:t>f</a:t>
                  </a:r>
                  <a:r>
                    <a:rPr lang="en-US" altLang="zh-CN" b="1" dirty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宋体" charset="-122"/>
                    </a:rPr>
                    <a:t>)|</a:t>
                  </a:r>
                </a:p>
              </p:txBody>
            </p:sp>
            <p:sp>
              <p:nvSpPr>
                <p:cNvPr id="7580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4429124" y="2857496"/>
                  <a:ext cx="206049" cy="3200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000" b="1" i="1">
                      <a:latin typeface="Times New Roman" panose="02020603050405020304" pitchFamily="18" charset="0"/>
                    </a:rPr>
                    <a:t>t</a:t>
                  </a:r>
                  <a:endParaRPr lang="en-US" altLang="zh-CN" sz="2000" b="1"/>
                </a:p>
              </p:txBody>
            </p:sp>
            <p:sp>
              <p:nvSpPr>
                <p:cNvPr id="22" name="任意多边形 21"/>
                <p:cNvSpPr/>
                <p:nvPr/>
              </p:nvSpPr>
              <p:spPr bwMode="auto">
                <a:xfrm>
                  <a:off x="1071174" y="1428606"/>
                  <a:ext cx="112725" cy="1291843"/>
                </a:xfrm>
                <a:custGeom>
                  <a:avLst/>
                  <a:gdLst>
                    <a:gd name="connsiteX0" fmla="*/ 0 w 164495"/>
                    <a:gd name="connsiteY0" fmla="*/ 0 h 1359505"/>
                    <a:gd name="connsiteX1" fmla="*/ 72572 w 164495"/>
                    <a:gd name="connsiteY1" fmla="*/ 159658 h 1359505"/>
                    <a:gd name="connsiteX2" fmla="*/ 72572 w 164495"/>
                    <a:gd name="connsiteY2" fmla="*/ 159658 h 1359505"/>
                    <a:gd name="connsiteX3" fmla="*/ 87086 w 164495"/>
                    <a:gd name="connsiteY3" fmla="*/ 493486 h 1359505"/>
                    <a:gd name="connsiteX4" fmla="*/ 14515 w 164495"/>
                    <a:gd name="connsiteY4" fmla="*/ 667658 h 1359505"/>
                    <a:gd name="connsiteX5" fmla="*/ 58057 w 164495"/>
                    <a:gd name="connsiteY5" fmla="*/ 827315 h 1359505"/>
                    <a:gd name="connsiteX6" fmla="*/ 145143 w 164495"/>
                    <a:gd name="connsiteY6" fmla="*/ 943429 h 1359505"/>
                    <a:gd name="connsiteX7" fmla="*/ 145143 w 164495"/>
                    <a:gd name="connsiteY7" fmla="*/ 1074058 h 1359505"/>
                    <a:gd name="connsiteX8" fmla="*/ 29029 w 164495"/>
                    <a:gd name="connsiteY8" fmla="*/ 1320800 h 1359505"/>
                    <a:gd name="connsiteX9" fmla="*/ 14515 w 164495"/>
                    <a:gd name="connsiteY9" fmla="*/ 1306286 h 1359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4495" h="1359505">
                      <a:moveTo>
                        <a:pt x="0" y="0"/>
                      </a:moveTo>
                      <a:lnTo>
                        <a:pt x="72572" y="159658"/>
                      </a:lnTo>
                      <a:lnTo>
                        <a:pt x="72572" y="159658"/>
                      </a:lnTo>
                      <a:cubicBezTo>
                        <a:pt x="74991" y="215296"/>
                        <a:pt x="96762" y="408819"/>
                        <a:pt x="87086" y="493486"/>
                      </a:cubicBezTo>
                      <a:cubicBezTo>
                        <a:pt x="77410" y="578153"/>
                        <a:pt x="19353" y="612020"/>
                        <a:pt x="14515" y="667658"/>
                      </a:cubicBezTo>
                      <a:cubicBezTo>
                        <a:pt x="9677" y="723296"/>
                        <a:pt x="36286" y="781353"/>
                        <a:pt x="58057" y="827315"/>
                      </a:cubicBezTo>
                      <a:cubicBezTo>
                        <a:pt x="79828" y="873277"/>
                        <a:pt x="130629" y="902305"/>
                        <a:pt x="145143" y="943429"/>
                      </a:cubicBezTo>
                      <a:cubicBezTo>
                        <a:pt x="159657" y="984553"/>
                        <a:pt x="164495" y="1011163"/>
                        <a:pt x="145143" y="1074058"/>
                      </a:cubicBezTo>
                      <a:cubicBezTo>
                        <a:pt x="125791" y="1136953"/>
                        <a:pt x="50800" y="1282095"/>
                        <a:pt x="29029" y="1320800"/>
                      </a:cubicBezTo>
                      <a:cubicBezTo>
                        <a:pt x="7258" y="1359505"/>
                        <a:pt x="10886" y="1332895"/>
                        <a:pt x="14515" y="1306286"/>
                      </a:cubicBezTo>
                    </a:path>
                  </a:pathLst>
                </a:custGeom>
                <a:noFill/>
                <a:ln w="28575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7580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078803" y="1000108"/>
                  <a:ext cx="206049" cy="3200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f</a:t>
                  </a:r>
                  <a:endParaRPr lang="en-US" altLang="zh-CN" sz="2800" b="1"/>
                </a:p>
              </p:txBody>
            </p:sp>
          </p:grpSp>
          <p:sp>
            <p:nvSpPr>
              <p:cNvPr id="75800" name="Text Box 13"/>
              <p:cNvSpPr txBox="1">
                <a:spLocks noChangeArrowheads="1"/>
              </p:cNvSpPr>
              <p:nvPr/>
            </p:nvSpPr>
            <p:spPr bwMode="auto">
              <a:xfrm flipH="1">
                <a:off x="500034" y="2714620"/>
                <a:ext cx="214314" cy="357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 b="1" i="1">
                    <a:latin typeface="Times New Roman" panose="02020603050405020304" pitchFamily="18" charset="0"/>
                  </a:rPr>
                  <a:t>f</a:t>
                </a:r>
                <a:endParaRPr lang="en-US" altLang="zh-CN" sz="2800" b="1"/>
              </a:p>
            </p:txBody>
          </p:sp>
        </p:grpSp>
        <p:sp>
          <p:nvSpPr>
            <p:cNvPr id="14" name="矩形 13"/>
            <p:cNvSpPr/>
            <p:nvPr/>
          </p:nvSpPr>
          <p:spPr bwMode="auto">
            <a:xfrm>
              <a:off x="4042906" y="1829128"/>
              <a:ext cx="357227" cy="14283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</p:grpSp>
      <p:grpSp>
        <p:nvGrpSpPr>
          <p:cNvPr id="6" name="组合 41"/>
          <p:cNvGrpSpPr>
            <a:grpSpLocks/>
          </p:cNvGrpSpPr>
          <p:nvPr/>
        </p:nvGrpSpPr>
        <p:grpSpPr bwMode="auto">
          <a:xfrm>
            <a:off x="5430838" y="1943100"/>
            <a:ext cx="182562" cy="1285875"/>
            <a:chOff x="2043774" y="3714752"/>
            <a:chExt cx="182304" cy="1285884"/>
          </a:xfrm>
        </p:grpSpPr>
        <p:cxnSp>
          <p:nvCxnSpPr>
            <p:cNvPr id="27" name="直接箭头连接符 26"/>
            <p:cNvCxnSpPr/>
            <p:nvPr/>
          </p:nvCxnSpPr>
          <p:spPr bwMode="auto">
            <a:xfrm rot="5400000">
              <a:off x="1501495" y="4356902"/>
              <a:ext cx="1285884" cy="15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2043774" y="4213230"/>
              <a:ext cx="182304" cy="320677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lang="en-US" altLang="zh-CN" sz="1600" b="1" i="1" dirty="0">
                  <a:solidFill>
                    <a:srgbClr val="0000CC"/>
                  </a:solidFill>
                  <a:latin typeface="+mn-lt"/>
                  <a:ea typeface="宋体" charset="-122"/>
                </a:rPr>
                <a:t>B</a:t>
              </a:r>
              <a:endParaRPr lang="en-US" altLang="zh-CN" sz="2800" b="1" dirty="0">
                <a:solidFill>
                  <a:srgbClr val="0000CC"/>
                </a:solidFill>
                <a:latin typeface="+mn-lt"/>
                <a:ea typeface="宋体" charset="-122"/>
              </a:endParaRPr>
            </a:p>
          </p:txBody>
        </p:sp>
      </p:grp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7178675" y="1514475"/>
            <a:ext cx="322263" cy="320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defRPr/>
            </a:pPr>
            <a:r>
              <a:rPr lang="en-US" altLang="zh-CN" sz="2000" b="1" i="1" dirty="0">
                <a:solidFill>
                  <a:srgbClr val="0000CC"/>
                </a:solidFill>
                <a:latin typeface="+mn-lt"/>
                <a:ea typeface="宋体" charset="-122"/>
              </a:rPr>
              <a:t>T</a:t>
            </a:r>
            <a:r>
              <a:rPr lang="en-US" altLang="zh-CN" sz="2000" b="1" baseline="-25000" dirty="0">
                <a:solidFill>
                  <a:srgbClr val="0000CC"/>
                </a:solidFill>
                <a:latin typeface="+mn-lt"/>
                <a:ea typeface="宋体" charset="-122"/>
              </a:rPr>
              <a:t>B</a:t>
            </a:r>
            <a:endParaRPr lang="en-US" altLang="zh-CN" sz="2000" b="1" dirty="0">
              <a:solidFill>
                <a:srgbClr val="0000CC"/>
              </a:solidFill>
              <a:latin typeface="+mn-lt"/>
              <a:ea typeface="宋体" charset="-122"/>
            </a:endParaRPr>
          </a:p>
        </p:txBody>
      </p:sp>
      <p:sp>
        <p:nvSpPr>
          <p:cNvPr id="30" name="任意多边形 29"/>
          <p:cNvSpPr>
            <a:spLocks noChangeArrowheads="1"/>
          </p:cNvSpPr>
          <p:nvPr/>
        </p:nvSpPr>
        <p:spPr bwMode="auto">
          <a:xfrm>
            <a:off x="4773613" y="1924050"/>
            <a:ext cx="112712" cy="1292225"/>
          </a:xfrm>
          <a:custGeom>
            <a:avLst/>
            <a:gdLst>
              <a:gd name="T0" fmla="*/ 0 w 164495"/>
              <a:gd name="T1" fmla="*/ 0 h 1359505"/>
              <a:gd name="T2" fmla="*/ 5 w 164495"/>
              <a:gd name="T3" fmla="*/ 44847 h 1359505"/>
              <a:gd name="T4" fmla="*/ 5 w 164495"/>
              <a:gd name="T5" fmla="*/ 44847 h 1359505"/>
              <a:gd name="T6" fmla="*/ 7 w 164495"/>
              <a:gd name="T7" fmla="*/ 138621 h 1359505"/>
              <a:gd name="T8" fmla="*/ 1 w 164495"/>
              <a:gd name="T9" fmla="*/ 187543 h 1359505"/>
              <a:gd name="T10" fmla="*/ 5 w 164495"/>
              <a:gd name="T11" fmla="*/ 232391 h 1359505"/>
              <a:gd name="T12" fmla="*/ 11 w 164495"/>
              <a:gd name="T13" fmla="*/ 265007 h 1359505"/>
              <a:gd name="T14" fmla="*/ 11 w 164495"/>
              <a:gd name="T15" fmla="*/ 301702 h 1359505"/>
              <a:gd name="T16" fmla="*/ 2 w 164495"/>
              <a:gd name="T17" fmla="*/ 371011 h 1359505"/>
              <a:gd name="T18" fmla="*/ 1 w 164495"/>
              <a:gd name="T19" fmla="*/ 366933 h 135950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64495"/>
              <a:gd name="T31" fmla="*/ 0 h 1359505"/>
              <a:gd name="T32" fmla="*/ 164495 w 164495"/>
              <a:gd name="T33" fmla="*/ 1359505 h 135950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64495" h="1359505">
                <a:moveTo>
                  <a:pt x="0" y="0"/>
                </a:moveTo>
                <a:lnTo>
                  <a:pt x="72572" y="159658"/>
                </a:lnTo>
                <a:cubicBezTo>
                  <a:pt x="74991" y="215296"/>
                  <a:pt x="96762" y="408819"/>
                  <a:pt x="87086" y="493486"/>
                </a:cubicBezTo>
                <a:cubicBezTo>
                  <a:pt x="77410" y="578153"/>
                  <a:pt x="19353" y="612020"/>
                  <a:pt x="14515" y="667658"/>
                </a:cubicBezTo>
                <a:cubicBezTo>
                  <a:pt x="9677" y="723296"/>
                  <a:pt x="36286" y="781353"/>
                  <a:pt x="58057" y="827315"/>
                </a:cubicBezTo>
                <a:cubicBezTo>
                  <a:pt x="79828" y="873277"/>
                  <a:pt x="130629" y="902305"/>
                  <a:pt x="145143" y="943429"/>
                </a:cubicBezTo>
                <a:cubicBezTo>
                  <a:pt x="159657" y="984553"/>
                  <a:pt x="164495" y="1011163"/>
                  <a:pt x="145143" y="1074058"/>
                </a:cubicBezTo>
                <a:cubicBezTo>
                  <a:pt x="125791" y="1136953"/>
                  <a:pt x="50800" y="1282095"/>
                  <a:pt x="29029" y="1320800"/>
                </a:cubicBezTo>
                <a:cubicBezTo>
                  <a:pt x="7258" y="1359505"/>
                  <a:pt x="10886" y="1332895"/>
                  <a:pt x="14515" y="1306286"/>
                </a:cubicBezTo>
              </a:path>
            </a:pathLst>
          </a:custGeom>
          <a:noFill/>
          <a:ln w="28575" algn="ctr">
            <a:solidFill>
              <a:srgbClr val="0000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5787" name="组合 57"/>
          <p:cNvGrpSpPr>
            <a:grpSpLocks/>
          </p:cNvGrpSpPr>
          <p:nvPr/>
        </p:nvGrpSpPr>
        <p:grpSpPr bwMode="auto">
          <a:xfrm>
            <a:off x="642938" y="3786188"/>
            <a:ext cx="1685925" cy="642937"/>
            <a:chOff x="2500298" y="3214686"/>
            <a:chExt cx="1685495" cy="642942"/>
          </a:xfrm>
        </p:grpSpPr>
        <p:sp>
          <p:nvSpPr>
            <p:cNvPr id="17" name="椭圆 16"/>
            <p:cNvSpPr/>
            <p:nvPr/>
          </p:nvSpPr>
          <p:spPr bwMode="auto">
            <a:xfrm>
              <a:off x="2500298" y="3214686"/>
              <a:ext cx="1571224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75794" name="矩形 17"/>
            <p:cNvSpPr>
              <a:spLocks noChangeArrowheads="1"/>
            </p:cNvSpPr>
            <p:nvPr/>
          </p:nvSpPr>
          <p:spPr bwMode="auto">
            <a:xfrm>
              <a:off x="2597110" y="3286124"/>
              <a:ext cx="1588683" cy="4619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存在问题</a:t>
              </a:r>
              <a:endParaRPr lang="zh-CN" altLang="en-US" sz="2400" b="1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4716463" y="1503363"/>
            <a:ext cx="714375" cy="3047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defRPr/>
            </a:pPr>
            <a:r>
              <a:rPr lang="en-US" altLang="zh-CN" b="1" dirty="0">
                <a:solidFill>
                  <a:srgbClr val="0000CC"/>
                </a:solidFill>
                <a:latin typeface="+mn-lt"/>
                <a:ea typeface="宋体" charset="-122"/>
              </a:rPr>
              <a:t>|</a:t>
            </a:r>
            <a:r>
              <a:rPr lang="en-US" altLang="zh-CN" b="1" i="1" dirty="0">
                <a:solidFill>
                  <a:srgbClr val="0000CC"/>
                </a:solidFill>
                <a:latin typeface="+mn-lt"/>
                <a:ea typeface="宋体" charset="-122"/>
              </a:rPr>
              <a:t>C</a:t>
            </a:r>
            <a:r>
              <a:rPr lang="en-US" altLang="zh-CN" b="1" dirty="0">
                <a:solidFill>
                  <a:srgbClr val="0000CC"/>
                </a:solidFill>
                <a:latin typeface="+mn-lt"/>
                <a:ea typeface="宋体" charset="-122"/>
              </a:rPr>
              <a:t>(</a:t>
            </a:r>
            <a:r>
              <a:rPr lang="en-US" altLang="zh-CN" b="1" i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CC"/>
                </a:solidFill>
                <a:latin typeface="+mn-lt"/>
                <a:ea typeface="宋体" charset="-122"/>
              </a:rPr>
              <a:t>)|</a:t>
            </a:r>
          </a:p>
        </p:txBody>
      </p:sp>
      <p:sp>
        <p:nvSpPr>
          <p:cNvPr id="36" name="矩形 12"/>
          <p:cNvSpPr>
            <a:spLocks noChangeArrowheads="1"/>
          </p:cNvSpPr>
          <p:nvPr/>
        </p:nvSpPr>
        <p:spPr bwMode="auto">
          <a:xfrm>
            <a:off x="2478088" y="6143625"/>
            <a:ext cx="249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u="sng">
                <a:ea typeface="华文中宋" panose="02010600040101010101" pitchFamily="2" charset="-122"/>
                <a:cs typeface="Times New Roman" panose="02020603050405020304" pitchFamily="18" charset="0"/>
              </a:rPr>
              <a:t>信道最大多径迟延差</a:t>
            </a:r>
          </a:p>
        </p:txBody>
      </p:sp>
      <p:cxnSp>
        <p:nvCxnSpPr>
          <p:cNvPr id="37" name="直接连接符 36"/>
          <p:cNvCxnSpPr>
            <a:cxnSpLocks noChangeShapeType="1"/>
          </p:cNvCxnSpPr>
          <p:nvPr/>
        </p:nvCxnSpPr>
        <p:spPr bwMode="auto">
          <a:xfrm rot="16200000" flipH="1">
            <a:off x="2607469" y="6150769"/>
            <a:ext cx="214312" cy="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1006475" y="5429250"/>
            <a:ext cx="67802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80808"/>
                </a:solidFill>
                <a:ea typeface="华文中宋" panose="02010600040101010101" pitchFamily="2" charset="-122"/>
              </a:rPr>
              <a:t>—— </a:t>
            </a:r>
            <a:r>
              <a:rPr lang="en-US" altLang="zh-CN" sz="2400" b="1" i="1">
                <a:solidFill>
                  <a:srgbClr val="0000CC"/>
                </a:solidFill>
                <a:ea typeface="华文中宋" panose="02010600040101010101" pitchFamily="2" charset="-122"/>
              </a:rPr>
              <a:t>T</a:t>
            </a:r>
            <a:r>
              <a:rPr lang="en-US" altLang="zh-CN" sz="2400" b="1" i="1" baseline="-25000">
                <a:solidFill>
                  <a:srgbClr val="0000CC"/>
                </a:solidFill>
                <a:ea typeface="华文中宋" panose="02010600040101010101" pitchFamily="2" charset="-122"/>
              </a:rPr>
              <a:t>B</a:t>
            </a:r>
            <a:r>
              <a:rPr lang="en-US" altLang="zh-CN" sz="2400" b="1" i="1" baseline="-25000">
                <a:solidFill>
                  <a:srgbClr val="080808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400" i="1" baseline="-25000">
                <a:solidFill>
                  <a:srgbClr val="080808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800">
                <a:solidFill>
                  <a:srgbClr val="080808"/>
                </a:solidFill>
                <a:ea typeface="华文中宋" panose="02010600040101010101" pitchFamily="2" charset="-122"/>
              </a:rPr>
              <a:t>&lt;</a:t>
            </a:r>
            <a:r>
              <a:rPr lang="en-US" altLang="zh-CN" sz="2800">
                <a:solidFill>
                  <a:srgbClr val="0000CC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τ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max</a:t>
            </a:r>
            <a:r>
              <a:rPr lang="en-US" altLang="zh-CN" sz="2400">
                <a:solidFill>
                  <a:srgbClr val="990099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400">
                <a:solidFill>
                  <a:srgbClr val="080808"/>
                </a:solidFill>
                <a:ea typeface="华文中宋" panose="02010600040101010101" pitchFamily="2" charset="-122"/>
              </a:rPr>
              <a:t>，产生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频率选择性衰落。</a:t>
            </a:r>
            <a:endParaRPr lang="zh-CN" altLang="en-US"/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6572250" y="6100763"/>
            <a:ext cx="1787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a typeface="华文中宋" panose="02010600040101010101" pitchFamily="2" charset="-122"/>
              </a:rPr>
              <a:t> </a:t>
            </a:r>
            <a:r>
              <a:rPr lang="zh-CN" altLang="en-US" sz="2000" u="sng">
                <a:ea typeface="华文中宋" panose="02010600040101010101" pitchFamily="2" charset="-122"/>
              </a:rPr>
              <a:t>需复杂的均衡</a:t>
            </a:r>
            <a:endParaRPr lang="zh-CN" altLang="en-US" sz="2000" u="sng"/>
          </a:p>
        </p:txBody>
      </p:sp>
    </p:spTree>
    <p:extLst>
      <p:ext uri="{BB962C8B-B14F-4D97-AF65-F5344CB8AC3E}">
        <p14:creationId xmlns:p14="http://schemas.microsoft.com/office/powerpoint/2010/main" val="275400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6" grpId="0"/>
      <p:bldP spid="38" grpId="0"/>
      <p:bldP spid="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53" name="Picture 5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1016000"/>
            <a:ext cx="786765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37"/>
          <p:cNvGrpSpPr>
            <a:grpSpLocks/>
          </p:cNvGrpSpPr>
          <p:nvPr/>
        </p:nvGrpSpPr>
        <p:grpSpPr bwMode="auto">
          <a:xfrm>
            <a:off x="6392863" y="2524125"/>
            <a:ext cx="1500187" cy="455613"/>
            <a:chOff x="5786446" y="971080"/>
            <a:chExt cx="1500198" cy="456397"/>
          </a:xfrm>
        </p:grpSpPr>
        <p:pic>
          <p:nvPicPr>
            <p:cNvPr id="76851" name="Picture 7" descr="MSK串扰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420" t="93285" r="24039"/>
            <a:stretch>
              <a:fillRect/>
            </a:stretch>
          </p:blipFill>
          <p:spPr bwMode="auto">
            <a:xfrm>
              <a:off x="5786446" y="1086060"/>
              <a:ext cx="1500198" cy="341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Text Box 19"/>
            <p:cNvSpPr txBox="1">
              <a:spLocks noChangeArrowheads="1"/>
            </p:cNvSpPr>
            <p:nvPr/>
          </p:nvSpPr>
          <p:spPr bwMode="auto">
            <a:xfrm>
              <a:off x="6315087" y="971080"/>
              <a:ext cx="536579" cy="21468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  <a:latin typeface="+mn-lt"/>
                  <a:ea typeface="宋体" charset="-122"/>
                </a:rPr>
                <a:t>N</a:t>
              </a:r>
              <a:r>
                <a:rPr lang="en-US" altLang="zh-CN" sz="2000" b="1" i="1" dirty="0">
                  <a:solidFill>
                    <a:srgbClr val="0000CC"/>
                  </a:solidFill>
                  <a:latin typeface="+mn-lt"/>
                  <a:ea typeface="宋体" charset="-122"/>
                </a:rPr>
                <a:t>T</a:t>
              </a:r>
              <a:r>
                <a:rPr lang="en-US" altLang="zh-CN" sz="2000" b="1" baseline="-25000" dirty="0">
                  <a:solidFill>
                    <a:srgbClr val="0000CC"/>
                  </a:solidFill>
                  <a:latin typeface="+mn-lt"/>
                  <a:ea typeface="宋体" charset="-122"/>
                </a:rPr>
                <a:t>B</a:t>
              </a:r>
              <a:endParaRPr lang="en-US" altLang="zh-CN" sz="2000" b="1" dirty="0">
                <a:solidFill>
                  <a:srgbClr val="0000CC"/>
                </a:solidFill>
                <a:latin typeface="+mn-lt"/>
                <a:ea typeface="宋体" charset="-122"/>
              </a:endParaRPr>
            </a:p>
          </p:txBody>
        </p:sp>
      </p:grpSp>
      <p:grpSp>
        <p:nvGrpSpPr>
          <p:cNvPr id="3" name="组合 68"/>
          <p:cNvGrpSpPr>
            <a:grpSpLocks/>
          </p:cNvGrpSpPr>
          <p:nvPr/>
        </p:nvGrpSpPr>
        <p:grpSpPr bwMode="auto">
          <a:xfrm>
            <a:off x="5321300" y="2566988"/>
            <a:ext cx="3122613" cy="2170112"/>
            <a:chOff x="5178821" y="2129734"/>
            <a:chExt cx="3121625" cy="2171036"/>
          </a:xfrm>
        </p:grpSpPr>
        <p:cxnSp>
          <p:nvCxnSpPr>
            <p:cNvPr id="31" name="直接连接符 30"/>
            <p:cNvCxnSpPr/>
            <p:nvPr/>
          </p:nvCxnSpPr>
          <p:spPr bwMode="auto">
            <a:xfrm>
              <a:off x="7649777" y="3941842"/>
              <a:ext cx="285660" cy="1589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76846" name="组合 67"/>
            <p:cNvGrpSpPr>
              <a:grpSpLocks/>
            </p:cNvGrpSpPr>
            <p:nvPr/>
          </p:nvGrpSpPr>
          <p:grpSpPr bwMode="auto">
            <a:xfrm>
              <a:off x="5178821" y="2129734"/>
              <a:ext cx="3121625" cy="2171036"/>
              <a:chOff x="5178821" y="2129734"/>
              <a:chExt cx="3121625" cy="2171036"/>
            </a:xfrm>
          </p:grpSpPr>
          <p:pic>
            <p:nvPicPr>
              <p:cNvPr id="76847" name="Picture 7" descr="MSK串扰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20" t="62376" r="24039" b="6715"/>
              <a:stretch>
                <a:fillRect/>
              </a:stretch>
            </p:blipFill>
            <p:spPr bwMode="auto">
              <a:xfrm>
                <a:off x="5178821" y="2386458"/>
                <a:ext cx="2571768" cy="15716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848" name="Text Box 15"/>
              <p:cNvSpPr txBox="1">
                <a:spLocks noChangeArrowheads="1"/>
              </p:cNvSpPr>
              <p:nvPr/>
            </p:nvSpPr>
            <p:spPr bwMode="auto">
              <a:xfrm>
                <a:off x="8094397" y="3898906"/>
                <a:ext cx="206049" cy="320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 i="1">
                    <a:latin typeface="Times New Roman" panose="02020603050405020304" pitchFamily="18" charset="0"/>
                  </a:rPr>
                  <a:t>t</a:t>
                </a:r>
                <a:endParaRPr lang="en-US" altLang="zh-CN" sz="2000" b="1"/>
              </a:p>
            </p:txBody>
          </p:sp>
          <p:pic>
            <p:nvPicPr>
              <p:cNvPr id="76849" name="Picture 7" descr="MSK串扰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5654" t="62376"/>
              <a:stretch>
                <a:fillRect/>
              </a:stretch>
            </p:blipFill>
            <p:spPr bwMode="auto">
              <a:xfrm>
                <a:off x="7893465" y="2387717"/>
                <a:ext cx="220675" cy="19130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850" name="Text Box 13"/>
              <p:cNvSpPr txBox="1">
                <a:spLocks noChangeArrowheads="1"/>
              </p:cNvSpPr>
              <p:nvPr/>
            </p:nvSpPr>
            <p:spPr bwMode="auto">
              <a:xfrm>
                <a:off x="5315448" y="2129734"/>
                <a:ext cx="206049" cy="320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 b="1" i="1">
                    <a:latin typeface="Times New Roman" panose="02020603050405020304" pitchFamily="18" charset="0"/>
                  </a:rPr>
                  <a:t>f</a:t>
                </a:r>
                <a:endParaRPr lang="en-US" altLang="zh-CN" sz="2800" b="1"/>
              </a:p>
            </p:txBody>
          </p:sp>
        </p:grpSp>
      </p:grpSp>
      <p:grpSp>
        <p:nvGrpSpPr>
          <p:cNvPr id="5" name="组合 36"/>
          <p:cNvGrpSpPr>
            <a:grpSpLocks/>
          </p:cNvGrpSpPr>
          <p:nvPr/>
        </p:nvGrpSpPr>
        <p:grpSpPr bwMode="auto">
          <a:xfrm>
            <a:off x="7935913" y="3122613"/>
            <a:ext cx="779462" cy="1000125"/>
            <a:chOff x="7329054" y="1571612"/>
            <a:chExt cx="779529" cy="1000132"/>
          </a:xfrm>
        </p:grpSpPr>
        <p:pic>
          <p:nvPicPr>
            <p:cNvPr id="76843" name="Picture 10" descr="MSK串扰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420" t="4773" r="33887" b="88200"/>
            <a:stretch>
              <a:fillRect/>
            </a:stretch>
          </p:blipFill>
          <p:spPr bwMode="auto">
            <a:xfrm rot="5400000">
              <a:off x="7007583" y="1893083"/>
              <a:ext cx="1000132" cy="357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Text Box 19"/>
            <p:cNvSpPr txBox="1">
              <a:spLocks noChangeArrowheads="1"/>
            </p:cNvSpPr>
            <p:nvPr/>
          </p:nvSpPr>
          <p:spPr bwMode="auto">
            <a:xfrm>
              <a:off x="7571962" y="1714488"/>
              <a:ext cx="536621" cy="2143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rgbClr val="0000CC"/>
                  </a:solidFill>
                  <a:latin typeface="+mn-lt"/>
                  <a:ea typeface="宋体" charset="-122"/>
                </a:rPr>
                <a:t>B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+mn-lt"/>
                  <a:ea typeface="宋体" charset="-122"/>
                </a:rPr>
                <a:t>/N</a:t>
              </a:r>
              <a:endParaRPr lang="en-US" altLang="zh-CN" sz="2000" b="1" dirty="0">
                <a:solidFill>
                  <a:srgbClr val="990099"/>
                </a:solidFill>
                <a:latin typeface="+mn-lt"/>
                <a:ea typeface="宋体" charset="-122"/>
              </a:endParaRPr>
            </a:p>
          </p:txBody>
        </p:sp>
      </p:grp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7000875" y="476250"/>
            <a:ext cx="16430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zh-CN" alt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</a:rPr>
              <a:t>解决途径</a:t>
            </a:r>
            <a:endParaRPr lang="zh-CN" altLang="en-US" sz="2400" dirty="0">
              <a:solidFill>
                <a:srgbClr val="990099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3" name="Freeform 57"/>
          <p:cNvSpPr>
            <a:spLocks/>
          </p:cNvSpPr>
          <p:nvPr/>
        </p:nvSpPr>
        <p:spPr bwMode="auto">
          <a:xfrm>
            <a:off x="4429125" y="3429000"/>
            <a:ext cx="714375" cy="571500"/>
          </a:xfrm>
          <a:custGeom>
            <a:avLst/>
            <a:gdLst>
              <a:gd name="T0" fmla="*/ 2147483647 w 46"/>
              <a:gd name="T1" fmla="*/ 0 h 43"/>
              <a:gd name="T2" fmla="*/ 2147483647 w 46"/>
              <a:gd name="T3" fmla="*/ 2147483647 h 43"/>
              <a:gd name="T4" fmla="*/ 2147483647 w 46"/>
              <a:gd name="T5" fmla="*/ 2147483647 h 43"/>
              <a:gd name="T6" fmla="*/ 2147483647 w 46"/>
              <a:gd name="T7" fmla="*/ 2147483647 h 43"/>
              <a:gd name="T8" fmla="*/ 2147483647 w 46"/>
              <a:gd name="T9" fmla="*/ 2147483647 h 43"/>
              <a:gd name="T10" fmla="*/ 2147483647 w 46"/>
              <a:gd name="T11" fmla="*/ 2147483647 h 43"/>
              <a:gd name="T12" fmla="*/ 0 w 46"/>
              <a:gd name="T13" fmla="*/ 2147483647 h 43"/>
              <a:gd name="T14" fmla="*/ 2147483647 w 46"/>
              <a:gd name="T15" fmla="*/ 0 h 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43"/>
              <a:gd name="T26" fmla="*/ 46 w 46"/>
              <a:gd name="T27" fmla="*/ 43 h 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97979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714375" y="714375"/>
            <a:ext cx="2214563" cy="52387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多载波调制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45" name="矩形 10"/>
          <p:cNvSpPr>
            <a:spLocks noChangeArrowheads="1"/>
          </p:cNvSpPr>
          <p:nvPr/>
        </p:nvSpPr>
        <p:spPr bwMode="auto">
          <a:xfrm>
            <a:off x="6929438" y="1120775"/>
            <a:ext cx="41433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400"/>
              </a:lnSpc>
            </a:pPr>
            <a:r>
              <a:rPr lang="zh-CN" altLang="zh-CN" sz="1400">
                <a:solidFill>
                  <a:srgbClr val="0000CC"/>
                </a:solidFill>
                <a:ea typeface="华文中宋" panose="02010600040101010101" pitchFamily="2" charset="-122"/>
              </a:rPr>
              <a:t>串</a:t>
            </a:r>
            <a:endParaRPr lang="en-US" altLang="zh-CN" sz="1400">
              <a:solidFill>
                <a:srgbClr val="0000CC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ts val="1400"/>
              </a:lnSpc>
            </a:pPr>
            <a:r>
              <a:rPr lang="en-US" altLang="zh-CN" sz="1400">
                <a:solidFill>
                  <a:srgbClr val="0000CC"/>
                </a:solidFill>
                <a:ea typeface="华文中宋" panose="02010600040101010101" pitchFamily="2" charset="-122"/>
              </a:rPr>
              <a:t>/</a:t>
            </a:r>
            <a:r>
              <a:rPr lang="zh-CN" altLang="zh-CN" sz="1400">
                <a:solidFill>
                  <a:srgbClr val="0000CC"/>
                </a:solidFill>
                <a:ea typeface="华文中宋" panose="02010600040101010101" pitchFamily="2" charset="-122"/>
              </a:rPr>
              <a:t>并</a:t>
            </a:r>
            <a:endParaRPr lang="zh-CN" altLang="en-US" sz="1400">
              <a:solidFill>
                <a:srgbClr val="0000CC"/>
              </a:solidFill>
            </a:endParaRPr>
          </a:p>
        </p:txBody>
      </p:sp>
      <p:sp>
        <p:nvSpPr>
          <p:cNvPr id="46" name="矩形 10"/>
          <p:cNvSpPr>
            <a:spLocks noChangeArrowheads="1"/>
          </p:cNvSpPr>
          <p:nvPr/>
        </p:nvSpPr>
        <p:spPr bwMode="auto">
          <a:xfrm>
            <a:off x="3857625" y="1120775"/>
            <a:ext cx="3571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400"/>
              </a:lnSpc>
            </a:pPr>
            <a:r>
              <a:rPr lang="zh-CN" altLang="en-US" sz="1400">
                <a:solidFill>
                  <a:srgbClr val="0000CC"/>
                </a:solidFill>
                <a:ea typeface="华文中宋" panose="02010600040101010101" pitchFamily="2" charset="-122"/>
              </a:rPr>
              <a:t>分</a:t>
            </a:r>
            <a:endParaRPr lang="en-US" altLang="zh-CN" sz="1400">
              <a:solidFill>
                <a:srgbClr val="0000CC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ts val="1400"/>
              </a:lnSpc>
            </a:pPr>
            <a:r>
              <a:rPr lang="zh-CN" altLang="en-US" sz="1400">
                <a:solidFill>
                  <a:srgbClr val="0000CC"/>
                </a:solidFill>
                <a:ea typeface="华文中宋" panose="02010600040101010101" pitchFamily="2" charset="-122"/>
              </a:rPr>
              <a:t>成</a:t>
            </a:r>
            <a:endParaRPr lang="zh-CN" altLang="en-US" sz="1400">
              <a:solidFill>
                <a:srgbClr val="0000CC"/>
              </a:solidFill>
            </a:endParaRPr>
          </a:p>
        </p:txBody>
      </p:sp>
      <p:sp>
        <p:nvSpPr>
          <p:cNvPr id="48" name="Freeform 12"/>
          <p:cNvSpPr>
            <a:spLocks noEditPoints="1"/>
          </p:cNvSpPr>
          <p:nvPr/>
        </p:nvSpPr>
        <p:spPr bwMode="auto">
          <a:xfrm rot="2535275">
            <a:off x="3543300" y="1149350"/>
            <a:ext cx="782638" cy="428625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2"/>
          <p:cNvSpPr>
            <a:spLocks noEditPoints="1"/>
          </p:cNvSpPr>
          <p:nvPr/>
        </p:nvSpPr>
        <p:spPr bwMode="auto">
          <a:xfrm rot="2535275">
            <a:off x="6648450" y="1149350"/>
            <a:ext cx="782638" cy="428625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3" name="矩形 12"/>
          <p:cNvSpPr>
            <a:spLocks noChangeArrowheads="1"/>
          </p:cNvSpPr>
          <p:nvPr/>
        </p:nvSpPr>
        <p:spPr bwMode="auto">
          <a:xfrm>
            <a:off x="428625" y="484028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928688" y="4840288"/>
            <a:ext cx="7429500" cy="1554162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800"/>
              </a:lnSpc>
              <a:defRPr/>
            </a:pPr>
            <a:r>
              <a:rPr lang="zh-CN" altLang="en-US" sz="2400" dirty="0">
                <a:ea typeface="华文中宋" pitchFamily="2" charset="-122"/>
              </a:rPr>
              <a:t>                  带宽</a:t>
            </a:r>
            <a:r>
              <a:rPr lang="en-US" altLang="zh-CN" sz="2400" dirty="0">
                <a:ea typeface="华文中宋" pitchFamily="2" charset="-122"/>
              </a:rPr>
              <a:t>:  </a:t>
            </a:r>
            <a:r>
              <a:rPr lang="en-US" altLang="zh-CN" sz="2400" b="1" i="1" dirty="0">
                <a:solidFill>
                  <a:srgbClr val="990099"/>
                </a:solidFill>
                <a:ea typeface="华文中宋" pitchFamily="2" charset="-122"/>
              </a:rPr>
              <a:t>B</a:t>
            </a:r>
            <a:r>
              <a:rPr lang="en-US" sz="2400" b="1" baseline="-25000" dirty="0">
                <a:solidFill>
                  <a:srgbClr val="990099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i </a:t>
            </a:r>
            <a:r>
              <a:rPr lang="en-US" altLang="zh-CN" sz="2400" b="1" dirty="0">
                <a:ea typeface="华文中宋" pitchFamily="2" charset="-122"/>
              </a:rPr>
              <a:t>= </a:t>
            </a:r>
            <a:r>
              <a:rPr lang="en-US" altLang="zh-CN" sz="2400" b="1" i="1" dirty="0">
                <a:solidFill>
                  <a:srgbClr val="0000CC"/>
                </a:solidFill>
                <a:ea typeface="华文中宋" pitchFamily="2" charset="-122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ea typeface="华文中宋" pitchFamily="2" charset="-122"/>
              </a:rPr>
              <a:t>/</a:t>
            </a:r>
            <a:r>
              <a:rPr lang="en-US" altLang="zh-CN" sz="2400" b="1" i="1" dirty="0">
                <a:solidFill>
                  <a:srgbClr val="FF0000"/>
                </a:solidFill>
                <a:ea typeface="华文中宋" pitchFamily="2" charset="-122"/>
              </a:rPr>
              <a:t>N</a:t>
            </a:r>
          </a:p>
          <a:p>
            <a:pPr>
              <a:lnSpc>
                <a:spcPts val="3800"/>
              </a:lnSpc>
              <a:defRPr/>
            </a:pPr>
            <a:r>
              <a:rPr lang="en-US" altLang="zh-CN" sz="2400" dirty="0">
                <a:ea typeface="华文中宋" pitchFamily="2" charset="-122"/>
              </a:rPr>
              <a:t>   </a:t>
            </a:r>
            <a:r>
              <a:rPr lang="zh-CN" altLang="en-US" sz="2400" dirty="0">
                <a:ea typeface="华文中宋" pitchFamily="2" charset="-122"/>
              </a:rPr>
              <a:t>码元</a:t>
            </a:r>
            <a:r>
              <a:rPr lang="zh-CN" altLang="zh-CN" sz="2400" dirty="0">
                <a:ea typeface="华文中宋" pitchFamily="2" charset="-122"/>
              </a:rPr>
              <a:t>持续时间</a:t>
            </a:r>
            <a:r>
              <a:rPr lang="en-US" altLang="zh-CN" sz="2400" dirty="0">
                <a:ea typeface="华文中宋" pitchFamily="2" charset="-122"/>
              </a:rPr>
              <a:t>:   </a:t>
            </a:r>
            <a:r>
              <a:rPr lang="en-US" sz="2400" b="1" i="1" dirty="0">
                <a:solidFill>
                  <a:srgbClr val="990099"/>
                </a:solidFill>
                <a:ea typeface="宋体" charset="-122"/>
              </a:rPr>
              <a:t>T</a:t>
            </a:r>
            <a:r>
              <a:rPr lang="en-US" sz="2400" b="1" baseline="-25000" dirty="0">
                <a:solidFill>
                  <a:srgbClr val="990099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i </a:t>
            </a:r>
            <a:r>
              <a:rPr lang="en-US" altLang="zh-CN" sz="2400" b="1" dirty="0">
                <a:ea typeface="华文中宋" pitchFamily="2" charset="-122"/>
              </a:rPr>
              <a:t>= </a:t>
            </a:r>
            <a:r>
              <a:rPr lang="en-US" sz="2400" b="1" i="1" dirty="0">
                <a:solidFill>
                  <a:srgbClr val="FF0000"/>
                </a:solidFill>
                <a:ea typeface="宋体" charset="-122"/>
              </a:rPr>
              <a:t>N</a:t>
            </a:r>
            <a:r>
              <a:rPr lang="en-US" sz="2400" b="1" i="1" dirty="0">
                <a:solidFill>
                  <a:srgbClr val="0000CC"/>
                </a:solidFill>
                <a:ea typeface="宋体" charset="-122"/>
              </a:rPr>
              <a:t>T</a:t>
            </a:r>
            <a:r>
              <a:rPr lang="en-US" sz="2400" b="1" baseline="-25000" dirty="0">
                <a:solidFill>
                  <a:srgbClr val="0000CC"/>
                </a:solidFill>
                <a:ea typeface="宋体" charset="-122"/>
              </a:rPr>
              <a:t>B</a:t>
            </a:r>
          </a:p>
          <a:p>
            <a:pPr>
              <a:lnSpc>
                <a:spcPts val="3800"/>
              </a:lnSpc>
              <a:defRPr/>
            </a:pPr>
            <a:r>
              <a:rPr lang="zh-CN" altLang="en-US" sz="2400" dirty="0">
                <a:ea typeface="华文中宋" pitchFamily="2" charset="-122"/>
              </a:rPr>
              <a:t>   数据传输速率</a:t>
            </a:r>
            <a:r>
              <a:rPr lang="en-US" altLang="zh-CN" sz="2400" dirty="0">
                <a:ea typeface="华文中宋" pitchFamily="2" charset="-122"/>
              </a:rPr>
              <a:t>:  </a:t>
            </a:r>
            <a:r>
              <a:rPr lang="en-US" sz="2400" b="1" i="1" dirty="0" err="1">
                <a:solidFill>
                  <a:srgbClr val="990099"/>
                </a:solidFill>
                <a:ea typeface="宋体" charset="-122"/>
              </a:rPr>
              <a:t>R</a:t>
            </a:r>
            <a:r>
              <a:rPr lang="en-US" sz="2400" b="1" baseline="-25000" dirty="0" err="1">
                <a:solidFill>
                  <a:srgbClr val="990099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i</a:t>
            </a:r>
            <a:r>
              <a:rPr lang="en-US" sz="2400" b="1" baseline="-25000" dirty="0">
                <a:solidFill>
                  <a:srgbClr val="990099"/>
                </a:solidFill>
                <a:ea typeface="宋体" charset="-122"/>
              </a:rPr>
              <a:t> </a:t>
            </a:r>
            <a:r>
              <a:rPr lang="en-US" altLang="zh-CN" sz="2400" b="1" dirty="0">
                <a:ea typeface="华文中宋" pitchFamily="2" charset="-122"/>
              </a:rPr>
              <a:t>= </a:t>
            </a:r>
            <a:r>
              <a:rPr lang="en-US" sz="2400" b="1" i="1" dirty="0">
                <a:solidFill>
                  <a:srgbClr val="0000CC"/>
                </a:solidFill>
                <a:ea typeface="宋体" charset="-122"/>
              </a:rPr>
              <a:t>R</a:t>
            </a:r>
            <a:r>
              <a:rPr lang="en-US" sz="2400" b="1" baseline="-25000" dirty="0">
                <a:solidFill>
                  <a:srgbClr val="0000CC"/>
                </a:solidFill>
                <a:ea typeface="宋体" charset="-122"/>
              </a:rPr>
              <a:t>B</a:t>
            </a:r>
            <a:r>
              <a:rPr lang="en-US" sz="2400" b="1" dirty="0">
                <a:solidFill>
                  <a:srgbClr val="FF0000"/>
                </a:solidFill>
                <a:ea typeface="宋体" charset="-122"/>
              </a:rPr>
              <a:t>/</a:t>
            </a:r>
            <a:r>
              <a:rPr lang="en-US" sz="2400" b="1" i="1" dirty="0">
                <a:solidFill>
                  <a:srgbClr val="FF0000"/>
                </a:solidFill>
                <a:ea typeface="宋体" charset="-122"/>
              </a:rPr>
              <a:t>N</a:t>
            </a:r>
            <a:endParaRPr lang="zh-CN" altLang="en-US" sz="2400" b="1" i="1" dirty="0">
              <a:ea typeface="华文中宋" pitchFamily="2" charset="-122"/>
            </a:endParaRPr>
          </a:p>
        </p:txBody>
      </p:sp>
      <p:sp>
        <p:nvSpPr>
          <p:cNvPr id="52" name="矩形 5"/>
          <p:cNvSpPr>
            <a:spLocks noChangeArrowheads="1"/>
          </p:cNvSpPr>
          <p:nvPr/>
        </p:nvSpPr>
        <p:spPr bwMode="auto">
          <a:xfrm>
            <a:off x="4911725" y="4857750"/>
            <a:ext cx="2549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&lt;</a:t>
            </a:r>
            <a:r>
              <a:rPr lang="zh-CN" altLang="zh-CN" sz="2400">
                <a:ea typeface="华文中宋" panose="02010600040101010101" pitchFamily="2" charset="-122"/>
                <a:cs typeface="Arial" panose="020B0604020202020204" pitchFamily="34" charset="0"/>
              </a:rPr>
              <a:t>信道的相关带宽</a:t>
            </a:r>
            <a:endParaRPr lang="zh-CN" altLang="en-US" sz="2400"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4792663" y="5343525"/>
            <a:ext cx="3306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&gt;</a:t>
            </a:r>
            <a:r>
              <a:rPr lang="zh-CN" altLang="en-US" sz="2400">
                <a:solidFill>
                  <a:srgbClr val="080808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信道最大多径迟延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τ</a:t>
            </a:r>
            <a:r>
              <a:rPr lang="en-US" altLang="zh-CN" b="1" baseline="-25000">
                <a:solidFill>
                  <a:srgbClr val="FF0000"/>
                </a:solidFill>
              </a:rPr>
              <a:t>max</a:t>
            </a:r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6" name="组合 57"/>
          <p:cNvGrpSpPr>
            <a:grpSpLocks/>
          </p:cNvGrpSpPr>
          <p:nvPr/>
        </p:nvGrpSpPr>
        <p:grpSpPr bwMode="auto">
          <a:xfrm>
            <a:off x="785813" y="4714875"/>
            <a:ext cx="1685925" cy="642938"/>
            <a:chOff x="2500298" y="3214686"/>
            <a:chExt cx="1685495" cy="642942"/>
          </a:xfrm>
        </p:grpSpPr>
        <p:sp>
          <p:nvSpPr>
            <p:cNvPr id="55" name="椭圆 54"/>
            <p:cNvSpPr/>
            <p:nvPr/>
          </p:nvSpPr>
          <p:spPr bwMode="auto">
            <a:xfrm>
              <a:off x="2500298" y="3214686"/>
              <a:ext cx="1571224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76842" name="矩形 16"/>
            <p:cNvSpPr>
              <a:spLocks noChangeArrowheads="1"/>
            </p:cNvSpPr>
            <p:nvPr/>
          </p:nvSpPr>
          <p:spPr bwMode="auto">
            <a:xfrm>
              <a:off x="2597110" y="3286124"/>
              <a:ext cx="1588683" cy="461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9900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子信道</a:t>
              </a:r>
              <a:endParaRPr lang="zh-CN" altLang="en-US" sz="2400">
                <a:solidFill>
                  <a:srgbClr val="990099"/>
                </a:solidFill>
              </a:endParaRPr>
            </a:p>
          </p:txBody>
        </p:sp>
      </p:grpSp>
      <p:sp>
        <p:nvSpPr>
          <p:cNvPr id="57" name="矩形 56"/>
          <p:cNvSpPr/>
          <p:nvPr/>
        </p:nvSpPr>
        <p:spPr bwMode="auto">
          <a:xfrm>
            <a:off x="5441950" y="3286125"/>
            <a:ext cx="2457450" cy="171450"/>
          </a:xfrm>
          <a:prstGeom prst="rect">
            <a:avLst/>
          </a:prstGeom>
          <a:solidFill>
            <a:srgbClr val="990099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pSp>
        <p:nvGrpSpPr>
          <p:cNvPr id="76819" name="组合 79"/>
          <p:cNvGrpSpPr>
            <a:grpSpLocks/>
          </p:cNvGrpSpPr>
          <p:nvPr/>
        </p:nvGrpSpPr>
        <p:grpSpPr bwMode="auto">
          <a:xfrm>
            <a:off x="214313" y="2528888"/>
            <a:ext cx="4314825" cy="2185987"/>
            <a:chOff x="214282" y="2529334"/>
            <a:chExt cx="4314825" cy="2185988"/>
          </a:xfrm>
        </p:grpSpPr>
        <p:grpSp>
          <p:nvGrpSpPr>
            <p:cNvPr id="76824" name="组合 40"/>
            <p:cNvGrpSpPr>
              <a:grpSpLocks/>
            </p:cNvGrpSpPr>
            <p:nvPr/>
          </p:nvGrpSpPr>
          <p:grpSpPr bwMode="auto">
            <a:xfrm>
              <a:off x="214282" y="2537272"/>
              <a:ext cx="4314825" cy="2178050"/>
              <a:chOff x="4042906" y="1522832"/>
              <a:chExt cx="4315308" cy="2177406"/>
            </a:xfrm>
          </p:grpSpPr>
          <p:grpSp>
            <p:nvGrpSpPr>
              <p:cNvPr id="76830" name="组合 29"/>
              <p:cNvGrpSpPr>
                <a:grpSpLocks/>
              </p:cNvGrpSpPr>
              <p:nvPr/>
            </p:nvGrpSpPr>
            <p:grpSpPr bwMode="auto">
              <a:xfrm>
                <a:off x="4208449" y="1522832"/>
                <a:ext cx="4149765" cy="2177406"/>
                <a:chOff x="500034" y="1000108"/>
                <a:chExt cx="4149765" cy="2177406"/>
              </a:xfrm>
            </p:grpSpPr>
            <p:grpSp>
              <p:nvGrpSpPr>
                <p:cNvPr id="76832" name="组合 65"/>
                <p:cNvGrpSpPr>
                  <a:grpSpLocks/>
                </p:cNvGrpSpPr>
                <p:nvPr/>
              </p:nvGrpSpPr>
              <p:grpSpPr bwMode="auto">
                <a:xfrm>
                  <a:off x="642910" y="1000108"/>
                  <a:ext cx="4006889" cy="2177406"/>
                  <a:chOff x="642910" y="1000108"/>
                  <a:chExt cx="4006889" cy="2177406"/>
                </a:xfrm>
              </p:grpSpPr>
              <p:grpSp>
                <p:nvGrpSpPr>
                  <p:cNvPr id="76834" name="组合 63"/>
                  <p:cNvGrpSpPr>
                    <a:grpSpLocks/>
                  </p:cNvGrpSpPr>
                  <p:nvPr/>
                </p:nvGrpSpPr>
                <p:grpSpPr bwMode="auto">
                  <a:xfrm>
                    <a:off x="642910" y="1000108"/>
                    <a:ext cx="4006889" cy="2169777"/>
                    <a:chOff x="642910" y="1000108"/>
                    <a:chExt cx="4006889" cy="2169777"/>
                  </a:xfrm>
                </p:grpSpPr>
                <p:pic>
                  <p:nvPicPr>
                    <p:cNvPr id="76839" name="Picture 7" descr="MSK串扰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95654" t="62376"/>
                    <a:stretch>
                      <a:fillRect/>
                    </a:stretch>
                  </p:blipFill>
                  <p:spPr bwMode="auto">
                    <a:xfrm>
                      <a:off x="4429124" y="1256832"/>
                      <a:ext cx="220675" cy="191305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pic>
                  <p:nvPicPr>
                    <p:cNvPr id="76840" name="Picture 10" descr="MSK串扰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t="4773" r="24039" b="57285"/>
                    <a:stretch>
                      <a:fillRect/>
                    </a:stretch>
                  </p:blipFill>
                  <p:spPr bwMode="auto">
                    <a:xfrm>
                      <a:off x="642910" y="1000108"/>
                      <a:ext cx="3857652" cy="19288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</p:grpSp>
              <p:sp>
                <p:nvSpPr>
                  <p:cNvPr id="64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99728" y="1074698"/>
                    <a:ext cx="528697" cy="320580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just">
                      <a:defRPr/>
                    </a:pPr>
                    <a:r>
                      <a:rPr lang="en-US" altLang="zh-CN" sz="1600" b="1" dirty="0">
                        <a:latin typeface="+mn-lt"/>
                        <a:ea typeface="宋体" charset="-122"/>
                      </a:rPr>
                      <a:t>|</a:t>
                    </a:r>
                    <a:r>
                      <a:rPr lang="en-US" altLang="zh-CN" sz="1600" b="1" i="1" dirty="0">
                        <a:latin typeface="+mn-lt"/>
                        <a:ea typeface="宋体" charset="-122"/>
                      </a:rPr>
                      <a:t>C</a:t>
                    </a:r>
                    <a:r>
                      <a:rPr lang="en-US" altLang="zh-CN" sz="1600" b="1" dirty="0">
                        <a:latin typeface="+mn-lt"/>
                        <a:ea typeface="宋体" charset="-122"/>
                      </a:rPr>
                      <a:t>(</a:t>
                    </a:r>
                    <a:r>
                      <a:rPr lang="en-US" altLang="zh-CN" sz="1600" b="1" i="1" dirty="0">
                        <a:latin typeface="Times New Roman" pitchFamily="18" charset="0"/>
                        <a:ea typeface="宋体" charset="-122"/>
                        <a:cs typeface="Times New Roman" pitchFamily="18" charset="0"/>
                      </a:rPr>
                      <a:t>f</a:t>
                    </a:r>
                    <a:r>
                      <a:rPr lang="en-US" altLang="zh-CN" sz="1600" b="1" dirty="0">
                        <a:latin typeface="+mn-lt"/>
                        <a:ea typeface="宋体" charset="-122"/>
                      </a:rPr>
                      <a:t>)|</a:t>
                    </a:r>
                    <a:endParaRPr lang="en-US" altLang="zh-CN" sz="2800" b="1" dirty="0">
                      <a:latin typeface="+mn-lt"/>
                      <a:ea typeface="宋体" charset="-122"/>
                    </a:endParaRPr>
                  </a:p>
                </p:txBody>
              </p:sp>
              <p:sp>
                <p:nvSpPr>
                  <p:cNvPr id="76836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29124" y="2857496"/>
                    <a:ext cx="206049" cy="3200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/>
                    <a:r>
                      <a:rPr lang="en-US" altLang="zh-CN" sz="2000" b="1" i="1">
                        <a:latin typeface="Times New Roman" panose="02020603050405020304" pitchFamily="18" charset="0"/>
                      </a:rPr>
                      <a:t>t</a:t>
                    </a:r>
                    <a:endParaRPr lang="en-US" altLang="zh-CN" sz="2000" b="1"/>
                  </a:p>
                </p:txBody>
              </p:sp>
              <p:sp>
                <p:nvSpPr>
                  <p:cNvPr id="66" name="任意多边形 65"/>
                  <p:cNvSpPr/>
                  <p:nvPr/>
                </p:nvSpPr>
                <p:spPr bwMode="auto">
                  <a:xfrm>
                    <a:off x="1071174" y="1428605"/>
                    <a:ext cx="112725" cy="1291844"/>
                  </a:xfrm>
                  <a:custGeom>
                    <a:avLst/>
                    <a:gdLst>
                      <a:gd name="connsiteX0" fmla="*/ 0 w 164495"/>
                      <a:gd name="connsiteY0" fmla="*/ 0 h 1359505"/>
                      <a:gd name="connsiteX1" fmla="*/ 72572 w 164495"/>
                      <a:gd name="connsiteY1" fmla="*/ 159658 h 1359505"/>
                      <a:gd name="connsiteX2" fmla="*/ 72572 w 164495"/>
                      <a:gd name="connsiteY2" fmla="*/ 159658 h 1359505"/>
                      <a:gd name="connsiteX3" fmla="*/ 87086 w 164495"/>
                      <a:gd name="connsiteY3" fmla="*/ 493486 h 1359505"/>
                      <a:gd name="connsiteX4" fmla="*/ 14515 w 164495"/>
                      <a:gd name="connsiteY4" fmla="*/ 667658 h 1359505"/>
                      <a:gd name="connsiteX5" fmla="*/ 58057 w 164495"/>
                      <a:gd name="connsiteY5" fmla="*/ 827315 h 1359505"/>
                      <a:gd name="connsiteX6" fmla="*/ 145143 w 164495"/>
                      <a:gd name="connsiteY6" fmla="*/ 943429 h 1359505"/>
                      <a:gd name="connsiteX7" fmla="*/ 145143 w 164495"/>
                      <a:gd name="connsiteY7" fmla="*/ 1074058 h 1359505"/>
                      <a:gd name="connsiteX8" fmla="*/ 29029 w 164495"/>
                      <a:gd name="connsiteY8" fmla="*/ 1320800 h 1359505"/>
                      <a:gd name="connsiteX9" fmla="*/ 14515 w 164495"/>
                      <a:gd name="connsiteY9" fmla="*/ 1306286 h 13595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64495" h="1359505">
                        <a:moveTo>
                          <a:pt x="0" y="0"/>
                        </a:moveTo>
                        <a:lnTo>
                          <a:pt x="72572" y="159658"/>
                        </a:lnTo>
                        <a:lnTo>
                          <a:pt x="72572" y="159658"/>
                        </a:lnTo>
                        <a:cubicBezTo>
                          <a:pt x="74991" y="215296"/>
                          <a:pt x="96762" y="408819"/>
                          <a:pt x="87086" y="493486"/>
                        </a:cubicBezTo>
                        <a:cubicBezTo>
                          <a:pt x="77410" y="578153"/>
                          <a:pt x="19353" y="612020"/>
                          <a:pt x="14515" y="667658"/>
                        </a:cubicBezTo>
                        <a:cubicBezTo>
                          <a:pt x="9677" y="723296"/>
                          <a:pt x="36286" y="781353"/>
                          <a:pt x="58057" y="827315"/>
                        </a:cubicBezTo>
                        <a:cubicBezTo>
                          <a:pt x="79828" y="873277"/>
                          <a:pt x="130629" y="902305"/>
                          <a:pt x="145143" y="943429"/>
                        </a:cubicBezTo>
                        <a:cubicBezTo>
                          <a:pt x="159657" y="984553"/>
                          <a:pt x="164495" y="1011163"/>
                          <a:pt x="145143" y="1074058"/>
                        </a:cubicBezTo>
                        <a:cubicBezTo>
                          <a:pt x="125791" y="1136953"/>
                          <a:pt x="50800" y="1282095"/>
                          <a:pt x="29029" y="1320800"/>
                        </a:cubicBezTo>
                        <a:cubicBezTo>
                          <a:pt x="7258" y="1359505"/>
                          <a:pt x="10886" y="1332895"/>
                          <a:pt x="14515" y="1306286"/>
                        </a:cubicBezTo>
                      </a:path>
                    </a:pathLst>
                  </a:custGeom>
                  <a:noFill/>
                  <a:ln w="28575" cap="flat" cmpd="sng" algn="ctr">
                    <a:solidFill>
                      <a:schemeClr val="bg1">
                        <a:lumMod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ea typeface="宋体" charset="-122"/>
                    </a:endParaRPr>
                  </a:p>
                </p:txBody>
              </p:sp>
              <p:sp>
                <p:nvSpPr>
                  <p:cNvPr id="76838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8803" y="1000108"/>
                    <a:ext cx="206049" cy="3200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/>
                    <a:r>
                      <a:rPr lang="en-US" altLang="zh-CN" sz="1600" b="1" i="1">
                        <a:latin typeface="Times New Roman" panose="02020603050405020304" pitchFamily="18" charset="0"/>
                      </a:rPr>
                      <a:t>f</a:t>
                    </a:r>
                    <a:endParaRPr lang="en-US" altLang="zh-CN" sz="2800" b="1"/>
                  </a:p>
                </p:txBody>
              </p:sp>
            </p:grpSp>
            <p:sp>
              <p:nvSpPr>
                <p:cNvPr id="76833" name="Text Box 13"/>
                <p:cNvSpPr txBox="1">
                  <a:spLocks noChangeArrowheads="1"/>
                </p:cNvSpPr>
                <p:nvPr/>
              </p:nvSpPr>
              <p:spPr bwMode="auto">
                <a:xfrm flipH="1">
                  <a:off x="500034" y="2714620"/>
                  <a:ext cx="214314" cy="357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f</a:t>
                  </a:r>
                  <a:endParaRPr lang="en-US" altLang="zh-CN" sz="2800" b="1"/>
                </a:p>
              </p:txBody>
            </p:sp>
          </p:grpSp>
          <p:sp>
            <p:nvSpPr>
              <p:cNvPr id="60" name="矩形 59"/>
              <p:cNvSpPr/>
              <p:nvPr/>
            </p:nvSpPr>
            <p:spPr bwMode="auto">
              <a:xfrm>
                <a:off x="4042906" y="1829129"/>
                <a:ext cx="357227" cy="142832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grpSp>
          <p:nvGrpSpPr>
            <p:cNvPr id="76825" name="组合 41"/>
            <p:cNvGrpSpPr>
              <a:grpSpLocks/>
            </p:cNvGrpSpPr>
            <p:nvPr/>
          </p:nvGrpSpPr>
          <p:grpSpPr bwMode="auto">
            <a:xfrm>
              <a:off x="1601757" y="2957959"/>
              <a:ext cx="182562" cy="1285875"/>
              <a:chOff x="2043774" y="3714752"/>
              <a:chExt cx="182304" cy="1285884"/>
            </a:xfrm>
          </p:grpSpPr>
          <p:cxnSp>
            <p:nvCxnSpPr>
              <p:cNvPr id="75" name="直接箭头连接符 74"/>
              <p:cNvCxnSpPr/>
              <p:nvPr/>
            </p:nvCxnSpPr>
            <p:spPr bwMode="auto">
              <a:xfrm rot="5400000">
                <a:off x="1501495" y="4356902"/>
                <a:ext cx="1285885" cy="1586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arrow"/>
                <a:tailEnd type="arrow"/>
              </a:ln>
              <a:effectLst/>
            </p:spPr>
          </p:cxnSp>
          <p:sp>
            <p:nvSpPr>
              <p:cNvPr id="76" name="Text Box 18"/>
              <p:cNvSpPr txBox="1">
                <a:spLocks noChangeArrowheads="1"/>
              </p:cNvSpPr>
              <p:nvPr/>
            </p:nvSpPr>
            <p:spPr bwMode="auto">
              <a:xfrm>
                <a:off x="2043774" y="4213231"/>
                <a:ext cx="182304" cy="320677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lang="en-US" altLang="zh-CN" sz="1600" b="1" i="1" dirty="0">
                    <a:solidFill>
                      <a:srgbClr val="0000CC"/>
                    </a:solidFill>
                    <a:latin typeface="+mn-lt"/>
                    <a:ea typeface="宋体" charset="-122"/>
                  </a:rPr>
                  <a:t>B</a:t>
                </a:r>
                <a:endParaRPr lang="en-US" altLang="zh-CN" sz="2800" b="1" dirty="0">
                  <a:solidFill>
                    <a:srgbClr val="0000CC"/>
                  </a:solidFill>
                  <a:latin typeface="+mn-lt"/>
                  <a:ea typeface="宋体" charset="-122"/>
                </a:endParaRPr>
              </a:p>
            </p:txBody>
          </p:sp>
        </p:grpSp>
        <p:sp>
          <p:nvSpPr>
            <p:cNvPr id="78" name="Text Box 19"/>
            <p:cNvSpPr txBox="1">
              <a:spLocks noChangeArrowheads="1"/>
            </p:cNvSpPr>
            <p:nvPr/>
          </p:nvSpPr>
          <p:spPr bwMode="auto">
            <a:xfrm>
              <a:off x="3349594" y="2529334"/>
              <a:ext cx="322263" cy="3206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rgbClr val="0000CC"/>
                  </a:solidFill>
                  <a:latin typeface="+mn-lt"/>
                  <a:ea typeface="宋体" charset="-122"/>
                </a:rPr>
                <a:t>T</a:t>
              </a:r>
              <a:r>
                <a:rPr lang="en-US" altLang="zh-CN" sz="2000" b="1" baseline="-25000" dirty="0">
                  <a:solidFill>
                    <a:srgbClr val="0000CC"/>
                  </a:solidFill>
                  <a:latin typeface="+mn-lt"/>
                  <a:ea typeface="宋体" charset="-122"/>
                </a:rPr>
                <a:t>B</a:t>
              </a:r>
              <a:endParaRPr lang="en-US" altLang="zh-CN" sz="2000" b="1" dirty="0">
                <a:solidFill>
                  <a:srgbClr val="0000CC"/>
                </a:solidFill>
                <a:latin typeface="+mn-lt"/>
                <a:ea typeface="宋体" charset="-122"/>
              </a:endParaRPr>
            </a:p>
          </p:txBody>
        </p:sp>
        <p:sp>
          <p:nvSpPr>
            <p:cNvPr id="76827" name="任意多边形 78"/>
            <p:cNvSpPr>
              <a:spLocks noChangeArrowheads="1"/>
            </p:cNvSpPr>
            <p:nvPr/>
          </p:nvSpPr>
          <p:spPr bwMode="auto">
            <a:xfrm>
              <a:off x="944532" y="2938909"/>
              <a:ext cx="112712" cy="1292225"/>
            </a:xfrm>
            <a:custGeom>
              <a:avLst/>
              <a:gdLst>
                <a:gd name="T0" fmla="*/ 0 w 164495"/>
                <a:gd name="T1" fmla="*/ 0 h 1359505"/>
                <a:gd name="T2" fmla="*/ 5 w 164495"/>
                <a:gd name="T3" fmla="*/ 44847 h 1359505"/>
                <a:gd name="T4" fmla="*/ 5 w 164495"/>
                <a:gd name="T5" fmla="*/ 44847 h 1359505"/>
                <a:gd name="T6" fmla="*/ 7 w 164495"/>
                <a:gd name="T7" fmla="*/ 138621 h 1359505"/>
                <a:gd name="T8" fmla="*/ 1 w 164495"/>
                <a:gd name="T9" fmla="*/ 187543 h 1359505"/>
                <a:gd name="T10" fmla="*/ 5 w 164495"/>
                <a:gd name="T11" fmla="*/ 232391 h 1359505"/>
                <a:gd name="T12" fmla="*/ 11 w 164495"/>
                <a:gd name="T13" fmla="*/ 265007 h 1359505"/>
                <a:gd name="T14" fmla="*/ 11 w 164495"/>
                <a:gd name="T15" fmla="*/ 301702 h 1359505"/>
                <a:gd name="T16" fmla="*/ 2 w 164495"/>
                <a:gd name="T17" fmla="*/ 371011 h 1359505"/>
                <a:gd name="T18" fmla="*/ 1 w 164495"/>
                <a:gd name="T19" fmla="*/ 366933 h 13595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4495"/>
                <a:gd name="T31" fmla="*/ 0 h 1359505"/>
                <a:gd name="T32" fmla="*/ 164495 w 164495"/>
                <a:gd name="T33" fmla="*/ 1359505 h 135950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4495" h="1359505">
                  <a:moveTo>
                    <a:pt x="0" y="0"/>
                  </a:moveTo>
                  <a:lnTo>
                    <a:pt x="72572" y="159658"/>
                  </a:lnTo>
                  <a:cubicBezTo>
                    <a:pt x="74991" y="215296"/>
                    <a:pt x="96762" y="408819"/>
                    <a:pt x="87086" y="493486"/>
                  </a:cubicBezTo>
                  <a:cubicBezTo>
                    <a:pt x="77410" y="578153"/>
                    <a:pt x="19353" y="612020"/>
                    <a:pt x="14515" y="667658"/>
                  </a:cubicBezTo>
                  <a:cubicBezTo>
                    <a:pt x="9677" y="723296"/>
                    <a:pt x="36286" y="781353"/>
                    <a:pt x="58057" y="827315"/>
                  </a:cubicBezTo>
                  <a:cubicBezTo>
                    <a:pt x="79828" y="873277"/>
                    <a:pt x="130629" y="902305"/>
                    <a:pt x="145143" y="943429"/>
                  </a:cubicBezTo>
                  <a:cubicBezTo>
                    <a:pt x="159657" y="984553"/>
                    <a:pt x="164495" y="1011163"/>
                    <a:pt x="145143" y="1074058"/>
                  </a:cubicBezTo>
                  <a:cubicBezTo>
                    <a:pt x="125791" y="1136953"/>
                    <a:pt x="50800" y="1282095"/>
                    <a:pt x="29029" y="1320800"/>
                  </a:cubicBezTo>
                  <a:cubicBezTo>
                    <a:pt x="7258" y="1359505"/>
                    <a:pt x="10886" y="1332895"/>
                    <a:pt x="14515" y="1306286"/>
                  </a:cubicBezTo>
                </a:path>
              </a:pathLst>
            </a:custGeom>
            <a:noFill/>
            <a:ln w="28575" algn="ctr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41"/>
          <p:cNvGrpSpPr>
            <a:grpSpLocks/>
          </p:cNvGrpSpPr>
          <p:nvPr/>
        </p:nvGrpSpPr>
        <p:grpSpPr bwMode="auto">
          <a:xfrm>
            <a:off x="1600200" y="2957513"/>
            <a:ext cx="182563" cy="1285875"/>
            <a:chOff x="2043774" y="3714752"/>
            <a:chExt cx="182304" cy="1285884"/>
          </a:xfrm>
        </p:grpSpPr>
        <p:cxnSp>
          <p:nvCxnSpPr>
            <p:cNvPr id="76822" name="直接箭头连接符 81"/>
            <p:cNvCxnSpPr>
              <a:cxnSpLocks noChangeShapeType="1"/>
            </p:cNvCxnSpPr>
            <p:nvPr/>
          </p:nvCxnSpPr>
          <p:spPr bwMode="auto">
            <a:xfrm rot="5400000">
              <a:off x="1501495" y="4356902"/>
              <a:ext cx="1285884" cy="1586"/>
            </a:xfrm>
            <a:prstGeom prst="straightConnector1">
              <a:avLst/>
            </a:prstGeom>
            <a:noFill/>
            <a:ln w="28575" algn="ctr">
              <a:solidFill>
                <a:srgbClr val="0000CC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" name="Text Box 18"/>
            <p:cNvSpPr txBox="1">
              <a:spLocks noChangeArrowheads="1"/>
            </p:cNvSpPr>
            <p:nvPr/>
          </p:nvSpPr>
          <p:spPr bwMode="auto">
            <a:xfrm>
              <a:off x="2043774" y="4213230"/>
              <a:ext cx="182304" cy="320677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lang="en-US" altLang="zh-CN" sz="1600" b="1" i="1" dirty="0">
                  <a:solidFill>
                    <a:srgbClr val="0000CC"/>
                  </a:solidFill>
                  <a:latin typeface="+mn-lt"/>
                  <a:ea typeface="宋体" charset="-122"/>
                </a:rPr>
                <a:t>B</a:t>
              </a:r>
              <a:endParaRPr lang="en-US" altLang="zh-CN" sz="2800" b="1" dirty="0">
                <a:solidFill>
                  <a:srgbClr val="0000CC"/>
                </a:solidFill>
                <a:latin typeface="+mn-lt"/>
                <a:ea typeface="宋体" charset="-122"/>
              </a:endParaRPr>
            </a:p>
          </p:txBody>
        </p:sp>
      </p:grpSp>
      <p:sp>
        <p:nvSpPr>
          <p:cNvPr id="84" name="Text Box 19"/>
          <p:cNvSpPr txBox="1">
            <a:spLocks noChangeArrowheads="1"/>
          </p:cNvSpPr>
          <p:nvPr/>
        </p:nvSpPr>
        <p:spPr bwMode="auto">
          <a:xfrm>
            <a:off x="3348038" y="2528888"/>
            <a:ext cx="322262" cy="320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defRPr/>
            </a:pPr>
            <a:r>
              <a:rPr lang="en-US" altLang="zh-CN" sz="2000" b="1" i="1" dirty="0">
                <a:solidFill>
                  <a:srgbClr val="0000CC"/>
                </a:solidFill>
                <a:latin typeface="+mn-lt"/>
                <a:ea typeface="宋体" charset="-122"/>
              </a:rPr>
              <a:t>T</a:t>
            </a:r>
            <a:r>
              <a:rPr lang="en-US" altLang="zh-CN" sz="2000" b="1" baseline="-25000" dirty="0">
                <a:solidFill>
                  <a:srgbClr val="0000CC"/>
                </a:solidFill>
                <a:latin typeface="+mn-lt"/>
                <a:ea typeface="宋体" charset="-122"/>
              </a:rPr>
              <a:t>B</a:t>
            </a:r>
            <a:endParaRPr lang="en-US" altLang="zh-CN" sz="2000" b="1" dirty="0">
              <a:solidFill>
                <a:srgbClr val="0000CC"/>
              </a:solidFill>
              <a:latin typeface="+mn-lt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870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7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1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10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 animBg="1"/>
      <p:bldP spid="45" grpId="0"/>
      <p:bldP spid="46" grpId="0"/>
      <p:bldP spid="48" grpId="0" animBg="1"/>
      <p:bldP spid="49" grpId="0" animBg="1"/>
      <p:bldP spid="52" grpId="0"/>
      <p:bldP spid="53" grpId="0"/>
      <p:bldP spid="57" grpId="0" animBg="1"/>
      <p:bldP spid="8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1962150"/>
            <a:ext cx="8099425" cy="220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42938" y="714375"/>
            <a:ext cx="4506912" cy="52387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800" b="1" dirty="0">
                <a:ea typeface="宋体" charset="-122"/>
              </a:rPr>
              <a:t> </a:t>
            </a:r>
            <a:r>
              <a:rPr lang="zh-CN" altLang="en-US" sz="2800" b="1" dirty="0">
                <a:ea typeface="宋体" charset="-122"/>
              </a:rPr>
              <a:t>正交频分复用（</a:t>
            </a:r>
            <a:r>
              <a:rPr lang="en-US" altLang="zh-CN" sz="2800" b="1" dirty="0">
                <a:solidFill>
                  <a:srgbClr val="003399"/>
                </a:solidFill>
                <a:ea typeface="宋体" charset="-122"/>
              </a:rPr>
              <a:t>OFDM</a:t>
            </a:r>
            <a:r>
              <a:rPr lang="zh-CN" altLang="en-US" sz="2800" b="1" dirty="0">
                <a:ea typeface="宋体" charset="-122"/>
              </a:rPr>
              <a:t>）</a:t>
            </a: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11375" y="1285875"/>
            <a:ext cx="57054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kern="0" dirty="0">
                <a:latin typeface="Arial" pitchFamily="34" charset="0"/>
                <a:ea typeface="+mj-ea"/>
                <a:cs typeface="Arial" pitchFamily="34" charset="0"/>
              </a:rPr>
              <a:t>——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kern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多载波并行调制体制</a:t>
            </a:r>
            <a:endParaRPr lang="zh-CN" altLang="en-US" sz="2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85813" y="4857750"/>
            <a:ext cx="7772400" cy="1214438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228600" indent="-228600">
              <a:lnSpc>
                <a:spcPct val="1500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2000" kern="0" dirty="0">
                <a:solidFill>
                  <a:srgbClr val="000099"/>
                </a:solidFill>
                <a:latin typeface="+mn-lt"/>
                <a:ea typeface="微软雅黑" pitchFamily="34" charset="-122"/>
                <a:cs typeface="Arial" pitchFamily="34" charset="0"/>
                <a:sym typeface="Symbol" pitchFamily="18" charset="2"/>
              </a:rPr>
              <a:t>   </a:t>
            </a:r>
            <a:r>
              <a:rPr lang="zh-CN" altLang="en-US" sz="2000" kern="0" dirty="0">
                <a:solidFill>
                  <a:srgbClr val="990099"/>
                </a:solidFill>
                <a:latin typeface="+mn-lt"/>
                <a:ea typeface="微软雅黑" pitchFamily="34" charset="-122"/>
                <a:cs typeface="Arial" pitchFamily="34" charset="0"/>
                <a:sym typeface="Symbol" pitchFamily="18" charset="2"/>
              </a:rPr>
              <a:t> </a:t>
            </a:r>
            <a:r>
              <a:rPr lang="en-US" altLang="zh-CN" sz="2400" dirty="0">
                <a:solidFill>
                  <a:srgbClr val="990099"/>
                </a:solidFill>
                <a:latin typeface="Arial" pitchFamily="34" charset="0"/>
                <a:ea typeface="宋体" charset="-122"/>
                <a:cs typeface="Arial" pitchFamily="34" charset="0"/>
                <a:sym typeface="Symbol" pitchFamily="18" charset="2"/>
              </a:rPr>
              <a:t>  </a:t>
            </a:r>
            <a:r>
              <a:rPr lang="zh-CN" altLang="en-US" sz="2000" kern="0" dirty="0">
                <a:latin typeface="+mn-lt"/>
                <a:ea typeface="微软雅黑" pitchFamily="34" charset="-122"/>
              </a:rPr>
              <a:t>各路子载波的已调信号频谱有</a:t>
            </a:r>
            <a:r>
              <a:rPr lang="en-US" altLang="zh-CN" sz="2000" dirty="0">
                <a:latin typeface="+mn-lt"/>
                <a:ea typeface="微软雅黑" pitchFamily="34" charset="-122"/>
                <a:cs typeface="Times New Roman" pitchFamily="18" charset="0"/>
              </a:rPr>
              <a:t>1/2</a:t>
            </a:r>
            <a:r>
              <a:rPr lang="zh-CN" altLang="en-US" sz="2000" dirty="0">
                <a:latin typeface="+mn-lt"/>
                <a:ea typeface="微软雅黑" pitchFamily="34" charset="-122"/>
                <a:cs typeface="Times New Roman" pitchFamily="18" charset="0"/>
              </a:rPr>
              <a:t>重叠</a:t>
            </a:r>
            <a:r>
              <a:rPr lang="en-US" altLang="zh-CN" sz="2000" dirty="0">
                <a:latin typeface="+mn-lt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en-US" altLang="zh-CN" sz="2000" dirty="0">
                <a:latin typeface="华文中宋" pitchFamily="2" charset="-122"/>
                <a:ea typeface="华文中宋" pitchFamily="2" charset="-122"/>
              </a:rPr>
              <a:t>—— </a:t>
            </a:r>
            <a:r>
              <a:rPr lang="zh-CN" altLang="en-US" sz="2000" kern="0" dirty="0">
                <a:latin typeface="+mn-lt"/>
                <a:ea typeface="微软雅黑" pitchFamily="34" charset="-122"/>
              </a:rPr>
              <a:t>提高了频率利用率和 总传输速率</a:t>
            </a:r>
            <a:r>
              <a:rPr lang="zh-CN" altLang="en-US" sz="2000" kern="0" dirty="0">
                <a:latin typeface="华文中宋" pitchFamily="2" charset="-122"/>
                <a:ea typeface="华文中宋" pitchFamily="2" charset="-122"/>
              </a:rPr>
              <a:t>；</a:t>
            </a:r>
          </a:p>
        </p:txBody>
      </p:sp>
      <p:grpSp>
        <p:nvGrpSpPr>
          <p:cNvPr id="2" name="组合 57"/>
          <p:cNvGrpSpPr>
            <a:grpSpLocks/>
          </p:cNvGrpSpPr>
          <p:nvPr/>
        </p:nvGrpSpPr>
        <p:grpSpPr bwMode="auto">
          <a:xfrm>
            <a:off x="642938" y="4286250"/>
            <a:ext cx="1189037" cy="571500"/>
            <a:chOff x="2597112" y="3343278"/>
            <a:chExt cx="1188743" cy="514354"/>
          </a:xfrm>
        </p:grpSpPr>
        <p:sp>
          <p:nvSpPr>
            <p:cNvPr id="14" name="椭圆 13"/>
            <p:cNvSpPr/>
            <p:nvPr/>
          </p:nvSpPr>
          <p:spPr bwMode="auto">
            <a:xfrm>
              <a:off x="2643138" y="3343278"/>
              <a:ext cx="1142717" cy="514354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15" name="矩形 16"/>
            <p:cNvSpPr>
              <a:spLocks noChangeArrowheads="1"/>
            </p:cNvSpPr>
            <p:nvPr/>
          </p:nvSpPr>
          <p:spPr bwMode="auto">
            <a:xfrm>
              <a:off x="2597112" y="3386141"/>
              <a:ext cx="1188743" cy="471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SzPct val="84000"/>
                <a:defRPr/>
              </a:pPr>
              <a:r>
                <a:rPr lang="zh-CN" altLang="en-US" sz="2800" b="1" kern="0" dirty="0">
                  <a:solidFill>
                    <a:srgbClr val="0000CC"/>
                  </a:solidFill>
                  <a:latin typeface="Arial"/>
                  <a:ea typeface="黑体" pitchFamily="2" charset="-122"/>
                </a:rPr>
                <a:t>  </a:t>
              </a:r>
              <a:r>
                <a:rPr lang="zh-CN" altLang="en-US" sz="2800" kern="0" dirty="0">
                  <a:solidFill>
                    <a:srgbClr val="990099"/>
                  </a:solidFill>
                  <a:latin typeface="隶书" pitchFamily="49" charset="-122"/>
                  <a:ea typeface="隶书" pitchFamily="49" charset="-122"/>
                </a:rPr>
                <a:t>特点</a:t>
              </a:r>
              <a:endParaRPr lang="zh-CN" altLang="en-US" sz="2800" dirty="0">
                <a:solidFill>
                  <a:srgbClr val="990099"/>
                </a:solidFill>
                <a:ea typeface="宋体" charset="-122"/>
              </a:endParaRPr>
            </a:p>
          </p:txBody>
        </p:sp>
      </p:grpSp>
      <p:sp>
        <p:nvSpPr>
          <p:cNvPr id="16" name="矩形 16"/>
          <p:cNvSpPr>
            <a:spLocks noChangeArrowheads="1"/>
          </p:cNvSpPr>
          <p:nvPr/>
        </p:nvSpPr>
        <p:spPr bwMode="auto">
          <a:xfrm>
            <a:off x="828196" y="1785926"/>
            <a:ext cx="500066" cy="1426031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>
              <a:lnSpc>
                <a:spcPts val="2600"/>
              </a:lnSpc>
              <a:buSzPct val="84000"/>
              <a:defRPr/>
            </a:pPr>
            <a:r>
              <a:rPr lang="zh-CN" altLang="en-US" sz="2800" dirty="0">
                <a:solidFill>
                  <a:srgbClr val="0000CC"/>
                </a:solidFill>
                <a:latin typeface="隶书" pitchFamily="49" charset="-122"/>
                <a:ea typeface="隶书" pitchFamily="49" charset="-122"/>
              </a:rPr>
              <a:t>设计思想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754880" y="2614613"/>
            <a:ext cx="3817620" cy="461665"/>
          </a:xfrm>
          <a:prstGeom prst="rect">
            <a:avLst/>
          </a:prstGeom>
          <a:noFill/>
          <a:ln w="9525">
            <a:solidFill>
              <a:srgbClr val="990099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子信道的均衡也相对容易</a:t>
            </a:r>
            <a:endParaRPr lang="zh-CN" altLang="en-US" dirty="0">
              <a:solidFill>
                <a:srgbClr val="00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02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uild="allAtOnce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85813" y="1071563"/>
            <a:ext cx="7772400" cy="2357437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228600" indent="-228600">
              <a:lnSpc>
                <a:spcPts val="33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2400" kern="0" dirty="0">
                <a:solidFill>
                  <a:srgbClr val="000099"/>
                </a:solidFill>
                <a:latin typeface="+mn-lt"/>
                <a:ea typeface="微软雅黑" pitchFamily="34" charset="-122"/>
                <a:cs typeface="Arial" pitchFamily="34" charset="0"/>
                <a:sym typeface="Symbol" pitchFamily="18" charset="2"/>
              </a:rPr>
              <a:t>  </a:t>
            </a:r>
            <a:r>
              <a:rPr lang="zh-CN" altLang="en-US" sz="2400" kern="0" dirty="0">
                <a:solidFill>
                  <a:srgbClr val="0000CC"/>
                </a:solidFill>
                <a:latin typeface="+mn-lt"/>
                <a:ea typeface="微软雅黑" pitchFamily="34" charset="-122"/>
                <a:cs typeface="Arial" pitchFamily="34" charset="0"/>
                <a:sym typeface="Symbol" pitchFamily="18" charset="2"/>
              </a:rPr>
              <a:t> </a:t>
            </a:r>
            <a:r>
              <a:rPr lang="en-US" altLang="zh-CN" sz="2400" dirty="0">
                <a:solidFill>
                  <a:srgbClr val="990099"/>
                </a:solidFill>
                <a:latin typeface="Arial" pitchFamily="34" charset="0"/>
                <a:ea typeface="宋体" charset="-122"/>
                <a:cs typeface="Arial" pitchFamily="34" charset="0"/>
                <a:sym typeface="Symbol" pitchFamily="18" charset="2"/>
              </a:rPr>
              <a:t></a:t>
            </a:r>
            <a:r>
              <a:rPr lang="en-US" altLang="zh-CN" sz="2400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  <a:sym typeface="Symbol" pitchFamily="18" charset="2"/>
              </a:rPr>
              <a:t> </a:t>
            </a:r>
            <a:r>
              <a:rPr lang="zh-CN" altLang="en-US" sz="2000" kern="0" dirty="0">
                <a:ea typeface="微软雅黑" pitchFamily="34" charset="-122"/>
              </a:rPr>
              <a:t>各路已调信号是严格</a:t>
            </a:r>
            <a:r>
              <a:rPr lang="zh-CN" altLang="en-US" sz="2000" kern="0" dirty="0">
                <a:solidFill>
                  <a:srgbClr val="0000CC"/>
                </a:solidFill>
                <a:ea typeface="微软雅黑" pitchFamily="34" charset="-122"/>
              </a:rPr>
              <a:t>正交</a:t>
            </a:r>
            <a:r>
              <a:rPr lang="zh-CN" altLang="en-US" sz="2000" kern="0" dirty="0">
                <a:ea typeface="微软雅黑" pitchFamily="34" charset="-122"/>
              </a:rPr>
              <a:t>的 </a:t>
            </a:r>
            <a:endParaRPr lang="en-US" altLang="zh-CN" sz="2000" kern="0" dirty="0">
              <a:ea typeface="微软雅黑" pitchFamily="34" charset="-122"/>
            </a:endParaRPr>
          </a:p>
          <a:p>
            <a:pPr marL="228600" indent="-228600">
              <a:lnSpc>
                <a:spcPts val="33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en-US" altLang="zh-CN" sz="2000" kern="0" dirty="0">
                <a:ea typeface="微软雅黑" pitchFamily="34" charset="-122"/>
              </a:rPr>
              <a:t>——</a:t>
            </a:r>
            <a:r>
              <a:rPr lang="zh-CN" altLang="en-US" sz="2000" kern="0" dirty="0">
                <a:ea typeface="微软雅黑" pitchFamily="34" charset="-122"/>
              </a:rPr>
              <a:t>便于接收端</a:t>
            </a:r>
            <a:r>
              <a:rPr lang="zh-CN" altLang="en-US" sz="2000" kern="0" dirty="0">
                <a:solidFill>
                  <a:srgbClr val="0000CC"/>
                </a:solidFill>
                <a:ea typeface="微软雅黑" pitchFamily="34" charset="-122"/>
              </a:rPr>
              <a:t>分离</a:t>
            </a:r>
            <a:r>
              <a:rPr lang="zh-CN" altLang="en-US" sz="2000" kern="0" dirty="0">
                <a:ea typeface="微软雅黑" pitchFamily="34" charset="-122"/>
              </a:rPr>
              <a:t>各路信号，</a:t>
            </a:r>
            <a:r>
              <a:rPr lang="zh-CN" altLang="en-US" sz="2000" dirty="0">
                <a:ea typeface="微软雅黑" pitchFamily="34" charset="-122"/>
              </a:rPr>
              <a:t>减少子信道之间的相互干扰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latin typeface="+mn-lt"/>
                <a:ea typeface="微软雅黑" pitchFamily="34" charset="-122"/>
              </a:rPr>
              <a:t>ICI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；</a:t>
            </a:r>
            <a:endParaRPr lang="en-US" altLang="zh-CN" sz="2000" dirty="0">
              <a:ea typeface="微软雅黑" pitchFamily="34" charset="-122"/>
            </a:endParaRPr>
          </a:p>
          <a:p>
            <a:pPr marL="228600" indent="-228600">
              <a:lnSpc>
                <a:spcPts val="33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000" kern="0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>
                <a:solidFill>
                  <a:srgbClr val="990099"/>
                </a:solidFill>
                <a:latin typeface="Arial" pitchFamily="34" charset="0"/>
                <a:ea typeface="宋体" charset="-122"/>
                <a:cs typeface="Arial" pitchFamily="34" charset="0"/>
                <a:sym typeface="Symbol" pitchFamily="18" charset="2"/>
              </a:rPr>
              <a:t></a:t>
            </a:r>
            <a:r>
              <a:rPr lang="en-US" altLang="zh-CN" sz="2400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  <a:sym typeface="Symbol" pitchFamily="18" charset="2"/>
              </a:rPr>
              <a:t> </a:t>
            </a: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每路子载波的调制制度可以不同</a:t>
            </a:r>
            <a:endParaRPr lang="en-US" altLang="zh-CN" sz="2000" kern="0" dirty="0"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ts val="33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en-US" altLang="zh-CN" sz="2000" kern="0" dirty="0">
                <a:ea typeface="微软雅黑" pitchFamily="34" charset="-122"/>
              </a:rPr>
              <a:t>——</a:t>
            </a: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根据每个子载波处信道特性的优劣不同采用不同的体制。</a:t>
            </a:r>
            <a:endParaRPr lang="zh-CN" altLang="en-US" sz="2400" kern="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785813" y="4186238"/>
            <a:ext cx="7772400" cy="210026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228600" lvl="1" indent="-228600">
              <a:lnSpc>
                <a:spcPts val="35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2000" kern="0" dirty="0">
                <a:solidFill>
                  <a:srgbClr val="000099"/>
                </a:solidFill>
                <a:latin typeface="+mn-lt"/>
                <a:ea typeface="微软雅黑" pitchFamily="34" charset="-122"/>
                <a:cs typeface="Arial" pitchFamily="34" charset="0"/>
                <a:sym typeface="Symbol" pitchFamily="18" charset="2"/>
              </a:rPr>
              <a:t>    </a:t>
            </a:r>
            <a:r>
              <a:rPr lang="en-US" altLang="zh-CN" sz="2400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  <a:sym typeface="Symbol" pitchFamily="18" charset="2"/>
              </a:rPr>
              <a:t>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对信道产生的频率偏移和相位噪声很敏感</a:t>
            </a: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；</a:t>
            </a:r>
            <a:endParaRPr lang="zh-CN" altLang="en-US" sz="2000" kern="0" dirty="0">
              <a:latin typeface="微软雅黑" pitchFamily="34" charset="-122"/>
              <a:ea typeface="微软雅黑" pitchFamily="34" charset="-122"/>
            </a:endParaRPr>
          </a:p>
          <a:p>
            <a:pPr marL="228600" lvl="1" indent="-228600">
              <a:lnSpc>
                <a:spcPts val="35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2400" kern="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  <a:sym typeface="Symbol" pitchFamily="18" charset="2"/>
              </a:rPr>
              <a:t>   </a:t>
            </a:r>
            <a:r>
              <a:rPr lang="en-US" altLang="zh-CN" sz="24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  <a:sym typeface="Symbol" pitchFamily="18" charset="2"/>
              </a:rPr>
              <a:t>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信号峰值功率和平均功率的比值较大，这将会降低射频功率放大器的效率</a:t>
            </a: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；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228600" lvl="1" indent="-228600">
              <a:lnSpc>
                <a:spcPts val="35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  <a:sym typeface="Symbol" pitchFamily="18" charset="2"/>
              </a:rPr>
              <a:t>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对同步要求严格。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228600" lvl="1" indent="-228600">
              <a:lnSpc>
                <a:spcPts val="3500"/>
              </a:lnSpc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0000"/>
              <a:defRPr/>
            </a:pPr>
            <a:endParaRPr lang="zh-CN" altLang="en-US" sz="2400" kern="0" dirty="0"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2" name="组合 57"/>
          <p:cNvGrpSpPr>
            <a:grpSpLocks/>
          </p:cNvGrpSpPr>
          <p:nvPr/>
        </p:nvGrpSpPr>
        <p:grpSpPr bwMode="auto">
          <a:xfrm>
            <a:off x="555625" y="3571875"/>
            <a:ext cx="1276350" cy="584200"/>
            <a:chOff x="2510047" y="3334582"/>
            <a:chExt cx="1275808" cy="526302"/>
          </a:xfrm>
        </p:grpSpPr>
        <p:sp>
          <p:nvSpPr>
            <p:cNvPr id="19" name="椭圆 18"/>
            <p:cNvSpPr/>
            <p:nvPr/>
          </p:nvSpPr>
          <p:spPr bwMode="auto">
            <a:xfrm>
              <a:off x="2643340" y="3343163"/>
              <a:ext cx="1142515" cy="514861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20" name="矩形 16"/>
            <p:cNvSpPr>
              <a:spLocks noChangeArrowheads="1"/>
            </p:cNvSpPr>
            <p:nvPr/>
          </p:nvSpPr>
          <p:spPr bwMode="auto">
            <a:xfrm>
              <a:off x="2510047" y="3334582"/>
              <a:ext cx="1188533" cy="526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SzPct val="84000"/>
                <a:defRPr/>
              </a:pPr>
              <a:r>
                <a:rPr lang="zh-CN" altLang="en-US" sz="2800" kern="0" dirty="0">
                  <a:solidFill>
                    <a:srgbClr val="0000CC"/>
                  </a:solidFill>
                  <a:latin typeface="隶书" pitchFamily="49" charset="-122"/>
                  <a:ea typeface="隶书" pitchFamily="49" charset="-122"/>
                </a:rPr>
                <a:t> </a:t>
              </a:r>
              <a:r>
                <a:rPr lang="zh-CN" altLang="en-US" sz="3200" kern="0" dirty="0">
                  <a:solidFill>
                    <a:srgbClr val="0000CC"/>
                  </a:solidFill>
                  <a:latin typeface="隶书" pitchFamily="49" charset="-122"/>
                  <a:ea typeface="隶书" pitchFamily="49" charset="-122"/>
                </a:rPr>
                <a:t>缺点</a:t>
              </a:r>
              <a:r>
                <a:rPr lang="zh-CN" altLang="en-US" sz="3200" kern="0" dirty="0">
                  <a:solidFill>
                    <a:srgbClr val="0000CC"/>
                  </a:solidFill>
                  <a:latin typeface="Arial"/>
                  <a:ea typeface="黑体" pitchFamily="2" charset="-122"/>
                </a:rPr>
                <a:t>：</a:t>
              </a:r>
              <a:endParaRPr lang="zh-CN" altLang="en-US" sz="3200" dirty="0">
                <a:solidFill>
                  <a:srgbClr val="990099"/>
                </a:solidFill>
                <a:ea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76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5" name="Rectangle 3"/>
          <p:cNvSpPr txBox="1">
            <a:spLocks noChangeArrowheads="1"/>
          </p:cNvSpPr>
          <p:nvPr/>
        </p:nvSpPr>
        <p:spPr bwMode="auto">
          <a:xfrm>
            <a:off x="0" y="428625"/>
            <a:ext cx="7358063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00000"/>
              </a:buClr>
              <a:buSzPct val="65000"/>
            </a:pPr>
            <a:r>
              <a:rPr lang="en-US" altLang="en-US" sz="3200" b="1">
                <a:solidFill>
                  <a:srgbClr val="000099"/>
                </a:solidFill>
                <a:cs typeface="Arial" panose="020B0604020202020204" pitchFamily="34" charset="0"/>
              </a:rPr>
              <a:t>§</a:t>
            </a:r>
            <a:r>
              <a:rPr lang="en-US" altLang="en-US" sz="3200" b="1">
                <a:solidFill>
                  <a:srgbClr val="00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en-US" altLang="zh-CN" sz="3200" b="1">
                <a:solidFill>
                  <a:srgbClr val="00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.3.</a:t>
            </a:r>
            <a:r>
              <a:rPr lang="en-US" altLang="zh-CN" sz="3200" b="1">
                <a:solidFill>
                  <a:srgbClr val="99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2  </a:t>
            </a:r>
            <a:r>
              <a:rPr lang="en-US" altLang="zh-CN" sz="2800" b="1">
                <a:solidFill>
                  <a:srgbClr val="000099"/>
                </a:solidFill>
              </a:rPr>
              <a:t>OFDM</a:t>
            </a:r>
            <a:r>
              <a:rPr lang="zh-CN" altLang="en-US" sz="28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的基本原理</a:t>
            </a:r>
            <a:endParaRPr lang="en-US" altLang="zh-CN" sz="28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0413" y="1143000"/>
            <a:ext cx="1811337" cy="461963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 表 示 式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927100" y="1814513"/>
            <a:ext cx="748538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设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OFDM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系统中有</a:t>
            </a:r>
            <a:r>
              <a:rPr lang="en-US" altLang="zh-CN" sz="2000" i="1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个子信道，每个子信道采用的</a:t>
            </a:r>
            <a:r>
              <a:rPr lang="zh-CN" altLang="en-US" sz="20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</a:rPr>
              <a:t>子载波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为：</a:t>
            </a:r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1785938" y="2357438"/>
          <a:ext cx="63674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08080" imgH="228600" progId="Equation.3">
                  <p:embed/>
                </p:oleObj>
              </mc:Choice>
              <mc:Fallback>
                <p:oleObj name="公式" r:id="rId2" imgW="29080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2357438"/>
                        <a:ext cx="6367462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928688" y="2928938"/>
            <a:ext cx="7929562" cy="990600"/>
          </a:xfrm>
          <a:prstGeom prst="rect">
            <a:avLst/>
          </a:prstGeom>
          <a:noFill/>
          <a:effectLst/>
        </p:spPr>
        <p:txBody>
          <a:bodyPr>
            <a:spAutoFit/>
          </a:bodyPr>
          <a:lstStyle/>
          <a:p>
            <a:pPr>
              <a:lnSpc>
                <a:spcPts val="35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latin typeface="+mn-lt"/>
                <a:ea typeface="微软雅黑" pitchFamily="34" charset="-122"/>
              </a:rPr>
              <a:t>式中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en-US" altLang="zh-CN" sz="2000" b="1" i="1" dirty="0" err="1">
                <a:latin typeface="+mn-lt"/>
                <a:ea typeface="微软雅黑" pitchFamily="34" charset="-122"/>
              </a:rPr>
              <a:t>B</a:t>
            </a:r>
            <a:r>
              <a:rPr lang="en-US" altLang="zh-CN" sz="2000" b="1" i="1" baseline="-25000" dirty="0" err="1">
                <a:latin typeface="+mn-lt"/>
                <a:ea typeface="微软雅黑" pitchFamily="34" charset="-122"/>
              </a:rPr>
              <a:t>k</a:t>
            </a:r>
            <a:r>
              <a:rPr lang="en-US" altLang="zh-CN" sz="2000" b="1" dirty="0">
                <a:latin typeface="+mn-lt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+mn-lt"/>
                <a:ea typeface="微软雅黑" pitchFamily="34" charset="-122"/>
              </a:rPr>
              <a:t>、</a:t>
            </a:r>
            <a:r>
              <a:rPr lang="en-US" altLang="zh-CN" sz="2000" b="1" i="1" dirty="0" err="1">
                <a:latin typeface="+mn-lt"/>
                <a:ea typeface="微软雅黑" pitchFamily="34" charset="-122"/>
              </a:rPr>
              <a:t>f</a:t>
            </a:r>
            <a:r>
              <a:rPr lang="en-US" altLang="zh-CN" sz="2000" b="1" i="1" baseline="-25000" dirty="0" err="1">
                <a:latin typeface="+mn-lt"/>
                <a:ea typeface="微软雅黑" pitchFamily="34" charset="-122"/>
              </a:rPr>
              <a:t>k</a:t>
            </a:r>
            <a:r>
              <a:rPr lang="zh-CN" altLang="en-US" sz="2000" b="1" dirty="0">
                <a:latin typeface="+mn-lt"/>
                <a:ea typeface="微软雅黑" pitchFamily="34" charset="-122"/>
              </a:rPr>
              <a:t>、</a:t>
            </a:r>
            <a:r>
              <a:rPr lang="zh-CN" altLang="en-US" sz="2000" b="1" i="1" dirty="0">
                <a:latin typeface="+mn-lt"/>
                <a:ea typeface="微软雅黑" pitchFamily="34" charset="-122"/>
                <a:sym typeface="Symbol" pitchFamily="18" charset="2"/>
              </a:rPr>
              <a:t></a:t>
            </a:r>
            <a:r>
              <a:rPr lang="en-US" altLang="zh-CN" sz="2000" b="1" i="1" baseline="-25000" dirty="0">
                <a:latin typeface="+mn-lt"/>
                <a:ea typeface="微软雅黑" pitchFamily="34" charset="-122"/>
              </a:rPr>
              <a:t>k</a:t>
            </a:r>
            <a:r>
              <a:rPr lang="en-US" altLang="zh-CN" sz="2000" b="1" dirty="0">
                <a:latin typeface="+mn-lt"/>
                <a:ea typeface="微软雅黑" pitchFamily="34" charset="-122"/>
              </a:rPr>
              <a:t> 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－分别为 第</a:t>
            </a:r>
            <a:r>
              <a:rPr lang="en-US" altLang="zh-CN" sz="2000" i="1" dirty="0">
                <a:latin typeface="+mn-lt"/>
                <a:ea typeface="微软雅黑" pitchFamily="34" charset="-122"/>
              </a:rPr>
              <a:t>k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路子载波的振幅、频率、初始相位</a:t>
            </a:r>
            <a:r>
              <a:rPr lang="zh-CN" altLang="en-US" sz="2000" dirty="0">
                <a:latin typeface="+mn-ea"/>
                <a:ea typeface="+mn-ea"/>
              </a:rPr>
              <a:t>；</a:t>
            </a:r>
            <a:r>
              <a:rPr lang="zh-CN" altLang="en-US" sz="2000" i="1" dirty="0">
                <a:latin typeface="+mn-ea"/>
                <a:ea typeface="+mn-ea"/>
              </a:rPr>
              <a:t>     </a:t>
            </a:r>
            <a:endParaRPr lang="en-US" altLang="zh-CN" sz="2000" i="1" dirty="0">
              <a:latin typeface="+mn-ea"/>
              <a:ea typeface="+mn-ea"/>
            </a:endParaRPr>
          </a:p>
          <a:p>
            <a:pPr>
              <a:lnSpc>
                <a:spcPts val="3500"/>
              </a:lnSpc>
              <a:defRPr/>
            </a:pPr>
            <a:r>
              <a:rPr lang="en-US" altLang="zh-CN" sz="2000" b="1" i="1" dirty="0">
                <a:latin typeface="+mn-lt"/>
                <a:ea typeface="微软雅黑" pitchFamily="34" charset="-122"/>
              </a:rPr>
              <a:t>           </a:t>
            </a:r>
            <a:r>
              <a:rPr lang="en-US" altLang="zh-CN" sz="2000" b="1" i="1" dirty="0" err="1">
                <a:latin typeface="+mn-lt"/>
                <a:ea typeface="微软雅黑" pitchFamily="34" charset="-122"/>
              </a:rPr>
              <a:t>B</a:t>
            </a:r>
            <a:r>
              <a:rPr lang="en-US" altLang="zh-CN" sz="2000" b="1" i="1" baseline="-25000" dirty="0" err="1">
                <a:latin typeface="+mn-lt"/>
                <a:ea typeface="微软雅黑" pitchFamily="34" charset="-122"/>
              </a:rPr>
              <a:t>k</a:t>
            </a:r>
            <a:r>
              <a:rPr lang="en-US" altLang="zh-CN" sz="2000" b="1" i="1" baseline="-25000" dirty="0">
                <a:latin typeface="+mn-lt"/>
                <a:ea typeface="微软雅黑" pitchFamily="34" charset="-122"/>
              </a:rPr>
              <a:t>  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受基带码元的调制。则此系统中的 </a:t>
            </a:r>
            <a:r>
              <a:rPr lang="en-US" altLang="zh-CN" sz="2000" b="1" i="1" dirty="0">
                <a:solidFill>
                  <a:srgbClr val="990099"/>
                </a:solidFill>
                <a:latin typeface="+mj-lt"/>
                <a:ea typeface="微软雅黑" pitchFamily="34" charset="-122"/>
              </a:rPr>
              <a:t>N </a:t>
            </a:r>
            <a:r>
              <a:rPr lang="zh-CN" altLang="en-US" sz="2000" b="1" dirty="0">
                <a:solidFill>
                  <a:srgbClr val="990099"/>
                </a:solidFill>
                <a:latin typeface="+mj-lt"/>
                <a:ea typeface="微软雅黑" pitchFamily="34" charset="-122"/>
              </a:rPr>
              <a:t>路子信号之和</a:t>
            </a:r>
            <a:r>
              <a:rPr lang="zh-CN" altLang="en-US" sz="2000" dirty="0">
                <a:ea typeface="宋体" charset="-122"/>
              </a:rPr>
              <a:t>为：</a:t>
            </a:r>
            <a:endParaRPr lang="zh-CN" altLang="en-US" sz="2000" dirty="0">
              <a:latin typeface="+mn-lt"/>
              <a:ea typeface="微软雅黑" pitchFamily="34" charset="-122"/>
            </a:endParaRPr>
          </a:p>
        </p:txBody>
      </p:sp>
      <p:graphicFrame>
        <p:nvGraphicFramePr>
          <p:cNvPr id="72710" name="Object 6"/>
          <p:cNvGraphicFramePr>
            <a:graphicFrameLocks noChangeAspect="1"/>
          </p:cNvGraphicFramePr>
          <p:nvPr/>
        </p:nvGraphicFramePr>
        <p:xfrm>
          <a:off x="2652713" y="3929063"/>
          <a:ext cx="45624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86000" imgH="431640" progId="Equation.3">
                  <p:embed/>
                </p:oleObj>
              </mc:Choice>
              <mc:Fallback>
                <p:oleObj name="公式" r:id="rId4" imgW="2286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713" y="3929063"/>
                        <a:ext cx="4562475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971550" y="4895850"/>
            <a:ext cx="16779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可改写成：</a:t>
            </a:r>
          </a:p>
        </p:txBody>
      </p:sp>
      <p:graphicFrame>
        <p:nvGraphicFramePr>
          <p:cNvPr id="2" name="Object 9"/>
          <p:cNvGraphicFramePr>
            <a:graphicFrameLocks noChangeAspect="1"/>
          </p:cNvGraphicFramePr>
          <p:nvPr/>
        </p:nvGraphicFramePr>
        <p:xfrm>
          <a:off x="3189288" y="4940300"/>
          <a:ext cx="28114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33440" imgH="431640" progId="Equation.3">
                  <p:embed/>
                </p:oleObj>
              </mc:Choice>
              <mc:Fallback>
                <p:oleObj name="公式" r:id="rId6" imgW="13334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8" y="4940300"/>
                        <a:ext cx="2811462" cy="9017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914400" y="6007100"/>
            <a:ext cx="6858000" cy="400050"/>
          </a:xfrm>
          <a:prstGeom prst="rect">
            <a:avLst/>
          </a:prstGeom>
          <a:noFill/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+mn-lt"/>
                <a:ea typeface="微软雅黑" pitchFamily="34" charset="-122"/>
              </a:rPr>
              <a:t>式中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en-US" altLang="zh-CN" sz="2000" b="1" i="1" dirty="0" err="1">
                <a:latin typeface="+mn-lt"/>
                <a:ea typeface="微软雅黑" pitchFamily="34" charset="-122"/>
              </a:rPr>
              <a:t>B</a:t>
            </a:r>
            <a:r>
              <a:rPr lang="en-US" altLang="zh-CN" sz="2000" i="1" baseline="-25000" dirty="0" err="1">
                <a:latin typeface="+mn-lt"/>
                <a:ea typeface="微软雅黑" pitchFamily="34" charset="-122"/>
              </a:rPr>
              <a:t>k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是一个复数，为第</a:t>
            </a:r>
            <a:r>
              <a:rPr lang="en-US" altLang="zh-CN" sz="2000" i="1" dirty="0">
                <a:latin typeface="+mn-lt"/>
                <a:ea typeface="微软雅黑" pitchFamily="34" charset="-122"/>
              </a:rPr>
              <a:t>k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路子信道中的复输入数据。</a:t>
            </a:r>
          </a:p>
        </p:txBody>
      </p:sp>
    </p:spTree>
    <p:extLst>
      <p:ext uri="{BB962C8B-B14F-4D97-AF65-F5344CB8AC3E}">
        <p14:creationId xmlns:p14="http://schemas.microsoft.com/office/powerpoint/2010/main" val="306713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5" grpId="0"/>
      <p:bldP spid="7" grpId="0" animBg="1"/>
      <p:bldP spid="8" grpId="0"/>
      <p:bldP spid="10" grpId="0"/>
      <p:bldP spid="14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785813" y="3357563"/>
          <a:ext cx="7858125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254480" imgH="393480" progId="Equation.3">
                  <p:embed/>
                </p:oleObj>
              </mc:Choice>
              <mc:Fallback>
                <p:oleObj name="公式" r:id="rId2" imgW="4254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3357563"/>
                        <a:ext cx="7858125" cy="681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矩形 9"/>
          <p:cNvSpPr>
            <a:spLocks noChangeArrowheads="1"/>
          </p:cNvSpPr>
          <p:nvPr/>
        </p:nvSpPr>
        <p:spPr bwMode="auto">
          <a:xfrm>
            <a:off x="1571625" y="2876550"/>
            <a:ext cx="3905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endParaRPr lang="zh-CN" altLang="en-US" sz="1600"/>
          </a:p>
        </p:txBody>
      </p:sp>
      <p:sp>
        <p:nvSpPr>
          <p:cNvPr id="9" name="矩形 8"/>
          <p:cNvSpPr/>
          <p:nvPr/>
        </p:nvSpPr>
        <p:spPr>
          <a:xfrm>
            <a:off x="760413" y="1071563"/>
            <a:ext cx="1739900" cy="46196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正交条件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071563" y="1571625"/>
            <a:ext cx="7215187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为了使这 </a:t>
            </a:r>
            <a:r>
              <a:rPr lang="en-US" altLang="zh-CN" sz="2400" b="1" i="1" dirty="0">
                <a:ea typeface="微软雅黑" pitchFamily="34" charset="-122"/>
              </a:rPr>
              <a:t>N</a:t>
            </a:r>
            <a:r>
              <a:rPr lang="en-US" altLang="zh-CN" sz="2000" b="1" i="1" dirty="0">
                <a:ea typeface="微软雅黑" pitchFamily="34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路子信道信号在接收时能够完全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分离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，要求它们满足正交条件。在</a:t>
            </a:r>
            <a:r>
              <a:rPr lang="en-US" altLang="zh-CN" sz="2400" b="1" i="1" dirty="0">
                <a:ea typeface="微软雅黑" pitchFamily="34" charset="-122"/>
              </a:rPr>
              <a:t>T</a:t>
            </a:r>
            <a:r>
              <a:rPr lang="en-US" altLang="zh-CN" sz="2400" b="1" baseline="-25000" dirty="0">
                <a:ea typeface="微软雅黑" pitchFamily="34" charset="-122"/>
              </a:rPr>
              <a:t>B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内</a:t>
            </a:r>
            <a:r>
              <a:rPr lang="zh-CN" altLang="en-US" sz="2000" dirty="0">
                <a:latin typeface="+mn-ea"/>
                <a:ea typeface="宋体" charset="-122"/>
              </a:rPr>
              <a:t>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任意两个子载波都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正交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的条件是</a:t>
            </a:r>
            <a:r>
              <a:rPr lang="zh-CN" altLang="en-US" sz="2000" dirty="0">
                <a:latin typeface="+mn-ea"/>
                <a:ea typeface="宋体" charset="-122"/>
              </a:rPr>
              <a:t>：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1790700" y="4786313"/>
          <a:ext cx="6781800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81280" imgH="888840" progId="Equation.3">
                  <p:embed/>
                </p:oleObj>
              </mc:Choice>
              <mc:Fallback>
                <p:oleObj name="公式" r:id="rId4" imgW="35812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4786313"/>
                        <a:ext cx="6781800" cy="163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065213" y="4214813"/>
            <a:ext cx="17922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000" dirty="0">
                <a:ea typeface="微软雅黑" pitchFamily="34" charset="-122"/>
              </a:rPr>
              <a:t> 积分结果为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777" name="Freeform 12"/>
          <p:cNvSpPr>
            <a:spLocks noEditPoints="1"/>
          </p:cNvSpPr>
          <p:nvPr/>
        </p:nvSpPr>
        <p:spPr bwMode="auto">
          <a:xfrm rot="1034563" flipH="1" flipV="1">
            <a:off x="1778000" y="2971800"/>
            <a:ext cx="609600" cy="520700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9993" name="Object 9"/>
          <p:cNvGraphicFramePr>
            <a:graphicFrameLocks noChangeAspect="1"/>
          </p:cNvGraphicFramePr>
          <p:nvPr/>
        </p:nvGraphicFramePr>
        <p:xfrm>
          <a:off x="2571750" y="2643188"/>
          <a:ext cx="4643438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330120" progId="Equation.DSMT4">
                  <p:embed/>
                </p:oleObj>
              </mc:Choice>
              <mc:Fallback>
                <p:oleObj name="Equation" r:id="rId6" imgW="2463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2643188"/>
                        <a:ext cx="4643438" cy="61753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091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9" grpId="0" animBg="1"/>
      <p:bldP spid="10" grpId="0"/>
      <p:bldP spid="13" grpId="0"/>
      <p:bldP spid="3277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81" name="Object 5"/>
          <p:cNvGraphicFramePr>
            <a:graphicFrameLocks noChangeAspect="1"/>
          </p:cNvGraphicFramePr>
          <p:nvPr/>
        </p:nvGraphicFramePr>
        <p:xfrm>
          <a:off x="2500313" y="1643063"/>
          <a:ext cx="49149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47840" imgH="228600" progId="Equation.3">
                  <p:embed/>
                </p:oleObj>
              </mc:Choice>
              <mc:Fallback>
                <p:oleObj name="公式" r:id="rId2" imgW="2247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1643063"/>
                        <a:ext cx="4914900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857250" y="2314575"/>
            <a:ext cx="65722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+mn-lt"/>
                <a:ea typeface="微软雅黑" pitchFamily="34" charset="-122"/>
              </a:rPr>
              <a:t>其中，</a:t>
            </a:r>
            <a:r>
              <a:rPr lang="en-US" altLang="zh-CN" sz="2000" i="1" dirty="0">
                <a:latin typeface="+mn-lt"/>
                <a:ea typeface="微软雅黑" pitchFamily="34" charset="-122"/>
              </a:rPr>
              <a:t>m</a:t>
            </a:r>
            <a:r>
              <a:rPr lang="en-US" altLang="zh-CN" sz="2000" dirty="0">
                <a:latin typeface="+mn-lt"/>
                <a:ea typeface="微软雅黑" pitchFamily="34" charset="-122"/>
              </a:rPr>
              <a:t> = 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整数和</a:t>
            </a:r>
            <a:r>
              <a:rPr lang="en-US" altLang="zh-CN" sz="2000" i="1" dirty="0">
                <a:latin typeface="+mn-lt"/>
                <a:ea typeface="微软雅黑" pitchFamily="34" charset="-122"/>
              </a:rPr>
              <a:t>n</a:t>
            </a:r>
            <a:r>
              <a:rPr lang="en-US" altLang="zh-CN" sz="2000" dirty="0">
                <a:latin typeface="+mn-lt"/>
                <a:ea typeface="微软雅黑" pitchFamily="34" charset="-122"/>
              </a:rPr>
              <a:t> = 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整数；并且</a:t>
            </a:r>
            <a:r>
              <a:rPr lang="zh-CN" altLang="en-US" sz="2000" i="1" dirty="0">
                <a:latin typeface="+mn-lt"/>
                <a:ea typeface="微软雅黑" pitchFamily="34" charset="-122"/>
                <a:sym typeface="Symbol" pitchFamily="18" charset="2"/>
              </a:rPr>
              <a:t></a:t>
            </a:r>
            <a:r>
              <a:rPr lang="en-US" altLang="zh-CN" sz="2000" baseline="-25000" dirty="0">
                <a:latin typeface="+mn-lt"/>
                <a:ea typeface="微软雅黑" pitchFamily="34" charset="-122"/>
              </a:rPr>
              <a:t>k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和</a:t>
            </a:r>
            <a:r>
              <a:rPr lang="zh-CN" altLang="en-US" sz="2000" i="1" dirty="0">
                <a:latin typeface="+mn-lt"/>
                <a:ea typeface="微软雅黑" pitchFamily="34" charset="-122"/>
                <a:sym typeface="Symbol" pitchFamily="18" charset="2"/>
              </a:rPr>
              <a:t></a:t>
            </a:r>
            <a:r>
              <a:rPr lang="en-US" altLang="zh-CN" sz="2000" baseline="-25000" dirty="0" err="1">
                <a:latin typeface="+mn-lt"/>
                <a:ea typeface="微软雅黑" pitchFamily="34" charset="-122"/>
              </a:rPr>
              <a:t>i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可以取任意值。</a:t>
            </a: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2214563" y="3000375"/>
          <a:ext cx="54705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01640" imgH="228600" progId="Equation.3">
                  <p:embed/>
                </p:oleObj>
              </mc:Choice>
              <mc:Fallback>
                <p:oleObj name="公式" r:id="rId4" imgW="25016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3000375"/>
                        <a:ext cx="5470525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065213" y="1071563"/>
            <a:ext cx="26495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000" dirty="0">
                <a:ea typeface="微软雅黑" pitchFamily="34" charset="-122"/>
              </a:rPr>
              <a:t>上式等于</a:t>
            </a:r>
            <a:r>
              <a:rPr lang="en-US" altLang="zh-CN" sz="2000" dirty="0">
                <a:ea typeface="微软雅黑" pitchFamily="34" charset="-122"/>
              </a:rPr>
              <a:t>0</a:t>
            </a:r>
            <a:r>
              <a:rPr lang="zh-CN" altLang="en-US" sz="2000" dirty="0">
                <a:ea typeface="微软雅黑" pitchFamily="34" charset="-122"/>
              </a:rPr>
              <a:t>的条件</a:t>
            </a:r>
            <a:r>
              <a:rPr lang="zh-CN" altLang="en-US" sz="2000" dirty="0">
                <a:latin typeface="+mn-ea"/>
                <a:ea typeface="宋体" charset="-122"/>
              </a:rPr>
              <a:t>：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799" name="Freeform 12"/>
          <p:cNvSpPr>
            <a:spLocks noEditPoints="1"/>
          </p:cNvSpPr>
          <p:nvPr/>
        </p:nvSpPr>
        <p:spPr bwMode="auto">
          <a:xfrm rot="2117483" flipV="1">
            <a:off x="7273925" y="1928813"/>
            <a:ext cx="708025" cy="673100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0" name="矩形 2"/>
          <p:cNvSpPr>
            <a:spLocks noChangeArrowheads="1"/>
          </p:cNvSpPr>
          <p:nvPr/>
        </p:nvSpPr>
        <p:spPr bwMode="auto">
          <a:xfrm>
            <a:off x="1071563" y="5672138"/>
            <a:ext cx="4214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这就是</a:t>
            </a:r>
            <a:r>
              <a:rPr lang="zh-CN" altLang="en-US" sz="2000" b="1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子载频正交的条件。 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071563" y="3651250"/>
            <a:ext cx="7215187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700"/>
              </a:lnSpc>
              <a:buClr>
                <a:srgbClr val="7F7F7F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即要求子载频满足 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en-US" altLang="zh-CN" sz="24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/2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，式中  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整数；且要求子载频间隔</a:t>
            </a:r>
            <a:r>
              <a:rPr lang="zh-CN" altLang="en-US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en-US" altLang="zh-CN" sz="24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– 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en-US" altLang="zh-CN" sz="24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故要求的</a:t>
            </a:r>
            <a:r>
              <a:rPr lang="zh-CN" altLang="en-US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最小</a:t>
            </a:r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子</a:t>
            </a:r>
            <a:r>
              <a:rPr lang="zh-CN" altLang="en-US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载频间隔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为：</a:t>
            </a:r>
          </a:p>
        </p:txBody>
      </p:sp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4037013" y="4886325"/>
          <a:ext cx="17494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228600" progId="Equation.DSMT4">
                  <p:embed/>
                </p:oleObj>
              </mc:Choice>
              <mc:Fallback>
                <p:oleObj name="Equation" r:id="rId6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013" y="4886325"/>
                        <a:ext cx="1749425" cy="5207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826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33799" grpId="0" animBg="1"/>
      <p:bldP spid="33800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17538" y="457200"/>
            <a:ext cx="3240087" cy="523875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lvl="2"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OFDM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的频域特性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370013" y="1857375"/>
            <a:ext cx="2701925" cy="1428750"/>
            <a:chOff x="2550" y="10845"/>
            <a:chExt cx="3316" cy="1695"/>
          </a:xfrm>
        </p:grpSpPr>
        <p:grpSp>
          <p:nvGrpSpPr>
            <p:cNvPr id="23587" name="Group 14"/>
            <p:cNvGrpSpPr>
              <a:grpSpLocks/>
            </p:cNvGrpSpPr>
            <p:nvPr/>
          </p:nvGrpSpPr>
          <p:grpSpPr bwMode="auto">
            <a:xfrm>
              <a:off x="2784" y="12126"/>
              <a:ext cx="2654" cy="414"/>
              <a:chOff x="2342" y="14691"/>
              <a:chExt cx="2654" cy="414"/>
            </a:xfrm>
          </p:grpSpPr>
          <p:sp>
            <p:nvSpPr>
              <p:cNvPr id="23602" name="Text Box 15"/>
              <p:cNvSpPr txBox="1">
                <a:spLocks noChangeArrowheads="1"/>
              </p:cNvSpPr>
              <p:nvPr/>
            </p:nvSpPr>
            <p:spPr bwMode="auto">
              <a:xfrm>
                <a:off x="3506" y="14691"/>
                <a:ext cx="738" cy="4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="1" baseline="-25000">
                    <a:latin typeface="Times New Roman" panose="02020603050405020304" pitchFamily="18" charset="0"/>
                  </a:rPr>
                  <a:t>B</a:t>
                </a:r>
                <a:endParaRPr lang="en-US" altLang="zh-CN" sz="3600" b="1"/>
              </a:p>
            </p:txBody>
          </p:sp>
          <p:grpSp>
            <p:nvGrpSpPr>
              <p:cNvPr id="23603" name="Group 16"/>
              <p:cNvGrpSpPr>
                <a:grpSpLocks/>
              </p:cNvGrpSpPr>
              <p:nvPr/>
            </p:nvGrpSpPr>
            <p:grpSpPr bwMode="auto">
              <a:xfrm>
                <a:off x="3982" y="14802"/>
                <a:ext cx="1014" cy="186"/>
                <a:chOff x="3982" y="14802"/>
                <a:chExt cx="1014" cy="186"/>
              </a:xfrm>
            </p:grpSpPr>
            <p:sp>
              <p:nvSpPr>
                <p:cNvPr id="23607" name="Line 17"/>
                <p:cNvSpPr>
                  <a:spLocks noChangeShapeType="1"/>
                </p:cNvSpPr>
                <p:nvPr/>
              </p:nvSpPr>
              <p:spPr bwMode="auto">
                <a:xfrm>
                  <a:off x="3982" y="14889"/>
                  <a:ext cx="101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08" name="Line 18"/>
                <p:cNvSpPr>
                  <a:spLocks noChangeShapeType="1"/>
                </p:cNvSpPr>
                <p:nvPr/>
              </p:nvSpPr>
              <p:spPr bwMode="auto">
                <a:xfrm>
                  <a:off x="4996" y="14802"/>
                  <a:ext cx="0" cy="18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04" name="Group 19"/>
              <p:cNvGrpSpPr>
                <a:grpSpLocks/>
              </p:cNvGrpSpPr>
              <p:nvPr/>
            </p:nvGrpSpPr>
            <p:grpSpPr bwMode="auto">
              <a:xfrm flipH="1">
                <a:off x="2342" y="14814"/>
                <a:ext cx="1014" cy="186"/>
                <a:chOff x="3982" y="14802"/>
                <a:chExt cx="1014" cy="186"/>
              </a:xfrm>
            </p:grpSpPr>
            <p:sp>
              <p:nvSpPr>
                <p:cNvPr id="23605" name="Line 20"/>
                <p:cNvSpPr>
                  <a:spLocks noChangeShapeType="1"/>
                </p:cNvSpPr>
                <p:nvPr/>
              </p:nvSpPr>
              <p:spPr bwMode="auto">
                <a:xfrm>
                  <a:off x="3982" y="14889"/>
                  <a:ext cx="101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06" name="Line 21"/>
                <p:cNvSpPr>
                  <a:spLocks noChangeShapeType="1"/>
                </p:cNvSpPr>
                <p:nvPr/>
              </p:nvSpPr>
              <p:spPr bwMode="auto">
                <a:xfrm>
                  <a:off x="4996" y="14802"/>
                  <a:ext cx="0" cy="18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3588" name="Group 22"/>
            <p:cNvGrpSpPr>
              <a:grpSpLocks/>
            </p:cNvGrpSpPr>
            <p:nvPr/>
          </p:nvGrpSpPr>
          <p:grpSpPr bwMode="auto">
            <a:xfrm>
              <a:off x="2794" y="10845"/>
              <a:ext cx="2637" cy="1320"/>
              <a:chOff x="2794" y="10845"/>
              <a:chExt cx="2637" cy="1320"/>
            </a:xfrm>
          </p:grpSpPr>
          <p:grpSp>
            <p:nvGrpSpPr>
              <p:cNvPr id="23591" name="Group 23"/>
              <p:cNvGrpSpPr>
                <a:grpSpLocks/>
              </p:cNvGrpSpPr>
              <p:nvPr/>
            </p:nvGrpSpPr>
            <p:grpSpPr bwMode="auto">
              <a:xfrm>
                <a:off x="3109" y="11497"/>
                <a:ext cx="1003" cy="668"/>
                <a:chOff x="2492" y="3255"/>
                <a:chExt cx="1498" cy="1290"/>
              </a:xfrm>
            </p:grpSpPr>
            <p:pic>
              <p:nvPicPr>
                <p:cNvPr id="23600" name="Picture 24" descr="多个余弦脉冲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05" t="16054" r="75555" b="34520"/>
                <a:stretch>
                  <a:fillRect/>
                </a:stretch>
              </p:blipFill>
              <p:spPr bwMode="auto">
                <a:xfrm flipV="1">
                  <a:off x="2492" y="3255"/>
                  <a:ext cx="508" cy="12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601" name="Picture 25" descr="多个余弦脉冲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05" t="16054" r="75555" b="34520"/>
                <a:stretch>
                  <a:fillRect/>
                </a:stretch>
              </p:blipFill>
              <p:spPr bwMode="auto">
                <a:xfrm flipV="1">
                  <a:off x="3482" y="3255"/>
                  <a:ext cx="508" cy="12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3592" name="Group 26"/>
              <p:cNvGrpSpPr>
                <a:grpSpLocks/>
              </p:cNvGrpSpPr>
              <p:nvPr/>
            </p:nvGrpSpPr>
            <p:grpSpPr bwMode="auto">
              <a:xfrm>
                <a:off x="2794" y="10845"/>
                <a:ext cx="2321" cy="668"/>
                <a:chOff x="2794" y="10845"/>
                <a:chExt cx="2321" cy="668"/>
              </a:xfrm>
            </p:grpSpPr>
            <p:pic>
              <p:nvPicPr>
                <p:cNvPr id="23596" name="Picture 27" descr="多个余弦脉冲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05" t="16054" r="75555" b="34520"/>
                <a:stretch>
                  <a:fillRect/>
                </a:stretch>
              </p:blipFill>
              <p:spPr bwMode="auto">
                <a:xfrm>
                  <a:off x="2794" y="10845"/>
                  <a:ext cx="340" cy="6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597" name="Picture 28" descr="多个余弦脉冲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05" t="16054" r="75555" b="34520"/>
                <a:stretch>
                  <a:fillRect/>
                </a:stretch>
              </p:blipFill>
              <p:spPr bwMode="auto">
                <a:xfrm>
                  <a:off x="3440" y="10845"/>
                  <a:ext cx="338" cy="6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598" name="Picture 29" descr="多个余弦脉冲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05" t="16054" r="75555" b="34520"/>
                <a:stretch>
                  <a:fillRect/>
                </a:stretch>
              </p:blipFill>
              <p:spPr bwMode="auto">
                <a:xfrm>
                  <a:off x="4095" y="10845"/>
                  <a:ext cx="340" cy="6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599" name="Picture 30" descr="多个余弦脉冲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05" t="16054" r="75555" b="34520"/>
                <a:stretch>
                  <a:fillRect/>
                </a:stretch>
              </p:blipFill>
              <p:spPr bwMode="auto">
                <a:xfrm>
                  <a:off x="4776" y="10845"/>
                  <a:ext cx="339" cy="6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3593" name="Group 31"/>
              <p:cNvGrpSpPr>
                <a:grpSpLocks/>
              </p:cNvGrpSpPr>
              <p:nvPr/>
            </p:nvGrpSpPr>
            <p:grpSpPr bwMode="auto">
              <a:xfrm>
                <a:off x="4428" y="11497"/>
                <a:ext cx="1003" cy="668"/>
                <a:chOff x="2492" y="3255"/>
                <a:chExt cx="1498" cy="1290"/>
              </a:xfrm>
            </p:grpSpPr>
            <p:pic>
              <p:nvPicPr>
                <p:cNvPr id="23594" name="Picture 32" descr="多个余弦脉冲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05" t="16054" r="75555" b="34520"/>
                <a:stretch>
                  <a:fillRect/>
                </a:stretch>
              </p:blipFill>
              <p:spPr bwMode="auto">
                <a:xfrm flipV="1">
                  <a:off x="2492" y="3255"/>
                  <a:ext cx="508" cy="12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595" name="Picture 33" descr="多个余弦脉冲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05" t="16054" r="75555" b="34520"/>
                <a:stretch>
                  <a:fillRect/>
                </a:stretch>
              </p:blipFill>
              <p:spPr bwMode="auto">
                <a:xfrm flipV="1">
                  <a:off x="3482" y="3255"/>
                  <a:ext cx="508" cy="12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3589" name="Line 34"/>
            <p:cNvSpPr>
              <a:spLocks noChangeShapeType="1"/>
            </p:cNvSpPr>
            <p:nvPr/>
          </p:nvSpPr>
          <p:spPr bwMode="auto">
            <a:xfrm>
              <a:off x="2550" y="11505"/>
              <a:ext cx="32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0" name="Text Box 35"/>
            <p:cNvSpPr txBox="1">
              <a:spLocks noChangeArrowheads="1"/>
            </p:cNvSpPr>
            <p:nvPr/>
          </p:nvSpPr>
          <p:spPr bwMode="auto">
            <a:xfrm>
              <a:off x="5460" y="11445"/>
              <a:ext cx="406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  <a:endParaRPr lang="en-US" altLang="zh-CN" sz="3600"/>
            </a:p>
          </p:txBody>
        </p:sp>
      </p:grpSp>
      <p:grpSp>
        <p:nvGrpSpPr>
          <p:cNvPr id="12" name="组合 89"/>
          <p:cNvGrpSpPr>
            <a:grpSpLocks/>
          </p:cNvGrpSpPr>
          <p:nvPr/>
        </p:nvGrpSpPr>
        <p:grpSpPr bwMode="auto">
          <a:xfrm>
            <a:off x="4418013" y="1785938"/>
            <a:ext cx="4225925" cy="1600200"/>
            <a:chOff x="4022701" y="2000240"/>
            <a:chExt cx="4226340" cy="1600664"/>
          </a:xfrm>
        </p:grpSpPr>
        <p:pic>
          <p:nvPicPr>
            <p:cNvPr id="23581" name="Picture 8" descr="Sa函数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701" y="2000240"/>
              <a:ext cx="4101040" cy="1581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3582" name="组合 4"/>
            <p:cNvGrpSpPr>
              <a:grpSpLocks/>
            </p:cNvGrpSpPr>
            <p:nvPr/>
          </p:nvGrpSpPr>
          <p:grpSpPr bwMode="auto">
            <a:xfrm>
              <a:off x="6400360" y="2271478"/>
              <a:ext cx="984284" cy="812582"/>
              <a:chOff x="6406018" y="4188054"/>
              <a:chExt cx="984284" cy="812582"/>
            </a:xfrm>
          </p:grpSpPr>
          <p:sp>
            <p:nvSpPr>
              <p:cNvPr id="23585" name="Text Box 11"/>
              <p:cNvSpPr txBox="1">
                <a:spLocks noChangeArrowheads="1"/>
              </p:cNvSpPr>
              <p:nvPr/>
            </p:nvSpPr>
            <p:spPr bwMode="auto">
              <a:xfrm>
                <a:off x="6500826" y="4188054"/>
                <a:ext cx="889476" cy="5773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>
                    <a:latin typeface="Times New Roman" panose="02020603050405020304" pitchFamily="18" charset="0"/>
                  </a:rPr>
                  <a:t>f</a:t>
                </a:r>
                <a:r>
                  <a:rPr lang="en-US" altLang="zh-CN" b="1" i="1" baseline="-25000">
                    <a:latin typeface="Times New Roman" panose="02020603050405020304" pitchFamily="18" charset="0"/>
                  </a:rPr>
                  <a:t>k</a:t>
                </a:r>
                <a:r>
                  <a:rPr lang="en-US" altLang="zh-CN" b="1" i="1">
                    <a:latin typeface="Times New Roman" panose="02020603050405020304" pitchFamily="18" charset="0"/>
                  </a:rPr>
                  <a:t>+</a:t>
                </a:r>
                <a:r>
                  <a:rPr lang="en-US" altLang="zh-CN" b="1">
                    <a:latin typeface="Times New Roman" panose="02020603050405020304" pitchFamily="18" charset="0"/>
                  </a:rPr>
                  <a:t>1</a:t>
                </a:r>
                <a:r>
                  <a:rPr lang="en-US" altLang="zh-CN" b="1" i="1">
                    <a:latin typeface="Times New Roman" panose="02020603050405020304" pitchFamily="18" charset="0"/>
                  </a:rPr>
                  <a:t>/T</a:t>
                </a:r>
                <a:r>
                  <a:rPr lang="en-US" altLang="zh-CN" b="1" baseline="-25000">
                    <a:latin typeface="Times New Roman" panose="02020603050405020304" pitchFamily="18" charset="0"/>
                  </a:rPr>
                  <a:t>B</a:t>
                </a:r>
                <a:endParaRPr lang="en-US" altLang="zh-CN" sz="3200" b="1"/>
              </a:p>
            </p:txBody>
          </p:sp>
          <p:sp>
            <p:nvSpPr>
              <p:cNvPr id="23586" name="Line 12"/>
              <p:cNvSpPr>
                <a:spLocks noChangeShapeType="1"/>
              </p:cNvSpPr>
              <p:nvPr/>
            </p:nvSpPr>
            <p:spPr bwMode="auto">
              <a:xfrm flipH="1">
                <a:off x="6406018" y="4759558"/>
                <a:ext cx="237683" cy="2410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3" name="Text Box 10"/>
            <p:cNvSpPr txBox="1">
              <a:spLocks noChangeArrowheads="1"/>
            </p:cNvSpPr>
            <p:nvPr/>
          </p:nvSpPr>
          <p:spPr bwMode="auto">
            <a:xfrm>
              <a:off x="5896135" y="3172155"/>
              <a:ext cx="376274" cy="428749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lnSpc>
                  <a:spcPts val="2000"/>
                </a:lnSpc>
                <a:defRPr/>
              </a:pPr>
              <a:r>
                <a:rPr lang="en-US" altLang="zh-CN" b="1" i="1" dirty="0" err="1">
                  <a:latin typeface="Times New Roman" pitchFamily="18" charset="0"/>
                  <a:ea typeface="宋体" charset="-122"/>
                </a:rPr>
                <a:t>f</a:t>
              </a:r>
              <a:r>
                <a:rPr lang="en-US" altLang="zh-CN" b="1" i="1" baseline="-25000" dirty="0" err="1">
                  <a:latin typeface="Times New Roman" pitchFamily="18" charset="0"/>
                  <a:ea typeface="宋体" charset="-122"/>
                </a:rPr>
                <a:t>k</a:t>
              </a:r>
              <a:endParaRPr lang="en-US" altLang="zh-CN" sz="3200" b="1" dirty="0">
                <a:ea typeface="宋体" charset="-122"/>
              </a:endParaRPr>
            </a:p>
          </p:txBody>
        </p:sp>
        <p:sp>
          <p:nvSpPr>
            <p:cNvPr id="23584" name="Text Box 10"/>
            <p:cNvSpPr txBox="1">
              <a:spLocks noChangeArrowheads="1"/>
            </p:cNvSpPr>
            <p:nvPr/>
          </p:nvSpPr>
          <p:spPr bwMode="auto">
            <a:xfrm>
              <a:off x="7872662" y="3114220"/>
              <a:ext cx="376379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ts val="2000"/>
                </a:lnSpc>
              </a:pPr>
              <a:r>
                <a:rPr lang="en-US" altLang="zh-CN" b="1" i="1">
                  <a:latin typeface="Times New Roman" panose="02020603050405020304" pitchFamily="18" charset="0"/>
                </a:rPr>
                <a:t>f</a:t>
              </a:r>
              <a:endParaRPr lang="en-US" altLang="zh-CN" sz="3200" b="1"/>
            </a:p>
          </p:txBody>
        </p:sp>
      </p:grpSp>
      <p:sp>
        <p:nvSpPr>
          <p:cNvPr id="98" name="矩形 97"/>
          <p:cNvSpPr/>
          <p:nvPr/>
        </p:nvSpPr>
        <p:spPr>
          <a:xfrm>
            <a:off x="785813" y="3571875"/>
            <a:ext cx="44100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OFDM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信号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各子载波合成后）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频谱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宋体" charset="-122"/>
              </a:rPr>
              <a:t>：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</a:t>
            </a:r>
          </a:p>
        </p:txBody>
      </p:sp>
      <p:sp>
        <p:nvSpPr>
          <p:cNvPr id="104" name="矩形 103"/>
          <p:cNvSpPr/>
          <p:nvPr/>
        </p:nvSpPr>
        <p:spPr>
          <a:xfrm>
            <a:off x="1071563" y="4403725"/>
            <a:ext cx="3286125" cy="811213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>
            <a:spAutoFit/>
          </a:bodyPr>
          <a:lstStyle/>
          <a:p>
            <a:pPr>
              <a:lnSpc>
                <a:spcPts val="2800"/>
              </a:lnSpc>
              <a:buFont typeface="Wingdings" pitchFamily="2" charset="2"/>
              <a:buNone/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各相邻子载波的频率间隔等于最小容许间隔</a:t>
            </a:r>
            <a:r>
              <a:rPr lang="zh-CN" altLang="en-US" dirty="0">
                <a:latin typeface="+mn-ea"/>
                <a:ea typeface="宋体" charset="-122"/>
              </a:rPr>
              <a:t>：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组合 101"/>
          <p:cNvGrpSpPr>
            <a:grpSpLocks/>
          </p:cNvGrpSpPr>
          <p:nvPr/>
        </p:nvGrpSpPr>
        <p:grpSpPr bwMode="auto">
          <a:xfrm>
            <a:off x="3286125" y="3929063"/>
            <a:ext cx="5643563" cy="2500312"/>
            <a:chOff x="1285894" y="4000504"/>
            <a:chExt cx="5929313" cy="2571768"/>
          </a:xfrm>
        </p:grpSpPr>
        <p:grpSp>
          <p:nvGrpSpPr>
            <p:cNvPr id="23563" name="Group 39"/>
            <p:cNvGrpSpPr>
              <a:grpSpLocks/>
            </p:cNvGrpSpPr>
            <p:nvPr/>
          </p:nvGrpSpPr>
          <p:grpSpPr bwMode="auto">
            <a:xfrm>
              <a:off x="1285894" y="4000504"/>
              <a:ext cx="5929313" cy="2465388"/>
              <a:chOff x="1027" y="2047"/>
              <a:chExt cx="3735" cy="1553"/>
            </a:xfrm>
          </p:grpSpPr>
          <p:grpSp>
            <p:nvGrpSpPr>
              <p:cNvPr id="23566" name="Group 38"/>
              <p:cNvGrpSpPr>
                <a:grpSpLocks/>
              </p:cNvGrpSpPr>
              <p:nvPr/>
            </p:nvGrpSpPr>
            <p:grpSpPr bwMode="auto">
              <a:xfrm>
                <a:off x="1027" y="2047"/>
                <a:ext cx="3686" cy="1553"/>
                <a:chOff x="1027" y="2047"/>
                <a:chExt cx="3686" cy="1553"/>
              </a:xfrm>
            </p:grpSpPr>
            <p:grpSp>
              <p:nvGrpSpPr>
                <p:cNvPr id="23568" name="Group 36"/>
                <p:cNvGrpSpPr>
                  <a:grpSpLocks/>
                </p:cNvGrpSpPr>
                <p:nvPr/>
              </p:nvGrpSpPr>
              <p:grpSpPr bwMode="auto">
                <a:xfrm>
                  <a:off x="1027" y="2069"/>
                  <a:ext cx="3686" cy="1531"/>
                  <a:chOff x="1027" y="2069"/>
                  <a:chExt cx="3686" cy="1531"/>
                </a:xfrm>
              </p:grpSpPr>
              <p:grpSp>
                <p:nvGrpSpPr>
                  <p:cNvPr id="23572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1027" y="2069"/>
                    <a:ext cx="3686" cy="1531"/>
                    <a:chOff x="1027" y="2069"/>
                    <a:chExt cx="3686" cy="1531"/>
                  </a:xfrm>
                </p:grpSpPr>
                <p:grpSp>
                  <p:nvGrpSpPr>
                    <p:cNvPr id="23577" name="Group 3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27" y="2069"/>
                      <a:ext cx="3686" cy="1531"/>
                      <a:chOff x="1027" y="2069"/>
                      <a:chExt cx="3686" cy="1531"/>
                    </a:xfrm>
                  </p:grpSpPr>
                  <p:pic>
                    <p:nvPicPr>
                      <p:cNvPr id="23579" name="Picture 30" descr="Sa函数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1499" t="21042"/>
                      <a:stretch>
                        <a:fillRect/>
                      </a:stretch>
                    </p:blipFill>
                    <p:spPr bwMode="auto">
                      <a:xfrm>
                        <a:off x="1027" y="2069"/>
                        <a:ext cx="3671" cy="1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pic>
                    <p:nvPicPr>
                      <p:cNvPr id="23580" name="Picture 32" descr="Sa函数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6" y="2205"/>
                        <a:ext cx="3017" cy="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grpSp>
                <p:pic>
                  <p:nvPicPr>
                    <p:cNvPr id="23578" name="Picture 31" descr="Sa函数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429" y="2205"/>
                      <a:ext cx="3017" cy="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</p:grpSp>
              <p:sp>
                <p:nvSpPr>
                  <p:cNvPr id="23573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3121" y="2136"/>
                    <a:ext cx="0" cy="1025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74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341" y="2212"/>
                    <a:ext cx="24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75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2851" y="2124"/>
                    <a:ext cx="0" cy="1025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76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61" y="2204"/>
                    <a:ext cx="2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56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895" y="3078"/>
                  <a:ext cx="713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000" b="1" i="1">
                      <a:latin typeface="Times New Roman" panose="02020603050405020304" pitchFamily="18" charset="0"/>
                    </a:rPr>
                    <a:t>f</a:t>
                  </a:r>
                  <a:r>
                    <a:rPr lang="en-US" altLang="zh-CN" sz="2000" b="1" i="1" baseline="-25000">
                      <a:latin typeface="Times New Roman" panose="02020603050405020304" pitchFamily="18" charset="0"/>
                    </a:rPr>
                    <a:t>k</a:t>
                  </a:r>
                  <a:r>
                    <a:rPr lang="zh-CN" altLang="en-US" sz="2000" b="1">
                      <a:latin typeface="Times New Roman" panose="02020603050405020304" pitchFamily="18" charset="0"/>
                    </a:rPr>
                    <a:t>＋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000" b="1" i="1">
                      <a:latin typeface="Times New Roman" panose="02020603050405020304" pitchFamily="18" charset="0"/>
                    </a:rPr>
                    <a:t>/T</a:t>
                  </a:r>
                  <a:r>
                    <a:rPr lang="en-US" altLang="zh-CN" sz="2000" b="1" baseline="-25000">
                      <a:latin typeface="Times New Roman" panose="02020603050405020304" pitchFamily="18" charset="0"/>
                    </a:rPr>
                    <a:t>B</a:t>
                  </a:r>
                  <a:endParaRPr lang="en-US" altLang="zh-CN" sz="4000" b="1"/>
                </a:p>
              </p:txBody>
            </p:sp>
            <p:sp>
              <p:nvSpPr>
                <p:cNvPr id="23570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408" y="3079"/>
                  <a:ext cx="300" cy="3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000" b="1" i="1">
                      <a:latin typeface="Times New Roman" panose="02020603050405020304" pitchFamily="18" charset="0"/>
                    </a:rPr>
                    <a:t>f</a:t>
                  </a:r>
                  <a:r>
                    <a:rPr lang="en-US" altLang="zh-CN" sz="2000" b="1" i="1" baseline="-25000">
                      <a:latin typeface="Times New Roman" panose="02020603050405020304" pitchFamily="18" charset="0"/>
                    </a:rPr>
                    <a:t>k</a:t>
                  </a:r>
                  <a:endParaRPr lang="en-US" altLang="zh-CN" sz="4000" b="1"/>
                </a:p>
              </p:txBody>
            </p:sp>
            <p:sp>
              <p:nvSpPr>
                <p:cNvPr id="2357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585" y="2047"/>
                  <a:ext cx="490" cy="3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000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</a:t>
                  </a:r>
                  <a:r>
                    <a:rPr lang="en-US" altLang="zh-CN" sz="2000" i="1">
                      <a:latin typeface="Times New Roman" panose="02020603050405020304" pitchFamily="18" charset="0"/>
                    </a:rPr>
                    <a:t>f</a:t>
                  </a:r>
                  <a:endParaRPr lang="en-US" altLang="zh-CN" sz="4000"/>
                </a:p>
              </p:txBody>
            </p:sp>
          </p:grpSp>
          <p:sp>
            <p:nvSpPr>
              <p:cNvPr id="23567" name="Text Box 27"/>
              <p:cNvSpPr txBox="1">
                <a:spLocks noChangeArrowheads="1"/>
              </p:cNvSpPr>
              <p:nvPr/>
            </p:nvSpPr>
            <p:spPr bwMode="auto">
              <a:xfrm>
                <a:off x="4353" y="2811"/>
                <a:ext cx="409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f</a:t>
                </a:r>
                <a:endParaRPr lang="en-US" altLang="zh-CN" sz="4000"/>
              </a:p>
            </p:txBody>
          </p:sp>
        </p:grpSp>
        <p:sp>
          <p:nvSpPr>
            <p:cNvPr id="23564" name="Text Box 11"/>
            <p:cNvSpPr txBox="1">
              <a:spLocks noChangeArrowheads="1"/>
            </p:cNvSpPr>
            <p:nvPr/>
          </p:nvSpPr>
          <p:spPr bwMode="auto">
            <a:xfrm>
              <a:off x="3724278" y="6069034"/>
              <a:ext cx="12763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>
                  <a:latin typeface="Times New Roman" panose="02020603050405020304" pitchFamily="18" charset="0"/>
                </a:rPr>
                <a:t>f </a:t>
              </a:r>
              <a:r>
                <a:rPr lang="en-US" altLang="zh-CN" sz="2000" b="1" i="1" baseline="-25000">
                  <a:latin typeface="Times New Roman" panose="02020603050405020304" pitchFamily="18" charset="0"/>
                </a:rPr>
                <a:t>k</a:t>
              </a:r>
              <a:r>
                <a:rPr lang="zh-CN" altLang="en-US" sz="2000" b="1">
                  <a:latin typeface="Times New Roman" panose="02020603050405020304" pitchFamily="18" charset="0"/>
                </a:rPr>
                <a:t>＋</a:t>
              </a:r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/T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B</a:t>
              </a:r>
              <a:endParaRPr lang="en-US" altLang="zh-CN" sz="4000" b="1"/>
            </a:p>
          </p:txBody>
        </p:sp>
        <p:sp>
          <p:nvSpPr>
            <p:cNvPr id="23565" name="Line 15"/>
            <p:cNvSpPr>
              <a:spLocks noChangeShapeType="1"/>
            </p:cNvSpPr>
            <p:nvPr/>
          </p:nvSpPr>
          <p:spPr bwMode="auto">
            <a:xfrm flipV="1">
              <a:off x="4100962" y="5773982"/>
              <a:ext cx="65088" cy="3127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" name="矩形 55"/>
          <p:cNvSpPr/>
          <p:nvPr/>
        </p:nvSpPr>
        <p:spPr>
          <a:xfrm>
            <a:off x="815975" y="1143000"/>
            <a:ext cx="243681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单个子载波频谱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宋体" charset="-122"/>
              </a:rPr>
              <a:t>：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矩形 6"/>
          <p:cNvSpPr>
            <a:spLocks noChangeArrowheads="1"/>
          </p:cNvSpPr>
          <p:nvPr/>
        </p:nvSpPr>
        <p:spPr bwMode="auto">
          <a:xfrm>
            <a:off x="4193381" y="807401"/>
            <a:ext cx="45720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Clr>
                <a:schemeClr val="bg1">
                  <a:lumMod val="50000"/>
                </a:schemeClr>
              </a:buClr>
              <a:buSzPct val="65000"/>
              <a:defRPr/>
            </a:pPr>
            <a:r>
              <a:rPr lang="zh-CN" altLang="en-US" dirty="0">
                <a:latin typeface="+mn-lt"/>
                <a:ea typeface="微软雅黑" pitchFamily="34" charset="-122"/>
              </a:rPr>
              <a:t>   设一个子信道中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>
                <a:latin typeface="+mn-lt"/>
                <a:ea typeface="微软雅黑" pitchFamily="34" charset="-122"/>
              </a:rPr>
              <a:t>子载频 </a:t>
            </a:r>
            <a:r>
              <a:rPr lang="en-US" altLang="zh-CN" b="1" i="1" dirty="0" err="1">
                <a:solidFill>
                  <a:srgbClr val="0000CC"/>
                </a:solidFill>
                <a:latin typeface="+mn-lt"/>
                <a:ea typeface="微软雅黑" pitchFamily="34" charset="-122"/>
              </a:rPr>
              <a:t>f</a:t>
            </a:r>
            <a:r>
              <a:rPr lang="en-US" altLang="zh-CN" b="1" i="1" baseline="-25000" dirty="0" err="1">
                <a:solidFill>
                  <a:srgbClr val="0000CC"/>
                </a:solidFill>
                <a:latin typeface="+mn-lt"/>
                <a:ea typeface="微软雅黑" pitchFamily="34" charset="-122"/>
              </a:rPr>
              <a:t>k</a:t>
            </a:r>
            <a:r>
              <a:rPr lang="en-US" altLang="zh-CN" b="1" i="1" baseline="-25000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dirty="0">
                <a:latin typeface="+mn-lt"/>
                <a:ea typeface="微软雅黑" pitchFamily="34" charset="-122"/>
              </a:rPr>
              <a:t>码长</a:t>
            </a:r>
            <a:r>
              <a:rPr lang="en-US" altLang="zh-CN" b="1" i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T</a:t>
            </a:r>
            <a:r>
              <a:rPr lang="en-US" altLang="zh-CN" b="1" baseline="-25000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B</a:t>
            </a:r>
            <a:r>
              <a:rPr lang="zh-CN" altLang="en-US" dirty="0">
                <a:latin typeface="+mn-ea"/>
                <a:ea typeface="+mn-ea"/>
              </a:rPr>
              <a:t>，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ts val="2800"/>
              </a:lnSpc>
              <a:buClr>
                <a:schemeClr val="bg1">
                  <a:lumMod val="50000"/>
                </a:schemeClr>
              </a:buClr>
              <a:buSzPct val="65000"/>
              <a:defRPr/>
            </a:pPr>
            <a:r>
              <a:rPr lang="en-US" altLang="zh-CN" dirty="0">
                <a:latin typeface="+mn-ea"/>
                <a:ea typeface="+mn-ea"/>
              </a:rPr>
              <a:t>  </a:t>
            </a:r>
            <a:r>
              <a:rPr lang="zh-CN" altLang="en-US" dirty="0">
                <a:latin typeface="+mn-lt"/>
                <a:ea typeface="微软雅黑" pitchFamily="34" charset="-122"/>
              </a:rPr>
              <a:t>则此码元的波形和频谱密度</a:t>
            </a:r>
            <a:r>
              <a:rPr lang="zh-CN" altLang="en-US" dirty="0">
                <a:latin typeface="+mn-ea"/>
                <a:ea typeface="+mn-ea"/>
              </a:rPr>
              <a:t>：</a:t>
            </a: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1785938" y="5500688"/>
          <a:ext cx="1643062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87320" imgH="215640" progId="Equation.3">
                  <p:embed/>
                </p:oleObj>
              </mc:Choice>
              <mc:Fallback>
                <p:oleObj name="公式" r:id="rId6" imgW="7873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5500688"/>
                        <a:ext cx="1643062" cy="45243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70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8" grpId="0"/>
      <p:bldP spid="104" grpId="0" animBg="1"/>
      <p:bldP spid="56" grpId="0"/>
      <p:bldP spid="5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01"/>
          <a:stretch>
            <a:fillRect/>
          </a:stretch>
        </p:blipFill>
        <p:spPr bwMode="auto">
          <a:xfrm>
            <a:off x="615950" y="3695700"/>
            <a:ext cx="81407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67"/>
          <a:stretch>
            <a:fillRect/>
          </a:stretch>
        </p:blipFill>
        <p:spPr bwMode="auto">
          <a:xfrm>
            <a:off x="615950" y="1339850"/>
            <a:ext cx="81407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541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17538" y="685800"/>
            <a:ext cx="3597275" cy="522288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lvl="2"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OFDM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的频带利用率</a:t>
            </a:r>
          </a:p>
        </p:txBody>
      </p:sp>
      <p:sp>
        <p:nvSpPr>
          <p:cNvPr id="11" name="矩形 10"/>
          <p:cNvSpPr/>
          <p:nvPr/>
        </p:nvSpPr>
        <p:spPr>
          <a:xfrm>
            <a:off x="785813" y="1357313"/>
            <a:ext cx="7572375" cy="9906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 设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OFDM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系统中共有</a:t>
            </a:r>
            <a:r>
              <a:rPr lang="en-US" altLang="zh-CN" sz="2000" b="1" i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N</a:t>
            </a:r>
            <a:r>
              <a:rPr lang="en-US" altLang="zh-CN" sz="20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路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子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载波，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子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信道码元间隔为</a:t>
            </a:r>
            <a:r>
              <a:rPr lang="en-US" altLang="zh-CN" sz="2000" b="1" i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en-US" altLang="zh-CN" sz="2000" b="1" baseline="-2500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B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，每路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子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载波均采用</a:t>
            </a:r>
            <a:r>
              <a:rPr lang="en-US" altLang="zh-CN" sz="2000" b="1" i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 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进制的调制，则它占用的频带宽度为</a:t>
            </a:r>
          </a:p>
        </p:txBody>
      </p:sp>
      <p:sp>
        <p:nvSpPr>
          <p:cNvPr id="16999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5813" y="3384550"/>
            <a:ext cx="3467100" cy="5413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5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+mn-lt"/>
                <a:ea typeface="微软雅黑" pitchFamily="34" charset="-122"/>
              </a:rPr>
              <a:t> 因为一路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itchFamily="34" charset="-122"/>
              </a:rPr>
              <a:t>子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信道的比特率为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6999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03825" y="3397250"/>
            <a:ext cx="2940050" cy="5413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5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en-US" sz="2000" dirty="0">
                <a:latin typeface="+mn-lt"/>
                <a:ea typeface="微软雅黑" pitchFamily="34" charset="-122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n-lt"/>
                <a:ea typeface="微软雅黑" pitchFamily="34" charset="-122"/>
              </a:rPr>
              <a:t>OFDM</a:t>
            </a:r>
            <a:r>
              <a:rPr lang="zh-CN" altLang="en-US" sz="2000" dirty="0">
                <a:latin typeface="+mn-lt"/>
                <a:ea typeface="微软雅黑" pitchFamily="34" charset="-122"/>
              </a:rPr>
              <a:t>信号的比特率为</a:t>
            </a:r>
          </a:p>
        </p:txBody>
      </p:sp>
      <p:sp>
        <p:nvSpPr>
          <p:cNvPr id="169999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85813" y="4887913"/>
            <a:ext cx="3929062" cy="54133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 eaLnBrk="0" hangingPunct="0">
              <a:lnSpc>
                <a:spcPts val="35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+mn-lt"/>
                <a:ea typeface="微软雅黑" pitchFamily="34" charset="-122"/>
                <a:cs typeface="Times New Roman" pitchFamily="18" charset="0"/>
              </a:rPr>
              <a:t>所以</a:t>
            </a:r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OFDM</a:t>
            </a:r>
            <a:r>
              <a:rPr lang="zh-CN" altLang="en-US" sz="2000" dirty="0">
                <a:latin typeface="+mn-lt"/>
                <a:ea typeface="微软雅黑" pitchFamily="34" charset="-122"/>
                <a:cs typeface="Times New Roman" pitchFamily="18" charset="0"/>
              </a:rPr>
              <a:t>的频带利用率为</a:t>
            </a:r>
            <a:endParaRPr lang="zh-CN" altLang="en-US" sz="2000" dirty="0">
              <a:latin typeface="+mn-lt"/>
              <a:ea typeface="微软雅黑" pitchFamily="34" charset="-122"/>
            </a:endParaRPr>
          </a:p>
        </p:txBody>
      </p:sp>
      <p:sp>
        <p:nvSpPr>
          <p:cNvPr id="17000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70004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24592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68" t="35896" b="39423"/>
          <a:stretch>
            <a:fillRect/>
          </a:stretch>
        </p:blipFill>
        <p:spPr bwMode="auto">
          <a:xfrm>
            <a:off x="6261100" y="3873500"/>
            <a:ext cx="244475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45" b="75320"/>
          <a:stretch>
            <a:fillRect/>
          </a:stretch>
        </p:blipFill>
        <p:spPr bwMode="auto">
          <a:xfrm>
            <a:off x="2155825" y="2362200"/>
            <a:ext cx="5705475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82"/>
          <a:stretch>
            <a:fillRect/>
          </a:stretch>
        </p:blipFill>
        <p:spPr bwMode="auto">
          <a:xfrm>
            <a:off x="1416050" y="5340350"/>
            <a:ext cx="7038975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96" r="60847" b="39423"/>
          <a:stretch>
            <a:fillRect/>
          </a:stretch>
        </p:blipFill>
        <p:spPr bwMode="auto">
          <a:xfrm>
            <a:off x="1682750" y="3829050"/>
            <a:ext cx="27559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316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  <p:bldP spid="11" grpId="0"/>
      <p:bldP spid="14" grpId="0"/>
      <p:bldP spid="20" grpId="0"/>
      <p:bldP spid="2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11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70"/>
          <a:stretch>
            <a:fillRect/>
          </a:stretch>
        </p:blipFill>
        <p:spPr bwMode="auto">
          <a:xfrm>
            <a:off x="793750" y="5235575"/>
            <a:ext cx="768985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1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3214688" y="1846263"/>
          <a:ext cx="32861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01720" imgH="228600" progId="Equation.DSMT4">
                  <p:embed/>
                </p:oleObj>
              </mc:Choice>
              <mc:Fallback>
                <p:oleObj name="Equation" r:id="rId3" imgW="1701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1846263"/>
                        <a:ext cx="3286125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785813" y="1214438"/>
            <a:ext cx="2214562" cy="5413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 当</a:t>
            </a:r>
            <a:r>
              <a:rPr lang="en-US" sz="2000" b="1" i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N 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很大时</a:t>
            </a:r>
            <a:endParaRPr lang="zh-CN" altLang="en-US" sz="200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85813" y="2584450"/>
            <a:ext cx="7715250" cy="10668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8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 若用单个载波的</a:t>
            </a:r>
            <a:r>
              <a:rPr lang="en-US" altLang="zh-CN" sz="2000" b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en-US" altLang="zh-CN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进制码元传输，为得到相同的传输速率，则码元间隔应缩短为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(</a:t>
            </a:r>
            <a:r>
              <a:rPr lang="en-US" altLang="zh-CN" sz="2000" b="1" i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en-US" altLang="zh-CN" sz="2000" b="1" i="1" baseline="-2500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B</a:t>
            </a:r>
            <a:r>
              <a:rPr lang="en-US" altLang="zh-CN" sz="2000" b="1" i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/N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)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，而占用带宽等于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(</a:t>
            </a:r>
            <a:r>
              <a:rPr lang="en-US" altLang="zh-CN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en-US" altLang="zh-CN" sz="20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N</a:t>
            </a:r>
            <a:r>
              <a:rPr lang="en-US" altLang="zh-CN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/</a:t>
            </a:r>
            <a:r>
              <a:rPr lang="en-US" altLang="zh-CN" sz="20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en-US" altLang="zh-CN" sz="2000" b="1" i="1" baseline="-25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B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)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，故频带利用率为</a:t>
            </a:r>
          </a:p>
        </p:txBody>
      </p:sp>
      <p:grpSp>
        <p:nvGrpSpPr>
          <p:cNvPr id="2" name="组合 57"/>
          <p:cNvGrpSpPr>
            <a:grpSpLocks/>
          </p:cNvGrpSpPr>
          <p:nvPr/>
        </p:nvGrpSpPr>
        <p:grpSpPr bwMode="auto">
          <a:xfrm>
            <a:off x="785813" y="4984750"/>
            <a:ext cx="1000125" cy="560388"/>
            <a:chOff x="2786127" y="3394821"/>
            <a:chExt cx="999727" cy="405162"/>
          </a:xfrm>
        </p:grpSpPr>
        <p:sp>
          <p:nvSpPr>
            <p:cNvPr id="14" name="椭圆 13"/>
            <p:cNvSpPr/>
            <p:nvPr/>
          </p:nvSpPr>
          <p:spPr bwMode="auto">
            <a:xfrm>
              <a:off x="2786127" y="3394821"/>
              <a:ext cx="999727" cy="405162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9525" cap="flat" cmpd="sng" algn="ctr">
              <a:solidFill>
                <a:srgbClr val="CC99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24586" name="矩形 16"/>
            <p:cNvSpPr>
              <a:spLocks noChangeArrowheads="1"/>
            </p:cNvSpPr>
            <p:nvPr/>
          </p:nvSpPr>
          <p:spPr bwMode="auto">
            <a:xfrm>
              <a:off x="2868186" y="3397618"/>
              <a:ext cx="902935" cy="333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SzPct val="84000"/>
              </a:pPr>
              <a:r>
                <a:rPr lang="zh-CN" altLang="en-US" sz="24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比较</a:t>
              </a:r>
            </a:p>
          </p:txBody>
        </p:sp>
      </p:grp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00"/>
          <a:stretch>
            <a:fillRect/>
          </a:stretch>
        </p:blipFill>
        <p:spPr bwMode="auto">
          <a:xfrm>
            <a:off x="749300" y="3695700"/>
            <a:ext cx="768985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 txBox="1">
            <a:spLocks noChangeArrowheads="1"/>
          </p:cNvSpPr>
          <p:nvPr/>
        </p:nvSpPr>
        <p:spPr bwMode="auto">
          <a:xfrm>
            <a:off x="0" y="428625"/>
            <a:ext cx="8501063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00000"/>
              </a:buClr>
              <a:buSzPct val="65000"/>
            </a:pPr>
            <a:r>
              <a:rPr lang="en-US" altLang="en-US" sz="32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§</a:t>
            </a:r>
            <a:r>
              <a:rPr lang="en-US" altLang="en-US" sz="3200" b="1">
                <a:solidFill>
                  <a:srgbClr val="0000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en-US" altLang="zh-CN" sz="3200" b="1">
                <a:solidFill>
                  <a:srgbClr val="0000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.3.</a:t>
            </a:r>
            <a:r>
              <a:rPr lang="en-US" altLang="zh-CN" sz="3200" b="1">
                <a:solidFill>
                  <a:srgbClr val="9900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  </a:t>
            </a:r>
            <a:r>
              <a:rPr lang="en-US" altLang="zh-CN" sz="3200" b="1">
                <a:solidFill>
                  <a:srgbClr val="0000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OFDM</a:t>
            </a:r>
            <a:r>
              <a:rPr lang="zh-CN" altLang="en-US" sz="3200" b="1">
                <a:solidFill>
                  <a:srgbClr val="0000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的实现</a:t>
            </a:r>
            <a:endParaRPr lang="en-US" altLang="zh-CN" sz="2400" b="1">
              <a:solidFill>
                <a:srgbClr val="003399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30263" y="1262063"/>
            <a:ext cx="41703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800" b="1" dirty="0">
                <a:latin typeface="Arial" pitchFamily="34" charset="0"/>
                <a:ea typeface="黑体" pitchFamily="2" charset="-122"/>
                <a:cs typeface="Arial" pitchFamily="34" charset="0"/>
              </a:rPr>
              <a:t>OFDM</a:t>
            </a:r>
            <a:r>
              <a:rPr lang="zh-CN" altLang="en-US" sz="2800" b="1" dirty="0">
                <a:latin typeface="Arial" pitchFamily="34" charset="0"/>
                <a:ea typeface="黑体" pitchFamily="2" charset="-122"/>
                <a:cs typeface="Arial" pitchFamily="34" charset="0"/>
              </a:rPr>
              <a:t>的历程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黑体" pitchFamily="2" charset="-122"/>
              <a:cs typeface="Arial" pitchFamily="34" charset="0"/>
            </a:endParaRPr>
          </a:p>
        </p:txBody>
      </p:sp>
      <p:pic>
        <p:nvPicPr>
          <p:cNvPr id="809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61"/>
          <a:stretch>
            <a:fillRect/>
          </a:stretch>
        </p:blipFill>
        <p:spPr bwMode="auto">
          <a:xfrm>
            <a:off x="660400" y="3606800"/>
            <a:ext cx="8089900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289"/>
          <a:stretch>
            <a:fillRect/>
          </a:stretch>
        </p:blipFill>
        <p:spPr bwMode="auto">
          <a:xfrm>
            <a:off x="704850" y="1873250"/>
            <a:ext cx="80899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595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矩形 1"/>
          <p:cNvSpPr>
            <a:spLocks noChangeArrowheads="1"/>
          </p:cNvSpPr>
          <p:nvPr/>
        </p:nvSpPr>
        <p:spPr bwMode="auto">
          <a:xfrm>
            <a:off x="755650" y="765175"/>
            <a:ext cx="39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B050"/>
                </a:solidFill>
              </a:rPr>
              <a:t>   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76"/>
          <a:stretch>
            <a:fillRect/>
          </a:stretch>
        </p:blipFill>
        <p:spPr bwMode="auto">
          <a:xfrm>
            <a:off x="650875" y="3829050"/>
            <a:ext cx="8043863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376"/>
          <a:stretch>
            <a:fillRect/>
          </a:stretch>
        </p:blipFill>
        <p:spPr bwMode="auto">
          <a:xfrm>
            <a:off x="660400" y="1206500"/>
            <a:ext cx="8042275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7874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152583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813" y="2928938"/>
            <a:ext cx="7486650" cy="10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14375" y="1071563"/>
            <a:ext cx="70993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+mn-lt"/>
                <a:ea typeface="黑体" pitchFamily="2" charset="-122"/>
              </a:rPr>
              <a:t> OFDM</a:t>
            </a:r>
            <a:r>
              <a:rPr lang="zh-CN" altLang="en-US" sz="2800" b="1" dirty="0">
                <a:latin typeface="+mn-lt"/>
                <a:ea typeface="黑体" pitchFamily="2" charset="-122"/>
              </a:rPr>
              <a:t>信号的调制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857250" y="2071688"/>
            <a:ext cx="609219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基于</a:t>
            </a:r>
            <a:r>
              <a:rPr lang="en-US" altLang="zh-CN" sz="2400" b="1" dirty="0">
                <a:solidFill>
                  <a:srgbClr val="990099"/>
                </a:solidFill>
                <a:latin typeface="Arial" pitchFamily="34" charset="0"/>
                <a:cs typeface="Arial" pitchFamily="34" charset="0"/>
              </a:rPr>
              <a:t>IDFT/DFT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的</a:t>
            </a:r>
            <a:r>
              <a:rPr lang="en-US" altLang="zh-CN" sz="2400" b="1" dirty="0">
                <a:latin typeface="Arial" pitchFamily="34" charset="0"/>
                <a:cs typeface="Arial" pitchFamily="34" charset="0"/>
              </a:rPr>
              <a:t>OFDM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信号</a:t>
            </a:r>
            <a:r>
              <a:rPr lang="zh-CN" alt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调</a:t>
            </a:r>
            <a:r>
              <a:rPr lang="zh-CN" altLang="en-US" sz="24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制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原理图：</a:t>
            </a:r>
            <a:endParaRPr lang="zh-CN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18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矩形 4"/>
          <p:cNvSpPr>
            <a:spLocks noChangeArrowheads="1"/>
          </p:cNvSpPr>
          <p:nvPr/>
        </p:nvSpPr>
        <p:spPr bwMode="auto">
          <a:xfrm>
            <a:off x="714375" y="1214438"/>
            <a:ext cx="6480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基于</a:t>
            </a:r>
            <a:r>
              <a:rPr lang="en-US" altLang="zh-CN" sz="2400" b="1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IFFT/FFT</a:t>
            </a:r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的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OFDM</a:t>
            </a:r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信号</a:t>
            </a:r>
            <a:r>
              <a:rPr lang="zh-CN" altLang="en-US" sz="24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调制</a:t>
            </a:r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原理图：</a:t>
            </a:r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0875" y="1947863"/>
            <a:ext cx="7988300" cy="105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4996" name="矩形 6"/>
          <p:cNvSpPr>
            <a:spLocks noChangeArrowheads="1"/>
          </p:cNvSpPr>
          <p:nvPr/>
        </p:nvSpPr>
        <p:spPr bwMode="auto">
          <a:xfrm>
            <a:off x="787400" y="3786188"/>
            <a:ext cx="6407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基于</a:t>
            </a:r>
            <a:r>
              <a:rPr lang="en-US" altLang="zh-CN" sz="2400" b="1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IFFT/FFT</a:t>
            </a:r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的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OFDM</a:t>
            </a:r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信号</a:t>
            </a:r>
            <a:r>
              <a:rPr lang="zh-CN" altLang="en-US" sz="24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接收</a:t>
            </a:r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原理图：</a:t>
            </a:r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1350" y="4500563"/>
            <a:ext cx="8002588" cy="105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03522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85813" y="1119188"/>
            <a:ext cx="41703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800" b="1" dirty="0">
                <a:latin typeface="Arial" pitchFamily="34" charset="0"/>
                <a:ea typeface="黑体" pitchFamily="2" charset="-122"/>
                <a:cs typeface="Arial" pitchFamily="34" charset="0"/>
              </a:rPr>
              <a:t>OFDM</a:t>
            </a:r>
            <a:r>
              <a:rPr lang="zh-CN" altLang="en-US" sz="2800" b="1" dirty="0">
                <a:latin typeface="Arial" pitchFamily="34" charset="0"/>
                <a:ea typeface="黑体" pitchFamily="2" charset="-122"/>
                <a:cs typeface="Arial" pitchFamily="34" charset="0"/>
              </a:rPr>
              <a:t>的应用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黑体" pitchFamily="2" charset="-122"/>
              <a:cs typeface="Arial" pitchFamily="34" charset="0"/>
            </a:endParaRPr>
          </a:p>
        </p:txBody>
      </p:sp>
      <p:pic>
        <p:nvPicPr>
          <p:cNvPr id="849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784350"/>
            <a:ext cx="85280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88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5730</TotalTime>
  <Words>1649</Words>
  <Application>Microsoft Macintosh PowerPoint</Application>
  <PresentationFormat>On-screen Show (4:3)</PresentationFormat>
  <Paragraphs>210</Paragraphs>
  <Slides>42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隶书</vt:lpstr>
      <vt:lpstr>微软雅黑</vt:lpstr>
      <vt:lpstr>黑体</vt:lpstr>
      <vt:lpstr>宋体</vt:lpstr>
      <vt:lpstr>华文中宋</vt:lpstr>
      <vt:lpstr>Arial</vt:lpstr>
      <vt:lpstr>Symbol</vt:lpstr>
      <vt:lpstr>Times New Roman</vt:lpstr>
      <vt:lpstr>Wingdings</vt:lpstr>
      <vt:lpstr>Pixel</vt:lpstr>
      <vt:lpstr>Visio</vt:lpstr>
      <vt:lpstr>Equation</vt:lpstr>
      <vt:lpstr>公式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Jiangnan 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江南大学</dc:title>
  <dc:creator>cgy</dc:creator>
  <cp:lastModifiedBy>GY Chu</cp:lastModifiedBy>
  <cp:revision>665</cp:revision>
  <cp:lastPrinted>2022-10-25T23:05:52Z</cp:lastPrinted>
  <dcterms:created xsi:type="dcterms:W3CDTF">1601-01-01T00:00:00Z</dcterms:created>
  <dcterms:modified xsi:type="dcterms:W3CDTF">2025-09-19T07:05:04Z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