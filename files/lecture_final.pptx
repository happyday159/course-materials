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5340" r:id="rId1"/>
  </p:sldMasterIdLst>
  <p:notesMasterIdLst>
    <p:notesMasterId r:id="rId34"/>
  </p:notesMasterIdLst>
  <p:handoutMasterIdLst>
    <p:handoutMasterId r:id="rId35"/>
  </p:handoutMasterIdLst>
  <p:sldIdLst>
    <p:sldId id="335" r:id="rId2"/>
    <p:sldId id="341" r:id="rId3"/>
    <p:sldId id="385" r:id="rId4"/>
    <p:sldId id="343" r:id="rId5"/>
    <p:sldId id="505" r:id="rId6"/>
    <p:sldId id="506" r:id="rId7"/>
    <p:sldId id="504" r:id="rId8"/>
    <p:sldId id="503" r:id="rId9"/>
    <p:sldId id="338" r:id="rId10"/>
    <p:sldId id="345" r:id="rId11"/>
    <p:sldId id="346" r:id="rId12"/>
    <p:sldId id="384" r:id="rId13"/>
    <p:sldId id="386" r:id="rId14"/>
    <p:sldId id="347" r:id="rId15"/>
    <p:sldId id="365" r:id="rId16"/>
    <p:sldId id="371" r:id="rId17"/>
    <p:sldId id="381" r:id="rId18"/>
    <p:sldId id="382" r:id="rId19"/>
    <p:sldId id="383" r:id="rId20"/>
    <p:sldId id="367" r:id="rId21"/>
    <p:sldId id="501" r:id="rId22"/>
    <p:sldId id="374" r:id="rId23"/>
    <p:sldId id="502" r:id="rId24"/>
    <p:sldId id="375" r:id="rId25"/>
    <p:sldId id="376" r:id="rId26"/>
    <p:sldId id="377" r:id="rId27"/>
    <p:sldId id="368" r:id="rId28"/>
    <p:sldId id="378" r:id="rId29"/>
    <p:sldId id="379" r:id="rId30"/>
    <p:sldId id="380" r:id="rId31"/>
    <p:sldId id="369" r:id="rId32"/>
    <p:sldId id="321" r:id="rId33"/>
  </p:sldIdLst>
  <p:sldSz cx="12192000" cy="6858000"/>
  <p:notesSz cx="6797675" cy="9928225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A50021"/>
    <a:srgbClr val="FF3300"/>
    <a:srgbClr val="66FFFF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52" autoAdjust="0"/>
    <p:restoredTop sz="88479" autoAdjust="0"/>
  </p:normalViewPr>
  <p:slideViewPr>
    <p:cSldViewPr>
      <p:cViewPr varScale="1">
        <p:scale>
          <a:sx n="99" d="100"/>
          <a:sy n="99" d="100"/>
        </p:scale>
        <p:origin x="1088" y="1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10C35F-6A4F-41C4-9898-9C25D2106D73}" type="datetimeFigureOut">
              <a:rPr lang="zh-CN" altLang="en-US" smtClean="0"/>
              <a:t>2025/10/31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ED8CB-8445-4492-AEDA-73BC96AD05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53993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488" y="744538"/>
            <a:ext cx="6616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907"/>
            <a:ext cx="5438140" cy="4467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0091"/>
            <a:ext cx="2945659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30091"/>
            <a:ext cx="2945659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026F8CC-219F-4A5A-A4A6-0FB308FC0A3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349792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1997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3965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1310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88702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8076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40727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7307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631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7583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06068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29952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0"/>
          <p:cNvSpPr>
            <a:spLocks noChangeArrowheads="1"/>
          </p:cNvSpPr>
          <p:nvPr userDrawn="1"/>
        </p:nvSpPr>
        <p:spPr bwMode="auto">
          <a:xfrm flipV="1">
            <a:off x="31359" y="463261"/>
            <a:ext cx="2927349" cy="46038"/>
          </a:xfrm>
          <a:prstGeom prst="rect">
            <a:avLst/>
          </a:prstGeom>
          <a:solidFill>
            <a:srgbClr val="333399"/>
          </a:solidFill>
          <a:ln w="9525">
            <a:solidFill>
              <a:srgbClr val="333399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8" name="Text Box 13"/>
          <p:cNvSpPr txBox="1">
            <a:spLocks noChangeArrowheads="1"/>
          </p:cNvSpPr>
          <p:nvPr userDrawn="1"/>
        </p:nvSpPr>
        <p:spPr bwMode="auto">
          <a:xfrm>
            <a:off x="3407834" y="6530975"/>
            <a:ext cx="8784167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2" algn="r" eaLnBrk="1" hangingPunct="1">
              <a:spcBef>
                <a:spcPct val="50000"/>
              </a:spcBef>
              <a:defRPr/>
            </a:pPr>
            <a:r>
              <a:rPr lang="en-US" altLang="zh-CN" sz="1600" dirty="0">
                <a:ea typeface="华文行楷" pitchFamily="2" charset="-122"/>
              </a:rPr>
              <a:t>                                               </a:t>
            </a:r>
            <a:fld id="{8748388E-CF82-4F2B-B61E-53E66521D896}" type="slidenum">
              <a:rPr lang="en-US" altLang="zh-CN" sz="1600" smtClean="0"/>
              <a:pPr lvl="2" algn="r"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zh-CN" sz="1600" b="1" dirty="0"/>
          </a:p>
        </p:txBody>
      </p:sp>
      <p:pic>
        <p:nvPicPr>
          <p:cNvPr id="9" name="Picture 1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34" y="31751"/>
            <a:ext cx="191981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57393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341" r:id="rId1"/>
    <p:sldLayoutId id="2147485342" r:id="rId2"/>
    <p:sldLayoutId id="2147485343" r:id="rId3"/>
    <p:sldLayoutId id="2147485344" r:id="rId4"/>
    <p:sldLayoutId id="2147485345" r:id="rId5"/>
    <p:sldLayoutId id="2147485346" r:id="rId6"/>
    <p:sldLayoutId id="2147485347" r:id="rId7"/>
    <p:sldLayoutId id="2147485348" r:id="rId8"/>
    <p:sldLayoutId id="2147485349" r:id="rId9"/>
    <p:sldLayoutId id="2147485350" r:id="rId10"/>
    <p:sldLayoutId id="2147485351" r:id="rId11"/>
  </p:sldLayoutIdLst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ee.com/happyday159/course-materials/" TargetMode="External"/><Relationship Id="rId2" Type="http://schemas.openxmlformats.org/officeDocument/2006/relationships/hyperlink" Target="https://happyday159.github.io/course-materials/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1775520" y="836712"/>
            <a:ext cx="7772400" cy="685800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6000" b="1" dirty="0">
                <a:latin typeface="隶书"/>
                <a:ea typeface="隶书"/>
                <a:cs typeface="隶书"/>
              </a:rPr>
              <a:t>通信原理课程总结</a:t>
            </a:r>
          </a:p>
        </p:txBody>
      </p:sp>
      <p:sp>
        <p:nvSpPr>
          <p:cNvPr id="4" name="Text Box 11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3287688" y="2564904"/>
            <a:ext cx="4893096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chemeClr val="tx2"/>
                </a:solidFill>
                <a:ea typeface="隶书"/>
                <a:cs typeface="隶书"/>
              </a:rPr>
              <a:t>一、课程说明</a:t>
            </a:r>
            <a:endParaRPr lang="en-US" altLang="zh-CN" sz="3200" dirty="0">
              <a:solidFill>
                <a:schemeClr val="tx2"/>
              </a:solidFill>
              <a:ea typeface="隶书"/>
              <a:cs typeface="隶书"/>
            </a:endParaRPr>
          </a:p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chemeClr val="tx2"/>
                </a:solidFill>
                <a:ea typeface="隶书"/>
                <a:cs typeface="隶书"/>
              </a:rPr>
              <a:t>二、课程资料</a:t>
            </a:r>
            <a:endParaRPr lang="en-US" altLang="zh-CN" sz="3200" dirty="0">
              <a:solidFill>
                <a:schemeClr val="tx2"/>
              </a:solidFill>
              <a:ea typeface="隶书"/>
              <a:cs typeface="隶书"/>
            </a:endParaRPr>
          </a:p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chemeClr val="tx2"/>
                </a:solidFill>
                <a:ea typeface="隶书"/>
                <a:cs typeface="隶书"/>
              </a:rPr>
              <a:t>三、知识点梳理</a:t>
            </a:r>
          </a:p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chemeClr val="tx2"/>
                </a:solidFill>
                <a:ea typeface="隶书"/>
                <a:cs typeface="隶书"/>
              </a:rPr>
              <a:t> </a:t>
            </a:r>
            <a:endParaRPr lang="en-US" altLang="zh-CN" sz="3200" dirty="0">
              <a:solidFill>
                <a:schemeClr val="tx2"/>
              </a:solidFill>
              <a:ea typeface="隶书"/>
              <a:cs typeface="隶书"/>
            </a:endParaRPr>
          </a:p>
        </p:txBody>
      </p:sp>
    </p:spTree>
    <p:extLst>
      <p:ext uri="{BB962C8B-B14F-4D97-AF65-F5344CB8AC3E}">
        <p14:creationId xmlns:p14="http://schemas.microsoft.com/office/powerpoint/2010/main" val="4088772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51784" y="764704"/>
            <a:ext cx="295465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dirty="0">
                <a:solidFill>
                  <a:schemeClr val="tx2"/>
                </a:solidFill>
                <a:ea typeface="隶书"/>
                <a:cs typeface="隶书"/>
              </a:rPr>
              <a:t>一、课程说明</a:t>
            </a:r>
            <a:endParaRPr lang="en-US" altLang="zh-CN" sz="3600" dirty="0">
              <a:solidFill>
                <a:schemeClr val="tx2"/>
              </a:solidFill>
              <a:ea typeface="隶书"/>
              <a:cs typeface="隶书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316162" y="1700808"/>
            <a:ext cx="7559675" cy="414536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6700" algn="just" eaLnBrk="1" hangingPunct="1">
              <a:lnSpc>
                <a:spcPct val="200000"/>
              </a:lnSpc>
              <a:spcAft>
                <a:spcPts val="0"/>
              </a:spcAft>
              <a:defRPr/>
            </a:pPr>
            <a:r>
              <a:rPr lang="zh-CN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本课程为</a:t>
            </a:r>
            <a:r>
              <a:rPr lang="zh-CN" altLang="en-US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考试</a:t>
            </a:r>
            <a:r>
              <a:rPr lang="zh-CN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课；</a:t>
            </a:r>
            <a:endParaRPr lang="en-US" altLang="zh-CN" sz="2000" kern="100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  <a:p>
            <a:pPr indent="266700" algn="just" eaLnBrk="1" hangingPunct="1">
              <a:lnSpc>
                <a:spcPct val="200000"/>
              </a:lnSpc>
              <a:spcAft>
                <a:spcPts val="0"/>
              </a:spcAft>
              <a:defRPr/>
            </a:pPr>
            <a:r>
              <a:rPr lang="zh-CN" altLang="en-US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考查</a:t>
            </a:r>
            <a:r>
              <a:rPr lang="zh-CN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方式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----</a:t>
            </a:r>
            <a:r>
              <a:rPr lang="zh-CN" altLang="en-US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闭卷</a:t>
            </a:r>
            <a:r>
              <a:rPr lang="zh-CN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；</a:t>
            </a:r>
            <a:endParaRPr lang="en-US" altLang="zh-CN" sz="2000" kern="100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  <a:p>
            <a:pPr indent="266700" algn="just" eaLnBrk="1" hangingPunct="1">
              <a:lnSpc>
                <a:spcPct val="200000"/>
              </a:lnSpc>
              <a:spcAft>
                <a:spcPts val="0"/>
              </a:spcAft>
              <a:defRPr/>
            </a:pPr>
            <a:r>
              <a:rPr lang="zh-CN" altLang="en-US" sz="2400" b="1" kern="1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考试时间：</a:t>
            </a:r>
            <a:r>
              <a:rPr lang="en-US" altLang="zh-CN" sz="2400" b="1" kern="1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2025</a:t>
            </a:r>
            <a:r>
              <a:rPr lang="zh-CN" altLang="en-US" sz="2400" b="1" kern="1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年</a:t>
            </a:r>
            <a:r>
              <a:rPr lang="en-US" altLang="zh-CN" sz="2400" b="1" kern="1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11</a:t>
            </a:r>
            <a:r>
              <a:rPr lang="zh-CN" altLang="en-US" sz="2400" b="1" kern="1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月</a:t>
            </a:r>
            <a:r>
              <a:rPr lang="en-US" altLang="zh-CN" sz="2400" b="1" kern="1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12</a:t>
            </a:r>
            <a:r>
              <a:rPr lang="zh-CN" altLang="en-US" sz="2400" b="1" kern="1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日 </a:t>
            </a:r>
            <a:r>
              <a:rPr lang="en-US" altLang="zh-CN" sz="2400" b="1" kern="1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13</a:t>
            </a:r>
            <a:r>
              <a:rPr lang="zh-CN" altLang="en-US" sz="2400" b="1" kern="1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：</a:t>
            </a:r>
            <a:r>
              <a:rPr lang="en-US" altLang="zh-CN" sz="2400" b="1" kern="1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30-15</a:t>
            </a:r>
            <a:r>
              <a:rPr lang="zh-CN" altLang="en-US" sz="2400" b="1" kern="1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：</a:t>
            </a:r>
            <a:r>
              <a:rPr lang="en-US" altLang="zh-CN" sz="2400" b="1" kern="1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30 (</a:t>
            </a:r>
            <a:r>
              <a:rPr lang="zh-CN" altLang="en-US" sz="2400" b="1" kern="1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周三</a:t>
            </a:r>
            <a:r>
              <a:rPr lang="en-US" altLang="zh-CN" sz="2400" b="1" kern="1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)</a:t>
            </a:r>
          </a:p>
          <a:p>
            <a:pPr indent="266700" algn="just" eaLnBrk="1" hangingPunct="1">
              <a:lnSpc>
                <a:spcPct val="200000"/>
              </a:lnSpc>
              <a:spcAft>
                <a:spcPts val="0"/>
              </a:spcAft>
              <a:defRPr/>
            </a:pPr>
            <a:endParaRPr lang="en-US" altLang="zh-CN" sz="2400" b="1" kern="100" dirty="0">
              <a:solidFill>
                <a:srgbClr val="FF0000"/>
              </a:solidFill>
              <a:latin typeface="+mn-ea"/>
              <a:cs typeface="Times New Roman" panose="02020603050405020304" pitchFamily="18" charset="0"/>
            </a:endParaRPr>
          </a:p>
          <a:p>
            <a:pPr indent="266700" algn="just" eaLnBrk="1" hangingPunct="1">
              <a:lnSpc>
                <a:spcPct val="200000"/>
              </a:lnSpc>
              <a:spcAft>
                <a:spcPts val="0"/>
              </a:spcAft>
              <a:defRPr/>
            </a:pPr>
            <a:r>
              <a:rPr lang="zh-CN" altLang="en-US" sz="2400" b="1" kern="100" dirty="0">
                <a:latin typeface="+mn-ea"/>
                <a:cs typeface="Times New Roman" panose="02020603050405020304" pitchFamily="18" charset="0"/>
              </a:rPr>
              <a:t>试卷类型一：选择题</a:t>
            </a:r>
            <a:r>
              <a:rPr lang="en-US" altLang="zh-CN" sz="2400" b="1" kern="100" dirty="0">
                <a:latin typeface="+mn-ea"/>
                <a:cs typeface="Times New Roman" panose="02020603050405020304" pitchFamily="18" charset="0"/>
              </a:rPr>
              <a:t>20</a:t>
            </a:r>
            <a:r>
              <a:rPr lang="zh-CN" altLang="en-US" sz="2400" b="1" kern="100" dirty="0">
                <a:latin typeface="+mn-ea"/>
                <a:cs typeface="Times New Roman" panose="02020603050405020304" pitchFamily="18" charset="0"/>
              </a:rPr>
              <a:t>分，</a:t>
            </a:r>
            <a:r>
              <a:rPr lang="en-US" altLang="zh-CN" sz="2400" b="1" kern="100" dirty="0">
                <a:latin typeface="+mn-ea"/>
                <a:cs typeface="Times New Roman" panose="02020603050405020304" pitchFamily="18" charset="0"/>
              </a:rPr>
              <a:t>10</a:t>
            </a:r>
            <a:r>
              <a:rPr lang="zh-CN" altLang="en-US" sz="2400" b="1" kern="100" dirty="0">
                <a:latin typeface="+mn-ea"/>
                <a:cs typeface="Times New Roman" panose="02020603050405020304" pitchFamily="18" charset="0"/>
              </a:rPr>
              <a:t>道题</a:t>
            </a:r>
            <a:endParaRPr lang="en-US" altLang="zh-CN" sz="2400" b="1" kern="100" dirty="0">
              <a:latin typeface="+mn-ea"/>
              <a:cs typeface="Times New Roman" panose="02020603050405020304" pitchFamily="18" charset="0"/>
            </a:endParaRPr>
          </a:p>
          <a:p>
            <a:pPr indent="266700" algn="just" eaLnBrk="1" hangingPunct="1">
              <a:lnSpc>
                <a:spcPct val="200000"/>
              </a:lnSpc>
              <a:spcAft>
                <a:spcPts val="0"/>
              </a:spcAft>
              <a:defRPr/>
            </a:pPr>
            <a:r>
              <a:rPr lang="zh-CN" altLang="en-US" sz="2400" b="1" kern="100" dirty="0">
                <a:latin typeface="+mn-ea"/>
                <a:cs typeface="Times New Roman" panose="02020603050405020304" pitchFamily="18" charset="0"/>
              </a:rPr>
              <a:t>试卷类型二：计算分析题</a:t>
            </a:r>
            <a:r>
              <a:rPr lang="en-US" altLang="zh-CN" sz="2400" b="1" kern="100" dirty="0">
                <a:latin typeface="+mn-ea"/>
                <a:cs typeface="Times New Roman" panose="02020603050405020304" pitchFamily="18" charset="0"/>
              </a:rPr>
              <a:t>80</a:t>
            </a:r>
            <a:r>
              <a:rPr lang="zh-CN" altLang="en-US" sz="2400" b="1" kern="100" dirty="0">
                <a:latin typeface="+mn-ea"/>
                <a:cs typeface="Times New Roman" panose="02020603050405020304" pitchFamily="18" charset="0"/>
              </a:rPr>
              <a:t>分，每道题</a:t>
            </a:r>
            <a:r>
              <a:rPr lang="en-US" altLang="zh-CN" sz="2400" b="1" kern="100" dirty="0">
                <a:latin typeface="+mn-ea"/>
                <a:cs typeface="Times New Roman" panose="02020603050405020304" pitchFamily="18" charset="0"/>
              </a:rPr>
              <a:t>10</a:t>
            </a:r>
            <a:r>
              <a:rPr lang="zh-CN" altLang="en-US" sz="2400" b="1" kern="100" dirty="0">
                <a:latin typeface="+mn-ea"/>
                <a:cs typeface="Times New Roman" panose="02020603050405020304" pitchFamily="18" charset="0"/>
              </a:rPr>
              <a:t>分</a:t>
            </a:r>
            <a:r>
              <a:rPr lang="en-US" altLang="zh-CN" sz="2400" b="1" kern="100" dirty="0">
                <a:latin typeface="+mn-ea"/>
                <a:cs typeface="Times New Roman" panose="02020603050405020304" pitchFamily="18" charset="0"/>
              </a:rPr>
              <a:t>-20</a:t>
            </a:r>
            <a:r>
              <a:rPr lang="zh-CN" altLang="en-US" sz="2400" b="1" kern="100" dirty="0">
                <a:latin typeface="+mn-ea"/>
                <a:cs typeface="Times New Roman" panose="02020603050405020304" pitchFamily="18" charset="0"/>
              </a:rPr>
              <a:t>分</a:t>
            </a:r>
            <a:endParaRPr lang="zh-CN" altLang="zh-CN" sz="2400" b="1" kern="100" dirty="0"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5288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52CA9A-554A-DF43-9F5E-F81419F136E2}"/>
              </a:ext>
            </a:extLst>
          </p:cNvPr>
          <p:cNvSpPr txBox="1"/>
          <p:nvPr/>
        </p:nvSpPr>
        <p:spPr>
          <a:xfrm>
            <a:off x="479375" y="5954389"/>
            <a:ext cx="5328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https://happyday159.github.io/course-materials/</a:t>
            </a:r>
            <a:r>
              <a:rPr lang="zh-CN" altLang="en-US" dirty="0"/>
              <a:t> 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AFFD4C-F818-EF45-9F0C-D9C8BD09ACAC}"/>
              </a:ext>
            </a:extLst>
          </p:cNvPr>
          <p:cNvSpPr txBox="1">
            <a:spLocks noChangeArrowheads="1"/>
          </p:cNvSpPr>
          <p:nvPr/>
        </p:nvSpPr>
        <p:spPr>
          <a:xfrm>
            <a:off x="3920329" y="508780"/>
            <a:ext cx="6902450" cy="762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zh-CN" altLang="en-US" sz="32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本课程课程资料链接</a:t>
            </a:r>
            <a:r>
              <a:rPr lang="en-US" altLang="zh-CN" sz="32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itchFamily="2" charset="2"/>
              </a:rPr>
              <a:t>:(</a:t>
            </a:r>
            <a:r>
              <a:rPr lang="zh-CN" altLang="en-US" sz="32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itchFamily="2" charset="2"/>
              </a:rPr>
              <a:t>同步更新</a:t>
            </a:r>
            <a:r>
              <a:rPr lang="en-US" altLang="zh-CN" sz="32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itchFamily="2" charset="2"/>
              </a:rPr>
              <a:t>)</a:t>
            </a:r>
            <a:endParaRPr lang="zh-CN" altLang="en-US" sz="3200" b="1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9A0F9F-3BC3-734C-B85B-DAADCE184E05}"/>
              </a:ext>
            </a:extLst>
          </p:cNvPr>
          <p:cNvSpPr txBox="1"/>
          <p:nvPr/>
        </p:nvSpPr>
        <p:spPr>
          <a:xfrm>
            <a:off x="6540029" y="5954389"/>
            <a:ext cx="5328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https://gitee.com/happyday159/course-materials/</a:t>
            </a:r>
            <a:r>
              <a:rPr lang="en-US" dirty="0"/>
              <a:t> </a:t>
            </a:r>
          </a:p>
        </p:txBody>
      </p:sp>
      <p:sp>
        <p:nvSpPr>
          <p:cNvPr id="10" name="Text Box 1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8766588-EC78-5949-A9C1-43D3AD6DF7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686005"/>
            <a:ext cx="489309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chemeClr val="tx2"/>
                </a:solidFill>
                <a:ea typeface="隶书"/>
                <a:cs typeface="隶书"/>
              </a:rPr>
              <a:t>二、课程资料 </a:t>
            </a:r>
            <a:endParaRPr lang="en-US" altLang="zh-CN" sz="3200" dirty="0">
              <a:solidFill>
                <a:schemeClr val="tx2"/>
              </a:solidFill>
              <a:ea typeface="隶书"/>
              <a:cs typeface="隶书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F31F845-5FF4-6A4F-8E06-4BA82808A7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0028" y="980729"/>
            <a:ext cx="4688463" cy="43758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962B946-AC5F-A84E-9732-3B4BC8FC25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5439" y="1196752"/>
            <a:ext cx="4176465" cy="41918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01DF361-EDE9-1D42-AF0A-F6651C2A2E88}"/>
              </a:ext>
            </a:extLst>
          </p:cNvPr>
          <p:cNvSpPr txBox="1"/>
          <p:nvPr/>
        </p:nvSpPr>
        <p:spPr>
          <a:xfrm>
            <a:off x="1559495" y="5356626"/>
            <a:ext cx="9263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 err="1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Github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（网页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html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模式）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en-US" altLang="zh-CN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		</a:t>
            </a:r>
            <a:r>
              <a:rPr lang="zh-CN" altLang="en-US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国内镜像版</a:t>
            </a:r>
            <a:r>
              <a:rPr lang="en-US" altLang="zh-CN" b="1" dirty="0" err="1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Gitee</a:t>
            </a:r>
            <a:r>
              <a:rPr lang="zh-CN" altLang="en-US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（仅文件页面）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989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59697" y="1124744"/>
            <a:ext cx="503214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5400" dirty="0">
                <a:solidFill>
                  <a:schemeClr val="tx2"/>
                </a:solidFill>
                <a:ea typeface="隶书"/>
                <a:cs typeface="隶书"/>
              </a:rPr>
              <a:t>二、知识点梳理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575720" y="2276872"/>
            <a:ext cx="4968552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01 </a:t>
            </a:r>
            <a:r>
              <a:rPr lang="zh-CN" alt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绪论</a:t>
            </a:r>
            <a:endParaRPr lang="en-US" altLang="zh-CN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*</a:t>
            </a:r>
            <a:r>
              <a:rPr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02 </a:t>
            </a:r>
            <a:r>
              <a:rPr lang="zh-CN" alt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确知信号</a:t>
            </a:r>
            <a:endParaRPr lang="en-US" altLang="zh-CN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*</a:t>
            </a:r>
            <a:r>
              <a:rPr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03 </a:t>
            </a:r>
            <a:r>
              <a:rPr lang="zh-CN" alt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随机过程 </a:t>
            </a:r>
            <a:endParaRPr lang="en-US" altLang="zh-CN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04 </a:t>
            </a:r>
            <a:r>
              <a:rPr lang="zh-CN" alt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信道</a:t>
            </a:r>
            <a:endParaRPr lang="en-US" altLang="zh-CN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05 </a:t>
            </a:r>
            <a:r>
              <a:rPr lang="zh-CN" alt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模拟调制系统 </a:t>
            </a:r>
            <a:endParaRPr lang="en-US" altLang="zh-CN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06 </a:t>
            </a:r>
            <a:r>
              <a:rPr lang="zh-CN" alt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数字基带传输系统</a:t>
            </a:r>
            <a:endParaRPr lang="en-US" altLang="zh-CN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07 </a:t>
            </a:r>
            <a:r>
              <a:rPr lang="zh-CN" alt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数字带通传输系统</a:t>
            </a:r>
            <a:endParaRPr lang="en-US" altLang="zh-CN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*</a:t>
            </a:r>
            <a:r>
              <a:rPr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08 </a:t>
            </a:r>
            <a:r>
              <a:rPr lang="zh-CN" alt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新型数字带通调制技术</a:t>
            </a:r>
            <a:endParaRPr lang="en-US" altLang="zh-CN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11873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9B525A-7040-AB41-8B0E-021006F7C4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5560" y="729712"/>
            <a:ext cx="7488832" cy="5398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184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475A8D-57A0-9B41-931F-E4F08BF8A2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424" y="0"/>
            <a:ext cx="9865096" cy="6484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627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9D0644-6BDD-3146-92ED-EF0DF61D81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50" y="368300"/>
            <a:ext cx="8191500" cy="612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253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1C5321-107C-BB4C-AC40-6CB1543F90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94803" y="-2314819"/>
            <a:ext cx="6298338" cy="11161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582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/>
          <p:cNvCxnSpPr/>
          <p:nvPr/>
        </p:nvCxnSpPr>
        <p:spPr>
          <a:xfrm>
            <a:off x="5663952" y="1268760"/>
            <a:ext cx="0" cy="4104456"/>
          </a:xfrm>
          <a:prstGeom prst="line">
            <a:avLst/>
          </a:prstGeom>
          <a:ln w="762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3"/>
          <p:cNvSpPr txBox="1">
            <a:spLocks noChangeArrowheads="1"/>
          </p:cNvSpPr>
          <p:nvPr/>
        </p:nvSpPr>
        <p:spPr>
          <a:xfrm>
            <a:off x="2087682" y="144015"/>
            <a:ext cx="4989347" cy="548680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第一章</a:t>
            </a:r>
            <a:r>
              <a:rPr lang="zh-CN" altLang="en-US" sz="3200" b="1" dirty="0">
                <a:ea typeface="华文行楷" pitchFamily="2" charset="-122"/>
              </a:rPr>
              <a:t>绪论</a:t>
            </a:r>
            <a:r>
              <a:rPr lang="en-US" altLang="zh-CN" sz="3200" b="1" dirty="0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1</a:t>
            </a:r>
            <a:endParaRPr lang="zh-CN" altLang="en-US" sz="3200" b="1" dirty="0">
              <a:solidFill>
                <a:schemeClr val="tx1"/>
              </a:solidFill>
              <a:latin typeface="华文行楷" pitchFamily="2" charset="-122"/>
              <a:ea typeface="华文行楷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76" y="961450"/>
            <a:ext cx="4102980" cy="248682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717" y="3717032"/>
            <a:ext cx="4883649" cy="296402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096" y="158529"/>
            <a:ext cx="5051316" cy="329785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5549" y="3481153"/>
            <a:ext cx="4337306" cy="3089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667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2087682" y="144015"/>
            <a:ext cx="4989347" cy="548680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第一章</a:t>
            </a:r>
            <a:r>
              <a:rPr lang="zh-CN" altLang="en-US" sz="3200" b="1" dirty="0">
                <a:ea typeface="华文行楷" pitchFamily="2" charset="-122"/>
              </a:rPr>
              <a:t>绪论</a:t>
            </a:r>
            <a:r>
              <a:rPr lang="en-US" altLang="zh-CN" sz="3200" b="1" dirty="0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2</a:t>
            </a:r>
            <a:endParaRPr lang="zh-CN" altLang="en-US" sz="3200" b="1" dirty="0">
              <a:solidFill>
                <a:schemeClr val="tx1"/>
              </a:solidFill>
              <a:latin typeface="华文行楷" pitchFamily="2" charset="-122"/>
              <a:ea typeface="华文行楷" pitchFamily="2" charset="-12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15" y="671239"/>
            <a:ext cx="6885714" cy="522857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0430" y="110594"/>
            <a:ext cx="5040213" cy="356038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6858" y="418355"/>
            <a:ext cx="4447359" cy="3197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C396421-E512-DA42-B37E-F949C6AAAC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7248" y="3285524"/>
            <a:ext cx="4325182" cy="9566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F19617-C8B8-6A40-99C4-F44065FE24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1555" y="4204584"/>
            <a:ext cx="3197962" cy="2514222"/>
          </a:xfrm>
          <a:prstGeom prst="rect">
            <a:avLst/>
          </a:prstGeom>
        </p:spPr>
      </p:pic>
      <p:pic>
        <p:nvPicPr>
          <p:cNvPr id="1025" name="Picture 1" descr="page33image23540944">
            <a:extLst>
              <a:ext uri="{FF2B5EF4-FFF2-40B4-BE49-F238E27FC236}">
                <a16:creationId xmlns:a16="http://schemas.microsoft.com/office/drawing/2014/main" id="{B2A1A000-4BB0-1240-9F5E-C5361AEB3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15" y="5743880"/>
            <a:ext cx="6450942" cy="1095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9210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3416284" y="0"/>
            <a:ext cx="6335948" cy="786064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第一章 绪论</a:t>
            </a:r>
            <a:r>
              <a:rPr lang="en-US" altLang="zh-CN" sz="3200" b="1" dirty="0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3</a:t>
            </a:r>
            <a:endParaRPr lang="zh-CN" altLang="en-US" sz="3200" b="1" dirty="0">
              <a:solidFill>
                <a:schemeClr val="tx1"/>
              </a:solidFill>
              <a:latin typeface="华文行楷" pitchFamily="2" charset="-122"/>
              <a:ea typeface="华文行楷" pitchFamily="2" charset="-12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246655-97D2-9349-B577-24E7DE161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1520" y="0"/>
            <a:ext cx="4320480" cy="32459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9C2F27-6687-BF46-BF20-C23E1C1433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170" y="279197"/>
            <a:ext cx="5159839" cy="33996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F55F34-3C39-4545-9C04-C55D430209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998" y="3462194"/>
            <a:ext cx="4786329" cy="33958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C1341B-76EB-7548-8398-C4B2609A9E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2527" y="3109999"/>
            <a:ext cx="3903680" cy="26952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F60C7A-0FD9-A641-9D60-9339DAC116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7234" y="3374900"/>
            <a:ext cx="3122008" cy="2301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661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56F5304-0685-B942-9191-1D5A82BE6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36" y="764704"/>
            <a:ext cx="6840760" cy="43250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272E356-E540-9343-A4AE-4669B7D2943F}"/>
              </a:ext>
            </a:extLst>
          </p:cNvPr>
          <p:cNvSpPr txBox="1"/>
          <p:nvPr/>
        </p:nvSpPr>
        <p:spPr>
          <a:xfrm>
            <a:off x="407368" y="5119818"/>
            <a:ext cx="107644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举例分析</a:t>
            </a:r>
            <a:r>
              <a:rPr lang="zh-CN" altLang="en-US" b="1" dirty="0"/>
              <a:t>：</a:t>
            </a:r>
            <a:endParaRPr lang="en-US" altLang="zh-CN" b="1" dirty="0"/>
          </a:p>
          <a:p>
            <a:r>
              <a:rPr lang="en-US" altLang="zh-CN" b="1" dirty="0"/>
              <a:t>1.</a:t>
            </a:r>
            <a:r>
              <a:rPr lang="zh-CN" altLang="en-US" b="1" dirty="0"/>
              <a:t> </a:t>
            </a:r>
            <a:r>
              <a:rPr lang="ja-JP" altLang="en-US" sz="180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在</a:t>
            </a:r>
            <a:r>
              <a:rPr lang="en-US" altLang="zh-CN" sz="18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8</a:t>
            </a:r>
            <a:r>
              <a:rPr lang="ja-JP" altLang="en-US" sz="180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进制系统中，设码元速率</a:t>
            </a:r>
            <a:r>
              <a:rPr lang="en-US" sz="18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RB=1</a:t>
            </a:r>
            <a:r>
              <a:rPr lang="en-US" altLang="zh-CN" sz="18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2</a:t>
            </a:r>
            <a:r>
              <a:rPr lang="en-US" sz="18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00Baud,</a:t>
            </a:r>
            <a:r>
              <a:rPr lang="ja-JP" altLang="en-US" sz="180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信息速率</a:t>
            </a:r>
            <a:r>
              <a:rPr lang="en-US" sz="18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Rb </a:t>
            </a:r>
            <a:r>
              <a:rPr lang="ja-JP" altLang="en-US" sz="180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的值为</a:t>
            </a:r>
            <a:r>
              <a:rPr lang="zh-CN" altLang="en-US" sz="18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？</a:t>
            </a:r>
            <a:endParaRPr lang="en-US" altLang="zh-CN" b="1" dirty="0"/>
          </a:p>
          <a:p>
            <a:r>
              <a:rPr lang="en-US" altLang="zh-CN" b="1" dirty="0"/>
              <a:t>2.</a:t>
            </a:r>
            <a:r>
              <a:rPr lang="ja-JP" altLang="en-US" sz="180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 设在 </a:t>
            </a:r>
            <a:r>
              <a:rPr lang="en-US" altLang="ja-JP" sz="18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125 </a:t>
            </a:r>
            <a:r>
              <a:rPr lang="ja-JP" altLang="en-US" sz="180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毫秒内传输了 </a:t>
            </a:r>
            <a:r>
              <a:rPr lang="en-US" altLang="ja-JP" sz="18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1024 </a:t>
            </a:r>
            <a:r>
              <a:rPr lang="ja-JP" altLang="en-US" sz="180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个二进制码元，若在 </a:t>
            </a:r>
            <a:r>
              <a:rPr lang="en-US" altLang="ja-JP" sz="18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5 </a:t>
            </a:r>
            <a:r>
              <a:rPr lang="ja-JP" altLang="en-US" sz="180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秒内有 </a:t>
            </a:r>
            <a:r>
              <a:rPr lang="en-US" altLang="ja-JP" sz="18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3 </a:t>
            </a:r>
            <a:r>
              <a:rPr lang="ja-JP" altLang="en-US" sz="180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个码元发生了误码， 则误码率为</a:t>
            </a:r>
            <a:r>
              <a:rPr lang="zh-CN" altLang="en-US" sz="18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？</a:t>
            </a:r>
            <a:r>
              <a:rPr lang="ja-JP" altLang="en-US" sz="180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endParaRPr lang="en-US" altLang="zh-CN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02234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83B7D9-2EE7-B14A-8556-CFFB0FC0989B}"/>
              </a:ext>
            </a:extLst>
          </p:cNvPr>
          <p:cNvSpPr txBox="1"/>
          <p:nvPr/>
        </p:nvSpPr>
        <p:spPr>
          <a:xfrm>
            <a:off x="551384" y="692696"/>
            <a:ext cx="1072919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rPr>
              <a:t>【题1】</a:t>
            </a:r>
          </a:p>
          <a:p>
            <a:r>
              <a:rPr lang="en-US" sz="2400" dirty="0"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rPr>
              <a:t>8进制系统码元速率RB=1200Baud</a:t>
            </a:r>
            <a:r>
              <a:rPr lang="zh-CN" altLang="en-US" sz="2400" dirty="0"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rPr>
              <a:t>，</a:t>
            </a:r>
            <a:r>
              <a:rPr lang="en-US" sz="2400" dirty="0" err="1"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rPr>
              <a:t>求信息速率Rb</a:t>
            </a:r>
            <a:r>
              <a:rPr lang="en-US" sz="2400" dirty="0"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rPr>
              <a:t>？</a:t>
            </a:r>
          </a:p>
          <a:p>
            <a:endParaRPr lang="en-US" sz="2400" dirty="0">
              <a:latin typeface="FangSong_GB2312" panose="02010609030101010101" pitchFamily="49" charset="-122"/>
              <a:ea typeface="FangSong_GB2312" panose="02010609030101010101" pitchFamily="49" charset="-122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rPr>
              <a:t>公式：Rb</a:t>
            </a:r>
            <a:r>
              <a:rPr lang="en-US" sz="2400" dirty="0"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rPr>
              <a:t> = RB × </a:t>
            </a:r>
            <a:r>
              <a:rPr lang="en-US" sz="2400" dirty="0" err="1"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rPr>
              <a:t>log₂M</a:t>
            </a:r>
            <a:r>
              <a:rPr lang="zh-CN" altLang="en-US" sz="2400" dirty="0"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rPr>
              <a:t>                    </a:t>
            </a:r>
            <a:endParaRPr lang="en-US" altLang="zh-CN" sz="2400" dirty="0">
              <a:latin typeface="FangSong_GB2312" panose="02010609030101010101" pitchFamily="49" charset="-122"/>
              <a:ea typeface="FangSong_GB2312" panose="02010609030101010101" pitchFamily="49" charset="-122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rPr>
              <a:t>M = 8 → log₂8 = 3 bit/</a:t>
            </a:r>
            <a:r>
              <a:rPr lang="en-US" sz="2400" dirty="0" err="1"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rPr>
              <a:t>码元</a:t>
            </a:r>
            <a:endParaRPr lang="en-US" sz="2400" dirty="0">
              <a:latin typeface="FangSong_GB2312" panose="02010609030101010101" pitchFamily="49" charset="-122"/>
              <a:ea typeface="FangSong_GB2312" panose="02010609030101010101" pitchFamily="49" charset="-122"/>
              <a:cs typeface="Times New Roman" panose="02020603050405020304" pitchFamily="18" charset="0"/>
            </a:endParaRPr>
          </a:p>
          <a:p>
            <a:endParaRPr lang="en-US" sz="2400" dirty="0">
              <a:latin typeface="FangSong_GB2312" panose="02010609030101010101" pitchFamily="49" charset="-122"/>
              <a:ea typeface="FangSong_GB2312" panose="02010609030101010101" pitchFamily="49" charset="-122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rPr>
              <a:t>计算：Rb</a:t>
            </a:r>
            <a:r>
              <a:rPr lang="en-US" sz="2400" dirty="0"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rPr>
              <a:t> = 1200 × 3 = 3600 bit/s</a:t>
            </a:r>
          </a:p>
          <a:p>
            <a:endParaRPr lang="en-US" sz="2400" dirty="0">
              <a:latin typeface="FangSong_GB2312" panose="02010609030101010101" pitchFamily="49" charset="-122"/>
              <a:ea typeface="FangSong_GB2312" panose="02010609030101010101" pitchFamily="49" charset="-122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rPr>
              <a:t>【题2】</a:t>
            </a:r>
          </a:p>
          <a:p>
            <a:r>
              <a:rPr lang="en-US" sz="2400" dirty="0"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rPr>
              <a:t>125ms传1024个码元</a:t>
            </a:r>
            <a:r>
              <a:rPr lang="zh-CN" altLang="en-US" sz="2400" dirty="0"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rPr>
              <a:t>，</a:t>
            </a:r>
            <a:r>
              <a:rPr lang="en-US" sz="2400" dirty="0"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rPr>
              <a:t>5s内误码3个</a:t>
            </a:r>
            <a:r>
              <a:rPr lang="zh-CN" altLang="en-US" sz="2400" dirty="0"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rPr>
              <a:t>，</a:t>
            </a:r>
            <a:r>
              <a:rPr lang="en-US" sz="2400" dirty="0"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rPr>
              <a:t>求Pe</a:t>
            </a:r>
            <a:r>
              <a:rPr lang="en-US" sz="2400" dirty="0"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rPr>
              <a:t>？</a:t>
            </a:r>
          </a:p>
          <a:p>
            <a:endParaRPr lang="en-US" sz="2400" dirty="0">
              <a:latin typeface="FangSong_GB2312" panose="02010609030101010101" pitchFamily="49" charset="-122"/>
              <a:ea typeface="FangSong_GB2312" panose="02010609030101010101" pitchFamily="49" charset="-122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rPr>
              <a:t>① RB =1024÷0.125=8192码元/s</a:t>
            </a:r>
          </a:p>
          <a:p>
            <a:r>
              <a:rPr lang="en-US" sz="2400" dirty="0"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rPr>
              <a:t>② </a:t>
            </a:r>
            <a:r>
              <a:rPr lang="en-US" sz="2400" dirty="0" err="1"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rPr>
              <a:t>总码元</a:t>
            </a:r>
            <a:r>
              <a:rPr lang="en-US" sz="2400" dirty="0"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rPr>
              <a:t>=8192×5=40960</a:t>
            </a:r>
          </a:p>
          <a:p>
            <a:r>
              <a:rPr lang="en-US" sz="2400" dirty="0"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rPr>
              <a:t>③ Pe=3÷40960=7.32×10</a:t>
            </a:r>
            <a:r>
              <a:rPr lang="en-US" sz="2400" baseline="30000" dirty="0"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rPr>
              <a:t>-5</a:t>
            </a:r>
            <a:endParaRPr lang="en-US" sz="2400" dirty="0">
              <a:latin typeface="FangSong_GB2312" panose="02010609030101010101" pitchFamily="49" charset="-122"/>
              <a:ea typeface="FangSong_GB2312" panose="0201060903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2198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2855640" y="39154"/>
            <a:ext cx="5040560" cy="541625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第二章 确知信号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44" y="692696"/>
            <a:ext cx="5483029" cy="324036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920" y="580779"/>
            <a:ext cx="6523809" cy="265714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4373" y="3068960"/>
            <a:ext cx="5428317" cy="3637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08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046" name="Rectangle 94"/>
          <p:cNvSpPr>
            <a:spLocks noChangeArrowheads="1"/>
          </p:cNvSpPr>
          <p:nvPr/>
        </p:nvSpPr>
        <p:spPr bwMode="auto">
          <a:xfrm>
            <a:off x="3581400" y="152400"/>
            <a:ext cx="152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zh-CN" sz="2800" b="1">
              <a:solidFill>
                <a:srgbClr val="CC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2855640" y="39154"/>
            <a:ext cx="5040560" cy="541625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第四章 信道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44" y="580780"/>
            <a:ext cx="4320480" cy="262361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344" y="3429000"/>
            <a:ext cx="4436930" cy="316835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6240" y="54051"/>
            <a:ext cx="3513604" cy="276682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944" y="2710992"/>
            <a:ext cx="4968552" cy="388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980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584" y="476672"/>
            <a:ext cx="8218615" cy="5973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2000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8FFC1D-71E8-5241-8537-B15FDED25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60" y="836712"/>
            <a:ext cx="5948806" cy="4504212"/>
          </a:xfrm>
          <a:prstGeom prst="rect">
            <a:avLst/>
          </a:prstGeom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707FB2E7-B4AE-2449-8338-89D020BD5231}"/>
              </a:ext>
            </a:extLst>
          </p:cNvPr>
          <p:cNvSpPr txBox="1">
            <a:spLocks noChangeArrowheads="1"/>
          </p:cNvSpPr>
          <p:nvPr/>
        </p:nvSpPr>
        <p:spPr>
          <a:xfrm>
            <a:off x="2927648" y="152400"/>
            <a:ext cx="5040560" cy="541625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第五章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模拟调制系统</a:t>
            </a:r>
            <a:r>
              <a:rPr lang="en-US" altLang="zh-CN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en-US" altLang="zh-CN" sz="3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F7B23F-DC97-6845-BC62-55B5A92C2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1076" y="870262"/>
            <a:ext cx="5980121" cy="4437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868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B45D0A-EFE3-0B40-960A-45F9982F0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56" y="523428"/>
            <a:ext cx="5061765" cy="359357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8D75123-6B49-F749-B108-82FFEB6C3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68" y="523428"/>
            <a:ext cx="5688632" cy="373593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C4320DF-C519-1C48-9B07-31340DB8282B}"/>
              </a:ext>
            </a:extLst>
          </p:cNvPr>
          <p:cNvSpPr txBox="1">
            <a:spLocks noChangeArrowheads="1"/>
          </p:cNvSpPr>
          <p:nvPr/>
        </p:nvSpPr>
        <p:spPr>
          <a:xfrm>
            <a:off x="2927648" y="152400"/>
            <a:ext cx="5040560" cy="541625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第五章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模拟调制系统</a:t>
            </a:r>
            <a:r>
              <a:rPr lang="en-US" altLang="zh-CN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en-US" altLang="zh-CN" sz="3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753957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5DCF305E-7948-5448-B4C0-9C899E3FFDEF}"/>
              </a:ext>
            </a:extLst>
          </p:cNvPr>
          <p:cNvSpPr txBox="1">
            <a:spLocks noChangeArrowheads="1"/>
          </p:cNvSpPr>
          <p:nvPr/>
        </p:nvSpPr>
        <p:spPr>
          <a:xfrm>
            <a:off x="2927648" y="152400"/>
            <a:ext cx="5040560" cy="541625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第五章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模拟调制系统</a:t>
            </a:r>
            <a:r>
              <a:rPr lang="en-US" altLang="zh-CN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en-US" altLang="zh-CN" sz="3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C82DA4-A44E-6446-900D-1A15415AB94F}"/>
              </a:ext>
            </a:extLst>
          </p:cNvPr>
          <p:cNvSpPr txBox="1"/>
          <p:nvPr/>
        </p:nvSpPr>
        <p:spPr>
          <a:xfrm>
            <a:off x="407368" y="1052736"/>
            <a:ext cx="301877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2800" b="1" dirty="0" err="1">
                <a:solidFill>
                  <a:srgbClr val="002060"/>
                </a:solidFill>
              </a:rPr>
              <a:t>线性调制</a:t>
            </a:r>
            <a:r>
              <a:rPr lang="zh-CN" altLang="en-US" sz="2800" b="1" dirty="0">
                <a:solidFill>
                  <a:srgbClr val="002060"/>
                </a:solidFill>
              </a:rPr>
              <a:t>：？</a:t>
            </a:r>
            <a:endParaRPr lang="en-US" sz="2800" b="1" dirty="0">
              <a:solidFill>
                <a:srgbClr val="002060"/>
              </a:solidFill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 sz="2800" b="1" dirty="0" err="1">
                <a:solidFill>
                  <a:srgbClr val="002060"/>
                </a:solidFill>
              </a:rPr>
              <a:t>非线性调制</a:t>
            </a:r>
            <a:r>
              <a:rPr lang="zh-CN" altLang="en-US" sz="2800" b="1" dirty="0">
                <a:solidFill>
                  <a:srgbClr val="002060"/>
                </a:solidFill>
              </a:rPr>
              <a:t>：？</a:t>
            </a:r>
            <a:endParaRPr lang="en-US" sz="2800" b="1" dirty="0">
              <a:solidFill>
                <a:srgbClr val="00206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95C55C-2D2B-2746-B00C-1901DEFC8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30" y="2507673"/>
            <a:ext cx="5782875" cy="33123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FDEFD0-D882-0848-990E-4983D8F8B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072" y="2765305"/>
            <a:ext cx="4534209" cy="3058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4384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046" name="Rectangle 94"/>
          <p:cNvSpPr>
            <a:spLocks noChangeArrowheads="1"/>
          </p:cNvSpPr>
          <p:nvPr/>
        </p:nvSpPr>
        <p:spPr bwMode="auto">
          <a:xfrm>
            <a:off x="3581400" y="152400"/>
            <a:ext cx="152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zh-CN" sz="2800" b="1">
              <a:solidFill>
                <a:srgbClr val="CC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2855640" y="39154"/>
            <a:ext cx="5040560" cy="541625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第六章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数字基带传输系统</a:t>
            </a:r>
            <a:endParaRPr lang="zh-CN" altLang="en-US" sz="3200" b="1" dirty="0">
              <a:solidFill>
                <a:schemeClr val="tx1"/>
              </a:solidFill>
              <a:latin typeface="华文行楷" pitchFamily="2" charset="-122"/>
              <a:ea typeface="华文行楷" pitchFamily="2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824" y="548272"/>
            <a:ext cx="5642284" cy="423372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037" y="4653136"/>
            <a:ext cx="5365858" cy="200808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3930" y="1700809"/>
            <a:ext cx="5988185" cy="432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20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B2E8F-A23C-3A40-A1D8-0B0475055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6160" y="204058"/>
            <a:ext cx="2651760" cy="5334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拓展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B9599-D02D-BC45-BEBD-273FD65306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07F4DD2-422A-41DA-9080-89F305368B89}" type="slidenum">
              <a:rPr lang="zh-CN" altLang="en-US" smtClean="0"/>
              <a:pPr>
                <a:defRPr/>
              </a:pPr>
              <a:t>20</a:t>
            </a:fld>
            <a:endParaRPr lang="en-US" altLang="zh-C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DB12736-7E0F-E948-8D6F-8D5B886DFCEA}"/>
              </a:ext>
            </a:extLst>
          </p:cNvPr>
          <p:cNvGraphicFramePr>
            <a:graphicFrameLocks noGrp="1"/>
          </p:cNvGraphicFramePr>
          <p:nvPr/>
        </p:nvGraphicFramePr>
        <p:xfrm>
          <a:off x="1829592" y="789514"/>
          <a:ext cx="8595360" cy="14925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48427">
                  <a:extLst>
                    <a:ext uri="{9D8B030D-6E8A-4147-A177-3AD203B41FA5}">
                      <a16:colId xmlns:a16="http://schemas.microsoft.com/office/drawing/2014/main" val="1025659365"/>
                    </a:ext>
                  </a:extLst>
                </a:gridCol>
                <a:gridCol w="1329104">
                  <a:extLst>
                    <a:ext uri="{9D8B030D-6E8A-4147-A177-3AD203B41FA5}">
                      <a16:colId xmlns:a16="http://schemas.microsoft.com/office/drawing/2014/main" val="3534225398"/>
                    </a:ext>
                  </a:extLst>
                </a:gridCol>
                <a:gridCol w="1285909">
                  <a:extLst>
                    <a:ext uri="{9D8B030D-6E8A-4147-A177-3AD203B41FA5}">
                      <a16:colId xmlns:a16="http://schemas.microsoft.com/office/drawing/2014/main" val="3443330212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3778883939"/>
                    </a:ext>
                  </a:extLst>
                </a:gridCol>
              </a:tblGrid>
              <a:tr h="212905">
                <a:tc>
                  <a:txBody>
                    <a:bodyPr/>
                    <a:lstStyle/>
                    <a:p>
                      <a:pPr algn="ctr" fontAlgn="t"/>
                      <a:r>
                        <a:rPr lang="ja-JP" altLang="en-US" sz="1400" b="1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FangSong_GB2312" panose="02010609030101010101" pitchFamily="49" charset="-122"/>
                          <a:cs typeface="Times New Roman" panose="02020603050405020304" pitchFamily="18" charset="0"/>
                        </a:rPr>
                        <a:t>映射类型</a:t>
                      </a:r>
                      <a:endParaRPr lang="ja-JP" altLang="en-US" sz="1400" b="1" i="0" u="none" strike="noStrike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FangSong_GB2312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ja-JP" altLang="en-US" sz="1400" b="1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FangSong_GB2312" panose="02010609030101010101" pitchFamily="49" charset="-122"/>
                          <a:cs typeface="Times New Roman" panose="02020603050405020304" pitchFamily="18" charset="0"/>
                        </a:rPr>
                        <a:t>电平顺序</a:t>
                      </a:r>
                      <a:endParaRPr lang="ja-JP" altLang="en-US" sz="1400" b="1" i="0" u="none" strike="noStrike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FangSong_GB2312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ja-JP" altLang="en-US" sz="1400" b="1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FangSong_GB2312" panose="02010609030101010101" pitchFamily="49" charset="-122"/>
                          <a:cs typeface="Times New Roman" panose="02020603050405020304" pitchFamily="18" charset="0"/>
                        </a:rPr>
                        <a:t>比特映射</a:t>
                      </a:r>
                      <a:endParaRPr lang="ja-JP" altLang="en-US" sz="1400" b="1" i="0" u="none" strike="noStrike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FangSong_GB2312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ja-JP" altLang="en-US" sz="1400" b="1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FangSong_GB2312" panose="02010609030101010101" pitchFamily="49" charset="-122"/>
                          <a:cs typeface="Times New Roman" panose="02020603050405020304" pitchFamily="18" charset="0"/>
                        </a:rPr>
                        <a:t>说明</a:t>
                      </a:r>
                      <a:endParaRPr lang="ja-JP" altLang="en-US" sz="1400" b="1" i="0" u="none" strike="noStrike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FangSong_GB2312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0931692"/>
                  </a:ext>
                </a:extLst>
              </a:tr>
              <a:tr h="416712"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400" b="1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FangSong_GB2312" panose="02010609030101010101" pitchFamily="49" charset="-122"/>
                          <a:cs typeface="Times New Roman" panose="02020603050405020304" pitchFamily="18" charset="0"/>
                        </a:rPr>
                        <a:t>标准二进制正极性</a:t>
                      </a:r>
                      <a:endParaRPr lang="ja-JP" altLang="en-US" sz="1400" b="1" i="0" u="none" strike="noStrike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FangSong_GB2312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FangSong_GB2312" panose="02010609030101010101" pitchFamily="49" charset="-122"/>
                          <a:cs typeface="Times New Roman" panose="02020603050405020304" pitchFamily="18" charset="0"/>
                        </a:rPr>
                        <a:t>+3E, +E, -E, -3E</a:t>
                      </a:r>
                      <a:endParaRPr lang="en-US" sz="1400" b="1" i="0" u="none" strike="noStrike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FangSong_GB2312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FangSong_GB2312" panose="02010609030101010101" pitchFamily="49" charset="-122"/>
                          <a:cs typeface="Times New Roman" panose="02020603050405020304" pitchFamily="18" charset="0"/>
                        </a:rPr>
                        <a:t>00, 01, 10, 11</a:t>
                      </a:r>
                      <a:endParaRPr lang="en-US" sz="1400" b="1" i="0" u="none" strike="noStrike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FangSong_GB2312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400" b="1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FangSong_GB2312" panose="02010609030101010101" pitchFamily="49" charset="-122"/>
                          <a:cs typeface="Times New Roman" panose="02020603050405020304" pitchFamily="18" charset="0"/>
                        </a:rPr>
                        <a:t>电平随比特值增大而降低（高电平代表小码值）</a:t>
                      </a:r>
                      <a:endParaRPr lang="ja-JP" altLang="en-US" sz="1400" b="1" i="0" u="none" strike="noStrike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FangSong_GB2312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361250"/>
                  </a:ext>
                </a:extLst>
              </a:tr>
              <a:tr h="416712"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400" b="1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FangSong_GB2312" panose="02010609030101010101" pitchFamily="49" charset="-122"/>
                          <a:cs typeface="Times New Roman" panose="02020603050405020304" pitchFamily="18" charset="0"/>
                        </a:rPr>
                        <a:t>反极性（电平反向）</a:t>
                      </a:r>
                      <a:endParaRPr lang="ja-JP" altLang="en-US" sz="1400" b="1" i="0" u="none" strike="noStrike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FangSong_GB2312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FangSong_GB2312" panose="02010609030101010101" pitchFamily="49" charset="-122"/>
                          <a:cs typeface="Times New Roman" panose="02020603050405020304" pitchFamily="18" charset="0"/>
                        </a:rPr>
                        <a:t>-3E, -E, +E, +3E</a:t>
                      </a:r>
                      <a:endParaRPr lang="en-US" sz="1400" b="1" i="0" u="none" strike="noStrike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FangSong_GB2312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FangSong_GB2312" panose="02010609030101010101" pitchFamily="49" charset="-122"/>
                          <a:cs typeface="Times New Roman" panose="02020603050405020304" pitchFamily="18" charset="0"/>
                        </a:rPr>
                        <a:t>00, 01, 10, 11</a:t>
                      </a:r>
                      <a:endParaRPr lang="en-US" sz="1400" b="1" i="0" u="none" strike="noStrike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FangSong_GB2312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400" b="1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FangSong_GB2312" panose="02010609030101010101" pitchFamily="49" charset="-122"/>
                          <a:cs typeface="Times New Roman" panose="02020603050405020304" pitchFamily="18" charset="0"/>
                        </a:rPr>
                        <a:t>整体反相（放大器或通道反向）</a:t>
                      </a:r>
                      <a:endParaRPr lang="ja-JP" altLang="en-US" sz="1400" b="1" i="0" u="none" strike="noStrike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FangSong_GB2312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115935"/>
                  </a:ext>
                </a:extLst>
              </a:tr>
              <a:tr h="41671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FangSong_GB2312" panose="02010609030101010101" pitchFamily="49" charset="-122"/>
                          <a:cs typeface="Times New Roman" panose="02020603050405020304" pitchFamily="18" charset="0"/>
                        </a:rPr>
                        <a:t>Gray </a:t>
                      </a:r>
                      <a:r>
                        <a:rPr lang="ja-JP" altLang="en-US" sz="1400" b="1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FangSong_GB2312" panose="02010609030101010101" pitchFamily="49" charset="-122"/>
                          <a:cs typeface="Times New Roman" panose="02020603050405020304" pitchFamily="18" charset="0"/>
                        </a:rPr>
                        <a:t>编码（最小比特误差）</a:t>
                      </a:r>
                      <a:endParaRPr lang="ja-JP" altLang="en-US" sz="1400" b="1" i="0" u="none" strike="noStrike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FangSong_GB2312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FangSong_GB2312" panose="02010609030101010101" pitchFamily="49" charset="-122"/>
                          <a:cs typeface="Times New Roman" panose="02020603050405020304" pitchFamily="18" charset="0"/>
                        </a:rPr>
                        <a:t>+3E, +E, -E, -3E</a:t>
                      </a:r>
                      <a:endParaRPr lang="en-US" sz="1400" b="1" i="0" u="none" strike="noStrike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FangSong_GB2312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FangSong_GB2312" panose="02010609030101010101" pitchFamily="49" charset="-122"/>
                          <a:cs typeface="Times New Roman" panose="02020603050405020304" pitchFamily="18" charset="0"/>
                        </a:rPr>
                        <a:t>00, 01, 11, 10</a:t>
                      </a:r>
                      <a:endParaRPr lang="en-US" sz="1400" b="1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FangSong_GB2312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400" b="1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FangSong_GB2312" panose="02010609030101010101" pitchFamily="49" charset="-122"/>
                          <a:cs typeface="Times New Roman" panose="02020603050405020304" pitchFamily="18" charset="0"/>
                        </a:rPr>
                        <a:t>相邻电平仅有</a:t>
                      </a:r>
                      <a:r>
                        <a:rPr lang="en-US" altLang="ja-JP" sz="1400" b="1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FangSong_GB2312" panose="0201060903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ja-JP" altLang="en-US" sz="1400" b="1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FangSong_GB2312" panose="02010609030101010101" pitchFamily="49" charset="-122"/>
                          <a:cs typeface="Times New Roman" panose="02020603050405020304" pitchFamily="18" charset="0"/>
                        </a:rPr>
                        <a:t>位比特不同，降低误码影响</a:t>
                      </a:r>
                      <a:endParaRPr lang="ja-JP" altLang="en-US" sz="1400" b="1" i="0" u="none" strike="noStrike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FangSong_GB2312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925295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0A795E0-4F49-7540-8FBD-65FD0A029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8216" y="2563551"/>
            <a:ext cx="4520300" cy="12312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76D529-0567-8D4C-8503-11A1C8CB1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462" y="2511203"/>
            <a:ext cx="3831710" cy="12312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AC0AD61-10F3-5C46-B3FF-DDA4600784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3295" y="4126360"/>
            <a:ext cx="6350443" cy="21721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B3B4D87-7D65-D045-A6E0-CC1C84D50C69}"/>
              </a:ext>
            </a:extLst>
          </p:cNvPr>
          <p:cNvSpPr txBox="1"/>
          <p:nvPr/>
        </p:nvSpPr>
        <p:spPr>
          <a:xfrm>
            <a:off x="5134864" y="6182306"/>
            <a:ext cx="10727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Gray</a:t>
            </a:r>
          </a:p>
        </p:txBody>
      </p:sp>
    </p:spTree>
    <p:extLst>
      <p:ext uri="{BB962C8B-B14F-4D97-AF65-F5344CB8AC3E}">
        <p14:creationId xmlns:p14="http://schemas.microsoft.com/office/powerpoint/2010/main" val="30952234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32" y="539388"/>
            <a:ext cx="5765606" cy="38884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6B68A2-7D75-6B4A-BAE0-FCAA924A7772}"/>
              </a:ext>
            </a:extLst>
          </p:cNvPr>
          <p:cNvSpPr txBox="1"/>
          <p:nvPr/>
        </p:nvSpPr>
        <p:spPr>
          <a:xfrm>
            <a:off x="732514" y="5733256"/>
            <a:ext cx="2480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Ami</a:t>
            </a:r>
            <a:r>
              <a:rPr lang="zh-CN" altLang="en-US" dirty="0"/>
              <a:t>，</a:t>
            </a:r>
            <a:r>
              <a:rPr lang="en-US" altLang="zh-CN" dirty="0"/>
              <a:t>hdb3</a:t>
            </a:r>
            <a:r>
              <a:rPr lang="zh-CN" altLang="en-US" dirty="0"/>
              <a:t>，曼彻斯特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1A59EE-24B5-994F-B416-1D29B07B32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840" y="332656"/>
            <a:ext cx="5586710" cy="37558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2DFCD3-BE81-F347-895C-4BBBF6F6D9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7343" y="3933056"/>
            <a:ext cx="6287551" cy="2417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9096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1030" y="436232"/>
            <a:ext cx="6130970" cy="45453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174E429-4330-1143-AFC2-DE4BA67C5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344" y="908720"/>
            <a:ext cx="6492096" cy="470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9772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7" y="25467"/>
            <a:ext cx="5328592" cy="381553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69" y="3715556"/>
            <a:ext cx="4077408" cy="295380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2024" y="43872"/>
            <a:ext cx="5328592" cy="377872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1984" y="3715556"/>
            <a:ext cx="5483195" cy="2978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3557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47" y="25467"/>
            <a:ext cx="5760640" cy="422723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816" y="171433"/>
            <a:ext cx="4680520" cy="338857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5016" y="3713816"/>
            <a:ext cx="4646984" cy="291618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1140" y="4198496"/>
            <a:ext cx="3414212" cy="243150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38" y="4005064"/>
            <a:ext cx="3806954" cy="268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3368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548D39-C474-334A-BFA3-DBC9BBBDC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9" y="116632"/>
            <a:ext cx="5447928" cy="38376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87B57A-056C-8740-AD98-0B4F400867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249" y="3918773"/>
            <a:ext cx="4430607" cy="27724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9AEB4C-1A83-BB4E-9DFF-F7C44A2D87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7856" y="3900607"/>
            <a:ext cx="4475343" cy="29602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9F894D-3977-9143-A54D-783964C261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048" y="116632"/>
            <a:ext cx="4708253" cy="31550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19D2038-0DF3-4548-8A6D-F3B63DC7FE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4434" y="3251905"/>
            <a:ext cx="4708253" cy="357177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A027E44-3CFD-5145-B228-26CECA0F8B67}"/>
              </a:ext>
            </a:extLst>
          </p:cNvPr>
          <p:cNvSpPr txBox="1"/>
          <p:nvPr/>
        </p:nvSpPr>
        <p:spPr>
          <a:xfrm>
            <a:off x="-3227294" y="-9144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3D40E6-210C-8B4F-AAF5-D63FF97E85C8}"/>
              </a:ext>
            </a:extLst>
          </p:cNvPr>
          <p:cNvSpPr txBox="1"/>
          <p:nvPr/>
        </p:nvSpPr>
        <p:spPr>
          <a:xfrm>
            <a:off x="6397269" y="2035466"/>
            <a:ext cx="6783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K=-1</a:t>
            </a:r>
          </a:p>
          <a:p>
            <a:r>
              <a:rPr lang="en-US" dirty="0">
                <a:solidFill>
                  <a:srgbClr val="FF0000"/>
                </a:solidFill>
              </a:rPr>
              <a:t>K=0</a:t>
            </a:r>
          </a:p>
          <a:p>
            <a:r>
              <a:rPr lang="en-US" dirty="0">
                <a:solidFill>
                  <a:srgbClr val="FF0000"/>
                </a:solidFill>
              </a:rPr>
              <a:t>K=1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90BB0F-57BD-724A-B4C4-4BE3A073AAE2}"/>
              </a:ext>
            </a:extLst>
          </p:cNvPr>
          <p:cNvSpPr txBox="1"/>
          <p:nvPr/>
        </p:nvSpPr>
        <p:spPr>
          <a:xfrm>
            <a:off x="7104112" y="1509473"/>
            <a:ext cx="1883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=-1,0,1依次代入</a:t>
            </a:r>
          </a:p>
        </p:txBody>
      </p:sp>
    </p:spTree>
    <p:extLst>
      <p:ext uri="{BB962C8B-B14F-4D97-AF65-F5344CB8AC3E}">
        <p14:creationId xmlns:p14="http://schemas.microsoft.com/office/powerpoint/2010/main" val="365840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046" name="Rectangle 94"/>
          <p:cNvSpPr>
            <a:spLocks noChangeArrowheads="1"/>
          </p:cNvSpPr>
          <p:nvPr/>
        </p:nvSpPr>
        <p:spPr bwMode="auto">
          <a:xfrm>
            <a:off x="3581400" y="152400"/>
            <a:ext cx="152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zh-CN" sz="2800" b="1">
              <a:solidFill>
                <a:srgbClr val="CC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2855640" y="39154"/>
            <a:ext cx="5040560" cy="541625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第七章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数字带通传输系统</a:t>
            </a:r>
            <a:endParaRPr lang="en-US" altLang="zh-CN" sz="3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31" y="756493"/>
            <a:ext cx="5118089" cy="352704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6848" y="3140968"/>
            <a:ext cx="4842792" cy="355978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0913" y="604556"/>
            <a:ext cx="5197152" cy="242330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392" y="4283540"/>
            <a:ext cx="3168352" cy="2380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08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" y="0"/>
            <a:ext cx="4968552" cy="351516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928" y="595289"/>
            <a:ext cx="6495238" cy="481904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067" y="3591907"/>
            <a:ext cx="4374958" cy="3099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3354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496" y="280569"/>
            <a:ext cx="3699393" cy="273630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85" y="3573016"/>
            <a:ext cx="3699393" cy="264750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8729" y="3573016"/>
            <a:ext cx="4077471" cy="298559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6200" y="156690"/>
            <a:ext cx="3861417" cy="289466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4232" y="3475107"/>
            <a:ext cx="3744416" cy="284332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488" y="540994"/>
            <a:ext cx="8054744" cy="6090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902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38" y="34594"/>
            <a:ext cx="5126671" cy="381642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5" y="3717032"/>
            <a:ext cx="4773999" cy="303213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6040" y="101147"/>
            <a:ext cx="5253297" cy="373123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0096" y="3747301"/>
            <a:ext cx="4362925" cy="2979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9450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046" name="Rectangle 94"/>
          <p:cNvSpPr>
            <a:spLocks noChangeArrowheads="1"/>
          </p:cNvSpPr>
          <p:nvPr/>
        </p:nvSpPr>
        <p:spPr bwMode="auto">
          <a:xfrm>
            <a:off x="3581400" y="152400"/>
            <a:ext cx="152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zh-CN" sz="2800" b="1">
              <a:solidFill>
                <a:srgbClr val="CC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2999656" y="152400"/>
            <a:ext cx="6192688" cy="799046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第八章新型数字带通调制技术</a:t>
            </a:r>
            <a:endParaRPr lang="en-US" altLang="zh-CN" sz="3200" b="1" dirty="0">
              <a:solidFill>
                <a:schemeClr val="tx1"/>
              </a:solidFill>
              <a:latin typeface="华文行楷" pitchFamily="2" charset="-122"/>
              <a:ea typeface="华文行楷" pitchFamily="2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60" y="838200"/>
            <a:ext cx="4320480" cy="312106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1378" y="838200"/>
            <a:ext cx="5677529" cy="4258147"/>
          </a:xfrm>
          <a:prstGeom prst="rect">
            <a:avLst/>
          </a:prstGeom>
        </p:spPr>
      </p:pic>
      <p:grpSp>
        <p:nvGrpSpPr>
          <p:cNvPr id="6" name="组合 13"/>
          <p:cNvGrpSpPr>
            <a:grpSpLocks/>
          </p:cNvGrpSpPr>
          <p:nvPr/>
        </p:nvGrpSpPr>
        <p:grpSpPr bwMode="auto">
          <a:xfrm>
            <a:off x="191344" y="4148746"/>
            <a:ext cx="4608512" cy="2304256"/>
            <a:chOff x="605940" y="357166"/>
            <a:chExt cx="7752274" cy="3513817"/>
          </a:xfrm>
        </p:grpSpPr>
        <p:pic>
          <p:nvPicPr>
            <p:cNvPr id="7" name="Picture 4" descr="0735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5940" y="357166"/>
              <a:ext cx="7752274" cy="35138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8" name="直接箭头连接符 12"/>
            <p:cNvCxnSpPr>
              <a:cxnSpLocks noChangeShapeType="1"/>
            </p:cNvCxnSpPr>
            <p:nvPr/>
          </p:nvCxnSpPr>
          <p:spPr bwMode="auto">
            <a:xfrm rot="5400000">
              <a:off x="5129784" y="3056164"/>
              <a:ext cx="428628" cy="1588"/>
            </a:xfrm>
            <a:prstGeom prst="straightConnector1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0051" y="4998094"/>
            <a:ext cx="3702253" cy="1721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480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"/>
          <p:cNvSpPr txBox="1">
            <a:spLocks noChangeArrowheads="1"/>
          </p:cNvSpPr>
          <p:nvPr/>
        </p:nvSpPr>
        <p:spPr bwMode="auto">
          <a:xfrm>
            <a:off x="3369274" y="2708920"/>
            <a:ext cx="100860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8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 dirty="0"/>
              <a:t>所有</a:t>
            </a:r>
            <a:r>
              <a:rPr lang="en-US" altLang="zh-CN" sz="1800" b="1" dirty="0" err="1"/>
              <a:t>ppt</a:t>
            </a:r>
            <a:endParaRPr lang="en-US" sz="1800" b="1" dirty="0">
              <a:solidFill>
                <a:srgbClr val="FF0000"/>
              </a:solidFill>
            </a:endParaRPr>
          </a:p>
        </p:txBody>
      </p:sp>
      <p:sp>
        <p:nvSpPr>
          <p:cNvPr id="12" name="TextBox 7"/>
          <p:cNvSpPr txBox="1">
            <a:spLocks noChangeArrowheads="1"/>
          </p:cNvSpPr>
          <p:nvPr/>
        </p:nvSpPr>
        <p:spPr bwMode="auto">
          <a:xfrm>
            <a:off x="4007768" y="1850229"/>
            <a:ext cx="18875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练习</a:t>
            </a:r>
            <a:r>
              <a:rPr lang="en-US" altLang="zh-CN" sz="2800" b="1" dirty="0">
                <a:solidFill>
                  <a:srgbClr val="FF0000"/>
                </a:solidFill>
              </a:rPr>
              <a:t>&amp;</a:t>
            </a:r>
            <a:r>
              <a:rPr lang="zh-CN" altLang="en-US" sz="2800" b="1" dirty="0">
                <a:solidFill>
                  <a:srgbClr val="FF0000"/>
                </a:solidFill>
              </a:rPr>
              <a:t>掌握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3359696" y="3501008"/>
            <a:ext cx="180049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 dirty="0"/>
              <a:t>以及课后练习题</a:t>
            </a:r>
            <a:endParaRPr lang="en-US" altLang="zh-CN" sz="1800" b="1" dirty="0"/>
          </a:p>
        </p:txBody>
      </p:sp>
    </p:spTree>
    <p:extLst>
      <p:ext uri="{BB962C8B-B14F-4D97-AF65-F5344CB8AC3E}">
        <p14:creationId xmlns:p14="http://schemas.microsoft.com/office/powerpoint/2010/main" val="2519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默认设计模板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3630</TotalTime>
  <Words>522</Words>
  <Application>Microsoft Macintosh PowerPoint</Application>
  <PresentationFormat>Widescreen</PresentationFormat>
  <Paragraphs>84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5" baseType="lpstr">
      <vt:lpstr>FangSong_GB2312</vt:lpstr>
      <vt:lpstr>楷体</vt:lpstr>
      <vt:lpstr>隶书</vt:lpstr>
      <vt:lpstr>黑体</vt:lpstr>
      <vt:lpstr>宋体</vt:lpstr>
      <vt:lpstr>宋体</vt:lpstr>
      <vt:lpstr>华文行楷</vt:lpstr>
      <vt:lpstr>Arial</vt:lpstr>
      <vt:lpstr>Calibri</vt:lpstr>
      <vt:lpstr>Calibri Light</vt:lpstr>
      <vt:lpstr>Times New Roman</vt:lpstr>
      <vt:lpstr>Wingdings</vt:lpstr>
      <vt:lpstr>默认设计模板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拓展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Jiangnan Univ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模拟电子技术基础</dc:title>
  <dc:subject>cgy@jiangnan.edu.cn</dc:subject>
  <dc:creator>hua</dc:creator>
  <cp:lastModifiedBy>GY Chu</cp:lastModifiedBy>
  <cp:revision>322</cp:revision>
  <cp:lastPrinted>2024-10-31T07:03:57Z</cp:lastPrinted>
  <dcterms:created xsi:type="dcterms:W3CDTF">2007-07-18T09:03:59Z</dcterms:created>
  <dcterms:modified xsi:type="dcterms:W3CDTF">2025-10-31T07:18:31Z</dcterms:modified>
</cp:coreProperties>
</file>