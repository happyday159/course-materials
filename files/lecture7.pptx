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notesMasterIdLst>
    <p:notesMasterId r:id="rId140"/>
  </p:notesMasterIdLst>
  <p:handoutMasterIdLst>
    <p:handoutMasterId r:id="rId141"/>
  </p:handoutMasterIdLst>
  <p:sldIdLst>
    <p:sldId id="278" r:id="rId2"/>
    <p:sldId id="313" r:id="rId3"/>
    <p:sldId id="487" r:id="rId4"/>
    <p:sldId id="488" r:id="rId5"/>
    <p:sldId id="489" r:id="rId6"/>
    <p:sldId id="490" r:id="rId7"/>
    <p:sldId id="491" r:id="rId8"/>
    <p:sldId id="492" r:id="rId9"/>
    <p:sldId id="493" r:id="rId10"/>
    <p:sldId id="494" r:id="rId11"/>
    <p:sldId id="495" r:id="rId12"/>
    <p:sldId id="496" r:id="rId13"/>
    <p:sldId id="497" r:id="rId14"/>
    <p:sldId id="498" r:id="rId15"/>
    <p:sldId id="499" r:id="rId16"/>
    <p:sldId id="500" r:id="rId17"/>
    <p:sldId id="501" r:id="rId18"/>
    <p:sldId id="502" r:id="rId19"/>
    <p:sldId id="503" r:id="rId20"/>
    <p:sldId id="504" r:id="rId21"/>
    <p:sldId id="505" r:id="rId22"/>
    <p:sldId id="506" r:id="rId23"/>
    <p:sldId id="507" r:id="rId24"/>
    <p:sldId id="508" r:id="rId25"/>
    <p:sldId id="509" r:id="rId26"/>
    <p:sldId id="510" r:id="rId27"/>
    <p:sldId id="511" r:id="rId28"/>
    <p:sldId id="512" r:id="rId29"/>
    <p:sldId id="513" r:id="rId30"/>
    <p:sldId id="514" r:id="rId31"/>
    <p:sldId id="613" r:id="rId32"/>
    <p:sldId id="614" r:id="rId33"/>
    <p:sldId id="516" r:id="rId34"/>
    <p:sldId id="517" r:id="rId35"/>
    <p:sldId id="449" r:id="rId36"/>
    <p:sldId id="450" r:id="rId37"/>
    <p:sldId id="451" r:id="rId38"/>
    <p:sldId id="452" r:id="rId39"/>
    <p:sldId id="453" r:id="rId40"/>
    <p:sldId id="454" r:id="rId41"/>
    <p:sldId id="455" r:id="rId42"/>
    <p:sldId id="456" r:id="rId43"/>
    <p:sldId id="457" r:id="rId44"/>
    <p:sldId id="458" r:id="rId45"/>
    <p:sldId id="518" r:id="rId46"/>
    <p:sldId id="519" r:id="rId47"/>
    <p:sldId id="520" r:id="rId48"/>
    <p:sldId id="521" r:id="rId49"/>
    <p:sldId id="522" r:id="rId50"/>
    <p:sldId id="523" r:id="rId51"/>
    <p:sldId id="524" r:id="rId52"/>
    <p:sldId id="525" r:id="rId53"/>
    <p:sldId id="526" r:id="rId54"/>
    <p:sldId id="527" r:id="rId55"/>
    <p:sldId id="528" r:id="rId56"/>
    <p:sldId id="529" r:id="rId57"/>
    <p:sldId id="530" r:id="rId58"/>
    <p:sldId id="615" r:id="rId59"/>
    <p:sldId id="531" r:id="rId60"/>
    <p:sldId id="532" r:id="rId61"/>
    <p:sldId id="533" r:id="rId62"/>
    <p:sldId id="534" r:id="rId63"/>
    <p:sldId id="535" r:id="rId64"/>
    <p:sldId id="536" r:id="rId65"/>
    <p:sldId id="537" r:id="rId66"/>
    <p:sldId id="538" r:id="rId67"/>
    <p:sldId id="539" r:id="rId68"/>
    <p:sldId id="540" r:id="rId69"/>
    <p:sldId id="541" r:id="rId70"/>
    <p:sldId id="542" r:id="rId71"/>
    <p:sldId id="543" r:id="rId72"/>
    <p:sldId id="544" r:id="rId73"/>
    <p:sldId id="545" r:id="rId74"/>
    <p:sldId id="546" r:id="rId75"/>
    <p:sldId id="547" r:id="rId76"/>
    <p:sldId id="548" r:id="rId77"/>
    <p:sldId id="549" r:id="rId78"/>
    <p:sldId id="550" r:id="rId79"/>
    <p:sldId id="551" r:id="rId80"/>
    <p:sldId id="552" r:id="rId81"/>
    <p:sldId id="553" r:id="rId82"/>
    <p:sldId id="554" r:id="rId83"/>
    <p:sldId id="555" r:id="rId84"/>
    <p:sldId id="556" r:id="rId85"/>
    <p:sldId id="557" r:id="rId86"/>
    <p:sldId id="558" r:id="rId87"/>
    <p:sldId id="559" r:id="rId88"/>
    <p:sldId id="560" r:id="rId89"/>
    <p:sldId id="561" r:id="rId90"/>
    <p:sldId id="562" r:id="rId91"/>
    <p:sldId id="564" r:id="rId92"/>
    <p:sldId id="565" r:id="rId93"/>
    <p:sldId id="566" r:id="rId94"/>
    <p:sldId id="567" r:id="rId95"/>
    <p:sldId id="568" r:id="rId96"/>
    <p:sldId id="569" r:id="rId97"/>
    <p:sldId id="570" r:id="rId98"/>
    <p:sldId id="571" r:id="rId99"/>
    <p:sldId id="572" r:id="rId100"/>
    <p:sldId id="574" r:id="rId101"/>
    <p:sldId id="575" r:id="rId102"/>
    <p:sldId id="576" r:id="rId103"/>
    <p:sldId id="577" r:id="rId104"/>
    <p:sldId id="578" r:id="rId105"/>
    <p:sldId id="579" r:id="rId106"/>
    <p:sldId id="580" r:id="rId107"/>
    <p:sldId id="581" r:id="rId108"/>
    <p:sldId id="582" r:id="rId109"/>
    <p:sldId id="583" r:id="rId110"/>
    <p:sldId id="584" r:id="rId111"/>
    <p:sldId id="585" r:id="rId112"/>
    <p:sldId id="586" r:id="rId113"/>
    <p:sldId id="587" r:id="rId114"/>
    <p:sldId id="588" r:id="rId115"/>
    <p:sldId id="589" r:id="rId116"/>
    <p:sldId id="590" r:id="rId117"/>
    <p:sldId id="591" r:id="rId118"/>
    <p:sldId id="592" r:id="rId119"/>
    <p:sldId id="593" r:id="rId120"/>
    <p:sldId id="594" r:id="rId121"/>
    <p:sldId id="595" r:id="rId122"/>
    <p:sldId id="596" r:id="rId123"/>
    <p:sldId id="597" r:id="rId124"/>
    <p:sldId id="598" r:id="rId125"/>
    <p:sldId id="599" r:id="rId126"/>
    <p:sldId id="600" r:id="rId127"/>
    <p:sldId id="601" r:id="rId128"/>
    <p:sldId id="602" r:id="rId129"/>
    <p:sldId id="603" r:id="rId130"/>
    <p:sldId id="604" r:id="rId131"/>
    <p:sldId id="605" r:id="rId132"/>
    <p:sldId id="606" r:id="rId133"/>
    <p:sldId id="607" r:id="rId134"/>
    <p:sldId id="608" r:id="rId135"/>
    <p:sldId id="609" r:id="rId136"/>
    <p:sldId id="610" r:id="rId137"/>
    <p:sldId id="611" r:id="rId138"/>
    <p:sldId id="612" r:id="rId139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000000"/>
    <a:srgbClr val="FF0066"/>
    <a:srgbClr val="CC3300"/>
    <a:srgbClr val="0000FF"/>
    <a:srgbClr val="FF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88529" autoAdjust="0"/>
  </p:normalViewPr>
  <p:slideViewPr>
    <p:cSldViewPr>
      <p:cViewPr varScale="1">
        <p:scale>
          <a:sx n="113" d="100"/>
          <a:sy n="113" d="100"/>
        </p:scale>
        <p:origin x="1600" y="168"/>
      </p:cViewPr>
      <p:guideLst>
        <p:guide orient="horz" pos="2160"/>
        <p:guide pos="288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2880" cy="18288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notesMaster" Target="notesMasters/notesMaster1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4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emf"/><Relationship Id="rId4" Type="http://schemas.openxmlformats.org/officeDocument/2006/relationships/image" Target="../media/image7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4" Type="http://schemas.openxmlformats.org/officeDocument/2006/relationships/image" Target="../media/image77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e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7" Type="http://schemas.openxmlformats.org/officeDocument/2006/relationships/image" Target="../media/image96.e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e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4" Type="http://schemas.openxmlformats.org/officeDocument/2006/relationships/image" Target="../media/image12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4" Type="http://schemas.openxmlformats.org/officeDocument/2006/relationships/image" Target="../media/image132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4" Type="http://schemas.openxmlformats.org/officeDocument/2006/relationships/image" Target="../media/image149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4" Type="http://schemas.openxmlformats.org/officeDocument/2006/relationships/image" Target="../media/image153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9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5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e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4" Type="http://schemas.openxmlformats.org/officeDocument/2006/relationships/image" Target="../media/image184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7" Type="http://schemas.openxmlformats.org/officeDocument/2006/relationships/image" Target="../media/image191.wmf"/><Relationship Id="rId2" Type="http://schemas.openxmlformats.org/officeDocument/2006/relationships/image" Target="../media/image186.wmf"/><Relationship Id="rId1" Type="http://schemas.openxmlformats.org/officeDocument/2006/relationships/image" Target="../media/image185.emf"/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4" Type="http://schemas.openxmlformats.org/officeDocument/2006/relationships/image" Target="../media/image188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1.e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emf"/><Relationship Id="rId2" Type="http://schemas.openxmlformats.org/officeDocument/2006/relationships/image" Target="../media/image205.wmf"/><Relationship Id="rId1" Type="http://schemas.openxmlformats.org/officeDocument/2006/relationships/image" Target="../media/image204.wmf"/><Relationship Id="rId5" Type="http://schemas.openxmlformats.org/officeDocument/2006/relationships/image" Target="../media/image208.wmf"/><Relationship Id="rId4" Type="http://schemas.openxmlformats.org/officeDocument/2006/relationships/image" Target="../media/image207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11.wmf"/><Relationship Id="rId1" Type="http://schemas.openxmlformats.org/officeDocument/2006/relationships/image" Target="../media/image210.wmf"/><Relationship Id="rId4" Type="http://schemas.openxmlformats.org/officeDocument/2006/relationships/image" Target="../media/image213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w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9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wmf"/><Relationship Id="rId2" Type="http://schemas.openxmlformats.org/officeDocument/2006/relationships/image" Target="../media/image231.wmf"/><Relationship Id="rId1" Type="http://schemas.openxmlformats.org/officeDocument/2006/relationships/image" Target="../media/image230.emf"/><Relationship Id="rId4" Type="http://schemas.openxmlformats.org/officeDocument/2006/relationships/image" Target="../media/image233.w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4.wmf"/></Relationships>
</file>

<file path=ppt/drawings/_rels/vmlDrawing6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wmf"/><Relationship Id="rId1" Type="http://schemas.openxmlformats.org/officeDocument/2006/relationships/image" Target="../media/image236.wmf"/></Relationships>
</file>

<file path=ppt/drawings/_rels/vmlDrawing6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wmf"/><Relationship Id="rId1" Type="http://schemas.openxmlformats.org/officeDocument/2006/relationships/image" Target="../media/image140.w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3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" Type="http://schemas.openxmlformats.org/officeDocument/2006/relationships/image" Target="../media/image248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Relationship Id="rId4" Type="http://schemas.openxmlformats.org/officeDocument/2006/relationships/image" Target="../media/image254.wmf"/></Relationships>
</file>

<file path=ppt/drawings/_rels/vmlDrawing6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8.wmf"/><Relationship Id="rId1" Type="http://schemas.openxmlformats.org/officeDocument/2006/relationships/image" Target="../media/image257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7" Type="http://schemas.openxmlformats.org/officeDocument/2006/relationships/image" Target="../media/image265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4" Type="http://schemas.openxmlformats.org/officeDocument/2006/relationships/image" Target="../media/image269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/Relationships>
</file>

<file path=ppt/drawings/_rels/vmlDrawing7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wmf"/><Relationship Id="rId1" Type="http://schemas.openxmlformats.org/officeDocument/2006/relationships/image" Target="../media/image276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wmf"/><Relationship Id="rId2" Type="http://schemas.openxmlformats.org/officeDocument/2006/relationships/image" Target="../media/image279.wmf"/><Relationship Id="rId1" Type="http://schemas.openxmlformats.org/officeDocument/2006/relationships/image" Target="../media/image278.wmf"/><Relationship Id="rId4" Type="http://schemas.openxmlformats.org/officeDocument/2006/relationships/image" Target="../media/image281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wmf"/><Relationship Id="rId7" Type="http://schemas.openxmlformats.org/officeDocument/2006/relationships/image" Target="../media/image289.wmf"/><Relationship Id="rId2" Type="http://schemas.openxmlformats.org/officeDocument/2006/relationships/image" Target="../media/image284.wmf"/><Relationship Id="rId1" Type="http://schemas.openxmlformats.org/officeDocument/2006/relationships/image" Target="../media/image283.wmf"/><Relationship Id="rId6" Type="http://schemas.openxmlformats.org/officeDocument/2006/relationships/image" Target="../media/image288.wmf"/><Relationship Id="rId5" Type="http://schemas.openxmlformats.org/officeDocument/2006/relationships/image" Target="../media/image287.wmf"/><Relationship Id="rId4" Type="http://schemas.openxmlformats.org/officeDocument/2006/relationships/image" Target="../media/image286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image" Target="../media/image302.wmf"/><Relationship Id="rId3" Type="http://schemas.openxmlformats.org/officeDocument/2006/relationships/image" Target="../media/image292.wmf"/><Relationship Id="rId7" Type="http://schemas.openxmlformats.org/officeDocument/2006/relationships/image" Target="../media/image296.wmf"/><Relationship Id="rId12" Type="http://schemas.openxmlformats.org/officeDocument/2006/relationships/image" Target="../media/image301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11" Type="http://schemas.openxmlformats.org/officeDocument/2006/relationships/image" Target="../media/image300.wmf"/><Relationship Id="rId5" Type="http://schemas.openxmlformats.org/officeDocument/2006/relationships/image" Target="../media/image294.wmf"/><Relationship Id="rId10" Type="http://schemas.openxmlformats.org/officeDocument/2006/relationships/image" Target="../media/image299.wmf"/><Relationship Id="rId4" Type="http://schemas.openxmlformats.org/officeDocument/2006/relationships/image" Target="../media/image293.wmf"/><Relationship Id="rId9" Type="http://schemas.openxmlformats.org/officeDocument/2006/relationships/image" Target="../media/image298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3" Type="http://schemas.openxmlformats.org/officeDocument/2006/relationships/image" Target="../media/image292.wmf"/><Relationship Id="rId7" Type="http://schemas.openxmlformats.org/officeDocument/2006/relationships/image" Target="../media/image296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11" Type="http://schemas.openxmlformats.org/officeDocument/2006/relationships/image" Target="../media/image300.wmf"/><Relationship Id="rId5" Type="http://schemas.openxmlformats.org/officeDocument/2006/relationships/image" Target="../media/image294.wmf"/><Relationship Id="rId10" Type="http://schemas.openxmlformats.org/officeDocument/2006/relationships/image" Target="../media/image299.wmf"/><Relationship Id="rId4" Type="http://schemas.openxmlformats.org/officeDocument/2006/relationships/image" Target="../media/image293.wmf"/><Relationship Id="rId9" Type="http://schemas.openxmlformats.org/officeDocument/2006/relationships/image" Target="../media/image298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3" Type="http://schemas.openxmlformats.org/officeDocument/2006/relationships/image" Target="../media/image292.wmf"/><Relationship Id="rId7" Type="http://schemas.openxmlformats.org/officeDocument/2006/relationships/image" Target="../media/image296.wmf"/><Relationship Id="rId12" Type="http://schemas.openxmlformats.org/officeDocument/2006/relationships/image" Target="../media/image305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11" Type="http://schemas.openxmlformats.org/officeDocument/2006/relationships/image" Target="../media/image300.wmf"/><Relationship Id="rId5" Type="http://schemas.openxmlformats.org/officeDocument/2006/relationships/image" Target="../media/image294.wmf"/><Relationship Id="rId10" Type="http://schemas.openxmlformats.org/officeDocument/2006/relationships/image" Target="../media/image299.wmf"/><Relationship Id="rId4" Type="http://schemas.openxmlformats.org/officeDocument/2006/relationships/image" Target="../media/image293.wmf"/><Relationship Id="rId9" Type="http://schemas.openxmlformats.org/officeDocument/2006/relationships/image" Target="../media/image298.wmf"/></Relationships>
</file>

<file path=ppt/drawings/_rels/vmlDrawing7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image" Target="../media/image306.wmf"/><Relationship Id="rId3" Type="http://schemas.openxmlformats.org/officeDocument/2006/relationships/image" Target="../media/image292.wmf"/><Relationship Id="rId7" Type="http://schemas.openxmlformats.org/officeDocument/2006/relationships/image" Target="../media/image296.wmf"/><Relationship Id="rId12" Type="http://schemas.openxmlformats.org/officeDocument/2006/relationships/image" Target="../media/image305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11" Type="http://schemas.openxmlformats.org/officeDocument/2006/relationships/image" Target="../media/image300.wmf"/><Relationship Id="rId5" Type="http://schemas.openxmlformats.org/officeDocument/2006/relationships/image" Target="../media/image294.wmf"/><Relationship Id="rId10" Type="http://schemas.openxmlformats.org/officeDocument/2006/relationships/image" Target="../media/image299.wmf"/><Relationship Id="rId4" Type="http://schemas.openxmlformats.org/officeDocument/2006/relationships/image" Target="../media/image293.wmf"/><Relationship Id="rId9" Type="http://schemas.openxmlformats.org/officeDocument/2006/relationships/image" Target="../media/image298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wmf"/><Relationship Id="rId2" Type="http://schemas.openxmlformats.org/officeDocument/2006/relationships/image" Target="../media/image305.wmf"/><Relationship Id="rId1" Type="http://schemas.openxmlformats.org/officeDocument/2006/relationships/image" Target="../media/image306.w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4.wmf"/></Relationships>
</file>

<file path=ppt/drawings/_rels/vmlDrawing7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2.wmf"/><Relationship Id="rId1" Type="http://schemas.openxmlformats.org/officeDocument/2006/relationships/image" Target="../media/image321.w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5.w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0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2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4.emf"/></Relationships>
</file>

<file path=ppt/drawings/_rels/vmlDrawing8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8.wmf"/><Relationship Id="rId1" Type="http://schemas.openxmlformats.org/officeDocument/2006/relationships/image" Target="../media/image347.wmf"/></Relationships>
</file>

<file path=ppt/drawings/_rels/vmlDrawing8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4.emf"/><Relationship Id="rId1" Type="http://schemas.openxmlformats.org/officeDocument/2006/relationships/image" Target="../media/image353.w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6.emf"/></Relationships>
</file>

<file path=ppt/drawings/_rels/vmlDrawing8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wmf"/><Relationship Id="rId2" Type="http://schemas.openxmlformats.org/officeDocument/2006/relationships/image" Target="../media/image361.wmf"/><Relationship Id="rId1" Type="http://schemas.openxmlformats.org/officeDocument/2006/relationships/image" Target="../media/image360.wmf"/><Relationship Id="rId4" Type="http://schemas.openxmlformats.org/officeDocument/2006/relationships/image" Target="../media/image363.wmf"/></Relationships>
</file>

<file path=ppt/drawings/_rels/vmlDrawing8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6.wmf"/><Relationship Id="rId1" Type="http://schemas.openxmlformats.org/officeDocument/2006/relationships/image" Target="../media/image365.wmf"/></Relationships>
</file>

<file path=ppt/drawings/_rels/vmlDrawing8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9.wmf"/><Relationship Id="rId1" Type="http://schemas.openxmlformats.org/officeDocument/2006/relationships/image" Target="../media/image368.wmf"/></Relationships>
</file>

<file path=ppt/drawings/_rels/vmlDrawing9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2.wmf"/><Relationship Id="rId1" Type="http://schemas.openxmlformats.org/officeDocument/2006/relationships/image" Target="../media/image37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837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6FCE91A-0762-430C-9443-008F3C58F77C}" type="datetimeFigureOut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009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837" y="9428009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2E26172-585F-4C17-8FC6-7CB045F67F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811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837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009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  <a:cs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837" y="9428009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CD0BF65-707B-463A-8A80-1512746788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049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8BDBC0-3411-4C29-BA30-FA0B594C9C2E}" type="slidenum">
              <a:rPr lang="en-US" altLang="zh-CN">
                <a:latin typeface="Arial" panose="020B0604020202020204" pitchFamily="34" charset="0"/>
              </a:rPr>
              <a:pPr eaLnBrk="1" hangingPunct="1"/>
              <a:t>35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400" b="1">
                <a:latin typeface="隶书" panose="02010509060101010101" pitchFamily="49" charset="-122"/>
                <a:ea typeface="隶书" panose="02010509060101010101" pitchFamily="49" charset="-122"/>
              </a:rPr>
              <a:t>上节讨论了不考虑噪声影响时，能够消除码间串扰的基带传输特性。本节来讨论在无码间串扰的条件下，噪声对基带信号传输的影响，即计算噪声引起的误码率。</a:t>
            </a:r>
          </a:p>
        </p:txBody>
      </p:sp>
    </p:spTree>
    <p:extLst>
      <p:ext uri="{BB962C8B-B14F-4D97-AF65-F5344CB8AC3E}">
        <p14:creationId xmlns:p14="http://schemas.microsoft.com/office/powerpoint/2010/main" val="1882986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CF2143-623C-4AE8-A8FB-42CBB5D8DAE2}" type="slidenum">
              <a:rPr lang="en-US" altLang="zh-CN">
                <a:latin typeface="Arial" panose="020B0604020202020204" pitchFamily="34" charset="0"/>
              </a:rPr>
              <a:pPr eaLnBrk="1" hangingPunct="1"/>
              <a:t>40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094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791CF03-2199-42E1-A892-4A18C36398FC}" type="slidenum">
              <a:rPr lang="en-US" altLang="zh-CN">
                <a:latin typeface="Arial" panose="020B0604020202020204" pitchFamily="34" charset="0"/>
              </a:rPr>
              <a:pPr eaLnBrk="1" hangingPunct="1"/>
              <a:t>41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20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722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6B7485F-B280-4032-B582-282DA07E890E}" type="slidenum">
              <a:rPr lang="zh-CN" altLang="en-US">
                <a:latin typeface="Arial" panose="020B0604020202020204" pitchFamily="34" charset="0"/>
              </a:rPr>
              <a:pPr eaLnBrk="1" hangingPunct="1"/>
              <a:t>110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938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latin typeface="Arial" panose="020B0604020202020204" pitchFamily="34" charset="0"/>
              </a:rPr>
              <a:t>限带的</a:t>
            </a:r>
            <a:r>
              <a:rPr lang="en-US" altLang="zh-CN" b="1">
                <a:latin typeface="Arial" panose="020B0604020202020204" pitchFamily="34" charset="0"/>
              </a:rPr>
              <a:t>QPSK</a:t>
            </a:r>
            <a:r>
              <a:rPr lang="zh-CN" altLang="en-US" b="1">
                <a:latin typeface="Arial" panose="020B0604020202020204" pitchFamily="34" charset="0"/>
              </a:rPr>
              <a:t>包络不再恒定，且在相邻码元的载波相位发生</a:t>
            </a:r>
            <a:r>
              <a:rPr lang="en-US" altLang="zh-CN" b="1">
                <a:latin typeface="Arial" panose="020B0604020202020204" pitchFamily="34" charset="0"/>
              </a:rPr>
              <a:t>180°</a:t>
            </a:r>
            <a:r>
              <a:rPr lang="zh-CN" altLang="en-US" b="1">
                <a:latin typeface="Arial" panose="020B0604020202020204" pitchFamily="34" charset="0"/>
              </a:rPr>
              <a:t>跳变处，会出现包络为零的现象。</a:t>
            </a:r>
            <a:r>
              <a:rPr lang="en-US" altLang="zh-CN" b="1">
                <a:latin typeface="Arial" panose="020B0604020202020204" pitchFamily="34" charset="0"/>
              </a:rPr>
              <a:t>——</a:t>
            </a:r>
            <a:r>
              <a:rPr lang="zh-CN" altLang="en-US" b="1">
                <a:latin typeface="Arial" panose="020B0604020202020204" pitchFamily="34" charset="0"/>
              </a:rPr>
              <a:t>包络起伏大，引起</a:t>
            </a:r>
            <a:r>
              <a:rPr lang="en-US" altLang="zh-CN" b="1">
                <a:latin typeface="Arial" panose="020B0604020202020204" pitchFamily="34" charset="0"/>
              </a:rPr>
              <a:t>ISI</a:t>
            </a:r>
            <a:endParaRPr lang="zh-CN" altLang="en-US" b="1">
              <a:latin typeface="Arial" panose="020B0604020202020204" pitchFamily="34" charset="0"/>
            </a:endParaRP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8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DE4BAE-00B1-49AB-AB61-2C21289B3CF8}" type="slidenum">
              <a:rPr lang="zh-CN" altLang="en-US">
                <a:latin typeface="Arial" panose="020B0604020202020204" pitchFamily="34" charset="0"/>
              </a:rPr>
              <a:pPr eaLnBrk="1" hangingPunct="1"/>
              <a:t>118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437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1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F4DD2-422A-41DA-9080-89F305368B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C54B-5A19-4882-95F9-107653956FBD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20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D2F65-437E-4789-9831-A844E3644B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ACA6D-885F-49EB-92D5-E6D1F40F1089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842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BB8D3-24C0-4B63-9816-594584F32F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33A43-3A4A-4271-9334-0943030C10F8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95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21131-2DDB-411F-B40F-C5ABF2A2CE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A1029-0DCA-43B1-945D-5C0BD72BACA2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62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ACB1B-25F5-42C2-8C17-05F7901526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B9F4F-83BB-4507-8E1C-200674B3B7F7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82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F8DD2-70FB-48AA-9613-8154DC6E27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B11F7-9194-4353-AFE0-A72EBEBAE035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139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9163E-8B72-4631-811E-3AC619DBDC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2AC5A-D3A4-4F46-B6FC-7437E0F6051A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20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5EEE5-1961-4C2C-AF86-4DC5702EEFE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B4C5C-A613-4ECF-BA87-F5EBD84C43BA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8498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97A8E-9E9F-4DED-B9B7-D9DED5BB43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689DC-9171-4E69-80DB-FB7D4349460D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121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48E3B6-BC36-46B8-B2CB-9FEFFD43BC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88241-8567-49B0-9390-BD0DBD608791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8196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A73E6-4913-456D-8627-5940B84A4C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1CDEB-05FF-4761-AA2B-489AF6EAA877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9420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6CE11-B1EC-4C7A-B5A8-8C1DF5EFB5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1FDD5-F9D6-4059-A502-4B4009CAE0EA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352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2A31C-E524-49F5-BE35-669D1870EA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98FBD-1204-4D3F-AC57-8D238E0D213C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130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C5319-BD06-46C7-B55D-C3F7BD61CD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89965-BF5B-4164-9027-C65F7B0E7849}" type="datetime1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496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150938" y="214313"/>
            <a:ext cx="7793037" cy="91916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927100" y="1223963"/>
            <a:ext cx="3944938" cy="2740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4438" y="1223963"/>
            <a:ext cx="3944937" cy="2740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927100" y="4116388"/>
            <a:ext cx="3944938" cy="27416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24438" y="4116388"/>
            <a:ext cx="3944937" cy="27416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7F040B28-8CC0-45E2-A090-DEB27ED615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5699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0151A561-28F6-40F7-8AE5-AB85854622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340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1031" name="Picture 14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20638"/>
            <a:ext cx="1281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  <p:sldLayoutId id="2147483832" r:id="rId12"/>
    <p:sldLayoutId id="2147483833" r:id="rId13"/>
    <p:sldLayoutId id="2147483834" r:id="rId14"/>
    <p:sldLayoutId id="2147483835" r:id="rId15"/>
    <p:sldLayoutId id="2147483837" r:id="rId16"/>
    <p:sldLayoutId id="2147483839" r:id="rId1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5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wmf"/><Relationship Id="rId20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8.bin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4.emf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gi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9.png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6.w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pn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2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wmf"/><Relationship Id="rId11" Type="http://schemas.openxmlformats.org/officeDocument/2006/relationships/image" Target="../media/image33.png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51.w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4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4.png"/><Relationship Id="rId5" Type="http://schemas.openxmlformats.org/officeDocument/2006/relationships/image" Target="../media/image52.emf"/><Relationship Id="rId4" Type="http://schemas.openxmlformats.org/officeDocument/2006/relationships/oleObject" Target="../embeddings/oleObject42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56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64.png"/><Relationship Id="rId4" Type="http://schemas.openxmlformats.org/officeDocument/2006/relationships/image" Target="../media/image6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7" Type="http://schemas.openxmlformats.org/officeDocument/2006/relationships/image" Target="../media/image6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65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73.wmf"/><Relationship Id="rId5" Type="http://schemas.openxmlformats.org/officeDocument/2006/relationships/image" Target="../media/image70.e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7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57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81.e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61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9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88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94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6.e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95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8.png"/><Relationship Id="rId5" Type="http://schemas.openxmlformats.org/officeDocument/2006/relationships/image" Target="../media/image97.wmf"/><Relationship Id="rId4" Type="http://schemas.openxmlformats.org/officeDocument/2006/relationships/oleObject" Target="../embeddings/oleObject77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103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8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101.emf"/><Relationship Id="rId14" Type="http://schemas.openxmlformats.org/officeDocument/2006/relationships/oleObject" Target="../embeddings/oleObject83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105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oleObject" Target="../embeddings/oleObject91.bin"/><Relationship Id="rId3" Type="http://schemas.openxmlformats.org/officeDocument/2006/relationships/image" Target="../media/image115.png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14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10" Type="http://schemas.openxmlformats.org/officeDocument/2006/relationships/image" Target="../media/image111.wmf"/><Relationship Id="rId4" Type="http://schemas.openxmlformats.org/officeDocument/2006/relationships/image" Target="../media/image116.png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113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8.wmf"/><Relationship Id="rId11" Type="http://schemas.openxmlformats.org/officeDocument/2006/relationships/image" Target="../media/image121.png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12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96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1.png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125.wmf"/><Relationship Id="rId4" Type="http://schemas.openxmlformats.org/officeDocument/2006/relationships/image" Target="../media/image122.wmf"/><Relationship Id="rId9" Type="http://schemas.openxmlformats.org/officeDocument/2006/relationships/oleObject" Target="../embeddings/oleObject100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128.png"/><Relationship Id="rId4" Type="http://schemas.openxmlformats.org/officeDocument/2006/relationships/image" Target="../media/image12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35.png"/><Relationship Id="rId3" Type="http://schemas.openxmlformats.org/officeDocument/2006/relationships/image" Target="../media/image133.png"/><Relationship Id="rId7" Type="http://schemas.openxmlformats.org/officeDocument/2006/relationships/image" Target="../media/image130.wmf"/><Relationship Id="rId12" Type="http://schemas.openxmlformats.org/officeDocument/2006/relationships/image" Target="../media/image134.gi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32.emf"/><Relationship Id="rId5" Type="http://schemas.openxmlformats.org/officeDocument/2006/relationships/image" Target="../media/image129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31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oleObject" Target="../embeddings/oleObject107.bin"/><Relationship Id="rId7" Type="http://schemas.openxmlformats.org/officeDocument/2006/relationships/image" Target="../media/image1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36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7" Type="http://schemas.openxmlformats.org/officeDocument/2006/relationships/image" Target="../media/image14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41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40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oleObject" Target="../embeddings/oleObject111.bin"/><Relationship Id="rId7" Type="http://schemas.openxmlformats.org/officeDocument/2006/relationships/image" Target="../media/image1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43.wmf"/><Relationship Id="rId9" Type="http://schemas.openxmlformats.org/officeDocument/2006/relationships/image" Target="../media/image14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17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image" Target="../media/image154.png"/><Relationship Id="rId7" Type="http://schemas.openxmlformats.org/officeDocument/2006/relationships/image" Target="../media/image151.wmf"/><Relationship Id="rId12" Type="http://schemas.openxmlformats.org/officeDocument/2006/relationships/image" Target="../media/image15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53.wmf"/><Relationship Id="rId5" Type="http://schemas.openxmlformats.org/officeDocument/2006/relationships/image" Target="../media/image150.wmf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52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56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160.png"/><Relationship Id="rId4" Type="http://schemas.openxmlformats.org/officeDocument/2006/relationships/image" Target="../media/image159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62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61.wmf"/><Relationship Id="rId9" Type="http://schemas.openxmlformats.org/officeDocument/2006/relationships/image" Target="../media/image16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67.png"/><Relationship Id="rId5" Type="http://schemas.openxmlformats.org/officeDocument/2006/relationships/image" Target="../media/image165.wmf"/><Relationship Id="rId4" Type="http://schemas.openxmlformats.org/officeDocument/2006/relationships/oleObject" Target="../embeddings/oleObject129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5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72.png"/><Relationship Id="rId7" Type="http://schemas.openxmlformats.org/officeDocument/2006/relationships/image" Target="../media/image17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31.bin"/><Relationship Id="rId5" Type="http://schemas.openxmlformats.org/officeDocument/2006/relationships/image" Target="../media/image169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71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7" Type="http://schemas.openxmlformats.org/officeDocument/2006/relationships/image" Target="../media/image17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73.wmf"/><Relationship Id="rId4" Type="http://schemas.openxmlformats.org/officeDocument/2006/relationships/oleObject" Target="../embeddings/oleObject133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8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79.wmf"/><Relationship Id="rId4" Type="http://schemas.openxmlformats.org/officeDocument/2006/relationships/image" Target="../media/image176.emf"/><Relationship Id="rId9" Type="http://schemas.openxmlformats.org/officeDocument/2006/relationships/oleObject" Target="../embeddings/oleObject138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141.bin"/><Relationship Id="rId10" Type="http://schemas.openxmlformats.org/officeDocument/2006/relationships/image" Target="../media/image184.emf"/><Relationship Id="rId4" Type="http://schemas.openxmlformats.org/officeDocument/2006/relationships/image" Target="../media/image181.wmf"/><Relationship Id="rId9" Type="http://schemas.openxmlformats.org/officeDocument/2006/relationships/oleObject" Target="../embeddings/oleObject143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149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89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91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86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88.wmf"/><Relationship Id="rId4" Type="http://schemas.openxmlformats.org/officeDocument/2006/relationships/image" Target="../media/image185.e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90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3" Type="http://schemas.openxmlformats.org/officeDocument/2006/relationships/image" Target="../media/image195.png"/><Relationship Id="rId7" Type="http://schemas.openxmlformats.org/officeDocument/2006/relationships/image" Target="../media/image19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152.bin"/><Relationship Id="rId5" Type="http://schemas.openxmlformats.org/officeDocument/2006/relationships/image" Target="../media/image192.wmf"/><Relationship Id="rId10" Type="http://schemas.openxmlformats.org/officeDocument/2006/relationships/image" Target="../media/image196.png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94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oleObject" Target="../embeddings/oleObject154.bin"/><Relationship Id="rId7" Type="http://schemas.openxmlformats.org/officeDocument/2006/relationships/image" Target="../media/image19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98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97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201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208.wmf"/><Relationship Id="rId3" Type="http://schemas.openxmlformats.org/officeDocument/2006/relationships/image" Target="../media/image209.png"/><Relationship Id="rId7" Type="http://schemas.openxmlformats.org/officeDocument/2006/relationships/image" Target="../media/image205.wmf"/><Relationship Id="rId12" Type="http://schemas.openxmlformats.org/officeDocument/2006/relationships/oleObject" Target="../embeddings/oleObject16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207.wmf"/><Relationship Id="rId5" Type="http://schemas.openxmlformats.org/officeDocument/2006/relationships/image" Target="../media/image204.wmf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206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11.wmf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213.wmf"/><Relationship Id="rId4" Type="http://schemas.openxmlformats.org/officeDocument/2006/relationships/image" Target="../media/image210.wmf"/><Relationship Id="rId9" Type="http://schemas.openxmlformats.org/officeDocument/2006/relationships/oleObject" Target="../embeddings/oleObject167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173.bin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9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171.bin"/><Relationship Id="rId14" Type="http://schemas.openxmlformats.org/officeDocument/2006/relationships/image" Target="../media/image219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5" Type="http://schemas.openxmlformats.org/officeDocument/2006/relationships/image" Target="../media/image220.wmf"/><Relationship Id="rId4" Type="http://schemas.openxmlformats.org/officeDocument/2006/relationships/oleObject" Target="../embeddings/oleObject174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24.png"/><Relationship Id="rId7" Type="http://schemas.openxmlformats.org/officeDocument/2006/relationships/image" Target="../media/image2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176.bin"/><Relationship Id="rId5" Type="http://schemas.openxmlformats.org/officeDocument/2006/relationships/image" Target="../media/image222.wmf"/><Relationship Id="rId4" Type="http://schemas.openxmlformats.org/officeDocument/2006/relationships/oleObject" Target="../embeddings/oleObject175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226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4" Type="http://schemas.openxmlformats.org/officeDocument/2006/relationships/image" Target="../media/image229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wm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231.wmf"/><Relationship Id="rId5" Type="http://schemas.openxmlformats.org/officeDocument/2006/relationships/oleObject" Target="../embeddings/oleObject182.bin"/><Relationship Id="rId10" Type="http://schemas.openxmlformats.org/officeDocument/2006/relationships/image" Target="../media/image233.wmf"/><Relationship Id="rId4" Type="http://schemas.openxmlformats.org/officeDocument/2006/relationships/image" Target="../media/image230.emf"/><Relationship Id="rId9" Type="http://schemas.openxmlformats.org/officeDocument/2006/relationships/oleObject" Target="../embeddings/oleObject184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5" Type="http://schemas.openxmlformats.org/officeDocument/2006/relationships/image" Target="../media/image235.png"/><Relationship Id="rId4" Type="http://schemas.openxmlformats.org/officeDocument/2006/relationships/image" Target="../media/image234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7" Type="http://schemas.openxmlformats.org/officeDocument/2006/relationships/image" Target="../media/image237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187.bin"/><Relationship Id="rId5" Type="http://schemas.openxmlformats.org/officeDocument/2006/relationships/image" Target="../media/image236.wmf"/><Relationship Id="rId4" Type="http://schemas.openxmlformats.org/officeDocument/2006/relationships/oleObject" Target="../embeddings/oleObject186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8.bin"/><Relationship Id="rId7" Type="http://schemas.openxmlformats.org/officeDocument/2006/relationships/image" Target="../media/image24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41.w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40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243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247.png"/><Relationship Id="rId5" Type="http://schemas.openxmlformats.org/officeDocument/2006/relationships/image" Target="../media/image51.wmf"/><Relationship Id="rId4" Type="http://schemas.openxmlformats.org/officeDocument/2006/relationships/oleObject" Target="../embeddings/oleObject191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oleObject" Target="../embeddings/oleObject192.bin"/><Relationship Id="rId7" Type="http://schemas.openxmlformats.org/officeDocument/2006/relationships/oleObject" Target="../embeddings/oleObject1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193.bin"/><Relationship Id="rId4" Type="http://schemas.openxmlformats.org/officeDocument/2006/relationships/image" Target="../media/image248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3" Type="http://schemas.openxmlformats.org/officeDocument/2006/relationships/image" Target="../media/image255.png"/><Relationship Id="rId7" Type="http://schemas.openxmlformats.org/officeDocument/2006/relationships/image" Target="../media/image252.wmf"/><Relationship Id="rId12" Type="http://schemas.openxmlformats.org/officeDocument/2006/relationships/image" Target="../media/image25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254.wmf"/><Relationship Id="rId5" Type="http://schemas.openxmlformats.org/officeDocument/2006/relationships/image" Target="../media/image251.wmf"/><Relationship Id="rId10" Type="http://schemas.openxmlformats.org/officeDocument/2006/relationships/oleObject" Target="../embeddings/oleObject198.bin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253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258.w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257.wmf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oleObject" Target="../embeddings/oleObject206.bin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26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5.wmf"/><Relationship Id="rId1" Type="http://schemas.openxmlformats.org/officeDocument/2006/relationships/vmlDrawing" Target="../drawings/vmlDrawing67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262.wmf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264.w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267.wmf"/><Relationship Id="rId11" Type="http://schemas.openxmlformats.org/officeDocument/2006/relationships/image" Target="../media/image270.png"/><Relationship Id="rId5" Type="http://schemas.openxmlformats.org/officeDocument/2006/relationships/oleObject" Target="../embeddings/oleObject209.bin"/><Relationship Id="rId10" Type="http://schemas.openxmlformats.org/officeDocument/2006/relationships/image" Target="../media/image269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211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272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274.wmf"/><Relationship Id="rId4" Type="http://schemas.openxmlformats.org/officeDocument/2006/relationships/image" Target="../media/image271.wmf"/><Relationship Id="rId9" Type="http://schemas.openxmlformats.org/officeDocument/2006/relationships/oleObject" Target="../embeddings/oleObject215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276.wmf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3" Type="http://schemas.openxmlformats.org/officeDocument/2006/relationships/image" Target="../media/image282.png"/><Relationship Id="rId7" Type="http://schemas.openxmlformats.org/officeDocument/2006/relationships/image" Target="../media/image27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1.v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281.wmf"/><Relationship Id="rId5" Type="http://schemas.openxmlformats.org/officeDocument/2006/relationships/image" Target="../media/image278.wmf"/><Relationship Id="rId10" Type="http://schemas.openxmlformats.org/officeDocument/2006/relationships/oleObject" Target="../embeddings/oleObject222.bin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280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wmf"/><Relationship Id="rId13" Type="http://schemas.openxmlformats.org/officeDocument/2006/relationships/oleObject" Target="../embeddings/oleObject228.bin"/><Relationship Id="rId3" Type="http://schemas.openxmlformats.org/officeDocument/2006/relationships/oleObject" Target="../embeddings/oleObject223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8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89.wmf"/><Relationship Id="rId1" Type="http://schemas.openxmlformats.org/officeDocument/2006/relationships/vmlDrawing" Target="../drawings/vmlDrawing72.vml"/><Relationship Id="rId6" Type="http://schemas.openxmlformats.org/officeDocument/2006/relationships/image" Target="../media/image284.wmf"/><Relationship Id="rId11" Type="http://schemas.openxmlformats.org/officeDocument/2006/relationships/oleObject" Target="../embeddings/oleObject227.bin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29.bin"/><Relationship Id="rId10" Type="http://schemas.openxmlformats.org/officeDocument/2006/relationships/image" Target="../media/image286.wmf"/><Relationship Id="rId4" Type="http://schemas.openxmlformats.org/officeDocument/2006/relationships/image" Target="../media/image283.w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288.wmf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13" Type="http://schemas.openxmlformats.org/officeDocument/2006/relationships/image" Target="../media/image294.wmf"/><Relationship Id="rId18" Type="http://schemas.openxmlformats.org/officeDocument/2006/relationships/oleObject" Target="../embeddings/oleObject237.bin"/><Relationship Id="rId26" Type="http://schemas.openxmlformats.org/officeDocument/2006/relationships/oleObject" Target="../embeddings/oleObject241.bin"/><Relationship Id="rId3" Type="http://schemas.openxmlformats.org/officeDocument/2006/relationships/image" Target="../media/image303.png"/><Relationship Id="rId21" Type="http://schemas.openxmlformats.org/officeDocument/2006/relationships/image" Target="../media/image298.wmf"/><Relationship Id="rId7" Type="http://schemas.openxmlformats.org/officeDocument/2006/relationships/image" Target="../media/image291.w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96.wmf"/><Relationship Id="rId25" Type="http://schemas.openxmlformats.org/officeDocument/2006/relationships/image" Target="../media/image30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36.bin"/><Relationship Id="rId20" Type="http://schemas.openxmlformats.org/officeDocument/2006/relationships/oleObject" Target="../embeddings/oleObject238.bin"/><Relationship Id="rId29" Type="http://schemas.openxmlformats.org/officeDocument/2006/relationships/image" Target="../media/image302.wmf"/><Relationship Id="rId1" Type="http://schemas.openxmlformats.org/officeDocument/2006/relationships/vmlDrawing" Target="../drawings/vmlDrawing73.v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93.wmf"/><Relationship Id="rId24" Type="http://schemas.openxmlformats.org/officeDocument/2006/relationships/oleObject" Target="../embeddings/oleObject240.bin"/><Relationship Id="rId5" Type="http://schemas.openxmlformats.org/officeDocument/2006/relationships/image" Target="../media/image290.wmf"/><Relationship Id="rId15" Type="http://schemas.openxmlformats.org/officeDocument/2006/relationships/image" Target="../media/image295.wmf"/><Relationship Id="rId23" Type="http://schemas.openxmlformats.org/officeDocument/2006/relationships/image" Target="../media/image299.wmf"/><Relationship Id="rId28" Type="http://schemas.openxmlformats.org/officeDocument/2006/relationships/oleObject" Target="../embeddings/oleObject242.bin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97.w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92.wmf"/><Relationship Id="rId14" Type="http://schemas.openxmlformats.org/officeDocument/2006/relationships/oleObject" Target="../embeddings/oleObject235.bin"/><Relationship Id="rId22" Type="http://schemas.openxmlformats.org/officeDocument/2006/relationships/oleObject" Target="../embeddings/oleObject239.bin"/><Relationship Id="rId27" Type="http://schemas.openxmlformats.org/officeDocument/2006/relationships/image" Target="../media/image301.w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13" Type="http://schemas.openxmlformats.org/officeDocument/2006/relationships/image" Target="../media/image294.wmf"/><Relationship Id="rId18" Type="http://schemas.openxmlformats.org/officeDocument/2006/relationships/oleObject" Target="../embeddings/oleObject250.bin"/><Relationship Id="rId26" Type="http://schemas.openxmlformats.org/officeDocument/2006/relationships/image" Target="../media/image304.png"/><Relationship Id="rId3" Type="http://schemas.openxmlformats.org/officeDocument/2006/relationships/image" Target="../media/image303.png"/><Relationship Id="rId21" Type="http://schemas.openxmlformats.org/officeDocument/2006/relationships/image" Target="../media/image298.wmf"/><Relationship Id="rId7" Type="http://schemas.openxmlformats.org/officeDocument/2006/relationships/image" Target="../media/image291.wmf"/><Relationship Id="rId12" Type="http://schemas.openxmlformats.org/officeDocument/2006/relationships/oleObject" Target="../embeddings/oleObject247.bin"/><Relationship Id="rId17" Type="http://schemas.openxmlformats.org/officeDocument/2006/relationships/image" Target="../media/image296.wmf"/><Relationship Id="rId25" Type="http://schemas.openxmlformats.org/officeDocument/2006/relationships/image" Target="../media/image30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49.bin"/><Relationship Id="rId20" Type="http://schemas.openxmlformats.org/officeDocument/2006/relationships/oleObject" Target="../embeddings/oleObject251.bin"/><Relationship Id="rId1" Type="http://schemas.openxmlformats.org/officeDocument/2006/relationships/vmlDrawing" Target="../drawings/vmlDrawing74.vml"/><Relationship Id="rId6" Type="http://schemas.openxmlformats.org/officeDocument/2006/relationships/oleObject" Target="../embeddings/oleObject244.bin"/><Relationship Id="rId11" Type="http://schemas.openxmlformats.org/officeDocument/2006/relationships/image" Target="../media/image293.wmf"/><Relationship Id="rId24" Type="http://schemas.openxmlformats.org/officeDocument/2006/relationships/oleObject" Target="../embeddings/oleObject253.bin"/><Relationship Id="rId5" Type="http://schemas.openxmlformats.org/officeDocument/2006/relationships/image" Target="../media/image290.wmf"/><Relationship Id="rId15" Type="http://schemas.openxmlformats.org/officeDocument/2006/relationships/image" Target="../media/image295.wmf"/><Relationship Id="rId23" Type="http://schemas.openxmlformats.org/officeDocument/2006/relationships/image" Target="../media/image299.wmf"/><Relationship Id="rId10" Type="http://schemas.openxmlformats.org/officeDocument/2006/relationships/oleObject" Target="../embeddings/oleObject246.bin"/><Relationship Id="rId19" Type="http://schemas.openxmlformats.org/officeDocument/2006/relationships/image" Target="../media/image297.wmf"/><Relationship Id="rId4" Type="http://schemas.openxmlformats.org/officeDocument/2006/relationships/oleObject" Target="../embeddings/oleObject243.bin"/><Relationship Id="rId9" Type="http://schemas.openxmlformats.org/officeDocument/2006/relationships/image" Target="../media/image292.wmf"/><Relationship Id="rId14" Type="http://schemas.openxmlformats.org/officeDocument/2006/relationships/oleObject" Target="../embeddings/oleObject248.bin"/><Relationship Id="rId22" Type="http://schemas.openxmlformats.org/officeDocument/2006/relationships/oleObject" Target="../embeddings/oleObject252.bin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6.bin"/><Relationship Id="rId13" Type="http://schemas.openxmlformats.org/officeDocument/2006/relationships/image" Target="../media/image294.wmf"/><Relationship Id="rId18" Type="http://schemas.openxmlformats.org/officeDocument/2006/relationships/oleObject" Target="../embeddings/oleObject261.bin"/><Relationship Id="rId26" Type="http://schemas.openxmlformats.org/officeDocument/2006/relationships/image" Target="../media/image304.png"/><Relationship Id="rId3" Type="http://schemas.openxmlformats.org/officeDocument/2006/relationships/image" Target="../media/image303.png"/><Relationship Id="rId21" Type="http://schemas.openxmlformats.org/officeDocument/2006/relationships/image" Target="../media/image298.wmf"/><Relationship Id="rId7" Type="http://schemas.openxmlformats.org/officeDocument/2006/relationships/image" Target="../media/image291.wmf"/><Relationship Id="rId12" Type="http://schemas.openxmlformats.org/officeDocument/2006/relationships/oleObject" Target="../embeddings/oleObject258.bin"/><Relationship Id="rId17" Type="http://schemas.openxmlformats.org/officeDocument/2006/relationships/image" Target="../media/image296.wmf"/><Relationship Id="rId25" Type="http://schemas.openxmlformats.org/officeDocument/2006/relationships/image" Target="../media/image30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0.bin"/><Relationship Id="rId20" Type="http://schemas.openxmlformats.org/officeDocument/2006/relationships/oleObject" Target="../embeddings/oleObject262.bin"/><Relationship Id="rId1" Type="http://schemas.openxmlformats.org/officeDocument/2006/relationships/vmlDrawing" Target="../drawings/vmlDrawing75.vml"/><Relationship Id="rId6" Type="http://schemas.openxmlformats.org/officeDocument/2006/relationships/oleObject" Target="../embeddings/oleObject255.bin"/><Relationship Id="rId11" Type="http://schemas.openxmlformats.org/officeDocument/2006/relationships/image" Target="../media/image293.wmf"/><Relationship Id="rId24" Type="http://schemas.openxmlformats.org/officeDocument/2006/relationships/oleObject" Target="../embeddings/oleObject264.bin"/><Relationship Id="rId5" Type="http://schemas.openxmlformats.org/officeDocument/2006/relationships/image" Target="../media/image290.wmf"/><Relationship Id="rId15" Type="http://schemas.openxmlformats.org/officeDocument/2006/relationships/image" Target="../media/image295.wmf"/><Relationship Id="rId23" Type="http://schemas.openxmlformats.org/officeDocument/2006/relationships/image" Target="../media/image299.wmf"/><Relationship Id="rId28" Type="http://schemas.openxmlformats.org/officeDocument/2006/relationships/image" Target="../media/image305.wmf"/><Relationship Id="rId10" Type="http://schemas.openxmlformats.org/officeDocument/2006/relationships/oleObject" Target="../embeddings/oleObject257.bin"/><Relationship Id="rId19" Type="http://schemas.openxmlformats.org/officeDocument/2006/relationships/image" Target="../media/image297.wmf"/><Relationship Id="rId4" Type="http://schemas.openxmlformats.org/officeDocument/2006/relationships/oleObject" Target="../embeddings/oleObject254.bin"/><Relationship Id="rId9" Type="http://schemas.openxmlformats.org/officeDocument/2006/relationships/image" Target="../media/image292.wmf"/><Relationship Id="rId14" Type="http://schemas.openxmlformats.org/officeDocument/2006/relationships/oleObject" Target="../embeddings/oleObject259.bin"/><Relationship Id="rId22" Type="http://schemas.openxmlformats.org/officeDocument/2006/relationships/oleObject" Target="../embeddings/oleObject263.bin"/><Relationship Id="rId27" Type="http://schemas.openxmlformats.org/officeDocument/2006/relationships/oleObject" Target="../embeddings/oleObject265.bin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13" Type="http://schemas.openxmlformats.org/officeDocument/2006/relationships/image" Target="../media/image294.wmf"/><Relationship Id="rId18" Type="http://schemas.openxmlformats.org/officeDocument/2006/relationships/oleObject" Target="../embeddings/oleObject273.bin"/><Relationship Id="rId26" Type="http://schemas.openxmlformats.org/officeDocument/2006/relationships/image" Target="../media/image304.png"/><Relationship Id="rId3" Type="http://schemas.openxmlformats.org/officeDocument/2006/relationships/image" Target="../media/image303.png"/><Relationship Id="rId21" Type="http://schemas.openxmlformats.org/officeDocument/2006/relationships/image" Target="../media/image298.wmf"/><Relationship Id="rId7" Type="http://schemas.openxmlformats.org/officeDocument/2006/relationships/image" Target="../media/image291.wmf"/><Relationship Id="rId12" Type="http://schemas.openxmlformats.org/officeDocument/2006/relationships/oleObject" Target="../embeddings/oleObject270.bin"/><Relationship Id="rId17" Type="http://schemas.openxmlformats.org/officeDocument/2006/relationships/image" Target="../media/image296.wmf"/><Relationship Id="rId25" Type="http://schemas.openxmlformats.org/officeDocument/2006/relationships/image" Target="../media/image30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72.bin"/><Relationship Id="rId20" Type="http://schemas.openxmlformats.org/officeDocument/2006/relationships/oleObject" Target="../embeddings/oleObject274.bin"/><Relationship Id="rId29" Type="http://schemas.openxmlformats.org/officeDocument/2006/relationships/image" Target="../media/image307.png"/><Relationship Id="rId1" Type="http://schemas.openxmlformats.org/officeDocument/2006/relationships/vmlDrawing" Target="../drawings/vmlDrawing76.v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93.wmf"/><Relationship Id="rId24" Type="http://schemas.openxmlformats.org/officeDocument/2006/relationships/oleObject" Target="../embeddings/oleObject276.bin"/><Relationship Id="rId5" Type="http://schemas.openxmlformats.org/officeDocument/2006/relationships/image" Target="../media/image290.wmf"/><Relationship Id="rId15" Type="http://schemas.openxmlformats.org/officeDocument/2006/relationships/image" Target="../media/image295.wmf"/><Relationship Id="rId23" Type="http://schemas.openxmlformats.org/officeDocument/2006/relationships/image" Target="../media/image299.wmf"/><Relationship Id="rId28" Type="http://schemas.openxmlformats.org/officeDocument/2006/relationships/image" Target="../media/image305.wmf"/><Relationship Id="rId10" Type="http://schemas.openxmlformats.org/officeDocument/2006/relationships/oleObject" Target="../embeddings/oleObject269.bin"/><Relationship Id="rId19" Type="http://schemas.openxmlformats.org/officeDocument/2006/relationships/image" Target="../media/image297.wmf"/><Relationship Id="rId31" Type="http://schemas.openxmlformats.org/officeDocument/2006/relationships/image" Target="../media/image306.wmf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92.wmf"/><Relationship Id="rId14" Type="http://schemas.openxmlformats.org/officeDocument/2006/relationships/oleObject" Target="../embeddings/oleObject271.bin"/><Relationship Id="rId22" Type="http://schemas.openxmlformats.org/officeDocument/2006/relationships/oleObject" Target="../embeddings/oleObject275.bin"/><Relationship Id="rId27" Type="http://schemas.openxmlformats.org/officeDocument/2006/relationships/oleObject" Target="../embeddings/oleObject277.bin"/><Relationship Id="rId30" Type="http://schemas.openxmlformats.org/officeDocument/2006/relationships/oleObject" Target="../embeddings/oleObject278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wmf"/><Relationship Id="rId3" Type="http://schemas.openxmlformats.org/officeDocument/2006/relationships/image" Target="../media/image307.png"/><Relationship Id="rId7" Type="http://schemas.openxmlformats.org/officeDocument/2006/relationships/oleObject" Target="../embeddings/oleObject2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306.wmf"/><Relationship Id="rId5" Type="http://schemas.openxmlformats.org/officeDocument/2006/relationships/oleObject" Target="../embeddings/oleObject279.bin"/><Relationship Id="rId10" Type="http://schemas.openxmlformats.org/officeDocument/2006/relationships/image" Target="../media/image308.wmf"/><Relationship Id="rId4" Type="http://schemas.openxmlformats.org/officeDocument/2006/relationships/image" Target="../media/image304.png"/><Relationship Id="rId9" Type="http://schemas.openxmlformats.org/officeDocument/2006/relationships/oleObject" Target="../embeddings/oleObject281.bin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wmf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2.wmf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Relationship Id="rId5" Type="http://schemas.openxmlformats.org/officeDocument/2006/relationships/image" Target="../media/image314.wmf"/><Relationship Id="rId4" Type="http://schemas.openxmlformats.org/officeDocument/2006/relationships/oleObject" Target="../embeddings/oleObject282.bin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wmf"/><Relationship Id="rId2" Type="http://schemas.openxmlformats.org/officeDocument/2006/relationships/image" Target="../media/image317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0.png"/><Relationship Id="rId4" Type="http://schemas.openxmlformats.org/officeDocument/2006/relationships/image" Target="../media/image319.wmf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322.wmf"/><Relationship Id="rId5" Type="http://schemas.openxmlformats.org/officeDocument/2006/relationships/oleObject" Target="../embeddings/oleObject284.bin"/><Relationship Id="rId4" Type="http://schemas.openxmlformats.org/officeDocument/2006/relationships/image" Target="../media/image321.wmf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0.vml"/><Relationship Id="rId4" Type="http://schemas.openxmlformats.org/officeDocument/2006/relationships/image" Target="../media/image325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8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1.vml"/><Relationship Id="rId5" Type="http://schemas.openxmlformats.org/officeDocument/2006/relationships/image" Target="../media/image331.png"/><Relationship Id="rId4" Type="http://schemas.openxmlformats.org/officeDocument/2006/relationships/image" Target="../media/image330.e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333.png"/><Relationship Id="rId5" Type="http://schemas.openxmlformats.org/officeDocument/2006/relationships/image" Target="../media/image331.png"/><Relationship Id="rId4" Type="http://schemas.openxmlformats.org/officeDocument/2006/relationships/image" Target="../media/image332.emf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336.png"/><Relationship Id="rId5" Type="http://schemas.openxmlformats.org/officeDocument/2006/relationships/image" Target="../media/image334.emf"/><Relationship Id="rId4" Type="http://schemas.openxmlformats.org/officeDocument/2006/relationships/oleObject" Target="../embeddings/oleObject286.bin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8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png"/><Relationship Id="rId2" Type="http://schemas.openxmlformats.org/officeDocument/2006/relationships/image" Target="../media/image3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6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3" Type="http://schemas.openxmlformats.org/officeDocument/2006/relationships/image" Target="../media/image342.png"/><Relationship Id="rId7" Type="http://schemas.openxmlformats.org/officeDocument/2006/relationships/image" Target="../media/image34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4.vml"/><Relationship Id="rId6" Type="http://schemas.openxmlformats.org/officeDocument/2006/relationships/oleObject" Target="../embeddings/oleObject288.bin"/><Relationship Id="rId5" Type="http://schemas.openxmlformats.org/officeDocument/2006/relationships/image" Target="../media/image347.wmf"/><Relationship Id="rId4" Type="http://schemas.openxmlformats.org/officeDocument/2006/relationships/oleObject" Target="../embeddings/oleObject287.bin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1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7" Type="http://schemas.openxmlformats.org/officeDocument/2006/relationships/image" Target="../media/image35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5.vml"/><Relationship Id="rId6" Type="http://schemas.openxmlformats.org/officeDocument/2006/relationships/oleObject" Target="../embeddings/oleObject290.bin"/><Relationship Id="rId5" Type="http://schemas.openxmlformats.org/officeDocument/2006/relationships/image" Target="../media/image353.wmf"/><Relationship Id="rId4" Type="http://schemas.openxmlformats.org/officeDocument/2006/relationships/oleObject" Target="../embeddings/oleObject289.bin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6.vml"/><Relationship Id="rId4" Type="http://schemas.openxmlformats.org/officeDocument/2006/relationships/image" Target="../media/image356.emf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7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4.bin"/><Relationship Id="rId3" Type="http://schemas.openxmlformats.org/officeDocument/2006/relationships/oleObject" Target="../embeddings/oleObject292.bin"/><Relationship Id="rId7" Type="http://schemas.openxmlformats.org/officeDocument/2006/relationships/image" Target="../media/image36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361.wmf"/><Relationship Id="rId11" Type="http://schemas.openxmlformats.org/officeDocument/2006/relationships/image" Target="../media/image363.wmf"/><Relationship Id="rId5" Type="http://schemas.openxmlformats.org/officeDocument/2006/relationships/oleObject" Target="../embeddings/oleObject293.bin"/><Relationship Id="rId10" Type="http://schemas.openxmlformats.org/officeDocument/2006/relationships/oleObject" Target="../embeddings/oleObject295.bin"/><Relationship Id="rId4" Type="http://schemas.openxmlformats.org/officeDocument/2006/relationships/image" Target="../media/image360.wmf"/><Relationship Id="rId9" Type="http://schemas.openxmlformats.org/officeDocument/2006/relationships/image" Target="../media/image362.wmf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6.bin"/><Relationship Id="rId7" Type="http://schemas.openxmlformats.org/officeDocument/2006/relationships/image" Target="../media/image3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8.vml"/><Relationship Id="rId6" Type="http://schemas.openxmlformats.org/officeDocument/2006/relationships/oleObject" Target="../embeddings/oleObject297.bin"/><Relationship Id="rId5" Type="http://schemas.openxmlformats.org/officeDocument/2006/relationships/image" Target="../media/image367.jpeg"/><Relationship Id="rId4" Type="http://schemas.openxmlformats.org/officeDocument/2006/relationships/image" Target="../media/image365.wm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8.bin"/><Relationship Id="rId7" Type="http://schemas.openxmlformats.org/officeDocument/2006/relationships/image" Target="../media/image3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9.vml"/><Relationship Id="rId6" Type="http://schemas.openxmlformats.org/officeDocument/2006/relationships/oleObject" Target="../embeddings/oleObject299.bin"/><Relationship Id="rId5" Type="http://schemas.openxmlformats.org/officeDocument/2006/relationships/image" Target="../media/image370.jpeg"/><Relationship Id="rId4" Type="http://schemas.openxmlformats.org/officeDocument/2006/relationships/image" Target="../media/image368.w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301.bin"/><Relationship Id="rId4" Type="http://schemas.openxmlformats.org/officeDocument/2006/relationships/image" Target="../media/image371.wmf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jpeg"/><Relationship Id="rId2" Type="http://schemas.openxmlformats.org/officeDocument/2006/relationships/image" Target="../media/image37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89865"/>
            <a:ext cx="2736176" cy="791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" name="Rectangle 7"/>
          <p:cNvSpPr>
            <a:spLocks noChangeArrowheads="1"/>
          </p:cNvSpPr>
          <p:nvPr/>
        </p:nvSpPr>
        <p:spPr bwMode="auto">
          <a:xfrm>
            <a:off x="1371599" y="2680335"/>
            <a:ext cx="6400800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1" hangingPunct="1">
              <a:buClrTx/>
              <a:buSzTx/>
              <a:buFontTx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17487" y="1234440"/>
            <a:ext cx="8709025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ea"/>
                <a:ea typeface="+mj-ea"/>
              </a:rPr>
              <a:t>通信原理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92278" y="2697480"/>
            <a:ext cx="5605802" cy="146304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None/>
              <a:defRPr/>
            </a:pPr>
            <a:r>
              <a:rPr lang="zh-CN" altLang="en-US" sz="4800" b="1" i="1" u="sng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数字带通</a:t>
            </a:r>
            <a:r>
              <a:rPr lang="zh-CN" altLang="en-US" sz="4800" b="1" i="1" u="sng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传输系统  </a:t>
            </a:r>
            <a:endParaRPr lang="en-US" altLang="zh-CN" sz="4800" b="1" i="1" u="sng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40480" y="1600200"/>
            <a:ext cx="1343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600" b="1" kern="0" dirty="0">
                <a:solidFill>
                  <a:srgbClr val="003399"/>
                </a:solidFill>
                <a:latin typeface="+mj-ea"/>
                <a:ea typeface="+mj-ea"/>
              </a:rPr>
              <a:t>第</a:t>
            </a:r>
            <a:r>
              <a:rPr lang="en-US" altLang="zh-CN" sz="3600" b="1" kern="0" dirty="0">
                <a:solidFill>
                  <a:srgbClr val="7030A0"/>
                </a:solidFill>
                <a:latin typeface="+mj-ea"/>
                <a:ea typeface="+mj-ea"/>
                <a:cs typeface="Arial" pitchFamily="34" charset="0"/>
              </a:rPr>
              <a:t>7</a:t>
            </a:r>
            <a:r>
              <a:rPr lang="zh-CN" altLang="en-US" sz="3600" b="1" kern="0" dirty="0">
                <a:solidFill>
                  <a:srgbClr val="003399"/>
                </a:solidFill>
                <a:latin typeface="+mj-ea"/>
                <a:ea typeface="+mj-ea"/>
              </a:rPr>
              <a:t>章</a:t>
            </a:r>
            <a:endParaRPr lang="zh-CN" altLang="en-US" sz="3600" b="1" dirty="0">
              <a:solidFill>
                <a:srgbClr val="003399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09901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17675" y="1517650"/>
            <a:ext cx="6721475" cy="4311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二进制数字调制</a:t>
            </a:r>
            <a:r>
              <a:rPr lang="en-US" altLang="zh-CN" sz="28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解调原理 </a:t>
            </a:r>
            <a:endParaRPr lang="en-US" altLang="zh-CN" sz="280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2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2ASK</a:t>
            </a:r>
          </a:p>
          <a:p>
            <a:pPr eaLnBrk="1" hangingPunct="1">
              <a:lnSpc>
                <a:spcPts val="32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2FSK</a:t>
            </a:r>
          </a:p>
          <a:p>
            <a:pPr eaLnBrk="1" hangingPunct="1">
              <a:lnSpc>
                <a:spcPts val="35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8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2PSK/2DPSK </a:t>
            </a:r>
            <a:endParaRPr lang="en-US" altLang="zh-CN" sz="2400" dirty="0">
              <a:solidFill>
                <a:srgbClr val="800080"/>
              </a:solidFill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二进制数字调制系统抗噪声性能</a:t>
            </a:r>
          </a:p>
          <a:p>
            <a:pPr eaLnBrk="1" hangingPunct="1">
              <a:lnSpc>
                <a:spcPts val="48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二进制数字调制系统的性能比较</a:t>
            </a:r>
            <a:endParaRPr lang="en-US" altLang="zh-CN" sz="280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969696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多进制数字调制原理和特点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>
              <a:solidFill>
                <a:srgbClr val="003399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560320" y="687387"/>
            <a:ext cx="26606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本章内容</a:t>
            </a:r>
            <a:r>
              <a:rPr lang="en-US" altLang="zh-CN" sz="3600" b="1" dirty="0">
                <a:solidFill>
                  <a:srgbClr val="FF0000"/>
                </a:solidFill>
                <a:latin typeface="+mn-lt"/>
                <a:ea typeface="微软雅黑" pitchFamily="34" charset="-122"/>
                <a:cs typeface="Arial" pitchFamily="34" charset="0"/>
              </a:rPr>
              <a:t>:</a:t>
            </a:r>
            <a:r>
              <a:rPr lang="zh-CN" altLang="en-US" sz="36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zh-CN" altLang="en-US" sz="3600" b="1" dirty="0">
              <a:solidFill>
                <a:srgbClr val="FF0000"/>
              </a:solidFill>
              <a:latin typeface="+mn-ea"/>
              <a:ea typeface="+mn-ea"/>
              <a:cs typeface="Arial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429375" y="425450"/>
            <a:ext cx="24288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dirty="0">
                <a:solidFill>
                  <a:schemeClr val="bg2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章 新型数字带通传输系统</a:t>
            </a:r>
            <a:endParaRPr lang="zh-CN" altLang="en-US" sz="2400" dirty="0">
              <a:solidFill>
                <a:schemeClr val="bg2">
                  <a:lumMod val="75000"/>
                  <a:lumOff val="25000"/>
                </a:schemeClr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443038" y="1835150"/>
            <a:ext cx="185737" cy="207963"/>
            <a:chOff x="2976" y="1008"/>
            <a:chExt cx="1056" cy="432"/>
          </a:xfrm>
        </p:grpSpPr>
        <p:sp>
          <p:nvSpPr>
            <p:cNvPr id="88079" name="Oval 9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88080" name="Oval 10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444625" y="3887788"/>
            <a:ext cx="185738" cy="207962"/>
            <a:chOff x="2976" y="1008"/>
            <a:chExt cx="1056" cy="432"/>
          </a:xfrm>
        </p:grpSpPr>
        <p:sp>
          <p:nvSpPr>
            <p:cNvPr id="88077" name="Oval 18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88078" name="Oval 19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1444625" y="4540250"/>
            <a:ext cx="185738" cy="207963"/>
            <a:chOff x="2976" y="1008"/>
            <a:chExt cx="1056" cy="432"/>
          </a:xfrm>
        </p:grpSpPr>
        <p:sp>
          <p:nvSpPr>
            <p:cNvPr id="88075" name="Oval 21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88076" name="Oval 22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  <p:grpSp>
        <p:nvGrpSpPr>
          <p:cNvPr id="6" name="Group 8"/>
          <p:cNvGrpSpPr>
            <a:grpSpLocks/>
          </p:cNvGrpSpPr>
          <p:nvPr/>
        </p:nvGrpSpPr>
        <p:grpSpPr bwMode="auto">
          <a:xfrm>
            <a:off x="1458913" y="5237163"/>
            <a:ext cx="185737" cy="207962"/>
            <a:chOff x="2976" y="1008"/>
            <a:chExt cx="1056" cy="432"/>
          </a:xfrm>
        </p:grpSpPr>
        <p:sp>
          <p:nvSpPr>
            <p:cNvPr id="88073" name="Oval 9"/>
            <p:cNvSpPr>
              <a:spLocks noChangeArrowheads="1"/>
            </p:cNvSpPr>
            <p:nvPr/>
          </p:nvSpPr>
          <p:spPr bwMode="auto">
            <a:xfrm>
              <a:off x="2976" y="1008"/>
              <a:ext cx="1056" cy="432"/>
            </a:xfrm>
            <a:prstGeom prst="ellipse">
              <a:avLst/>
            </a:prstGeom>
            <a:gradFill rotWithShape="0">
              <a:gsLst>
                <a:gs pos="0">
                  <a:srgbClr val="454A4D"/>
                </a:gs>
                <a:gs pos="100000">
                  <a:srgbClr val="BCCAD4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  <p:sp>
          <p:nvSpPr>
            <p:cNvPr id="88074" name="Oval 10"/>
            <p:cNvSpPr>
              <a:spLocks noChangeArrowheads="1"/>
            </p:cNvSpPr>
            <p:nvPr/>
          </p:nvSpPr>
          <p:spPr bwMode="auto">
            <a:xfrm>
              <a:off x="3024" y="1056"/>
              <a:ext cx="960" cy="336"/>
            </a:xfrm>
            <a:prstGeom prst="ellipse">
              <a:avLst/>
            </a:prstGeom>
            <a:gradFill rotWithShape="0">
              <a:gsLst>
                <a:gs pos="0">
                  <a:srgbClr val="BCCAD4"/>
                </a:gs>
                <a:gs pos="100000">
                  <a:srgbClr val="575D6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73025" tIns="36512" rIns="73025" bIns="36512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5760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073150"/>
            <a:ext cx="8532813" cy="1169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数字调制：用</a:t>
            </a:r>
            <a:r>
              <a:rPr lang="zh-CN" altLang="en-US" sz="2400" dirty="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数字基带信号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控制载波某个参数的过程。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数字带通传输系统：包括调制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解调过程的数字传输系统。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062038" y="3784600"/>
          <a:ext cx="6884987" cy="140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17" name="Visio" r:id="rId3" imgW="7453611" imgH="1258214" progId="Visio.Drawing.11">
                  <p:embed/>
                </p:oleObj>
              </mc:Choice>
              <mc:Fallback>
                <p:oleObj name="Visio" r:id="rId3" imgW="7453611" imgH="125821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3784600"/>
                        <a:ext cx="6884987" cy="1408113"/>
                      </a:xfrm>
                      <a:prstGeom prst="rect">
                        <a:avLst/>
                      </a:prstGeom>
                      <a:solidFill>
                        <a:schemeClr val="bg1">
                          <a:alpha val="8600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0" name="Text Box 6"/>
          <p:cNvSpPr txBox="1">
            <a:spLocks noChangeArrowheads="1"/>
          </p:cNvSpPr>
          <p:nvPr/>
        </p:nvSpPr>
        <p:spPr bwMode="auto">
          <a:xfrm>
            <a:off x="1262063" y="5151438"/>
            <a:ext cx="6534150" cy="457200"/>
          </a:xfrm>
          <a:prstGeom prst="rect">
            <a:avLst/>
          </a:prstGeom>
          <a:solidFill>
            <a:srgbClr val="E5E5FF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  </a:t>
            </a:r>
            <a:r>
              <a:rPr lang="zh-CN" altLang="en-US" sz="2400">
                <a:solidFill>
                  <a:srgbClr val="A62A7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振幅键控	      频移键控            相移键控</a:t>
            </a: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466850" y="2724150"/>
            <a:ext cx="2341563" cy="1079500"/>
          </a:xfrm>
          <a:prstGeom prst="rect">
            <a:avLst/>
          </a:prstGeom>
          <a:noFill/>
          <a:ln w="38100" cmpd="dbl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anose="05000000000000000000" pitchFamily="2" charset="2"/>
              <a:buChar char="q"/>
            </a:pPr>
            <a:r>
              <a:rPr lang="zh-CN" altLang="en-US" sz="2400" b="1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模拟调制法   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anose="05000000000000000000" pitchFamily="2" charset="2"/>
              <a:buChar char="q"/>
            </a:pPr>
            <a:r>
              <a:rPr lang="zh-CN" altLang="en-US" sz="2400" b="1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数字键控法</a:t>
            </a:r>
            <a:endParaRPr lang="zh-CN" altLang="en-US" sz="2400" b="1">
              <a:solidFill>
                <a:srgbClr val="003399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530441" name="Rectangle 9"/>
          <p:cNvSpPr>
            <a:spLocks noChangeArrowheads="1"/>
          </p:cNvSpPr>
          <p:nvPr/>
        </p:nvSpPr>
        <p:spPr bwMode="auto">
          <a:xfrm>
            <a:off x="4976813" y="2678113"/>
            <a:ext cx="3375025" cy="1125537"/>
          </a:xfrm>
          <a:prstGeom prst="rect">
            <a:avLst/>
          </a:prstGeom>
          <a:noFill/>
          <a:ln w="38100" cmpd="dbl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anose="05000000000000000000" pitchFamily="2" charset="2"/>
              <a:buChar char="q"/>
            </a:pPr>
            <a:r>
              <a:rPr lang="zh-CN" altLang="en-US" sz="2400" b="1">
                <a:solidFill>
                  <a:srgbClr val="0033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二进制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和多进制调制</a:t>
            </a:r>
            <a:endParaRPr lang="zh-CN" altLang="en-US" sz="240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anose="05000000000000000000" pitchFamily="2" charset="2"/>
              <a:buChar char="q"/>
            </a:pPr>
            <a:r>
              <a:rPr lang="zh-CN" altLang="en-US" sz="2400" b="1">
                <a:solidFill>
                  <a:srgbClr val="0033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基本调制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和新型调制</a:t>
            </a:r>
            <a:endParaRPr lang="zh-CN" altLang="en-US" sz="2800" b="1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3082" name="Oval 10"/>
          <p:cNvSpPr>
            <a:spLocks noChangeArrowheads="1"/>
          </p:cNvSpPr>
          <p:nvPr/>
        </p:nvSpPr>
        <p:spPr bwMode="auto">
          <a:xfrm>
            <a:off x="881063" y="2317750"/>
            <a:ext cx="1169987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69696"/>
            </a:solidFill>
            <a:round/>
            <a:headEnd/>
            <a:tailEnd/>
          </a:ln>
          <a:effectLst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>
                <a:latin typeface="隶书" pitchFamily="49" charset="-122"/>
                <a:ea typeface="隶书" pitchFamily="49" charset="-122"/>
              </a:rPr>
              <a:t>方法</a:t>
            </a:r>
          </a:p>
        </p:txBody>
      </p:sp>
      <p:sp>
        <p:nvSpPr>
          <p:cNvPr id="530443" name="Oval 11"/>
          <p:cNvSpPr>
            <a:spLocks noChangeArrowheads="1"/>
          </p:cNvSpPr>
          <p:nvPr/>
        </p:nvSpPr>
        <p:spPr bwMode="auto">
          <a:xfrm>
            <a:off x="4346575" y="2317750"/>
            <a:ext cx="1169988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69696"/>
            </a:solidFill>
            <a:round/>
            <a:headEnd/>
            <a:tailEnd/>
          </a:ln>
          <a:effectLst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itchFamily="49" charset="-122"/>
                <a:ea typeface="隶书" pitchFamily="49" charset="-122"/>
              </a:rPr>
              <a:t>分类</a:t>
            </a:r>
          </a:p>
        </p:txBody>
      </p:sp>
      <p:sp>
        <p:nvSpPr>
          <p:cNvPr id="530444" name="Rectangle 12"/>
          <p:cNvSpPr>
            <a:spLocks noChangeArrowheads="1"/>
          </p:cNvSpPr>
          <p:nvPr/>
        </p:nvSpPr>
        <p:spPr bwMode="auto">
          <a:xfrm>
            <a:off x="611188" y="5651500"/>
            <a:ext cx="2803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3399"/>
                </a:solidFill>
              </a:rPr>
              <a:t>Amplitude Shift Keying</a:t>
            </a:r>
            <a:r>
              <a:rPr lang="en-US" altLang="zh-CN">
                <a:solidFill>
                  <a:srgbClr val="003399"/>
                </a:solidFill>
              </a:rPr>
              <a:t> </a:t>
            </a:r>
          </a:p>
        </p:txBody>
      </p:sp>
      <p:sp>
        <p:nvSpPr>
          <p:cNvPr id="530445" name="Rectangle 13"/>
          <p:cNvSpPr>
            <a:spLocks noChangeArrowheads="1"/>
          </p:cNvSpPr>
          <p:nvPr/>
        </p:nvSpPr>
        <p:spPr bwMode="auto">
          <a:xfrm>
            <a:off x="3176588" y="6056313"/>
            <a:ext cx="287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3399"/>
                </a:solidFill>
              </a:rPr>
              <a:t>Frequency Shift Keying </a:t>
            </a:r>
          </a:p>
        </p:txBody>
      </p:sp>
      <p:sp>
        <p:nvSpPr>
          <p:cNvPr id="530446" name="Rectangle 14"/>
          <p:cNvSpPr>
            <a:spLocks noChangeArrowheads="1"/>
          </p:cNvSpPr>
          <p:nvPr/>
        </p:nvSpPr>
        <p:spPr bwMode="auto">
          <a:xfrm>
            <a:off x="5907088" y="5651500"/>
            <a:ext cx="2400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3399"/>
                </a:solidFill>
              </a:rPr>
              <a:t>Phase Shift Keying </a:t>
            </a:r>
          </a:p>
        </p:txBody>
      </p:sp>
      <p:sp>
        <p:nvSpPr>
          <p:cNvPr id="530447" name="Rectangle 15"/>
          <p:cNvSpPr>
            <a:spLocks noChangeArrowheads="1"/>
          </p:cNvSpPr>
          <p:nvPr/>
        </p:nvSpPr>
        <p:spPr bwMode="auto">
          <a:xfrm>
            <a:off x="1646238" y="6003925"/>
            <a:ext cx="877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A62A7D"/>
                </a:solidFill>
              </a:rPr>
              <a:t>ASK </a:t>
            </a:r>
          </a:p>
        </p:txBody>
      </p:sp>
      <p:sp>
        <p:nvSpPr>
          <p:cNvPr id="530448" name="Rectangle 16"/>
          <p:cNvSpPr>
            <a:spLocks noChangeArrowheads="1"/>
          </p:cNvSpPr>
          <p:nvPr/>
        </p:nvSpPr>
        <p:spPr bwMode="auto">
          <a:xfrm>
            <a:off x="6372225" y="6026150"/>
            <a:ext cx="87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A62A7D"/>
                </a:solidFill>
              </a:rPr>
              <a:t>PSK </a:t>
            </a:r>
          </a:p>
        </p:txBody>
      </p:sp>
      <p:sp>
        <p:nvSpPr>
          <p:cNvPr id="530449" name="Rectangle 17"/>
          <p:cNvSpPr>
            <a:spLocks noChangeArrowheads="1"/>
          </p:cNvSpPr>
          <p:nvPr/>
        </p:nvSpPr>
        <p:spPr bwMode="auto">
          <a:xfrm>
            <a:off x="4048125" y="5651500"/>
            <a:ext cx="860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A62A7D"/>
                </a:solidFill>
              </a:rPr>
              <a:t>FSK </a:t>
            </a:r>
          </a:p>
        </p:txBody>
      </p:sp>
      <p:sp>
        <p:nvSpPr>
          <p:cNvPr id="1039" name="Rectangle 11"/>
          <p:cNvSpPr>
            <a:spLocks noChangeArrowheads="1"/>
          </p:cNvSpPr>
          <p:nvPr/>
        </p:nvSpPr>
        <p:spPr bwMode="auto">
          <a:xfrm>
            <a:off x="3444875" y="406400"/>
            <a:ext cx="1249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  述</a:t>
            </a:r>
          </a:p>
        </p:txBody>
      </p:sp>
    </p:spTree>
    <p:extLst>
      <p:ext uri="{BB962C8B-B14F-4D97-AF65-F5344CB8AC3E}">
        <p14:creationId xmlns:p14="http://schemas.microsoft.com/office/powerpoint/2010/main" val="28201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0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3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3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304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30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30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53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304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30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30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1000"/>
                                        <p:tgtEl>
                                          <p:spTgt spid="53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304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30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30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1000"/>
                                        <p:tgtEl>
                                          <p:spTgt spid="53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build="p"/>
      <p:bldP spid="3090" grpId="0" animBg="1"/>
      <p:bldP spid="3080" grpId="0" animBg="1"/>
      <p:bldP spid="530441" grpId="0" animBg="1"/>
      <p:bldP spid="3082" grpId="0" animBg="1"/>
      <p:bldP spid="530443" grpId="0" animBg="1"/>
      <p:bldP spid="530444" grpId="0"/>
      <p:bldP spid="530445" grpId="0"/>
      <p:bldP spid="530446" grpId="0"/>
      <p:bldP spid="530447" grpId="0"/>
      <p:bldP spid="530448" grpId="0"/>
      <p:bldP spid="5304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098550" y="2832100"/>
            <a:ext cx="77406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4800" kern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       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二进制数字调制原理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520700" y="1069975"/>
            <a:ext cx="2341563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 algn="ctr">
              <a:defRPr/>
            </a:pPr>
            <a:r>
              <a:rPr lang="en-US" altLang="en-US" sz="4000" b="1" u="sng" kern="0" dirty="0">
                <a:solidFill>
                  <a:srgbClr val="800080"/>
                </a:solidFill>
                <a:latin typeface="+mj-lt"/>
                <a:ea typeface="+mj-ea"/>
                <a:cs typeface="+mj-cs"/>
              </a:rPr>
              <a:t>§</a:t>
            </a:r>
            <a:r>
              <a:rPr lang="en-US" altLang="zh-CN" sz="4000" b="1" u="sng" kern="0" dirty="0">
                <a:solidFill>
                  <a:srgbClr val="800080"/>
                </a:solidFill>
                <a:latin typeface="+mj-lt"/>
                <a:ea typeface="+mj-ea"/>
                <a:cs typeface="+mj-cs"/>
              </a:rPr>
              <a:t>7.1</a:t>
            </a:r>
          </a:p>
        </p:txBody>
      </p:sp>
    </p:spTree>
    <p:extLst>
      <p:ext uri="{BB962C8B-B14F-4D97-AF65-F5344CB8AC3E}">
        <p14:creationId xmlns:p14="http://schemas.microsoft.com/office/powerpoint/2010/main" val="304257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03" name="Rectangle 55"/>
          <p:cNvSpPr>
            <a:spLocks noChangeArrowheads="1"/>
          </p:cNvSpPr>
          <p:nvPr/>
        </p:nvSpPr>
        <p:spPr bwMode="auto">
          <a:xfrm rot="5400000">
            <a:off x="4791075" y="2168525"/>
            <a:ext cx="4275138" cy="3735388"/>
          </a:xfrm>
          <a:prstGeom prst="rect">
            <a:avLst/>
          </a:prstGeom>
          <a:solidFill>
            <a:schemeClr val="bg1">
              <a:lumMod val="95000"/>
              <a:alpha val="58823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lvl="2" algn="ctr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None/>
              <a:defRPr/>
            </a:pPr>
            <a:endParaRPr lang="en-US" altLang="zh-CN" b="1">
              <a:solidFill>
                <a:srgbClr val="10880A"/>
              </a:solidFill>
            </a:endParaRPr>
          </a:p>
          <a:p>
            <a:pPr algn="ctr">
              <a:defRPr/>
            </a:pPr>
            <a:endParaRPr lang="en-US" altLang="zh-CN"/>
          </a:p>
        </p:txBody>
      </p:sp>
      <p:sp>
        <p:nvSpPr>
          <p:cNvPr id="2064" name="Rectangle 54"/>
          <p:cNvSpPr>
            <a:spLocks noChangeArrowheads="1"/>
          </p:cNvSpPr>
          <p:nvPr/>
        </p:nvSpPr>
        <p:spPr bwMode="auto">
          <a:xfrm>
            <a:off x="522288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8053" name="Line 5"/>
          <p:cNvSpPr>
            <a:spLocks noChangeShapeType="1"/>
          </p:cNvSpPr>
          <p:nvPr/>
        </p:nvSpPr>
        <p:spPr bwMode="auto">
          <a:xfrm>
            <a:off x="1376363" y="4576763"/>
            <a:ext cx="3419475" cy="26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54" name="Line 6"/>
          <p:cNvSpPr>
            <a:spLocks noChangeShapeType="1"/>
          </p:cNvSpPr>
          <p:nvPr/>
        </p:nvSpPr>
        <p:spPr bwMode="auto">
          <a:xfrm flipV="1">
            <a:off x="1376363" y="3638550"/>
            <a:ext cx="3465512" cy="41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55" name="Line 7"/>
          <p:cNvSpPr>
            <a:spLocks noChangeShapeType="1"/>
          </p:cNvSpPr>
          <p:nvPr/>
        </p:nvSpPr>
        <p:spPr bwMode="auto">
          <a:xfrm flipV="1">
            <a:off x="1376363" y="5662613"/>
            <a:ext cx="3419475" cy="36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8056" name="Object 8"/>
          <p:cNvGraphicFramePr>
            <a:graphicFrameLocks noChangeAspect="1"/>
          </p:cNvGraphicFramePr>
          <p:nvPr/>
        </p:nvGraphicFramePr>
        <p:xfrm>
          <a:off x="1900238" y="4195763"/>
          <a:ext cx="54768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5" name="Visio" r:id="rId3" imgW="1477873" imgH="766199" progId="Visio.Drawing.11">
                  <p:embed/>
                </p:oleObj>
              </mc:Choice>
              <mc:Fallback>
                <p:oleObj name="Visio" r:id="rId3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4195763"/>
                        <a:ext cx="54768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7" name="Object 9"/>
          <p:cNvGraphicFramePr>
            <a:graphicFrameLocks noChangeAspect="1"/>
          </p:cNvGraphicFramePr>
          <p:nvPr/>
        </p:nvGraphicFramePr>
        <p:xfrm>
          <a:off x="4030663" y="4195763"/>
          <a:ext cx="54768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6" name="Visio" r:id="rId5" imgW="1477873" imgH="766199" progId="Visio.Drawing.11">
                  <p:embed/>
                </p:oleObj>
              </mc:Choice>
              <mc:Fallback>
                <p:oleObj name="Visio" r:id="rId5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4195763"/>
                        <a:ext cx="54768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9" name="Object 11"/>
          <p:cNvGraphicFramePr>
            <a:graphicFrameLocks noChangeAspect="1"/>
          </p:cNvGraphicFramePr>
          <p:nvPr/>
        </p:nvGraphicFramePr>
        <p:xfrm>
          <a:off x="3495675" y="4195763"/>
          <a:ext cx="547688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7" name="Visio" r:id="rId6" imgW="1477873" imgH="766199" progId="Visio.Drawing.11">
                  <p:embed/>
                </p:oleObj>
              </mc:Choice>
              <mc:Fallback>
                <p:oleObj name="Visio" r:id="rId6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4195763"/>
                        <a:ext cx="547688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0" name="Object 12"/>
          <p:cNvGraphicFramePr>
            <a:graphicFrameLocks noChangeAspect="1"/>
          </p:cNvGraphicFramePr>
          <p:nvPr/>
        </p:nvGraphicFramePr>
        <p:xfrm>
          <a:off x="2959100" y="4192588"/>
          <a:ext cx="547688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8" name="Visio" r:id="rId7" imgW="1477873" imgH="766199" progId="Visio.Drawing.11">
                  <p:embed/>
                </p:oleObj>
              </mc:Choice>
              <mc:Fallback>
                <p:oleObj name="Visio" r:id="rId7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4192588"/>
                        <a:ext cx="547688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1" name="Object 13"/>
          <p:cNvGraphicFramePr>
            <a:graphicFrameLocks noChangeAspect="1"/>
          </p:cNvGraphicFramePr>
          <p:nvPr/>
        </p:nvGraphicFramePr>
        <p:xfrm>
          <a:off x="2976563" y="5310188"/>
          <a:ext cx="54768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9" name="Visio" r:id="rId8" imgW="1477873" imgH="766199" progId="Visio.Drawing.11">
                  <p:embed/>
                </p:oleObj>
              </mc:Choice>
              <mc:Fallback>
                <p:oleObj name="Visio" r:id="rId8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5310188"/>
                        <a:ext cx="54768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2" name="Object 14"/>
          <p:cNvGraphicFramePr>
            <a:graphicFrameLocks noChangeAspect="1"/>
          </p:cNvGraphicFramePr>
          <p:nvPr/>
        </p:nvGraphicFramePr>
        <p:xfrm>
          <a:off x="2428875" y="4195763"/>
          <a:ext cx="547688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0" name="Visio" r:id="rId9" imgW="1477873" imgH="766199" progId="Visio.Drawing.11">
                  <p:embed/>
                </p:oleObj>
              </mc:Choice>
              <mc:Fallback>
                <p:oleObj name="Visio" r:id="rId9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4195763"/>
                        <a:ext cx="547688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3" name="Object 15"/>
          <p:cNvGraphicFramePr>
            <a:graphicFrameLocks noChangeAspect="1"/>
          </p:cNvGraphicFramePr>
          <p:nvPr/>
        </p:nvGraphicFramePr>
        <p:xfrm>
          <a:off x="4030663" y="5295900"/>
          <a:ext cx="54768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1" name="Visio" r:id="rId10" imgW="1486918" imgH="775592" progId="Visio.Drawing.11">
                  <p:embed/>
                </p:oleObj>
              </mc:Choice>
              <mc:Fallback>
                <p:oleObj name="Visio" r:id="rId10" imgW="1486918" imgH="77559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5295900"/>
                        <a:ext cx="547687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64" name="Line 16"/>
          <p:cNvSpPr>
            <a:spLocks noChangeShapeType="1"/>
          </p:cNvSpPr>
          <p:nvPr/>
        </p:nvSpPr>
        <p:spPr bwMode="auto">
          <a:xfrm>
            <a:off x="1376363" y="3357563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65" name="Line 17"/>
          <p:cNvSpPr>
            <a:spLocks noChangeShapeType="1"/>
          </p:cNvSpPr>
          <p:nvPr/>
        </p:nvSpPr>
        <p:spPr bwMode="auto">
          <a:xfrm>
            <a:off x="1909763" y="3357563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66" name="Line 18"/>
          <p:cNvSpPr>
            <a:spLocks noChangeShapeType="1"/>
          </p:cNvSpPr>
          <p:nvPr/>
        </p:nvSpPr>
        <p:spPr bwMode="auto">
          <a:xfrm>
            <a:off x="2443163" y="3357563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67" name="Line 19"/>
          <p:cNvSpPr>
            <a:spLocks noChangeShapeType="1"/>
          </p:cNvSpPr>
          <p:nvPr/>
        </p:nvSpPr>
        <p:spPr bwMode="auto">
          <a:xfrm>
            <a:off x="2976563" y="3357563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68" name="Line 20"/>
          <p:cNvSpPr>
            <a:spLocks noChangeShapeType="1"/>
          </p:cNvSpPr>
          <p:nvPr/>
        </p:nvSpPr>
        <p:spPr bwMode="auto">
          <a:xfrm>
            <a:off x="3506788" y="3298825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8069" name="Line 21"/>
          <p:cNvSpPr>
            <a:spLocks noChangeShapeType="1"/>
          </p:cNvSpPr>
          <p:nvPr/>
        </p:nvSpPr>
        <p:spPr bwMode="auto">
          <a:xfrm>
            <a:off x="4043363" y="3357563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8072" name="Object 24"/>
          <p:cNvGraphicFramePr>
            <a:graphicFrameLocks noChangeAspect="1"/>
          </p:cNvGraphicFramePr>
          <p:nvPr/>
        </p:nvGraphicFramePr>
        <p:xfrm>
          <a:off x="1362075" y="4195763"/>
          <a:ext cx="547688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2" name="Visio" r:id="rId12" imgW="1477873" imgH="766199" progId="Visio.Drawing.11">
                  <p:embed/>
                </p:oleObj>
              </mc:Choice>
              <mc:Fallback>
                <p:oleObj name="Visio" r:id="rId12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4195763"/>
                        <a:ext cx="547688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73" name="Object 25"/>
          <p:cNvGraphicFramePr>
            <a:graphicFrameLocks noChangeAspect="1"/>
          </p:cNvGraphicFramePr>
          <p:nvPr/>
        </p:nvGraphicFramePr>
        <p:xfrm>
          <a:off x="1362075" y="5324475"/>
          <a:ext cx="547688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3" name="Visio" r:id="rId13" imgW="1477873" imgH="766199" progId="Visio.Drawing.11">
                  <p:embed/>
                </p:oleObj>
              </mc:Choice>
              <mc:Fallback>
                <p:oleObj name="Visio" r:id="rId13" imgW="1477873" imgH="76619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5324475"/>
                        <a:ext cx="547688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74" name="Rectangle 26"/>
          <p:cNvSpPr>
            <a:spLocks noChangeArrowheads="1"/>
          </p:cNvSpPr>
          <p:nvPr/>
        </p:nvSpPr>
        <p:spPr bwMode="auto">
          <a:xfrm>
            <a:off x="1376363" y="3441700"/>
            <a:ext cx="533400" cy="228600"/>
          </a:xfrm>
          <a:prstGeom prst="rect">
            <a:avLst/>
          </a:prstGeom>
          <a:solidFill>
            <a:srgbClr val="E5E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8075" name="Rectangle 27"/>
          <p:cNvSpPr>
            <a:spLocks noChangeArrowheads="1"/>
          </p:cNvSpPr>
          <p:nvPr/>
        </p:nvSpPr>
        <p:spPr bwMode="auto">
          <a:xfrm>
            <a:off x="4044950" y="3429000"/>
            <a:ext cx="533400" cy="228600"/>
          </a:xfrm>
          <a:prstGeom prst="rect">
            <a:avLst/>
          </a:prstGeom>
          <a:solidFill>
            <a:srgbClr val="E5E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8076" name="Rectangle 28"/>
          <p:cNvSpPr>
            <a:spLocks noChangeArrowheads="1"/>
          </p:cNvSpPr>
          <p:nvPr/>
        </p:nvSpPr>
        <p:spPr bwMode="auto">
          <a:xfrm>
            <a:off x="2976563" y="3430588"/>
            <a:ext cx="533400" cy="228600"/>
          </a:xfrm>
          <a:prstGeom prst="rect">
            <a:avLst/>
          </a:prstGeom>
          <a:solidFill>
            <a:srgbClr val="E5E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8077" name="Rectangle 29"/>
          <p:cNvSpPr>
            <a:spLocks noChangeArrowheads="1"/>
          </p:cNvSpPr>
          <p:nvPr/>
        </p:nvSpPr>
        <p:spPr bwMode="auto">
          <a:xfrm>
            <a:off x="2443163" y="3430588"/>
            <a:ext cx="533400" cy="228600"/>
          </a:xfrm>
          <a:prstGeom prst="rect">
            <a:avLst/>
          </a:prstGeom>
          <a:solidFill>
            <a:srgbClr val="E5E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8078" name="Text Box 30"/>
          <p:cNvSpPr txBox="1">
            <a:spLocks noChangeArrowheads="1"/>
          </p:cNvSpPr>
          <p:nvPr/>
        </p:nvSpPr>
        <p:spPr bwMode="auto">
          <a:xfrm>
            <a:off x="1376362" y="3090862"/>
            <a:ext cx="5159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 1</a:t>
            </a:r>
          </a:p>
        </p:txBody>
      </p:sp>
      <p:sp>
        <p:nvSpPr>
          <p:cNvPr id="258079" name="Text Box 31"/>
          <p:cNvSpPr txBox="1">
            <a:spLocks noChangeArrowheads="1"/>
          </p:cNvSpPr>
          <p:nvPr/>
        </p:nvSpPr>
        <p:spPr bwMode="auto">
          <a:xfrm>
            <a:off x="1909763" y="3090863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  0</a:t>
            </a:r>
          </a:p>
        </p:txBody>
      </p:sp>
      <p:sp>
        <p:nvSpPr>
          <p:cNvPr id="258080" name="Text Box 32"/>
          <p:cNvSpPr txBox="1">
            <a:spLocks noChangeArrowheads="1"/>
          </p:cNvSpPr>
          <p:nvPr/>
        </p:nvSpPr>
        <p:spPr bwMode="auto">
          <a:xfrm>
            <a:off x="2519362" y="3090862"/>
            <a:ext cx="5302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 1</a:t>
            </a:r>
          </a:p>
        </p:txBody>
      </p:sp>
      <p:sp>
        <p:nvSpPr>
          <p:cNvPr id="258081" name="Text Box 33"/>
          <p:cNvSpPr txBox="1">
            <a:spLocks noChangeArrowheads="1"/>
          </p:cNvSpPr>
          <p:nvPr/>
        </p:nvSpPr>
        <p:spPr bwMode="auto">
          <a:xfrm>
            <a:off x="3052762" y="3090863"/>
            <a:ext cx="457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 1</a:t>
            </a:r>
          </a:p>
        </p:txBody>
      </p:sp>
      <p:sp>
        <p:nvSpPr>
          <p:cNvPr id="258082" name="Text Box 34"/>
          <p:cNvSpPr txBox="1">
            <a:spLocks noChangeArrowheads="1"/>
          </p:cNvSpPr>
          <p:nvPr/>
        </p:nvSpPr>
        <p:spPr bwMode="auto">
          <a:xfrm>
            <a:off x="3662363" y="3090863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0</a:t>
            </a:r>
          </a:p>
        </p:txBody>
      </p:sp>
      <p:sp>
        <p:nvSpPr>
          <p:cNvPr id="258084" name="Text Box 36"/>
          <p:cNvSpPr txBox="1">
            <a:spLocks noChangeArrowheads="1"/>
          </p:cNvSpPr>
          <p:nvPr/>
        </p:nvSpPr>
        <p:spPr bwMode="auto">
          <a:xfrm>
            <a:off x="4160838" y="30734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1</a:t>
            </a:r>
          </a:p>
        </p:txBody>
      </p:sp>
      <p:graphicFrame>
        <p:nvGraphicFramePr>
          <p:cNvPr id="258085" name="Object 37"/>
          <p:cNvGraphicFramePr>
            <a:graphicFrameLocks noChangeAspect="1"/>
          </p:cNvGraphicFramePr>
          <p:nvPr/>
        </p:nvGraphicFramePr>
        <p:xfrm>
          <a:off x="2443163" y="5338763"/>
          <a:ext cx="54768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4" name="Visio" r:id="rId14" imgW="1486918" imgH="775592" progId="Visio.Drawing.11">
                  <p:embed/>
                </p:oleObj>
              </mc:Choice>
              <mc:Fallback>
                <p:oleObj name="Visio" r:id="rId14" imgW="1486918" imgH="77559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5338763"/>
                        <a:ext cx="54768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86" name="Text Box 38"/>
          <p:cNvSpPr txBox="1">
            <a:spLocks noChangeArrowheads="1"/>
          </p:cNvSpPr>
          <p:nvPr/>
        </p:nvSpPr>
        <p:spPr bwMode="auto">
          <a:xfrm>
            <a:off x="700088" y="3254375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s(t)</a:t>
            </a:r>
          </a:p>
        </p:txBody>
      </p:sp>
      <p:sp>
        <p:nvSpPr>
          <p:cNvPr id="258087" name="Text Box 39"/>
          <p:cNvSpPr txBox="1">
            <a:spLocks noChangeArrowheads="1"/>
          </p:cNvSpPr>
          <p:nvPr/>
        </p:nvSpPr>
        <p:spPr bwMode="auto">
          <a:xfrm>
            <a:off x="565150" y="4154488"/>
            <a:ext cx="898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华文中宋" panose="02010600040101010101" pitchFamily="2" charset="-122"/>
              </a:rPr>
              <a:t>载波</a:t>
            </a:r>
          </a:p>
        </p:txBody>
      </p:sp>
      <p:sp>
        <p:nvSpPr>
          <p:cNvPr id="258088" name="Text Box 40"/>
          <p:cNvSpPr txBox="1">
            <a:spLocks noChangeArrowheads="1"/>
          </p:cNvSpPr>
          <p:nvPr/>
        </p:nvSpPr>
        <p:spPr bwMode="auto">
          <a:xfrm>
            <a:off x="476250" y="5272088"/>
            <a:ext cx="1042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2ASK</a:t>
            </a:r>
          </a:p>
        </p:txBody>
      </p:sp>
      <p:sp>
        <p:nvSpPr>
          <p:cNvPr id="258089" name="Text Box 41"/>
          <p:cNvSpPr txBox="1">
            <a:spLocks noChangeArrowheads="1"/>
          </p:cNvSpPr>
          <p:nvPr/>
        </p:nvSpPr>
        <p:spPr bwMode="auto">
          <a:xfrm>
            <a:off x="4665663" y="35687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t</a:t>
            </a:r>
          </a:p>
        </p:txBody>
      </p:sp>
      <p:graphicFrame>
        <p:nvGraphicFramePr>
          <p:cNvPr id="258090" name="Object 42"/>
          <p:cNvGraphicFramePr>
            <a:graphicFrameLocks noChangeAspect="1"/>
          </p:cNvGraphicFramePr>
          <p:nvPr/>
        </p:nvGraphicFramePr>
        <p:xfrm>
          <a:off x="5283200" y="2168525"/>
          <a:ext cx="31877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5" name="Equation" r:id="rId15" imgW="1307880" imgH="228600" progId="Equation.DSMT4">
                  <p:embed/>
                </p:oleObj>
              </mc:Choice>
              <mc:Fallback>
                <p:oleObj name="Equation" r:id="rId15" imgW="1307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2168525"/>
                        <a:ext cx="3187700" cy="601663"/>
                      </a:xfrm>
                      <a:prstGeom prst="rect">
                        <a:avLst/>
                      </a:prstGeom>
                      <a:solidFill>
                        <a:schemeClr val="bg1">
                          <a:alpha val="84000"/>
                        </a:schemeClr>
                      </a:solidFill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ffectLst>
                        <a:prstShdw prst="shdw17" dist="17961" dir="2700000">
                          <a:srgbClr val="9999FF">
                            <a:gamma/>
                            <a:shade val="60000"/>
                            <a:invGamma/>
                          </a:srgbClr>
                        </a:prst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1" name="Object 43"/>
          <p:cNvGraphicFramePr>
            <a:graphicFrameLocks noChangeAspect="1"/>
          </p:cNvGraphicFramePr>
          <p:nvPr/>
        </p:nvGraphicFramePr>
        <p:xfrm>
          <a:off x="5564188" y="3068638"/>
          <a:ext cx="3014662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6" name="Equation" r:id="rId17" imgW="1320480" imgH="342720" progId="Equation.DSMT4">
                  <p:embed/>
                </p:oleObj>
              </mc:Choice>
              <mc:Fallback>
                <p:oleObj name="Equation" r:id="rId17" imgW="13204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188" y="3068638"/>
                        <a:ext cx="3014662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7777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92" name="Object 44"/>
          <p:cNvGraphicFramePr>
            <a:graphicFrameLocks noChangeAspect="1"/>
          </p:cNvGraphicFramePr>
          <p:nvPr/>
        </p:nvGraphicFramePr>
        <p:xfrm>
          <a:off x="5788025" y="4014788"/>
          <a:ext cx="2474913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7" name="Equation" r:id="rId19" imgW="1180800" imgH="457200" progId="Equation.DSMT4">
                  <p:embed/>
                </p:oleObj>
              </mc:Choice>
              <mc:Fallback>
                <p:oleObj name="Equation" r:id="rId19" imgW="1180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8025" y="4014788"/>
                        <a:ext cx="2474913" cy="9636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93" name="Rectangle 45"/>
          <p:cNvSpPr>
            <a:spLocks noChangeArrowheads="1"/>
          </p:cNvSpPr>
          <p:nvPr/>
        </p:nvSpPr>
        <p:spPr bwMode="auto">
          <a:xfrm>
            <a:off x="4711700" y="1265238"/>
            <a:ext cx="1727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表达式：</a:t>
            </a:r>
          </a:p>
        </p:txBody>
      </p:sp>
      <p:sp>
        <p:nvSpPr>
          <p:cNvPr id="258095" name="Rectangle 47"/>
          <p:cNvSpPr>
            <a:spLocks noChangeArrowheads="1"/>
          </p:cNvSpPr>
          <p:nvPr/>
        </p:nvSpPr>
        <p:spPr bwMode="auto">
          <a:xfrm>
            <a:off x="5364163" y="5408613"/>
            <a:ext cx="3348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80008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en-US" altLang="zh-CN" sz="2400" b="1">
                <a:solidFill>
                  <a:srgbClr val="000099"/>
                </a:solidFill>
                <a:ea typeface="华文中宋" panose="02010600040101010101" pitchFamily="2" charset="-122"/>
              </a:rPr>
              <a:t>2ASK</a:t>
            </a:r>
            <a:r>
              <a:rPr lang="en-US" altLang="zh-CN" sz="2400">
                <a:ea typeface="华文中宋" panose="02010600040101010101" pitchFamily="2" charset="-122"/>
              </a:rPr>
              <a:t> </a:t>
            </a:r>
            <a:r>
              <a:rPr lang="zh-CN" altLang="en-US" sz="2400">
                <a:ea typeface="华文中宋" panose="02010600040101010101" pitchFamily="2" charset="-122"/>
              </a:rPr>
              <a:t>也称</a:t>
            </a:r>
            <a:r>
              <a:rPr lang="zh-CN" altLang="en-US" sz="2400" b="1">
                <a:solidFill>
                  <a:schemeClr val="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400" b="1">
                <a:solidFill>
                  <a:schemeClr val="hlink"/>
                </a:solidFill>
                <a:ea typeface="华文中宋" panose="02010600040101010101" pitchFamily="2" charset="-122"/>
              </a:rPr>
              <a:t>OOK</a:t>
            </a:r>
          </a:p>
        </p:txBody>
      </p:sp>
      <p:sp>
        <p:nvSpPr>
          <p:cNvPr id="258097" name="Text Box 49"/>
          <p:cNvSpPr txBox="1">
            <a:spLocks noChangeArrowheads="1"/>
          </p:cNvSpPr>
          <p:nvPr/>
        </p:nvSpPr>
        <p:spPr bwMode="auto">
          <a:xfrm>
            <a:off x="4665663" y="4551363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58098" name="Text Box 50"/>
          <p:cNvSpPr txBox="1">
            <a:spLocks noChangeArrowheads="1"/>
          </p:cNvSpPr>
          <p:nvPr/>
        </p:nvSpPr>
        <p:spPr bwMode="auto">
          <a:xfrm>
            <a:off x="4616450" y="56134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58100" name="Rectangle 52"/>
          <p:cNvSpPr>
            <a:spLocks noChangeArrowheads="1"/>
          </p:cNvSpPr>
          <p:nvPr/>
        </p:nvSpPr>
        <p:spPr bwMode="auto">
          <a:xfrm>
            <a:off x="701675" y="1277938"/>
            <a:ext cx="1511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原理：</a:t>
            </a:r>
          </a:p>
        </p:txBody>
      </p:sp>
      <p:sp>
        <p:nvSpPr>
          <p:cNvPr id="258101" name="Rectangle 53"/>
          <p:cNvSpPr>
            <a:spLocks noChangeArrowheads="1"/>
          </p:cNvSpPr>
          <p:nvPr/>
        </p:nvSpPr>
        <p:spPr bwMode="auto">
          <a:xfrm>
            <a:off x="701675" y="2139950"/>
            <a:ext cx="1511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 波形：</a:t>
            </a:r>
          </a:p>
        </p:txBody>
      </p:sp>
      <p:sp>
        <p:nvSpPr>
          <p:cNvPr id="258104" name="AutoShape 56"/>
          <p:cNvSpPr>
            <a:spLocks noChangeArrowheads="1"/>
          </p:cNvSpPr>
          <p:nvPr/>
        </p:nvSpPr>
        <p:spPr bwMode="auto">
          <a:xfrm>
            <a:off x="6911975" y="1289050"/>
            <a:ext cx="1216025" cy="539750"/>
          </a:xfrm>
          <a:prstGeom prst="wedgeRoundRectCallout">
            <a:avLst>
              <a:gd name="adj1" fmla="val -27097"/>
              <a:gd name="adj2" fmla="val 121426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hlink"/>
                </a:solidFill>
              </a:rPr>
              <a:t>单极性</a:t>
            </a:r>
          </a:p>
        </p:txBody>
      </p:sp>
      <p:sp>
        <p:nvSpPr>
          <p:cNvPr id="258112" name="Text Box 64"/>
          <p:cNvSpPr txBox="1">
            <a:spLocks noChangeArrowheads="1"/>
          </p:cNvSpPr>
          <p:nvPr/>
        </p:nvSpPr>
        <p:spPr bwMode="auto">
          <a:xfrm>
            <a:off x="1920875" y="3667125"/>
            <a:ext cx="585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s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258114" name="AutoShape 66"/>
          <p:cNvSpPr>
            <a:spLocks noChangeArrowheads="1"/>
          </p:cNvSpPr>
          <p:nvPr/>
        </p:nvSpPr>
        <p:spPr bwMode="auto">
          <a:xfrm>
            <a:off x="393700" y="3540125"/>
            <a:ext cx="179388" cy="765175"/>
          </a:xfrm>
          <a:prstGeom prst="curvedRightArrow">
            <a:avLst>
              <a:gd name="adj1" fmla="val 85309"/>
              <a:gd name="adj2" fmla="val 170619"/>
              <a:gd name="adj3" fmla="val 33333"/>
            </a:avLst>
          </a:prstGeom>
          <a:solidFill>
            <a:srgbClr val="E5E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8115" name="AutoShape 67"/>
          <p:cNvSpPr>
            <a:spLocks noChangeArrowheads="1"/>
          </p:cNvSpPr>
          <p:nvPr/>
        </p:nvSpPr>
        <p:spPr bwMode="auto">
          <a:xfrm>
            <a:off x="385763" y="4575175"/>
            <a:ext cx="179387" cy="765175"/>
          </a:xfrm>
          <a:prstGeom prst="curvedRightArrow">
            <a:avLst>
              <a:gd name="adj1" fmla="val 85310"/>
              <a:gd name="adj2" fmla="val 170620"/>
              <a:gd name="adj3" fmla="val 33333"/>
            </a:avLst>
          </a:prstGeom>
          <a:solidFill>
            <a:srgbClr val="E5E5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" name="椭圆形标注 51"/>
          <p:cNvSpPr>
            <a:spLocks noChangeArrowheads="1"/>
          </p:cNvSpPr>
          <p:nvPr/>
        </p:nvSpPr>
        <p:spPr bwMode="auto">
          <a:xfrm>
            <a:off x="6750050" y="2095500"/>
            <a:ext cx="666750" cy="711200"/>
          </a:xfrm>
          <a:prstGeom prst="wedgeEllipseCallout">
            <a:avLst>
              <a:gd name="adj1" fmla="val 36792"/>
              <a:gd name="adj2" fmla="val -107764"/>
            </a:avLst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2038350" y="1265238"/>
            <a:ext cx="22225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60000"/>
            </a:pPr>
            <a:r>
              <a:rPr lang="en-US" altLang="zh-CN" sz="2400">
                <a:ea typeface="华文中宋" panose="02010600040101010101" pitchFamily="2" charset="-122"/>
                <a:cs typeface="Arial" panose="020B0604020202020204" pitchFamily="34" charset="0"/>
              </a:rPr>
              <a:t>s(t)</a:t>
            </a:r>
            <a:r>
              <a:rPr lang="en-US" altLang="zh-CN" sz="2400">
                <a:ea typeface="华文中宋" panose="020106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zh-CN" altLang="en-US" sz="2400">
                <a:ea typeface="华文中宋" panose="02010600040101010101" pitchFamily="2" charset="-122"/>
                <a:cs typeface="Arial" panose="020B0604020202020204" pitchFamily="34" charset="0"/>
              </a:rPr>
              <a:t>载波幅度</a:t>
            </a:r>
          </a:p>
        </p:txBody>
      </p:sp>
      <p:sp>
        <p:nvSpPr>
          <p:cNvPr id="55" name="Rectangle 3"/>
          <p:cNvSpPr txBox="1">
            <a:spLocks noChangeArrowheads="1"/>
          </p:cNvSpPr>
          <p:nvPr/>
        </p:nvSpPr>
        <p:spPr bwMode="auto">
          <a:xfrm>
            <a:off x="-1" y="450850"/>
            <a:ext cx="6911975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.1.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 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二进制振幅键控 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3399"/>
                </a:solidFill>
              </a:rPr>
              <a:t>2ASK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00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05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58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8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8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58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8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8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8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5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8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8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8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8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8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8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5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58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58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25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58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58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58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58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25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8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8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8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58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1000"/>
                                        <p:tgtEl>
                                          <p:spTgt spid="25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5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1000"/>
                                        <p:tgtEl>
                                          <p:spTgt spid="25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1000"/>
                                        <p:tgtEl>
                                          <p:spTgt spid="25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2000"/>
                                        <p:tgtEl>
                                          <p:spTgt spid="2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1000"/>
                                        <p:tgtEl>
                                          <p:spTgt spid="258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1000"/>
                                        <p:tgtEl>
                                          <p:spTgt spid="25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2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9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7" dur="500"/>
                                        <p:tgtEl>
                                          <p:spTgt spid="25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1000"/>
                                        <p:tgtEl>
                                          <p:spTgt spid="25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103" grpId="0" animBg="1"/>
      <p:bldP spid="258053" grpId="0" animBg="1"/>
      <p:bldP spid="258054" grpId="0" animBg="1"/>
      <p:bldP spid="258055" grpId="0" animBg="1"/>
      <p:bldP spid="258064" grpId="0" animBg="1"/>
      <p:bldP spid="258065" grpId="0" animBg="1"/>
      <p:bldP spid="258066" grpId="0" animBg="1"/>
      <p:bldP spid="258067" grpId="0" animBg="1"/>
      <p:bldP spid="258068" grpId="0" animBg="1"/>
      <p:bldP spid="258069" grpId="0" animBg="1"/>
      <p:bldP spid="258074" grpId="0" animBg="1"/>
      <p:bldP spid="258075" grpId="0" animBg="1"/>
      <p:bldP spid="258076" grpId="0" animBg="1"/>
      <p:bldP spid="258077" grpId="0" animBg="1"/>
      <p:bldP spid="258079" grpId="0"/>
      <p:bldP spid="258080" grpId="0"/>
      <p:bldP spid="258081" grpId="0"/>
      <p:bldP spid="258082" grpId="0"/>
      <p:bldP spid="258084" grpId="0"/>
      <p:bldP spid="258086" grpId="0"/>
      <p:bldP spid="258087" grpId="0"/>
      <p:bldP spid="258088" grpId="0"/>
      <p:bldP spid="258089" grpId="0"/>
      <p:bldP spid="258093" grpId="0"/>
      <p:bldP spid="258095" grpId="0"/>
      <p:bldP spid="258097" grpId="0"/>
      <p:bldP spid="258098" grpId="0"/>
      <p:bldP spid="258100" grpId="0"/>
      <p:bldP spid="258101" grpId="0"/>
      <p:bldP spid="258104" grpId="0"/>
      <p:bldP spid="258112" grpId="0"/>
      <p:bldP spid="258114" grpId="0" animBg="1"/>
      <p:bldP spid="258115" grpId="0" animBg="1"/>
      <p:bldP spid="52" grpId="0" animBg="1"/>
      <p:bldP spid="53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9"/>
          <p:cNvSpPr>
            <a:spLocks noChangeArrowheads="1"/>
          </p:cNvSpPr>
          <p:nvPr/>
        </p:nvSpPr>
        <p:spPr bwMode="auto">
          <a:xfrm>
            <a:off x="4883150" y="2495550"/>
            <a:ext cx="3644900" cy="2116138"/>
          </a:xfrm>
          <a:prstGeom prst="rect">
            <a:avLst/>
          </a:prstGeom>
          <a:solidFill>
            <a:srgbClr val="E7E7FF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2163" name="Rectangle 19"/>
          <p:cNvSpPr>
            <a:spLocks noChangeArrowheads="1"/>
          </p:cNvSpPr>
          <p:nvPr/>
        </p:nvSpPr>
        <p:spPr bwMode="auto">
          <a:xfrm>
            <a:off x="795338" y="2540000"/>
            <a:ext cx="3644900" cy="2028825"/>
          </a:xfrm>
          <a:prstGeom prst="rect">
            <a:avLst/>
          </a:prstGeom>
          <a:solidFill>
            <a:srgbClr val="E7E7FF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214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860425" y="1153319"/>
            <a:ext cx="2800350" cy="493712"/>
          </a:xfrm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2ASK 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产生</a:t>
            </a:r>
          </a:p>
        </p:txBody>
      </p:sp>
      <p:sp>
        <p:nvSpPr>
          <p:cNvPr id="3079" name="Rectangle 6"/>
          <p:cNvSpPr>
            <a:spLocks noChangeArrowheads="1"/>
          </p:cNvSpPr>
          <p:nvPr/>
        </p:nvSpPr>
        <p:spPr bwMode="auto">
          <a:xfrm>
            <a:off x="0" y="2814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2156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72050" y="2806700"/>
          <a:ext cx="3506788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92" name="Visio" r:id="rId3" imgW="2167780" imgH="1162273" progId="Visio.Drawing.11">
                  <p:embed/>
                </p:oleObj>
              </mc:Choice>
              <mc:Fallback>
                <p:oleObj name="Visio" r:id="rId3" imgW="2167780" imgH="11622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2806700"/>
                        <a:ext cx="3506788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9" name="Object 15"/>
          <p:cNvGraphicFramePr>
            <a:graphicFrameLocks noChangeAspect="1"/>
          </p:cNvGraphicFramePr>
          <p:nvPr/>
        </p:nvGraphicFramePr>
        <p:xfrm>
          <a:off x="792163" y="2806700"/>
          <a:ext cx="36449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93" name="Visio" r:id="rId5" imgW="1947672" imgH="948934" progId="Visio.Drawing.11">
                  <p:embed/>
                </p:oleObj>
              </mc:Choice>
              <mc:Fallback>
                <p:oleObj name="Visio" r:id="rId5" imgW="1947672" imgH="94893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3" y="2806700"/>
                        <a:ext cx="3644900" cy="1752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61" name="Rectangle 17"/>
          <p:cNvSpPr>
            <a:spLocks noChangeArrowheads="1"/>
          </p:cNvSpPr>
          <p:nvPr/>
        </p:nvSpPr>
        <p:spPr bwMode="auto">
          <a:xfrm>
            <a:off x="1193800" y="1784350"/>
            <a:ext cx="2133600" cy="457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模拟调制法 </a:t>
            </a:r>
          </a:p>
        </p:txBody>
      </p:sp>
      <p:sp>
        <p:nvSpPr>
          <p:cNvPr id="262162" name="Rectangle 18"/>
          <p:cNvSpPr>
            <a:spLocks noChangeArrowheads="1"/>
          </p:cNvSpPr>
          <p:nvPr/>
        </p:nvSpPr>
        <p:spPr bwMode="auto">
          <a:xfrm>
            <a:off x="5194300" y="1784350"/>
            <a:ext cx="1600200" cy="457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键控法</a:t>
            </a:r>
          </a:p>
        </p:txBody>
      </p:sp>
    </p:spTree>
    <p:extLst>
      <p:ext uri="{BB962C8B-B14F-4D97-AF65-F5344CB8AC3E}">
        <p14:creationId xmlns:p14="http://schemas.microsoft.com/office/powerpoint/2010/main" val="33837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62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6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6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26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26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26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62163" grpId="0" animBg="1"/>
      <p:bldP spid="262161" grpId="0" animBg="1"/>
      <p:bldP spid="2621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3536950" y="1828800"/>
            <a:ext cx="2654300" cy="1439863"/>
          </a:xfrm>
          <a:prstGeom prst="rect">
            <a:avLst/>
          </a:prstGeom>
          <a:solidFill>
            <a:srgbClr val="DBDBD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660400" y="436563"/>
            <a:ext cx="2433638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>
                <a:ea typeface="楷体_GB2312" pitchFamily="49" charset="-122"/>
              </a:rPr>
              <a:t>2ASK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1000125" y="1206500"/>
            <a:ext cx="2060575" cy="46196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包络检波法</a:t>
            </a:r>
          </a:p>
        </p:txBody>
      </p:sp>
      <p:sp>
        <p:nvSpPr>
          <p:cNvPr id="4103" name="Rectangle 20"/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1254125" y="2051050"/>
          <a:ext cx="7065963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16" name="Visio" r:id="rId3" imgW="5057777" imgH="1238238" progId="Visio.Drawing.11">
                  <p:embed/>
                </p:oleObj>
              </mc:Choice>
              <mc:Fallback>
                <p:oleObj name="Visio" r:id="rId3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477" t="3247" r="-330" b="3897"/>
                      <a:stretch>
                        <a:fillRect/>
                      </a:stretch>
                    </p:blipFill>
                    <p:spPr bwMode="auto">
                      <a:xfrm>
                        <a:off x="1254125" y="2051050"/>
                        <a:ext cx="7065963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22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719" name="Object 23"/>
          <p:cNvGraphicFramePr>
            <a:graphicFrameLocks noChangeAspect="1"/>
          </p:cNvGraphicFramePr>
          <p:nvPr/>
        </p:nvGraphicFramePr>
        <p:xfrm>
          <a:off x="471488" y="4259263"/>
          <a:ext cx="8056562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17" name="Visio" r:id="rId5" imgW="5057851" imgH="1238352" progId="Visio.Drawing.11">
                  <p:embed/>
                </p:oleObj>
              </mc:Choice>
              <mc:Fallback>
                <p:oleObj name="Visio" r:id="rId5" imgW="5057851" imgH="123835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8" y="4259263"/>
                        <a:ext cx="8056562" cy="1836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998538" y="3633788"/>
            <a:ext cx="2062162" cy="4619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相干解调法</a:t>
            </a:r>
          </a:p>
        </p:txBody>
      </p:sp>
    </p:spTree>
    <p:extLst>
      <p:ext uri="{BB962C8B-B14F-4D97-AF65-F5344CB8AC3E}">
        <p14:creationId xmlns:p14="http://schemas.microsoft.com/office/powerpoint/2010/main" val="81559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20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1.7341E-6 L -0.00243 0.38404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97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191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7" grpId="0" animBg="1"/>
      <p:bldP spid="29727" grpId="1" animBg="1"/>
      <p:bldP spid="29709" grpId="0" animBg="1"/>
      <p:bldP spid="2971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073400"/>
            <a:ext cx="5175250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0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717550"/>
            <a:ext cx="2533650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1000125" y="1162050"/>
            <a:ext cx="3600450" cy="46196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包络检波法的各点波形</a:t>
            </a:r>
          </a:p>
        </p:txBody>
      </p:sp>
      <p:sp>
        <p:nvSpPr>
          <p:cNvPr id="5126" name="Rectangle 20"/>
          <p:cNvSpPr>
            <a:spLocks noChangeArrowheads="1"/>
          </p:cNvSpPr>
          <p:nvPr/>
        </p:nvSpPr>
        <p:spPr bwMode="auto">
          <a:xfrm>
            <a:off x="0" y="2871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9715" name="Object 19"/>
          <p:cNvGraphicFramePr>
            <a:graphicFrameLocks noChangeAspect="1"/>
          </p:cNvGraphicFramePr>
          <p:nvPr/>
        </p:nvGraphicFramePr>
        <p:xfrm>
          <a:off x="1254125" y="1873250"/>
          <a:ext cx="7065963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13" name="Visio" r:id="rId5" imgW="5057777" imgH="1238238" progId="Visio.Drawing.11">
                  <p:embed/>
                </p:oleObj>
              </mc:Choice>
              <mc:Fallback>
                <p:oleObj name="Visio" r:id="rId5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477" t="3247" r="-330" b="3897"/>
                      <a:stretch>
                        <a:fillRect/>
                      </a:stretch>
                    </p:blipFill>
                    <p:spPr bwMode="auto">
                      <a:xfrm>
                        <a:off x="1254125" y="1873250"/>
                        <a:ext cx="7065963" cy="170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22"/>
          <p:cNvSpPr>
            <a:spLocks noChangeArrowheads="1"/>
          </p:cNvSpPr>
          <p:nvPr/>
        </p:nvSpPr>
        <p:spPr bwMode="auto">
          <a:xfrm>
            <a:off x="0" y="2867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Line 33"/>
          <p:cNvSpPr>
            <a:spLocks noChangeShapeType="1"/>
          </p:cNvSpPr>
          <p:nvPr/>
        </p:nvSpPr>
        <p:spPr bwMode="auto">
          <a:xfrm flipV="1">
            <a:off x="2135188" y="5105400"/>
            <a:ext cx="0" cy="3587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Oval 34"/>
          <p:cNvSpPr>
            <a:spLocks noChangeArrowheads="1"/>
          </p:cNvSpPr>
          <p:nvPr/>
        </p:nvSpPr>
        <p:spPr bwMode="auto">
          <a:xfrm flipH="1">
            <a:off x="2946400" y="5418138"/>
            <a:ext cx="88900" cy="9048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Oval 35"/>
          <p:cNvSpPr>
            <a:spLocks noChangeArrowheads="1"/>
          </p:cNvSpPr>
          <p:nvPr/>
        </p:nvSpPr>
        <p:spPr bwMode="auto">
          <a:xfrm flipH="1">
            <a:off x="3756025" y="5418138"/>
            <a:ext cx="88900" cy="9048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36"/>
          <p:cNvSpPr>
            <a:spLocks noChangeShapeType="1"/>
          </p:cNvSpPr>
          <p:nvPr/>
        </p:nvSpPr>
        <p:spPr bwMode="auto">
          <a:xfrm flipV="1">
            <a:off x="4656138" y="5103813"/>
            <a:ext cx="0" cy="3587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Rectangle 32"/>
          <p:cNvSpPr>
            <a:spLocks noChangeArrowheads="1"/>
          </p:cNvSpPr>
          <p:nvPr/>
        </p:nvSpPr>
        <p:spPr bwMode="auto">
          <a:xfrm>
            <a:off x="6557963" y="2052638"/>
            <a:ext cx="1066800" cy="76517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6961188" y="879475"/>
            <a:ext cx="311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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258050" y="982663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相呼应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4" descr="C:\DOCUME~1\ADMINI~1\LOCALS~1\Temp\01SN1WPNG($NZSFGGMDAHVJ.gif"/>
          <p:cNvPicPr>
            <a:picLocks noChangeAspect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84200"/>
            <a:ext cx="4286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550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050" y="1295400"/>
            <a:ext cx="5106988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611188" y="1250950"/>
            <a:ext cx="8326437" cy="4356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原理：</a:t>
            </a:r>
          </a:p>
          <a:p>
            <a:pPr eaLnBrk="1" hangingPunct="1">
              <a:lnSpc>
                <a:spcPct val="15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波形：</a:t>
            </a:r>
          </a:p>
          <a:p>
            <a:pPr lvl="4" eaLnBrk="1" hangingPunct="1">
              <a:lnSpc>
                <a:spcPct val="15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  <a:r>
              <a:rPr lang="zh-CN" altLang="en-US" sz="24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graphicFrame>
        <p:nvGraphicFramePr>
          <p:cNvPr id="43019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43163" y="4751388"/>
          <a:ext cx="559593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91" name="Equation" r:id="rId4" imgW="2171520" imgH="228600" progId="Equation.DSMT4">
                  <p:embed/>
                </p:oleObj>
              </mc:Choice>
              <mc:Fallback>
                <p:oleObj name="Equation" r:id="rId4" imgW="2171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163" y="4751388"/>
                        <a:ext cx="5595937" cy="5889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ffectLst>
                        <a:prstShdw prst="shdw17" dist="17961" dir="2700000">
                          <a:srgbClr val="9999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83000"/>
                              </a:scheme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4" name="Rectangle 16"/>
          <p:cNvSpPr>
            <a:spLocks noChangeArrowheads="1"/>
          </p:cNvSpPr>
          <p:nvPr/>
        </p:nvSpPr>
        <p:spPr bwMode="auto">
          <a:xfrm>
            <a:off x="3986213" y="2662238"/>
            <a:ext cx="4319587" cy="9890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25" name="Rectangle 17"/>
          <p:cNvSpPr>
            <a:spLocks noChangeArrowheads="1"/>
          </p:cNvSpPr>
          <p:nvPr/>
        </p:nvSpPr>
        <p:spPr bwMode="auto">
          <a:xfrm>
            <a:off x="3986213" y="3638550"/>
            <a:ext cx="4364037" cy="900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3027" name="Object 19"/>
          <p:cNvGraphicFramePr>
            <a:graphicFrameLocks noChangeAspect="1"/>
          </p:cNvGraphicFramePr>
          <p:nvPr/>
        </p:nvGraphicFramePr>
        <p:xfrm>
          <a:off x="2452688" y="5583238"/>
          <a:ext cx="26527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92" name="Equation" r:id="rId6" imgW="1396800" imgH="342720" progId="Equation.DSMT4">
                  <p:embed/>
                </p:oleObj>
              </mc:Choice>
              <mc:Fallback>
                <p:oleObj name="Equation" r:id="rId6" imgW="13968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5583238"/>
                        <a:ext cx="2652712" cy="650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8" name="Object 20"/>
          <p:cNvGraphicFramePr>
            <a:graphicFrameLocks noChangeAspect="1"/>
          </p:cNvGraphicFramePr>
          <p:nvPr/>
        </p:nvGraphicFramePr>
        <p:xfrm>
          <a:off x="5360988" y="5562600"/>
          <a:ext cx="258921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93" name="Equation" r:id="rId8" imgW="1422360" imgH="355320" progId="Equation.DSMT4">
                  <p:embed/>
                </p:oleObj>
              </mc:Choice>
              <mc:Fallback>
                <p:oleObj name="Equation" r:id="rId8" imgW="14223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0988" y="5562600"/>
                        <a:ext cx="2589212" cy="641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52"/>
          <p:cNvSpPr>
            <a:spLocks noChangeArrowheads="1"/>
          </p:cNvSpPr>
          <p:nvPr/>
        </p:nvSpPr>
        <p:spPr bwMode="auto">
          <a:xfrm>
            <a:off x="1979613" y="1382713"/>
            <a:ext cx="2222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60000"/>
              <a:defRPr/>
            </a:pPr>
            <a:r>
              <a:rPr lang="en-US" altLang="zh-CN" sz="2400" dirty="0">
                <a:latin typeface="Arial" pitchFamily="34" charset="0"/>
                <a:ea typeface="华文中宋" pitchFamily="2" charset="-122"/>
                <a:cs typeface="Arial" pitchFamily="34" charset="0"/>
              </a:rPr>
              <a:t>s(t)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  <a:cs typeface="Arial" pitchFamily="34" charset="0"/>
                <a:sym typeface="Symbol" pitchFamily="18" charset="2"/>
              </a:rPr>
              <a:t>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  <a:cs typeface="Arial" pitchFamily="34" charset="0"/>
              </a:rPr>
              <a:t>载波频率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0" y="406400"/>
            <a:ext cx="675005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.1.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 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二进制频移键控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0099"/>
                </a:solidFill>
              </a:rPr>
              <a:t>2FSK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00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2673350"/>
            <a:ext cx="23336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03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20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7" dur="20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3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4" grpId="0" animBg="1"/>
      <p:bldP spid="43025" grpId="0" animBg="1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0400" y="819150"/>
            <a:ext cx="8045450" cy="1631950"/>
          </a:xfrm>
        </p:spPr>
        <p:txBody>
          <a:bodyPr/>
          <a:lstStyle/>
          <a:p>
            <a:pPr lvl="3" eaLnBrk="1" hangingPunct="1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lvl="1" eaLnBrk="1" hangingPunct="1">
              <a:lnSpc>
                <a:spcPct val="140000"/>
              </a:lnSpc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模拟调频法：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相邻码元之间的相位是连续变化的。</a:t>
            </a:r>
          </a:p>
          <a:p>
            <a:pPr lvl="1" eaLnBrk="1" hangingPunct="1">
              <a:lnSpc>
                <a:spcPct val="120000"/>
              </a:lnSpc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键控法：</a:t>
            </a:r>
            <a:r>
              <a:rPr lang="zh-CN" altLang="en-US" sz="2400" dirty="0">
                <a:ea typeface="华文中宋" pitchFamily="2" charset="-122"/>
              </a:rPr>
              <a:t>相邻码元之间的相位不一定连续。</a:t>
            </a:r>
          </a:p>
        </p:txBody>
      </p:sp>
      <p:sp>
        <p:nvSpPr>
          <p:cNvPr id="71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793750" y="460375"/>
            <a:ext cx="2395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Times New Roman" pitchFamily="18" charset="0"/>
              </a:rPr>
              <a:t>  </a:t>
            </a:r>
            <a:r>
              <a:rPr lang="en-US" altLang="zh-CN" sz="2800" b="1" dirty="0">
                <a:latin typeface="Arial" pitchFamily="34" charset="0"/>
                <a:ea typeface="楷体_GB2312" pitchFamily="49" charset="-122"/>
                <a:cs typeface="Arial" pitchFamily="34" charset="0"/>
              </a:rPr>
              <a:t>2FSK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产生 </a:t>
            </a:r>
          </a:p>
        </p:txBody>
      </p:sp>
      <p:graphicFrame>
        <p:nvGraphicFramePr>
          <p:cNvPr id="46093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1422400" y="2427288"/>
          <a:ext cx="6570663" cy="313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61" name="Visio" r:id="rId3" imgW="5336743" imgH="2545773" progId="Visio.Drawing.11">
                  <p:embed/>
                </p:oleObj>
              </mc:Choice>
              <mc:Fallback>
                <p:oleObj name="Visio" r:id="rId3" imgW="5336743" imgH="254577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2427288"/>
                        <a:ext cx="6570663" cy="313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04950" y="5611813"/>
            <a:ext cx="6048375" cy="914400"/>
          </a:xfrm>
          <a:prstGeom prst="rect">
            <a:avLst/>
          </a:prstGeom>
          <a:solidFill>
            <a:srgbClr val="CCFFCC">
              <a:alpha val="2784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特点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转换速度快、电路简单、</a:t>
            </a:r>
            <a:endParaRPr lang="en-US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ts val="3200"/>
              </a:lnSpc>
            </a:pP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          </a:t>
            </a:r>
            <a:r>
              <a:rPr lang="zh-CN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产生的波形好、频率稳定度高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6097" name="Rectangle 17"/>
          <p:cNvSpPr>
            <a:spLocks noChangeArrowheads="1"/>
          </p:cNvSpPr>
          <p:nvPr/>
        </p:nvSpPr>
        <p:spPr bwMode="auto">
          <a:xfrm>
            <a:off x="3327400" y="1250950"/>
            <a:ext cx="4949825" cy="449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098" name="Rectangle 18"/>
          <p:cNvSpPr>
            <a:spLocks noChangeArrowheads="1"/>
          </p:cNvSpPr>
          <p:nvPr/>
        </p:nvSpPr>
        <p:spPr bwMode="auto">
          <a:xfrm>
            <a:off x="2749550" y="1873250"/>
            <a:ext cx="4949825" cy="449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87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20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2000"/>
                                        <p:tgtEl>
                                          <p:spTgt spid="46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20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1" grpId="0"/>
      <p:bldP spid="2" grpId="0" animBg="1"/>
      <p:bldP spid="46097" grpId="0" animBg="1"/>
      <p:bldP spid="460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5" name="Picture 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66" b="3310"/>
          <a:stretch>
            <a:fillRect/>
          </a:stretch>
        </p:blipFill>
        <p:spPr bwMode="auto">
          <a:xfrm>
            <a:off x="157163" y="1903413"/>
            <a:ext cx="4500562" cy="445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060450" y="1206500"/>
            <a:ext cx="2116138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400" b="1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包络检波法</a:t>
            </a:r>
          </a:p>
        </p:txBody>
      </p:sp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749300" y="495300"/>
            <a:ext cx="22939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2FSK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解调</a:t>
            </a:r>
            <a:r>
              <a:rPr lang="zh-CN" altLang="en-US" sz="2800" b="1" dirty="0"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47118" name="Object 14"/>
          <p:cNvGraphicFramePr>
            <a:graphicFrameLocks noGrp="1" noChangeAspect="1"/>
          </p:cNvGraphicFramePr>
          <p:nvPr>
            <p:ph/>
          </p:nvPr>
        </p:nvGraphicFramePr>
        <p:xfrm>
          <a:off x="4044950" y="984250"/>
          <a:ext cx="5194300" cy="226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85" name="Visio" r:id="rId4" imgW="3773741" imgH="1647045" progId="Visio.Drawing.11">
                  <p:embed/>
                </p:oleObj>
              </mc:Choice>
              <mc:Fallback>
                <p:oleObj name="Visio" r:id="rId4" imgW="3773741" imgH="164704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984250"/>
                        <a:ext cx="5194300" cy="226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0" name="Rectangle 16"/>
          <p:cNvSpPr>
            <a:spLocks noChangeArrowheads="1"/>
          </p:cNvSpPr>
          <p:nvPr/>
        </p:nvSpPr>
        <p:spPr bwMode="auto">
          <a:xfrm>
            <a:off x="0" y="2876550"/>
            <a:ext cx="4481513" cy="681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21" name="Rectangle 17"/>
          <p:cNvSpPr>
            <a:spLocks noChangeArrowheads="1"/>
          </p:cNvSpPr>
          <p:nvPr/>
        </p:nvSpPr>
        <p:spPr bwMode="auto">
          <a:xfrm>
            <a:off x="26988" y="3519488"/>
            <a:ext cx="4618037" cy="790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22" name="Rectangle 18"/>
          <p:cNvSpPr>
            <a:spLocks noChangeArrowheads="1"/>
          </p:cNvSpPr>
          <p:nvPr/>
        </p:nvSpPr>
        <p:spPr bwMode="auto">
          <a:xfrm>
            <a:off x="161925" y="4284663"/>
            <a:ext cx="4591050" cy="539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23" name="Rectangle 19"/>
          <p:cNvSpPr>
            <a:spLocks noChangeArrowheads="1"/>
          </p:cNvSpPr>
          <p:nvPr/>
        </p:nvSpPr>
        <p:spPr bwMode="auto">
          <a:xfrm>
            <a:off x="0" y="4733925"/>
            <a:ext cx="4841875" cy="588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24" name="Rectangle 20"/>
          <p:cNvSpPr>
            <a:spLocks noChangeArrowheads="1"/>
          </p:cNvSpPr>
          <p:nvPr/>
        </p:nvSpPr>
        <p:spPr bwMode="auto">
          <a:xfrm>
            <a:off x="0" y="5257800"/>
            <a:ext cx="4572000" cy="635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32" name="Line 28"/>
          <p:cNvSpPr>
            <a:spLocks noChangeShapeType="1"/>
          </p:cNvSpPr>
          <p:nvPr/>
        </p:nvSpPr>
        <p:spPr bwMode="auto">
          <a:xfrm flipV="1">
            <a:off x="1376363" y="4883150"/>
            <a:ext cx="0" cy="3587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3" name="Line 29"/>
          <p:cNvSpPr>
            <a:spLocks noChangeShapeType="1"/>
          </p:cNvSpPr>
          <p:nvPr/>
        </p:nvSpPr>
        <p:spPr bwMode="auto">
          <a:xfrm flipV="1">
            <a:off x="2965450" y="4884738"/>
            <a:ext cx="0" cy="3587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4" name="Line 30"/>
          <p:cNvSpPr>
            <a:spLocks noChangeShapeType="1"/>
          </p:cNvSpPr>
          <p:nvPr/>
        </p:nvSpPr>
        <p:spPr bwMode="auto">
          <a:xfrm flipV="1">
            <a:off x="2170113" y="4357688"/>
            <a:ext cx="0" cy="404812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5" name="Line 31"/>
          <p:cNvSpPr>
            <a:spLocks noChangeShapeType="1"/>
          </p:cNvSpPr>
          <p:nvPr/>
        </p:nvSpPr>
        <p:spPr bwMode="auto">
          <a:xfrm flipV="1">
            <a:off x="3762375" y="4343400"/>
            <a:ext cx="0" cy="404813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7" name="Oval 33"/>
          <p:cNvSpPr>
            <a:spLocks noChangeArrowheads="1"/>
          </p:cNvSpPr>
          <p:nvPr/>
        </p:nvSpPr>
        <p:spPr bwMode="auto">
          <a:xfrm flipH="1">
            <a:off x="1333500" y="4670425"/>
            <a:ext cx="88900" cy="904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38" name="Oval 34"/>
          <p:cNvSpPr>
            <a:spLocks noChangeArrowheads="1"/>
          </p:cNvSpPr>
          <p:nvPr/>
        </p:nvSpPr>
        <p:spPr bwMode="auto">
          <a:xfrm flipH="1">
            <a:off x="2922588" y="4675188"/>
            <a:ext cx="88900" cy="90487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39" name="Oval 35"/>
          <p:cNvSpPr>
            <a:spLocks noChangeArrowheads="1"/>
          </p:cNvSpPr>
          <p:nvPr/>
        </p:nvSpPr>
        <p:spPr bwMode="auto">
          <a:xfrm flipH="1">
            <a:off x="2139950" y="5184775"/>
            <a:ext cx="88900" cy="904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40" name="Oval 36"/>
          <p:cNvSpPr>
            <a:spLocks noChangeArrowheads="1"/>
          </p:cNvSpPr>
          <p:nvPr/>
        </p:nvSpPr>
        <p:spPr bwMode="auto">
          <a:xfrm flipH="1">
            <a:off x="3716338" y="5184775"/>
            <a:ext cx="88900" cy="9048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41" name="Line 37"/>
          <p:cNvSpPr>
            <a:spLocks noChangeShapeType="1"/>
          </p:cNvSpPr>
          <p:nvPr/>
        </p:nvSpPr>
        <p:spPr bwMode="auto">
          <a:xfrm>
            <a:off x="1331913" y="6308725"/>
            <a:ext cx="855662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171700" y="5903913"/>
            <a:ext cx="809625" cy="404812"/>
            <a:chOff x="1576" y="3776"/>
            <a:chExt cx="567" cy="255"/>
          </a:xfrm>
        </p:grpSpPr>
        <p:sp>
          <p:nvSpPr>
            <p:cNvPr id="8233" name="Line 38"/>
            <p:cNvSpPr>
              <a:spLocks noChangeShapeType="1"/>
            </p:cNvSpPr>
            <p:nvPr/>
          </p:nvSpPr>
          <p:spPr bwMode="auto">
            <a:xfrm flipV="1">
              <a:off x="1576" y="3776"/>
              <a:ext cx="0" cy="25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Line 39"/>
            <p:cNvSpPr>
              <a:spLocks noChangeShapeType="1"/>
            </p:cNvSpPr>
            <p:nvPr/>
          </p:nvSpPr>
          <p:spPr bwMode="auto">
            <a:xfrm>
              <a:off x="1576" y="3776"/>
              <a:ext cx="567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2982913" y="5889625"/>
            <a:ext cx="765175" cy="434975"/>
            <a:chOff x="2143" y="3776"/>
            <a:chExt cx="510" cy="274"/>
          </a:xfrm>
        </p:grpSpPr>
        <p:sp>
          <p:nvSpPr>
            <p:cNvPr id="8231" name="Line 48"/>
            <p:cNvSpPr>
              <a:spLocks noChangeShapeType="1"/>
            </p:cNvSpPr>
            <p:nvPr/>
          </p:nvSpPr>
          <p:spPr bwMode="auto">
            <a:xfrm>
              <a:off x="2143" y="3776"/>
              <a:ext cx="0" cy="25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50"/>
            <p:cNvSpPr>
              <a:spLocks noChangeShapeType="1"/>
            </p:cNvSpPr>
            <p:nvPr/>
          </p:nvSpPr>
          <p:spPr bwMode="auto">
            <a:xfrm>
              <a:off x="2143" y="4050"/>
              <a:ext cx="51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3748088" y="5903913"/>
            <a:ext cx="765175" cy="404812"/>
            <a:chOff x="1576" y="3776"/>
            <a:chExt cx="567" cy="255"/>
          </a:xfrm>
        </p:grpSpPr>
        <p:sp>
          <p:nvSpPr>
            <p:cNvPr id="8229" name="Line 53"/>
            <p:cNvSpPr>
              <a:spLocks noChangeShapeType="1"/>
            </p:cNvSpPr>
            <p:nvPr/>
          </p:nvSpPr>
          <p:spPr bwMode="auto">
            <a:xfrm flipV="1">
              <a:off x="1576" y="3776"/>
              <a:ext cx="0" cy="25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Line 54"/>
            <p:cNvSpPr>
              <a:spLocks noChangeShapeType="1"/>
            </p:cNvSpPr>
            <p:nvPr/>
          </p:nvSpPr>
          <p:spPr bwMode="auto">
            <a:xfrm>
              <a:off x="1576" y="3776"/>
              <a:ext cx="567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162" name="Line 58"/>
          <p:cNvSpPr>
            <a:spLocks noChangeShapeType="1"/>
          </p:cNvSpPr>
          <p:nvPr/>
        </p:nvSpPr>
        <p:spPr bwMode="auto">
          <a:xfrm flipV="1">
            <a:off x="3763963" y="5454650"/>
            <a:ext cx="0" cy="31432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3" name="Line 59"/>
          <p:cNvSpPr>
            <a:spLocks noChangeShapeType="1"/>
          </p:cNvSpPr>
          <p:nvPr/>
        </p:nvSpPr>
        <p:spPr bwMode="auto">
          <a:xfrm flipV="1">
            <a:off x="2982913" y="5440363"/>
            <a:ext cx="0" cy="31432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4" name="Line 60"/>
          <p:cNvSpPr>
            <a:spLocks noChangeShapeType="1"/>
          </p:cNvSpPr>
          <p:nvPr/>
        </p:nvSpPr>
        <p:spPr bwMode="auto">
          <a:xfrm flipV="1">
            <a:off x="2185988" y="5454650"/>
            <a:ext cx="0" cy="31432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5" name="Line 61"/>
          <p:cNvSpPr>
            <a:spLocks noChangeShapeType="1"/>
          </p:cNvSpPr>
          <p:nvPr/>
        </p:nvSpPr>
        <p:spPr bwMode="auto">
          <a:xfrm flipV="1">
            <a:off x="1393825" y="5454650"/>
            <a:ext cx="0" cy="314325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7" name="Rectangle 63"/>
          <p:cNvSpPr>
            <a:spLocks noChangeArrowheads="1"/>
          </p:cNvSpPr>
          <p:nvPr/>
        </p:nvSpPr>
        <p:spPr bwMode="auto">
          <a:xfrm>
            <a:off x="1241425" y="5903913"/>
            <a:ext cx="360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99"/>
                </a:solidFill>
                <a:ea typeface="华文中宋" panose="02010600040101010101" pitchFamily="2" charset="-122"/>
              </a:rPr>
              <a:t>0</a:t>
            </a:r>
            <a:endParaRPr lang="en-US" altLang="zh-CN" sz="2000" b="1"/>
          </a:p>
        </p:txBody>
      </p:sp>
      <p:sp>
        <p:nvSpPr>
          <p:cNvPr id="47168" name="Rectangle 64"/>
          <p:cNvSpPr>
            <a:spLocks noChangeArrowheads="1"/>
          </p:cNvSpPr>
          <p:nvPr/>
        </p:nvSpPr>
        <p:spPr bwMode="auto">
          <a:xfrm>
            <a:off x="2051050" y="5903913"/>
            <a:ext cx="360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99"/>
                </a:solidFill>
                <a:ea typeface="华文中宋" panose="02010600040101010101" pitchFamily="2" charset="-122"/>
              </a:rPr>
              <a:t>1</a:t>
            </a:r>
            <a:endParaRPr lang="en-US" altLang="zh-CN" sz="2000" b="1"/>
          </a:p>
        </p:txBody>
      </p:sp>
      <p:sp>
        <p:nvSpPr>
          <p:cNvPr id="47169" name="Rectangle 65"/>
          <p:cNvSpPr>
            <a:spLocks noChangeArrowheads="1"/>
          </p:cNvSpPr>
          <p:nvPr/>
        </p:nvSpPr>
        <p:spPr bwMode="auto">
          <a:xfrm>
            <a:off x="2906713" y="5903913"/>
            <a:ext cx="360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99"/>
                </a:solidFill>
                <a:ea typeface="华文中宋" panose="02010600040101010101" pitchFamily="2" charset="-122"/>
              </a:rPr>
              <a:t>0</a:t>
            </a:r>
            <a:endParaRPr lang="en-US" altLang="zh-CN" sz="2000" b="1"/>
          </a:p>
        </p:txBody>
      </p:sp>
      <p:sp>
        <p:nvSpPr>
          <p:cNvPr id="47170" name="Rectangle 66"/>
          <p:cNvSpPr>
            <a:spLocks noChangeArrowheads="1"/>
          </p:cNvSpPr>
          <p:nvPr/>
        </p:nvSpPr>
        <p:spPr bwMode="auto">
          <a:xfrm>
            <a:off x="3671888" y="5903913"/>
            <a:ext cx="3603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000099"/>
                </a:solidFill>
                <a:ea typeface="华文中宋" panose="02010600040101010101" pitchFamily="2" charset="-122"/>
              </a:rPr>
              <a:t>1</a:t>
            </a:r>
            <a:endParaRPr lang="en-US" altLang="zh-CN" sz="2000" b="1"/>
          </a:p>
        </p:txBody>
      </p:sp>
      <p:sp>
        <p:nvSpPr>
          <p:cNvPr id="47173" name="AutoShape 69"/>
          <p:cNvSpPr>
            <a:spLocks noChangeArrowheads="1"/>
          </p:cNvSpPr>
          <p:nvPr/>
        </p:nvSpPr>
        <p:spPr bwMode="auto">
          <a:xfrm>
            <a:off x="7988300" y="668338"/>
            <a:ext cx="584200" cy="538162"/>
          </a:xfrm>
          <a:prstGeom prst="wedgeRoundRectCallout">
            <a:avLst>
              <a:gd name="adj1" fmla="val -20648"/>
              <a:gd name="adj2" fmla="val 85102"/>
              <a:gd name="adj3" fmla="val 16667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/>
              <a:t>s</a:t>
            </a:r>
            <a:r>
              <a:rPr lang="en-US" altLang="zh-CN" sz="2400" baseline="-25000"/>
              <a:t>1</a:t>
            </a:r>
          </a:p>
        </p:txBody>
      </p:sp>
      <p:sp>
        <p:nvSpPr>
          <p:cNvPr id="47174" name="AutoShape 70"/>
          <p:cNvSpPr>
            <a:spLocks noChangeArrowheads="1"/>
          </p:cNvSpPr>
          <p:nvPr/>
        </p:nvSpPr>
        <p:spPr bwMode="auto">
          <a:xfrm>
            <a:off x="7986713" y="3073400"/>
            <a:ext cx="630237" cy="539750"/>
          </a:xfrm>
          <a:prstGeom prst="wedgeRoundRectCallout">
            <a:avLst>
              <a:gd name="adj1" fmla="val -26204"/>
              <a:gd name="adj2" fmla="val -81602"/>
              <a:gd name="adj3" fmla="val 16667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/>
              <a:t>s</a:t>
            </a:r>
            <a:r>
              <a:rPr lang="en-US" altLang="zh-CN" sz="2400" baseline="-25000"/>
              <a:t>2</a:t>
            </a:r>
          </a:p>
        </p:txBody>
      </p:sp>
      <p:sp>
        <p:nvSpPr>
          <p:cNvPr id="42" name="椭圆 41"/>
          <p:cNvSpPr/>
          <p:nvPr/>
        </p:nvSpPr>
        <p:spPr bwMode="auto">
          <a:xfrm>
            <a:off x="393700" y="5918200"/>
            <a:ext cx="222250" cy="2222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pic>
        <p:nvPicPr>
          <p:cNvPr id="8236" name="Picture 4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30"/>
          <a:stretch>
            <a:fillRect/>
          </a:stretch>
        </p:blipFill>
        <p:spPr bwMode="auto">
          <a:xfrm>
            <a:off x="4927600" y="4895850"/>
            <a:ext cx="3067050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4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177" b="52042"/>
          <a:stretch>
            <a:fillRect/>
          </a:stretch>
        </p:blipFill>
        <p:spPr bwMode="auto">
          <a:xfrm>
            <a:off x="4927600" y="3490913"/>
            <a:ext cx="2478088" cy="136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653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20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9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4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8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6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4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10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1000"/>
                                        <p:tgtEl>
                                          <p:spTgt spid="4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10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10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7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7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7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9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10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10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7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7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10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10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7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7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7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10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10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4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 animBg="1"/>
      <p:bldP spid="47115" grpId="0"/>
      <p:bldP spid="47120" grpId="0" animBg="1"/>
      <p:bldP spid="47121" grpId="0" animBg="1"/>
      <p:bldP spid="47122" grpId="0" animBg="1"/>
      <p:bldP spid="47123" grpId="0" animBg="1"/>
      <p:bldP spid="47124" grpId="0" animBg="1"/>
      <p:bldP spid="47132" grpId="0" animBg="1"/>
      <p:bldP spid="47133" grpId="0" animBg="1"/>
      <p:bldP spid="47134" grpId="0" animBg="1"/>
      <p:bldP spid="47135" grpId="0" animBg="1"/>
      <p:bldP spid="47137" grpId="0" animBg="1"/>
      <p:bldP spid="47138" grpId="0" animBg="1"/>
      <p:bldP spid="47139" grpId="0" animBg="1"/>
      <p:bldP spid="47140" grpId="0" animBg="1"/>
      <p:bldP spid="47141" grpId="0" animBg="1"/>
      <p:bldP spid="47162" grpId="0" animBg="1"/>
      <p:bldP spid="47162" grpId="1" animBg="1"/>
      <p:bldP spid="47163" grpId="0" animBg="1"/>
      <p:bldP spid="47163" grpId="1" animBg="1"/>
      <p:bldP spid="47164" grpId="0" animBg="1"/>
      <p:bldP spid="47164" grpId="1" animBg="1"/>
      <p:bldP spid="47165" grpId="0" animBg="1"/>
      <p:bldP spid="47165" grpId="1" animBg="1"/>
      <p:bldP spid="47167" grpId="0"/>
      <p:bldP spid="47168" grpId="0"/>
      <p:bldP spid="47169" grpId="0"/>
      <p:bldP spid="47170" grpId="0"/>
      <p:bldP spid="47173" grpId="0" animBg="1"/>
      <p:bldP spid="47174" grpId="0" animBg="1"/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5"/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0" name="Rectangle 7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" name="Rectangle 9"/>
          <p:cNvSpPr>
            <a:spLocks noChangeArrowheads="1"/>
          </p:cNvSpPr>
          <p:nvPr/>
        </p:nvSpPr>
        <p:spPr bwMode="auto">
          <a:xfrm>
            <a:off x="0" y="2381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903288" y="1828800"/>
          <a:ext cx="7624762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9" name="Visio" r:id="rId3" imgW="5057777" imgH="2114656" progId="Visio.Drawing.11">
                  <p:embed/>
                </p:oleObj>
              </mc:Choice>
              <mc:Fallback>
                <p:oleObj name="Visio" r:id="rId3" imgW="5057777" imgH="211465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288" y="1828800"/>
                        <a:ext cx="7624762" cy="314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836613" y="5156200"/>
            <a:ext cx="784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其他解调方法</a:t>
            </a:r>
            <a:r>
              <a:rPr lang="zh-CN" altLang="en-US" sz="2400">
                <a:solidFill>
                  <a:srgbClr val="00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b="1"/>
              <a:t>鉴频法、差分检测法、过零检测法等。</a:t>
            </a:r>
          </a:p>
        </p:txBody>
      </p:sp>
      <p:sp>
        <p:nvSpPr>
          <p:cNvPr id="48141" name="Line 13"/>
          <p:cNvSpPr>
            <a:spLocks noChangeShapeType="1"/>
          </p:cNvSpPr>
          <p:nvPr/>
        </p:nvSpPr>
        <p:spPr bwMode="auto">
          <a:xfrm>
            <a:off x="6261100" y="5607050"/>
            <a:ext cx="1439863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060450" y="1206500"/>
            <a:ext cx="2116138" cy="4619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400" b="1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相干解调法</a:t>
            </a:r>
          </a:p>
        </p:txBody>
      </p:sp>
    </p:spTree>
    <p:extLst>
      <p:ext uri="{BB962C8B-B14F-4D97-AF65-F5344CB8AC3E}">
        <p14:creationId xmlns:p14="http://schemas.microsoft.com/office/powerpoint/2010/main" val="415663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20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0" grpId="0"/>
      <p:bldP spid="48141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5"/>
          <p:cNvSpPr>
            <a:spLocks noChangeArrowheads="1"/>
          </p:cNvSpPr>
          <p:nvPr/>
        </p:nvSpPr>
        <p:spPr bwMode="auto">
          <a:xfrm>
            <a:off x="0" y="2781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9158" name="Picture 6" descr="t7-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6" t="3862" r="11995" b="5826"/>
          <a:stretch>
            <a:fillRect/>
          </a:stretch>
        </p:blipFill>
        <p:spPr bwMode="auto">
          <a:xfrm>
            <a:off x="1646238" y="2663825"/>
            <a:ext cx="5715000" cy="331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Rectangle 8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117" name="Rectangle 11"/>
          <p:cNvSpPr>
            <a:spLocks noChangeArrowheads="1"/>
          </p:cNvSpPr>
          <p:nvPr/>
        </p:nvSpPr>
        <p:spPr bwMode="auto">
          <a:xfrm>
            <a:off x="0" y="2990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3806825" y="2754313"/>
            <a:ext cx="0" cy="2789237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>
            <a:off x="5381625" y="2708275"/>
            <a:ext cx="0" cy="2881313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27100" y="495300"/>
            <a:ext cx="2116138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400" b="1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过零检测法</a:t>
            </a:r>
          </a:p>
        </p:txBody>
      </p:sp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48"/>
          <a:stretch>
            <a:fillRect/>
          </a:stretch>
        </p:blipFill>
        <p:spPr bwMode="auto">
          <a:xfrm>
            <a:off x="488950" y="1260475"/>
            <a:ext cx="82613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28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7" grpId="0" animBg="1"/>
      <p:bldP spid="49168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27100" y="1082675"/>
            <a:ext cx="22717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kern="0" dirty="0">
                <a:solidFill>
                  <a:srgbClr val="00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 FSK</a:t>
            </a:r>
            <a:r>
              <a:rPr lang="zh-CN" altLang="en-US" sz="2800" b="1" kern="0" dirty="0">
                <a:solidFill>
                  <a:srgbClr val="00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应用：</a:t>
            </a:r>
            <a:endParaRPr lang="zh-CN" altLang="en-US" b="1" dirty="0">
              <a:latin typeface="Arial" pitchFamily="34" charset="0"/>
              <a:ea typeface="黑体" pitchFamily="2" charset="-122"/>
              <a:cs typeface="Arial" pitchFamily="34" charset="0"/>
            </a:endParaRPr>
          </a:p>
        </p:txBody>
      </p:sp>
      <p:pic>
        <p:nvPicPr>
          <p:cNvPr id="911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1917700"/>
            <a:ext cx="7823200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1827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56" name="Rectangle 16"/>
          <p:cNvSpPr>
            <a:spLocks noChangeArrowheads="1"/>
          </p:cNvSpPr>
          <p:nvPr/>
        </p:nvSpPr>
        <p:spPr bwMode="auto">
          <a:xfrm rot="5400000">
            <a:off x="5064125" y="2759075"/>
            <a:ext cx="3200400" cy="3917950"/>
          </a:xfrm>
          <a:prstGeom prst="rect">
            <a:avLst/>
          </a:prstGeom>
          <a:solidFill>
            <a:schemeClr val="bg1">
              <a:lumMod val="95000"/>
              <a:alpha val="58823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lvl="2" algn="ctr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None/>
              <a:defRPr/>
            </a:pPr>
            <a:endParaRPr lang="en-US" altLang="zh-CN" b="1">
              <a:solidFill>
                <a:srgbClr val="10880A"/>
              </a:solidFill>
            </a:endParaRPr>
          </a:p>
          <a:p>
            <a:pPr algn="ctr">
              <a:defRPr/>
            </a:pPr>
            <a:endParaRPr lang="en-US" altLang="zh-CN"/>
          </a:p>
        </p:txBody>
      </p:sp>
      <p:sp>
        <p:nvSpPr>
          <p:cNvPr id="10247" name="Rectangle 12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262063"/>
            <a:ext cx="8442325" cy="1900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原理：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5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波形：</a:t>
            </a:r>
          </a:p>
          <a:p>
            <a:pPr eaLnBrk="1" hangingPunct="1">
              <a:lnSpc>
                <a:spcPct val="165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表达式：</a:t>
            </a:r>
          </a:p>
          <a:p>
            <a:pPr lvl="1" eaLnBrk="1" hangingPunct="1"/>
            <a:endParaRPr lang="zh-CN" altLang="en-US" b="1">
              <a:solidFill>
                <a:srgbClr val="000099"/>
              </a:solidFill>
            </a:endParaRPr>
          </a:p>
          <a:p>
            <a:pPr lvl="1" eaLnBrk="1" hangingPunct="1"/>
            <a:endParaRPr lang="zh-CN" altLang="en-US" b="1">
              <a:solidFill>
                <a:srgbClr val="10880A"/>
              </a:solidFill>
            </a:endParaRPr>
          </a:p>
          <a:p>
            <a:pPr lvl="1" eaLnBrk="1" hangingPunct="1"/>
            <a:endParaRPr lang="en-US" altLang="zh-CN" b="1">
              <a:solidFill>
                <a:srgbClr val="10880A"/>
              </a:solidFill>
            </a:endParaRPr>
          </a:p>
        </p:txBody>
      </p:sp>
      <p:graphicFrame>
        <p:nvGraphicFramePr>
          <p:cNvPr id="240645" name="Object 5"/>
          <p:cNvGraphicFramePr>
            <a:graphicFrameLocks noChangeAspect="1"/>
          </p:cNvGraphicFramePr>
          <p:nvPr/>
        </p:nvGraphicFramePr>
        <p:xfrm>
          <a:off x="1038225" y="3340100"/>
          <a:ext cx="33782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4" name="Equation" r:id="rId3" imgW="1295280" imgH="228600" progId="Equation.DSMT4">
                  <p:embed/>
                </p:oleObj>
              </mc:Choice>
              <mc:Fallback>
                <p:oleObj name="Equation" r:id="rId3" imgW="1295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3340100"/>
                        <a:ext cx="3378200" cy="5937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7F8C4">
                                <a:alpha val="75999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47" name="Object 7"/>
          <p:cNvGraphicFramePr>
            <a:graphicFrameLocks noChangeAspect="1"/>
          </p:cNvGraphicFramePr>
          <p:nvPr/>
        </p:nvGraphicFramePr>
        <p:xfrm>
          <a:off x="1466850" y="5251450"/>
          <a:ext cx="229552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5" name="Equation" r:id="rId5" imgW="1066680" imgH="457200" progId="Equation.DSMT4">
                  <p:embed/>
                </p:oleObj>
              </mc:Choice>
              <mc:Fallback>
                <p:oleObj name="Equation" r:id="rId5" imgW="1066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5251450"/>
                        <a:ext cx="2295525" cy="9842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53999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0650" name="Object 10"/>
          <p:cNvGraphicFramePr>
            <a:graphicFrameLocks noChangeAspect="1"/>
          </p:cNvGraphicFramePr>
          <p:nvPr/>
        </p:nvGraphicFramePr>
        <p:xfrm>
          <a:off x="5235575" y="4140200"/>
          <a:ext cx="304006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6" name="Equation" r:id="rId7" imgW="1320480" imgH="482400" progId="Equation.DSMT4">
                  <p:embed/>
                </p:oleObj>
              </mc:Choice>
              <mc:Fallback>
                <p:oleObj name="Equation" r:id="rId7" imgW="1320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575" y="4140200"/>
                        <a:ext cx="3040063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FFAFA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9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0659" name="AutoShape 19"/>
          <p:cNvSpPr>
            <a:spLocks noChangeArrowheads="1"/>
          </p:cNvSpPr>
          <p:nvPr/>
        </p:nvSpPr>
        <p:spPr bwMode="auto">
          <a:xfrm>
            <a:off x="2778125" y="2584450"/>
            <a:ext cx="1216025" cy="539750"/>
          </a:xfrm>
          <a:prstGeom prst="wedgeRoundRectCallout">
            <a:avLst>
              <a:gd name="adj1" fmla="val -23259"/>
              <a:gd name="adj2" fmla="val 97144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hlink"/>
                </a:solidFill>
              </a:rPr>
              <a:t>双极性</a:t>
            </a: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1936750" y="1295400"/>
            <a:ext cx="2222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60000"/>
            </a:pPr>
            <a:r>
              <a:rPr lang="en-US" altLang="zh-CN" sz="2400">
                <a:ea typeface="华文中宋" panose="02010600040101010101" pitchFamily="2" charset="-122"/>
                <a:cs typeface="Arial" panose="020B0604020202020204" pitchFamily="34" charset="0"/>
              </a:rPr>
              <a:t>s(t)</a:t>
            </a:r>
            <a:r>
              <a:rPr lang="en-US" altLang="zh-CN" sz="2400">
                <a:ea typeface="华文中宋" panose="020106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zh-CN" altLang="en-US" sz="2400">
                <a:ea typeface="华文中宋" panose="02010600040101010101" pitchFamily="2" charset="-122"/>
                <a:cs typeface="Arial" panose="020B0604020202020204" pitchFamily="34" charset="0"/>
              </a:rPr>
              <a:t>载波相位</a:t>
            </a:r>
          </a:p>
        </p:txBody>
      </p:sp>
      <p:sp>
        <p:nvSpPr>
          <p:cNvPr id="18" name="椭圆形标注 17"/>
          <p:cNvSpPr>
            <a:spLocks noChangeArrowheads="1"/>
          </p:cNvSpPr>
          <p:nvPr/>
        </p:nvSpPr>
        <p:spPr bwMode="auto">
          <a:xfrm>
            <a:off x="2616200" y="3295650"/>
            <a:ext cx="666750" cy="711200"/>
          </a:xfrm>
          <a:prstGeom prst="wedgeEllipseCallout">
            <a:avLst>
              <a:gd name="adj1" fmla="val 28083"/>
              <a:gd name="adj2" fmla="val -93477"/>
            </a:avLst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3329" name="Object 8"/>
          <p:cNvGraphicFramePr>
            <a:graphicFrameLocks noChangeAspect="1"/>
          </p:cNvGraphicFramePr>
          <p:nvPr/>
        </p:nvGraphicFramePr>
        <p:xfrm>
          <a:off x="1327150" y="4318000"/>
          <a:ext cx="293846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17" name="公式" r:id="rId9" imgW="1333440" imgH="342720" progId="Equation.3">
                  <p:embed/>
                </p:oleObj>
              </mc:Choice>
              <mc:Fallback>
                <p:oleObj name="公式" r:id="rId9" imgW="133344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4318000"/>
                        <a:ext cx="293846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-6350" y="450850"/>
            <a:ext cx="724535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.1.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3 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二进制相移键控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0099"/>
                </a:solidFill>
              </a:rPr>
              <a:t>2PSK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00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1282" name="Picture 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30" r="13100"/>
          <a:stretch>
            <a:fillRect/>
          </a:stretch>
        </p:blipFill>
        <p:spPr bwMode="auto">
          <a:xfrm>
            <a:off x="4811713" y="3265488"/>
            <a:ext cx="379095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19" b="38596"/>
          <a:stretch>
            <a:fillRect/>
          </a:stretch>
        </p:blipFill>
        <p:spPr bwMode="auto">
          <a:xfrm>
            <a:off x="4783138" y="1295400"/>
            <a:ext cx="37465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3" name="Picture 1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35"/>
          <a:stretch>
            <a:fillRect/>
          </a:stretch>
        </p:blipFill>
        <p:spPr bwMode="auto">
          <a:xfrm>
            <a:off x="4779963" y="5162550"/>
            <a:ext cx="3838575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352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4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4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06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406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24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1000"/>
                                        <p:tgtEl>
                                          <p:spTgt spid="24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1000"/>
                                        <p:tgtEl>
                                          <p:spTgt spid="11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56" grpId="0" animBg="1"/>
      <p:bldP spid="240659" grpId="0"/>
      <p:bldP spid="17" grpId="0"/>
      <p:bldP spid="18" grpId="0" animBg="1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37" name="Object 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056188" y="2003425"/>
          <a:ext cx="3382962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1" name="Visio" r:id="rId3" imgW="2206752" imgH="1162254" progId="Visio.Drawing.11">
                  <p:embed/>
                </p:oleObj>
              </mc:Choice>
              <mc:Fallback>
                <p:oleObj name="Visio" r:id="rId3" imgW="2206752" imgH="116225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2003425"/>
                        <a:ext cx="3382962" cy="178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7"/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1" name="Rectangle 11"/>
          <p:cNvSpPr>
            <a:spLocks noChangeArrowheads="1"/>
          </p:cNvSpPr>
          <p:nvPr/>
        </p:nvSpPr>
        <p:spPr bwMode="auto">
          <a:xfrm>
            <a:off x="838200" y="509588"/>
            <a:ext cx="23129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2PSK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产生 </a:t>
            </a:r>
          </a:p>
        </p:txBody>
      </p:sp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5011738" y="1223963"/>
            <a:ext cx="1663700" cy="541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400" b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键控法</a:t>
            </a:r>
            <a:endParaRPr lang="zh-CN" altLang="en-US" sz="3500" b="1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6340" name="Object 2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817563" y="1987550"/>
          <a:ext cx="3354387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2" name="Visio" r:id="rId5" imgW="2019605" imgH="1001806" progId="Visio.Drawing.11">
                  <p:embed/>
                </p:oleObj>
              </mc:Choice>
              <mc:Fallback>
                <p:oleObj name="Visio" r:id="rId5" imgW="2019605" imgH="100180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1987550"/>
                        <a:ext cx="3354387" cy="1663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4" name="Rectangle 24"/>
          <p:cNvSpPr>
            <a:spLocks noChangeArrowheads="1"/>
          </p:cNvSpPr>
          <p:nvPr/>
        </p:nvSpPr>
        <p:spPr bwMode="auto">
          <a:xfrm>
            <a:off x="838200" y="3932238"/>
            <a:ext cx="23129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Times New Roman" pitchFamily="18" charset="0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2PSK 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解调</a:t>
            </a:r>
            <a:r>
              <a:rPr lang="zh-CN" altLang="en-US" sz="2800" dirty="0"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56345" name="Object 25"/>
          <p:cNvGraphicFramePr>
            <a:graphicFrameLocks noChangeAspect="1"/>
          </p:cNvGraphicFramePr>
          <p:nvPr/>
        </p:nvGraphicFramePr>
        <p:xfrm>
          <a:off x="881063" y="4713288"/>
          <a:ext cx="7696200" cy="191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3" name="Visio" r:id="rId7" imgW="5057777" imgH="1238238" progId="Visio.Drawing.11">
                  <p:embed/>
                </p:oleObj>
              </mc:Choice>
              <mc:Fallback>
                <p:oleObj name="Visio" r:id="rId7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4713288"/>
                        <a:ext cx="7696200" cy="1916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8" name="Rectangle 28"/>
          <p:cNvSpPr>
            <a:spLocks noChangeArrowheads="1"/>
          </p:cNvSpPr>
          <p:nvPr/>
        </p:nvSpPr>
        <p:spPr bwMode="auto">
          <a:xfrm>
            <a:off x="1149350" y="1223963"/>
            <a:ext cx="2205038" cy="5413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400" b="1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模拟调制法</a:t>
            </a:r>
            <a:endParaRPr lang="zh-CN" altLang="en-US" sz="3500" b="1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825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1" grpId="0"/>
      <p:bldP spid="56335" grpId="0" animBg="1"/>
      <p:bldP spid="56344" grpId="0"/>
      <p:bldP spid="563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368300"/>
            <a:ext cx="2430463" cy="1125538"/>
          </a:xfrm>
          <a:solidFill>
            <a:schemeClr val="bg1"/>
          </a:solidFill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b="0" dirty="0"/>
              <a:t>  </a:t>
            </a:r>
            <a:r>
              <a:rPr lang="en-US" altLang="zh-CN" sz="2800" dirty="0">
                <a:solidFill>
                  <a:srgbClr val="003399"/>
                </a:solidFill>
                <a:latin typeface="Arial" charset="0"/>
                <a:ea typeface="华文中宋" pitchFamily="2" charset="-122"/>
              </a:rPr>
              <a:t>2PSK </a:t>
            </a:r>
            <a:r>
              <a:rPr lang="zh-CN" altLang="en-US" sz="20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解调原理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框图 和 各点波形</a:t>
            </a:r>
            <a:r>
              <a:rPr lang="zh-CN" altLang="en-US" sz="2400" b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0" y="2757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0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660650" y="981075"/>
          <a:ext cx="6546850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5" name="Visio" r:id="rId3" imgW="5057777" imgH="1238238" progId="Visio.Drawing.11">
                  <p:embed/>
                </p:oleObj>
              </mc:Choice>
              <mc:Fallback>
                <p:oleObj name="Visio" r:id="rId3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981075"/>
                        <a:ext cx="6546850" cy="160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6"/>
          <p:cNvSpPr>
            <a:spLocks noChangeArrowheads="1"/>
          </p:cNvSpPr>
          <p:nvPr/>
        </p:nvSpPr>
        <p:spPr bwMode="auto">
          <a:xfrm>
            <a:off x="0" y="19573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35207" name="Object 7"/>
          <p:cNvGraphicFramePr>
            <a:graphicFrameLocks noChangeAspect="1"/>
          </p:cNvGraphicFramePr>
          <p:nvPr/>
        </p:nvGraphicFramePr>
        <p:xfrm>
          <a:off x="657225" y="2051050"/>
          <a:ext cx="4949825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6" name="Visio" r:id="rId5" imgW="4522175" imgH="4653311" progId="Visio.Drawing.11">
                  <p:embed/>
                </p:oleObj>
              </mc:Choice>
              <mc:Fallback>
                <p:oleObj name="Visio" r:id="rId5" imgW="4522175" imgH="46533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2051050"/>
                        <a:ext cx="4949825" cy="424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09" name="Object 9"/>
          <p:cNvGraphicFramePr>
            <a:graphicFrameLocks noChangeAspect="1"/>
          </p:cNvGraphicFramePr>
          <p:nvPr/>
        </p:nvGraphicFramePr>
        <p:xfrm>
          <a:off x="657225" y="2051050"/>
          <a:ext cx="4949825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37" name="Visio" r:id="rId7" imgW="4522175" imgH="4653311" progId="Visio.Drawing.11">
                  <p:embed/>
                </p:oleObj>
              </mc:Choice>
              <mc:Fallback>
                <p:oleObj name="Visio" r:id="rId7" imgW="4522175" imgH="4653311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2051050"/>
                        <a:ext cx="4949825" cy="424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217" name="Rectangle 17"/>
          <p:cNvSpPr>
            <a:spLocks noChangeArrowheads="1"/>
          </p:cNvSpPr>
          <p:nvPr/>
        </p:nvSpPr>
        <p:spPr bwMode="auto">
          <a:xfrm>
            <a:off x="5416550" y="2460625"/>
            <a:ext cx="2755900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999980"/>
            </a:prst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2PSK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存在问题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：</a:t>
            </a:r>
          </a:p>
        </p:txBody>
      </p:sp>
      <p:sp>
        <p:nvSpPr>
          <p:cNvPr id="435218" name="Rectangle 18"/>
          <p:cNvSpPr>
            <a:spLocks noChangeArrowheads="1"/>
          </p:cNvSpPr>
          <p:nvPr/>
        </p:nvSpPr>
        <p:spPr bwMode="auto">
          <a:xfrm>
            <a:off x="5505450" y="5189538"/>
            <a:ext cx="2844800" cy="461962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解决方案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 dirty="0">
                <a:solidFill>
                  <a:srgbClr val="000099"/>
                </a:solidFill>
                <a:ea typeface="华文中宋" pitchFamily="2" charset="-12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ea typeface="华文中宋" pitchFamily="2" charset="-122"/>
              </a:rPr>
              <a:t>DPSK</a:t>
            </a:r>
            <a:r>
              <a:rPr lang="zh-CN" altLang="en-US" sz="2400" b="1" dirty="0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435219" name="Rectangle 19"/>
          <p:cNvSpPr>
            <a:spLocks noChangeArrowheads="1"/>
          </p:cNvSpPr>
          <p:nvPr/>
        </p:nvSpPr>
        <p:spPr bwMode="auto">
          <a:xfrm>
            <a:off x="5973763" y="5740400"/>
            <a:ext cx="2420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chemeClr val="hlink"/>
                </a:solidFill>
              </a:rPr>
              <a:t>Differential PSK</a:t>
            </a:r>
            <a:r>
              <a:rPr lang="en-US" altLang="zh-CN" sz="2400"/>
              <a:t> </a:t>
            </a:r>
          </a:p>
        </p:txBody>
      </p:sp>
      <p:sp>
        <p:nvSpPr>
          <p:cNvPr id="14" name="圆角矩形标注 13"/>
          <p:cNvSpPr/>
          <p:nvPr/>
        </p:nvSpPr>
        <p:spPr bwMode="auto">
          <a:xfrm>
            <a:off x="5638800" y="3117850"/>
            <a:ext cx="2089150" cy="488950"/>
          </a:xfrm>
          <a:prstGeom prst="wedgeRoundRectCallout">
            <a:avLst>
              <a:gd name="adj1" fmla="val -88968"/>
              <a:gd name="adj2" fmla="val 23909"/>
              <a:gd name="adj3" fmla="val 16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CC99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华文中宋" pitchFamily="2" charset="-122"/>
              </a:rPr>
              <a:t>载波相位模糊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5" name="圆角矩形标注 14"/>
          <p:cNvSpPr/>
          <p:nvPr/>
        </p:nvSpPr>
        <p:spPr bwMode="auto">
          <a:xfrm>
            <a:off x="5727700" y="3962400"/>
            <a:ext cx="1733550" cy="933450"/>
          </a:xfrm>
          <a:prstGeom prst="wedgeRoundRectCallout">
            <a:avLst>
              <a:gd name="adj1" fmla="val -108071"/>
              <a:gd name="adj2" fmla="val 62216"/>
              <a:gd name="adj3" fmla="val 16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rgbClr val="CC99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dirty="0">
                <a:solidFill>
                  <a:srgbClr val="800080"/>
                </a:solidFill>
                <a:ea typeface="华文中宋" pitchFamily="2" charset="-122"/>
              </a:rPr>
              <a:t>  </a:t>
            </a:r>
            <a:r>
              <a:rPr lang="zh-CN" altLang="en-US" sz="2400" dirty="0">
                <a:ea typeface="华文中宋" pitchFamily="2" charset="-122"/>
              </a:rPr>
              <a:t>倒</a:t>
            </a:r>
            <a:r>
              <a:rPr lang="en-US" altLang="zh-CN" sz="2400" dirty="0">
                <a:ea typeface="华文中宋" pitchFamily="2" charset="-122"/>
              </a:rPr>
              <a:t>π</a:t>
            </a:r>
            <a:r>
              <a:rPr lang="zh-CN" altLang="en-US" sz="2400" dirty="0">
                <a:ea typeface="华文中宋" pitchFamily="2" charset="-122"/>
              </a:rPr>
              <a:t>现象</a:t>
            </a:r>
            <a:endParaRPr lang="en-US" altLang="zh-CN" sz="2400" dirty="0">
              <a:ea typeface="华文中宋" pitchFamily="2" charset="-122"/>
            </a:endParaRPr>
          </a:p>
          <a:p>
            <a:pPr>
              <a:defRPr/>
            </a:pP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zh-CN" altLang="en-US" sz="2400" dirty="0">
                <a:ea typeface="华文中宋" pitchFamily="2" charset="-122"/>
              </a:rPr>
              <a:t>反相工作</a:t>
            </a:r>
            <a:r>
              <a:rPr lang="en-US" altLang="zh-CN" sz="2400" dirty="0">
                <a:ea typeface="华文中宋" pitchFamily="2" charset="-122"/>
              </a:rPr>
              <a:t>)</a:t>
            </a:r>
            <a:endParaRPr lang="zh-CN" altLang="en-US" sz="2400" dirty="0">
              <a:ea typeface="华文中宋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910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5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43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3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43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3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43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17" grpId="0" animBg="1"/>
      <p:bldP spid="435218" grpId="0" animBg="1"/>
      <p:bldP spid="435219" grpId="0"/>
      <p:bldP spid="14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01675" y="1314450"/>
            <a:ext cx="7920038" cy="539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Clr>
                <a:srgbClr val="969696"/>
              </a:buClr>
              <a:buFont typeface="Wingdings" panose="05000000000000000000" pitchFamily="2" charset="2"/>
              <a:buNone/>
            </a:pPr>
            <a:r>
              <a:rPr lang="en-US" altLang="zh-CN" sz="2400" b="0">
                <a:ea typeface="华文中宋" panose="02010600040101010101" pitchFamily="2" charset="-122"/>
              </a:rPr>
              <a:t>                </a:t>
            </a:r>
            <a:r>
              <a:rPr lang="zh-CN" altLang="en-US" sz="2400" b="0">
                <a:ea typeface="华文中宋" panose="02010600040101010101" pitchFamily="2" charset="-122"/>
              </a:rPr>
              <a:t>利用前后相邻码元的载波</a:t>
            </a:r>
            <a:r>
              <a:rPr lang="zh-CN" altLang="en-US" sz="2400" b="0">
                <a:solidFill>
                  <a:srgbClr val="FF0000"/>
                </a:solidFill>
                <a:ea typeface="华文中宋" panose="02010600040101010101" pitchFamily="2" charset="-122"/>
              </a:rPr>
              <a:t>相对</a:t>
            </a:r>
            <a:r>
              <a:rPr lang="zh-CN" altLang="en-US" sz="2400" b="0">
                <a:ea typeface="华文中宋" panose="02010600040101010101" pitchFamily="2" charset="-122"/>
              </a:rPr>
              <a:t>相位表示信息。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zh-CN" altLang="en-US" sz="2000"/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</a:p>
        </p:txBody>
      </p:sp>
      <p:graphicFrame>
        <p:nvGraphicFramePr>
          <p:cNvPr id="62498" name="Object 34"/>
          <p:cNvGraphicFramePr>
            <a:graphicFrameLocks noChangeAspect="1"/>
          </p:cNvGraphicFramePr>
          <p:nvPr/>
        </p:nvGraphicFramePr>
        <p:xfrm>
          <a:off x="5516563" y="3167063"/>
          <a:ext cx="2565400" cy="231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32" name="Visio" r:id="rId3" imgW="1258384" imgH="1136107" progId="Visio.Drawing.11">
                  <p:embed/>
                </p:oleObj>
              </mc:Choice>
              <mc:Fallback>
                <p:oleObj name="Visio" r:id="rId3" imgW="1258384" imgH="113610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3167063"/>
                        <a:ext cx="2565400" cy="231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9" name="Object 35"/>
          <p:cNvGraphicFramePr>
            <a:graphicFrameLocks noGrp="1" noChangeAspect="1"/>
          </p:cNvGraphicFramePr>
          <p:nvPr>
            <p:ph sz="half" idx="2"/>
          </p:nvPr>
        </p:nvGraphicFramePr>
        <p:xfrm>
          <a:off x="1106488" y="3938588"/>
          <a:ext cx="31511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33" name="Visio" r:id="rId5" imgW="1612727" imgH="526976" progId="Visio.Drawing.11">
                  <p:embed/>
                </p:oleObj>
              </mc:Choice>
              <mc:Fallback>
                <p:oleObj name="Visio" r:id="rId5" imgW="1612727" imgH="526976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3938588"/>
                        <a:ext cx="315118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6" name="Rectangle 42"/>
          <p:cNvSpPr>
            <a:spLocks noChangeArrowheads="1"/>
          </p:cNvSpPr>
          <p:nvPr/>
        </p:nvSpPr>
        <p:spPr bwMode="auto">
          <a:xfrm>
            <a:off x="615950" y="3302000"/>
            <a:ext cx="1665288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矢量图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62509" name="Rectangle 45"/>
          <p:cNvSpPr>
            <a:spLocks noChangeArrowheads="1"/>
          </p:cNvSpPr>
          <p:nvPr/>
        </p:nvSpPr>
        <p:spPr bwMode="auto">
          <a:xfrm>
            <a:off x="7002463" y="4967288"/>
            <a:ext cx="103505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rgbClr val="969696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latin typeface="Arial" pitchFamily="34" charset="0"/>
                <a:ea typeface="+mj-ea"/>
                <a:cs typeface="Arial" pitchFamily="34" charset="0"/>
              </a:rPr>
              <a:t>B</a:t>
            </a:r>
            <a:r>
              <a:rPr lang="zh-CN" altLang="en-US" sz="2400" dirty="0">
                <a:solidFill>
                  <a:srgbClr val="000099"/>
                </a:solidFill>
                <a:latin typeface="Arial" pitchFamily="34" charset="0"/>
                <a:ea typeface="+mj-ea"/>
                <a:cs typeface="Arial" pitchFamily="34" charset="0"/>
              </a:rPr>
              <a:t>方式 </a:t>
            </a:r>
          </a:p>
        </p:txBody>
      </p:sp>
      <p:sp>
        <p:nvSpPr>
          <p:cNvPr id="62510" name="Rectangle 46"/>
          <p:cNvSpPr>
            <a:spLocks noChangeArrowheads="1"/>
          </p:cNvSpPr>
          <p:nvPr/>
        </p:nvSpPr>
        <p:spPr bwMode="auto">
          <a:xfrm>
            <a:off x="1601788" y="4967288"/>
            <a:ext cx="103505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rgbClr val="969696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99"/>
                </a:solidFill>
                <a:latin typeface="Arial" pitchFamily="34" charset="0"/>
                <a:ea typeface="+mj-ea"/>
                <a:cs typeface="Arial" pitchFamily="34" charset="0"/>
              </a:rPr>
              <a:t>A</a:t>
            </a:r>
            <a:r>
              <a:rPr lang="zh-CN" altLang="en-US" sz="2400" dirty="0">
                <a:solidFill>
                  <a:srgbClr val="000099"/>
                </a:solidFill>
                <a:latin typeface="Arial" pitchFamily="34" charset="0"/>
                <a:ea typeface="+mj-ea"/>
                <a:cs typeface="Arial" pitchFamily="34" charset="0"/>
              </a:rPr>
              <a:t>方式 </a:t>
            </a:r>
          </a:p>
        </p:txBody>
      </p:sp>
      <p:sp>
        <p:nvSpPr>
          <p:cNvPr id="62511" name="AutoShape 47"/>
          <p:cNvSpPr>
            <a:spLocks/>
          </p:cNvSpPr>
          <p:nvPr/>
        </p:nvSpPr>
        <p:spPr bwMode="auto">
          <a:xfrm>
            <a:off x="3132138" y="5641975"/>
            <a:ext cx="2519362" cy="809625"/>
          </a:xfrm>
          <a:prstGeom prst="borderCallout1">
            <a:avLst>
              <a:gd name="adj1" fmla="val -3810"/>
              <a:gd name="adj2" fmla="val -718"/>
              <a:gd name="adj3" fmla="val -104032"/>
              <a:gd name="adj4" fmla="val -4796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969696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ea typeface="华文中宋" panose="02010600040101010101" pitchFamily="2" charset="-122"/>
              </a:rPr>
              <a:t>基准 </a:t>
            </a:r>
            <a:r>
              <a:rPr lang="en-US" altLang="zh-CN" sz="2400">
                <a:ea typeface="华文中宋" panose="02010600040101010101" pitchFamily="2" charset="-122"/>
              </a:rPr>
              <a:t>——2PSK</a:t>
            </a:r>
          </a:p>
          <a:p>
            <a:pPr eaLnBrk="1" hangingPunct="1">
              <a:buClr>
                <a:srgbClr val="969696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ea typeface="华文中宋" panose="02010600040101010101" pitchFamily="2" charset="-122"/>
              </a:rPr>
              <a:t>前一 </a:t>
            </a:r>
            <a:r>
              <a:rPr lang="en-US" altLang="zh-CN" sz="2400">
                <a:ea typeface="华文中宋" panose="02010600040101010101" pitchFamily="2" charset="-122"/>
              </a:rPr>
              <a:t>——2</a:t>
            </a:r>
            <a:r>
              <a:rPr lang="en-US" altLang="zh-CN" sz="2400">
                <a:solidFill>
                  <a:schemeClr val="hlink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400">
                <a:ea typeface="华文中宋" panose="02010600040101010101" pitchFamily="2" charset="-122"/>
              </a:rPr>
              <a:t>PSK</a:t>
            </a:r>
          </a:p>
        </p:txBody>
      </p:sp>
      <p:sp>
        <p:nvSpPr>
          <p:cNvPr id="62512" name="Rectangle 48"/>
          <p:cNvSpPr>
            <a:spLocks noChangeArrowheads="1"/>
          </p:cNvSpPr>
          <p:nvPr/>
        </p:nvSpPr>
        <p:spPr bwMode="auto">
          <a:xfrm>
            <a:off x="615950" y="1384300"/>
            <a:ext cx="137795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原理：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-6350" y="406400"/>
            <a:ext cx="831215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.1.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 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</a:t>
            </a:r>
            <a:r>
              <a:rPr lang="zh-CN" altLang="en-US" sz="3200" b="1" dirty="0">
                <a:solidFill>
                  <a:schemeClr val="hlink"/>
                </a:solidFill>
                <a:latin typeface="微软雅黑" pitchFamily="34" charset="-122"/>
                <a:ea typeface="微软雅黑" pitchFamily="34" charset="-122"/>
              </a:rPr>
              <a:t>差分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相移键控</a:t>
            </a:r>
            <a:r>
              <a:rPr lang="zh-CN" altLang="en-US" sz="3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0099"/>
                </a:solidFill>
              </a:rPr>
              <a:t>2</a:t>
            </a:r>
            <a:r>
              <a:rPr lang="en-US" altLang="zh-CN" sz="3200" b="1" dirty="0">
                <a:solidFill>
                  <a:schemeClr val="hlink"/>
                </a:solidFill>
                <a:ea typeface="隶书" pitchFamily="49" charset="-122"/>
              </a:rPr>
              <a:t>D</a:t>
            </a:r>
            <a:r>
              <a:rPr lang="en-US" altLang="zh-CN" sz="3200" b="1" dirty="0">
                <a:solidFill>
                  <a:srgbClr val="000099"/>
                </a:solidFill>
              </a:rPr>
              <a:t>PSK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00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03"/>
          <a:stretch>
            <a:fillRect/>
          </a:stretch>
        </p:blipFill>
        <p:spPr bwMode="auto">
          <a:xfrm>
            <a:off x="755650" y="1917700"/>
            <a:ext cx="799465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36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20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6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6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6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06" grpId="0" animBg="1"/>
      <p:bldP spid="62509" grpId="0" animBg="1"/>
      <p:bldP spid="62510" grpId="0" animBg="1"/>
      <p:bldP spid="62511" grpId="0" animBg="1"/>
      <p:bldP spid="62512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41"/>
          <a:stretch>
            <a:fillRect/>
          </a:stretch>
        </p:blipFill>
        <p:spPr bwMode="auto">
          <a:xfrm>
            <a:off x="1371600" y="2673350"/>
            <a:ext cx="715327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8288" name="Rectangle 16"/>
          <p:cNvSpPr>
            <a:spLocks noChangeArrowheads="1"/>
          </p:cNvSpPr>
          <p:nvPr/>
        </p:nvSpPr>
        <p:spPr bwMode="auto">
          <a:xfrm>
            <a:off x="477838" y="2940050"/>
            <a:ext cx="1249362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>
                <a:ea typeface="华文中宋" panose="02010600040101010101" pitchFamily="2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波形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8278" name="Oval 6"/>
          <p:cNvSpPr>
            <a:spLocks noChangeArrowheads="1"/>
          </p:cNvSpPr>
          <p:nvPr/>
        </p:nvSpPr>
        <p:spPr bwMode="auto">
          <a:xfrm>
            <a:off x="646113" y="584200"/>
            <a:ext cx="1169987" cy="5746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999FF"/>
            </a:solidFill>
            <a:round/>
            <a:headEnd/>
            <a:tailEnd/>
          </a:ln>
          <a:effectLst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示例</a:t>
            </a:r>
            <a:r>
              <a:rPr lang="en-US" altLang="zh-CN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endParaRPr lang="zh-CN" altLang="en-US" sz="24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8279" name="Rectangle 7"/>
          <p:cNvSpPr>
            <a:spLocks noChangeArrowheads="1"/>
          </p:cNvSpPr>
          <p:nvPr/>
        </p:nvSpPr>
        <p:spPr bwMode="auto">
          <a:xfrm>
            <a:off x="1504950" y="3248025"/>
            <a:ext cx="6751638" cy="314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8282" name="Rectangle 10"/>
          <p:cNvSpPr>
            <a:spLocks noChangeArrowheads="1"/>
          </p:cNvSpPr>
          <p:nvPr/>
        </p:nvSpPr>
        <p:spPr bwMode="auto">
          <a:xfrm>
            <a:off x="482600" y="4762500"/>
            <a:ext cx="2568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>
                <a:ea typeface="华文中宋" panose="02010600040101010101" pitchFamily="2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差分编码规则：</a:t>
            </a:r>
          </a:p>
        </p:txBody>
      </p:sp>
      <p:sp>
        <p:nvSpPr>
          <p:cNvPr id="438284" name="Rectangle 12"/>
          <p:cNvSpPr>
            <a:spLocks noChangeArrowheads="1"/>
          </p:cNvSpPr>
          <p:nvPr/>
        </p:nvSpPr>
        <p:spPr bwMode="auto">
          <a:xfrm>
            <a:off x="5683250" y="4984750"/>
            <a:ext cx="2533650" cy="14001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3400"/>
              </a:lnSpc>
              <a:defRPr/>
            </a:pPr>
            <a:r>
              <a:rPr lang="zh-CN" altLang="en-US" sz="2800" dirty="0">
                <a:ea typeface="华文中宋" pitchFamily="2" charset="-122"/>
                <a:cs typeface="Arial" charset="0"/>
              </a:rPr>
              <a:t>⊕</a:t>
            </a:r>
            <a:r>
              <a:rPr lang="zh-CN" altLang="en-US" sz="2000" dirty="0">
                <a:ea typeface="华文中宋" pitchFamily="2" charset="-122"/>
                <a:cs typeface="Arial" charset="0"/>
              </a:rPr>
              <a:t>为模</a:t>
            </a:r>
            <a:r>
              <a:rPr lang="en-US" altLang="zh-CN" sz="2000" dirty="0">
                <a:ea typeface="华文中宋" pitchFamily="2" charset="-122"/>
                <a:cs typeface="Arial" charset="0"/>
              </a:rPr>
              <a:t>2</a:t>
            </a:r>
            <a:r>
              <a:rPr lang="zh-CN" altLang="en-US" sz="2000" dirty="0">
                <a:ea typeface="华文中宋" pitchFamily="2" charset="-122"/>
                <a:cs typeface="Arial" charset="0"/>
              </a:rPr>
              <a:t>加</a:t>
            </a:r>
            <a:endParaRPr lang="en-US" altLang="zh-CN" sz="2000" dirty="0">
              <a:ea typeface="华文中宋" pitchFamily="2" charset="-122"/>
              <a:cs typeface="Arial" charset="0"/>
            </a:endParaRPr>
          </a:p>
          <a:p>
            <a:pPr>
              <a:lnSpc>
                <a:spcPts val="3400"/>
              </a:lnSpc>
              <a:defRPr/>
            </a:pPr>
            <a:r>
              <a:rPr lang="en-US" altLang="zh-CN" sz="2400" i="1" dirty="0">
                <a:latin typeface="Times New Roman" pitchFamily="18" charset="0"/>
                <a:ea typeface="华文中宋" pitchFamily="2" charset="-122"/>
                <a:cs typeface="Arial" charset="0"/>
              </a:rPr>
              <a:t>b</a:t>
            </a:r>
            <a:r>
              <a:rPr lang="en-US" altLang="zh-CN" sz="2400" i="1" baseline="-25000" dirty="0">
                <a:latin typeface="Times New Roman" pitchFamily="18" charset="0"/>
                <a:ea typeface="华文中宋" pitchFamily="2" charset="-122"/>
                <a:cs typeface="Arial" charset="0"/>
              </a:rPr>
              <a:t>n</a:t>
            </a:r>
            <a:r>
              <a:rPr lang="en-US" altLang="zh-CN" sz="2400" baseline="-25000" dirty="0">
                <a:latin typeface="Times New Roman" pitchFamily="18" charset="0"/>
                <a:ea typeface="华文中宋" pitchFamily="2" charset="-122"/>
                <a:cs typeface="Arial" charset="0"/>
              </a:rPr>
              <a:t>-1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  <a:cs typeface="Arial" charset="0"/>
              </a:rPr>
              <a:t>为 </a:t>
            </a:r>
            <a:r>
              <a:rPr lang="en-US" altLang="zh-CN" sz="2400" i="1" dirty="0" err="1">
                <a:latin typeface="Times New Roman" pitchFamily="18" charset="0"/>
                <a:ea typeface="华文中宋" pitchFamily="2" charset="-122"/>
                <a:cs typeface="Arial" charset="0"/>
              </a:rPr>
              <a:t>b</a:t>
            </a:r>
            <a:r>
              <a:rPr lang="en-US" altLang="zh-CN" sz="2400" i="1" baseline="-25000" dirty="0" err="1">
                <a:latin typeface="Times New Roman" pitchFamily="18" charset="0"/>
                <a:ea typeface="华文中宋" pitchFamily="2" charset="-122"/>
                <a:cs typeface="Arial" charset="0"/>
              </a:rPr>
              <a:t>n</a:t>
            </a:r>
            <a:r>
              <a:rPr lang="zh-CN" altLang="en-US" sz="2000" dirty="0">
                <a:latin typeface="Times New Roman" pitchFamily="18" charset="0"/>
                <a:ea typeface="华文中宋" pitchFamily="2" charset="-122"/>
                <a:cs typeface="Arial" charset="0"/>
              </a:rPr>
              <a:t>的前一码元 </a:t>
            </a:r>
            <a:endParaRPr lang="en-US" altLang="zh-CN" sz="2000" dirty="0">
              <a:latin typeface="Times New Roman" pitchFamily="18" charset="0"/>
              <a:ea typeface="华文中宋" pitchFamily="2" charset="-122"/>
              <a:cs typeface="Arial" charset="0"/>
            </a:endParaRPr>
          </a:p>
          <a:p>
            <a:pPr>
              <a:lnSpc>
                <a:spcPts val="3400"/>
              </a:lnSpc>
              <a:defRPr/>
            </a:pPr>
            <a:r>
              <a:rPr lang="zh-CN" altLang="en-US" sz="2000" dirty="0">
                <a:latin typeface="Times New Roman" pitchFamily="18" charset="0"/>
                <a:ea typeface="华文中宋" pitchFamily="2" charset="-122"/>
                <a:cs typeface="Arial" charset="0"/>
              </a:rPr>
              <a:t>最初</a:t>
            </a:r>
            <a:r>
              <a:rPr lang="en-US" altLang="zh-CN" sz="2400" i="1" dirty="0">
                <a:latin typeface="Times New Roman" pitchFamily="18" charset="0"/>
                <a:ea typeface="华文中宋" pitchFamily="2" charset="-122"/>
                <a:cs typeface="Arial" charset="0"/>
              </a:rPr>
              <a:t>b</a:t>
            </a:r>
            <a:r>
              <a:rPr lang="en-US" altLang="zh-CN" sz="2400" i="1" baseline="-25000" dirty="0">
                <a:latin typeface="Times New Roman" pitchFamily="18" charset="0"/>
                <a:ea typeface="华文中宋" pitchFamily="2" charset="-122"/>
                <a:cs typeface="Arial" charset="0"/>
              </a:rPr>
              <a:t>n</a:t>
            </a:r>
            <a:r>
              <a:rPr lang="en-US" altLang="zh-CN" sz="2400" baseline="-25000" dirty="0">
                <a:latin typeface="Times New Roman" pitchFamily="18" charset="0"/>
                <a:ea typeface="华文中宋" pitchFamily="2" charset="-122"/>
                <a:cs typeface="Arial" charset="0"/>
              </a:rPr>
              <a:t>-1</a:t>
            </a:r>
            <a:r>
              <a:rPr lang="zh-CN" altLang="en-US" sz="2000" dirty="0">
                <a:ea typeface="华文中宋" pitchFamily="2" charset="-122"/>
                <a:cs typeface="Arial" charset="0"/>
              </a:rPr>
              <a:t>可任意设定</a:t>
            </a:r>
          </a:p>
        </p:txBody>
      </p:sp>
      <p:pic>
        <p:nvPicPr>
          <p:cNvPr id="9216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7" t="32803" r="26608"/>
          <a:stretch>
            <a:fillRect/>
          </a:stretch>
        </p:blipFill>
        <p:spPr bwMode="auto">
          <a:xfrm>
            <a:off x="5594350" y="139700"/>
            <a:ext cx="297815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86"/>
          <a:stretch>
            <a:fillRect/>
          </a:stretch>
        </p:blipFill>
        <p:spPr bwMode="auto">
          <a:xfrm>
            <a:off x="1682750" y="1089025"/>
            <a:ext cx="6889750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2" t="76909" r="44075"/>
          <a:stretch>
            <a:fillRect/>
          </a:stretch>
        </p:blipFill>
        <p:spPr bwMode="auto">
          <a:xfrm>
            <a:off x="2882900" y="5295900"/>
            <a:ext cx="2667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06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38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3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38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2000"/>
                                        <p:tgtEl>
                                          <p:spTgt spid="438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43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88" grpId="0" animBg="1"/>
      <p:bldP spid="438278" grpId="0" animBg="1"/>
      <p:bldP spid="438279" grpId="0" animBg="1"/>
      <p:bldP spid="438282" grpId="0"/>
      <p:bldP spid="43828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7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52" r="4898" b="19856"/>
          <a:stretch>
            <a:fillRect/>
          </a:stretch>
        </p:blipFill>
        <p:spPr bwMode="auto">
          <a:xfrm>
            <a:off x="3238500" y="3117850"/>
            <a:ext cx="457835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4" t="51550" r="11520"/>
          <a:stretch>
            <a:fillRect/>
          </a:stretch>
        </p:blipFill>
        <p:spPr bwMode="auto">
          <a:xfrm>
            <a:off x="2349500" y="1423988"/>
            <a:ext cx="5422900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4" name="Rectangle 10"/>
          <p:cNvSpPr>
            <a:spLocks noChangeArrowheads="1"/>
          </p:cNvSpPr>
          <p:nvPr/>
        </p:nvSpPr>
        <p:spPr bwMode="auto">
          <a:xfrm>
            <a:off x="615950" y="450850"/>
            <a:ext cx="2655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000099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800" b="1">
                <a:ea typeface="华文中宋" panose="02010600040101010101" pitchFamily="2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>
                <a:ea typeface="华文中宋" panose="02010600040101010101" pitchFamily="2" charset="-122"/>
              </a:rPr>
              <a:t>PSK 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</a:p>
        </p:txBody>
      </p:sp>
      <p:sp>
        <p:nvSpPr>
          <p:cNvPr id="65554" name="Rectangle 18"/>
          <p:cNvSpPr>
            <a:spLocks noChangeArrowheads="1"/>
          </p:cNvSpPr>
          <p:nvPr/>
        </p:nvSpPr>
        <p:spPr bwMode="auto">
          <a:xfrm>
            <a:off x="927100" y="1428750"/>
            <a:ext cx="1154113" cy="4619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构思</a:t>
            </a:r>
          </a:p>
        </p:txBody>
      </p:sp>
      <p:sp>
        <p:nvSpPr>
          <p:cNvPr id="65556" name="Rectangle 20"/>
          <p:cNvSpPr>
            <a:spLocks noChangeArrowheads="1"/>
          </p:cNvSpPr>
          <p:nvPr/>
        </p:nvSpPr>
        <p:spPr bwMode="auto">
          <a:xfrm>
            <a:off x="3016250" y="3162300"/>
            <a:ext cx="3062288" cy="2000250"/>
          </a:xfrm>
          <a:prstGeom prst="rect">
            <a:avLst/>
          </a:prstGeom>
          <a:noFill/>
          <a:ln w="28575">
            <a:solidFill>
              <a:srgbClr val="3366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57" name="Rectangle 21"/>
          <p:cNvSpPr>
            <a:spLocks noChangeArrowheads="1"/>
          </p:cNvSpPr>
          <p:nvPr/>
        </p:nvSpPr>
        <p:spPr bwMode="auto">
          <a:xfrm>
            <a:off x="704850" y="5651500"/>
            <a:ext cx="2773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800" b="1">
                <a:ea typeface="华文中宋" panose="02010600040101010101" pitchFamily="2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ea typeface="华文中宋" panose="02010600040101010101" pitchFamily="2" charset="-122"/>
              </a:rPr>
              <a:t>D</a:t>
            </a:r>
            <a:r>
              <a:rPr lang="en-US" altLang="zh-CN" sz="2800" b="1">
                <a:ea typeface="华文中宋" panose="02010600040101010101" pitchFamily="2" charset="-122"/>
              </a:rPr>
              <a:t>PSK</a:t>
            </a:r>
            <a:r>
              <a:rPr lang="en-US" altLang="zh-CN" sz="2800">
                <a:ea typeface="华文中宋" panose="02010600040101010101" pitchFamily="2" charset="-122"/>
              </a:rPr>
              <a:t> 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解调 </a:t>
            </a:r>
            <a:endParaRPr lang="zh-CN" altLang="en-US" sz="3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558" name="Line 22"/>
          <p:cNvSpPr>
            <a:spLocks noChangeShapeType="1"/>
          </p:cNvSpPr>
          <p:nvPr/>
        </p:nvSpPr>
        <p:spPr bwMode="auto">
          <a:xfrm flipV="1">
            <a:off x="5549900" y="2362200"/>
            <a:ext cx="311150" cy="800100"/>
          </a:xfrm>
          <a:prstGeom prst="line">
            <a:avLst/>
          </a:prstGeom>
          <a:noFill/>
          <a:ln w="28575">
            <a:solidFill>
              <a:srgbClr val="0033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928688" y="2762250"/>
            <a:ext cx="1154112" cy="4619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60000"/>
              <a:buFont typeface="Wingdings" pitchFamily="2" charset="2"/>
              <a:buChar char="u"/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模型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905500" y="560705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rPr>
              <a:t>（差分编码）</a:t>
            </a:r>
          </a:p>
        </p:txBody>
      </p:sp>
    </p:spTree>
    <p:extLst>
      <p:ext uri="{BB962C8B-B14F-4D97-AF65-F5344CB8AC3E}">
        <p14:creationId xmlns:p14="http://schemas.microsoft.com/office/powerpoint/2010/main" val="366329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3" dur="10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6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1000"/>
                                        <p:tgtEl>
                                          <p:spTgt spid="65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65554" grpId="0" animBg="1"/>
      <p:bldP spid="65556" grpId="0" animBg="1"/>
      <p:bldP spid="65557" grpId="0" build="allAtOnce"/>
      <p:bldP spid="65558" grpId="0" animBg="1"/>
      <p:bldP spid="12" grpId="0" animBg="1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566738" y="1190625"/>
          <a:ext cx="7966075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0" name="Visio" r:id="rId3" imgW="5057777" imgH="1238238" progId="Visio.Drawing.11">
                  <p:embed/>
                </p:oleObj>
              </mc:Choice>
              <mc:Fallback>
                <p:oleObj name="Visio" r:id="rId3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7307" b="12820"/>
                      <a:stretch>
                        <a:fillRect/>
                      </a:stretch>
                    </p:blipFill>
                    <p:spPr bwMode="auto">
                      <a:xfrm>
                        <a:off x="566738" y="1190625"/>
                        <a:ext cx="7966075" cy="1473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0" y="2809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8619" name="Rectangle 11"/>
          <p:cNvSpPr>
            <a:spLocks noChangeArrowheads="1"/>
          </p:cNvSpPr>
          <p:nvPr/>
        </p:nvSpPr>
        <p:spPr bwMode="auto">
          <a:xfrm>
            <a:off x="38100" y="523875"/>
            <a:ext cx="622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CC"/>
              </a:buClr>
              <a:buSzPct val="60000"/>
            </a:pPr>
            <a:r>
              <a:rPr lang="zh-CN" altLang="en-US" sz="280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800" b="1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800" b="1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PSK </a:t>
            </a: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相干解调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+ </a:t>
            </a: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码反变换法</a:t>
            </a:r>
          </a:p>
        </p:txBody>
      </p:sp>
      <p:graphicFrame>
        <p:nvGraphicFramePr>
          <p:cNvPr id="68623" name="Object 15"/>
          <p:cNvGraphicFramePr>
            <a:graphicFrameLocks noChangeAspect="1"/>
          </p:cNvGraphicFramePr>
          <p:nvPr/>
        </p:nvGraphicFramePr>
        <p:xfrm>
          <a:off x="881063" y="2619375"/>
          <a:ext cx="5310187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1" name="Visio" r:id="rId5" imgW="5185476" imgH="4525295" progId="Visio.Drawing.11">
                  <p:embed/>
                </p:oleObj>
              </mc:Choice>
              <mc:Fallback>
                <p:oleObj name="Visio" r:id="rId5" imgW="5185476" imgH="452529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2619375"/>
                        <a:ext cx="5310187" cy="401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4" name="Object 16"/>
          <p:cNvGraphicFramePr>
            <a:graphicFrameLocks noChangeAspect="1"/>
          </p:cNvGraphicFramePr>
          <p:nvPr/>
        </p:nvGraphicFramePr>
        <p:xfrm>
          <a:off x="881063" y="2619375"/>
          <a:ext cx="5310187" cy="401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2" name="Visio" r:id="rId7" imgW="5185476" imgH="4525295" progId="Visio.Drawing.11">
                  <p:embed/>
                </p:oleObj>
              </mc:Choice>
              <mc:Fallback>
                <p:oleObj name="Visio" r:id="rId7" imgW="5185476" imgH="452529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2619375"/>
                        <a:ext cx="5310187" cy="401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5" name="AutoShape 17"/>
          <p:cNvSpPr>
            <a:spLocks noChangeArrowheads="1"/>
          </p:cNvSpPr>
          <p:nvPr/>
        </p:nvSpPr>
        <p:spPr bwMode="auto">
          <a:xfrm>
            <a:off x="6438900" y="2984500"/>
            <a:ext cx="1600200" cy="1168400"/>
          </a:xfrm>
          <a:prstGeom prst="cloudCallout">
            <a:avLst>
              <a:gd name="adj1" fmla="val -104111"/>
              <a:gd name="adj2" fmla="val 14014"/>
            </a:avLst>
          </a:prstGeom>
          <a:solidFill>
            <a:schemeClr val="bg1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相位</a:t>
            </a:r>
            <a:endParaRPr lang="en-US" altLang="zh-CN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模糊</a:t>
            </a:r>
          </a:p>
        </p:txBody>
      </p:sp>
      <p:sp>
        <p:nvSpPr>
          <p:cNvPr id="68628" name="Rectangle 20"/>
          <p:cNvSpPr>
            <a:spLocks noChangeArrowheads="1"/>
          </p:cNvSpPr>
          <p:nvPr/>
        </p:nvSpPr>
        <p:spPr bwMode="auto">
          <a:xfrm>
            <a:off x="7002463" y="1314450"/>
            <a:ext cx="990600" cy="765175"/>
          </a:xfrm>
          <a:prstGeom prst="rect">
            <a:avLst/>
          </a:prstGeom>
          <a:noFill/>
          <a:ln w="28575">
            <a:solidFill>
              <a:schemeClr val="hlink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8631" name="Object 23"/>
          <p:cNvGraphicFramePr>
            <a:graphicFrameLocks noChangeAspect="1"/>
          </p:cNvGraphicFramePr>
          <p:nvPr/>
        </p:nvGraphicFramePr>
        <p:xfrm>
          <a:off x="6319838" y="439738"/>
          <a:ext cx="2430462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3" name="公式" r:id="rId9" imgW="876300" imgH="228600" progId="Equation.3">
                  <p:embed/>
                </p:oleObj>
              </mc:Choice>
              <mc:Fallback>
                <p:oleObj name="公式" r:id="rId9" imgW="876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838" y="439738"/>
                        <a:ext cx="2430462" cy="6334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4B0A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7"/>
          <p:cNvSpPr>
            <a:spLocks noChangeArrowheads="1"/>
          </p:cNvSpPr>
          <p:nvPr/>
        </p:nvSpPr>
        <p:spPr bwMode="auto">
          <a:xfrm>
            <a:off x="6483350" y="4972050"/>
            <a:ext cx="1600200" cy="1168400"/>
          </a:xfrm>
          <a:prstGeom prst="cloudCallout">
            <a:avLst>
              <a:gd name="adj1" fmla="val -82338"/>
              <a:gd name="adj2" fmla="val 59977"/>
            </a:avLst>
          </a:prstGeom>
          <a:solidFill>
            <a:schemeClr val="bg1"/>
          </a:solidFill>
          <a:ln w="9525">
            <a:solidFill>
              <a:srgbClr val="003399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消除影响</a:t>
            </a:r>
          </a:p>
        </p:txBody>
      </p:sp>
    </p:spTree>
    <p:extLst>
      <p:ext uri="{BB962C8B-B14F-4D97-AF65-F5344CB8AC3E}">
        <p14:creationId xmlns:p14="http://schemas.microsoft.com/office/powerpoint/2010/main" val="263904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10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9" grpId="0"/>
      <p:bldP spid="68625" grpId="0" animBg="1"/>
      <p:bldP spid="68628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4" t="33856" r="27353"/>
          <a:stretch>
            <a:fillRect/>
          </a:stretch>
        </p:blipFill>
        <p:spPr bwMode="auto">
          <a:xfrm>
            <a:off x="393700" y="2495550"/>
            <a:ext cx="5422900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43" name="Rectangle 11"/>
          <p:cNvSpPr>
            <a:spLocks noChangeArrowheads="1"/>
          </p:cNvSpPr>
          <p:nvPr/>
        </p:nvSpPr>
        <p:spPr bwMode="auto">
          <a:xfrm>
            <a:off x="349250" y="450850"/>
            <a:ext cx="7778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CC"/>
              </a:buClr>
              <a:buSzPct val="60000"/>
            </a:pPr>
            <a:r>
              <a:rPr lang="zh-CN" altLang="en-US" sz="2800" dirty="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800" dirty="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2800" dirty="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  <a:r>
              <a:rPr lang="en-US" altLang="zh-CN" sz="28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800" b="1" dirty="0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PSK </a:t>
            </a:r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差分解调 </a:t>
            </a:r>
            <a:r>
              <a:rPr lang="en-US" altLang="zh-CN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相位比较</a:t>
            </a:r>
            <a:r>
              <a:rPr lang="en-US" altLang="zh-CN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2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</a:t>
            </a:r>
            <a:endParaRPr lang="en-US" altLang="zh-CN" sz="2800" b="1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366" name="Rectangle 14"/>
          <p:cNvSpPr>
            <a:spLocks noChangeArrowheads="1"/>
          </p:cNvSpPr>
          <p:nvPr/>
        </p:nvSpPr>
        <p:spPr bwMode="auto">
          <a:xfrm>
            <a:off x="0" y="2786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9645" name="Object 13"/>
          <p:cNvGraphicFramePr>
            <a:graphicFrameLocks noChangeAspect="1"/>
          </p:cNvGraphicFramePr>
          <p:nvPr/>
        </p:nvGraphicFramePr>
        <p:xfrm>
          <a:off x="1620838" y="908050"/>
          <a:ext cx="718185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53" name="Visio" r:id="rId4" imgW="5057777" imgH="1238238" progId="Visio.Drawing.11">
                  <p:embed/>
                </p:oleObj>
              </mc:Choice>
              <mc:Fallback>
                <p:oleObj name="Visio" r:id="rId4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908050"/>
                        <a:ext cx="7181850" cy="176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1" name="AutoShape 19"/>
          <p:cNvSpPr>
            <a:spLocks/>
          </p:cNvSpPr>
          <p:nvPr/>
        </p:nvSpPr>
        <p:spPr bwMode="auto">
          <a:xfrm>
            <a:off x="6083300" y="2795588"/>
            <a:ext cx="2335213" cy="855662"/>
          </a:xfrm>
          <a:prstGeom prst="borderCallout1">
            <a:avLst>
              <a:gd name="adj1" fmla="val 13356"/>
              <a:gd name="adj2" fmla="val -3454"/>
              <a:gd name="adj3" fmla="val -105707"/>
              <a:gd name="adj4" fmla="val -43827"/>
            </a:avLst>
          </a:prstGeom>
          <a:noFill/>
          <a:ln w="28575">
            <a:solidFill>
              <a:srgbClr val="777777"/>
            </a:solidFill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en-US" sz="2000" dirty="0">
                <a:solidFill>
                  <a:srgbClr val="0033CC"/>
                </a:solidFill>
                <a:latin typeface="微软雅黑" pitchFamily="34" charset="-122"/>
                <a:ea typeface="微软雅黑" pitchFamily="34" charset="-122"/>
              </a:rPr>
              <a:t>相乘器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起着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相位比较的作用</a:t>
            </a:r>
          </a:p>
        </p:txBody>
      </p:sp>
      <p:pic>
        <p:nvPicPr>
          <p:cNvPr id="18443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79"/>
          <a:stretch>
            <a:fillRect/>
          </a:stretch>
        </p:blipFill>
        <p:spPr bwMode="auto">
          <a:xfrm>
            <a:off x="5935663" y="3917950"/>
            <a:ext cx="257810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36"/>
          <a:stretch>
            <a:fillRect/>
          </a:stretch>
        </p:blipFill>
        <p:spPr bwMode="auto">
          <a:xfrm>
            <a:off x="5935663" y="5070475"/>
            <a:ext cx="25781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437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3" grpId="0"/>
      <p:bldP spid="696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3162300"/>
            <a:ext cx="664845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Rectangle 7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2762" name="Rectangle 10"/>
          <p:cNvSpPr>
            <a:spLocks noChangeArrowheads="1"/>
          </p:cNvSpPr>
          <p:nvPr/>
        </p:nvSpPr>
        <p:spPr bwMode="auto">
          <a:xfrm>
            <a:off x="927100" y="1481138"/>
            <a:ext cx="3841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分析目的</a:t>
            </a:r>
            <a:r>
              <a:rPr lang="zh-CN" altLang="en-US" sz="2800" dirty="0">
                <a:ea typeface="华文中宋" panose="02010600040101010101" pitchFamily="2" charset="-122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B 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f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c	</a:t>
            </a:r>
          </a:p>
        </p:txBody>
      </p:sp>
      <p:sp>
        <p:nvSpPr>
          <p:cNvPr id="202763" name="Rectangle 11"/>
          <p:cNvSpPr>
            <a:spLocks noChangeArrowheads="1"/>
          </p:cNvSpPr>
          <p:nvPr/>
        </p:nvSpPr>
        <p:spPr bwMode="auto">
          <a:xfrm>
            <a:off x="909638" y="2287588"/>
            <a:ext cx="5724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b="1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分析方法</a:t>
            </a:r>
            <a:r>
              <a:rPr lang="zh-CN" altLang="en-US" sz="2800">
                <a:ea typeface="华文中宋" panose="02010600040101010101" pitchFamily="2" charset="-122"/>
              </a:rPr>
              <a:t>：</a:t>
            </a:r>
            <a:r>
              <a:rPr lang="zh-CN" altLang="en-US" sz="2400">
                <a:ea typeface="华文中宋" panose="02010600040101010101" pitchFamily="2" charset="-122"/>
              </a:rPr>
              <a:t>借助于基带信号的功率谱</a:t>
            </a:r>
            <a:r>
              <a:rPr lang="zh-CN" altLang="en-US" sz="2400" b="1" i="1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	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0" y="406400"/>
            <a:ext cx="8572500" cy="5778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.1.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5 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二进制数字已调信号的功率谱 </a:t>
            </a:r>
            <a:r>
              <a:rPr lang="en-US" altLang="zh-CN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3200" b="1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PSD</a:t>
            </a:r>
            <a:r>
              <a:rPr lang="en-US" altLang="zh-CN" sz="3200" dirty="0">
                <a:solidFill>
                  <a:srgbClr val="003399"/>
                </a:solidFill>
                <a:ea typeface="华文中宋" pitchFamily="2" charset="-122"/>
              </a:rPr>
              <a:t>)</a:t>
            </a:r>
            <a:endParaRPr lang="en-US" altLang="zh-CN" sz="3200" kern="0" dirty="0">
              <a:solidFill>
                <a:srgbClr val="0033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490" name="椭圆形标注 9"/>
          <p:cNvSpPr>
            <a:spLocks noChangeArrowheads="1"/>
          </p:cNvSpPr>
          <p:nvPr/>
        </p:nvSpPr>
        <p:spPr bwMode="auto">
          <a:xfrm>
            <a:off x="3683000" y="2317750"/>
            <a:ext cx="1244600" cy="533400"/>
          </a:xfrm>
          <a:prstGeom prst="wedgeEllipseCallout">
            <a:avLst>
              <a:gd name="adj1" fmla="val 47972"/>
              <a:gd name="adj2" fmla="val 122366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33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0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62" grpId="0"/>
      <p:bldP spid="202763" grpId="0"/>
      <p:bldP spid="12" grpId="0" animBg="1" autoUpdateAnimBg="0"/>
      <p:bldP spid="2049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7888" y="2859088"/>
            <a:ext cx="7650162" cy="23034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ea typeface="华文中宋" panose="02010600040101010101" pitchFamily="2" charset="-122"/>
              </a:rPr>
              <a:t>设          </a:t>
            </a:r>
            <a:r>
              <a:rPr lang="en-US" altLang="zh-CN" sz="2400" i="1" dirty="0">
                <a:solidFill>
                  <a:srgbClr val="0000CC"/>
                </a:solidFill>
                <a:ea typeface="华文中宋" panose="02010600040101010101" pitchFamily="2" charset="-122"/>
              </a:rPr>
              <a:t>P</a:t>
            </a:r>
            <a:r>
              <a:rPr lang="en-US" altLang="zh-CN" sz="2400" i="1" baseline="-25000" dirty="0">
                <a:solidFill>
                  <a:srgbClr val="0000CC"/>
                </a:solidFill>
                <a:ea typeface="华文中宋" panose="02010600040101010101" pitchFamily="2" charset="-122"/>
              </a:rPr>
              <a:t>s</a:t>
            </a:r>
            <a:r>
              <a:rPr lang="en-US" altLang="zh-CN" sz="2400" dirty="0">
                <a:solidFill>
                  <a:srgbClr val="0000CC"/>
                </a:solidFill>
                <a:ea typeface="华文中宋" panose="02010600040101010101" pitchFamily="2" charset="-122"/>
              </a:rPr>
              <a:t> (</a:t>
            </a:r>
            <a:r>
              <a:rPr lang="en-US" altLang="zh-CN" sz="2400" i="1" dirty="0">
                <a:solidFill>
                  <a:srgbClr val="0000CC"/>
                </a:solidFill>
                <a:ea typeface="华文中宋" panose="02010600040101010101" pitchFamily="2" charset="-122"/>
              </a:rPr>
              <a:t>f</a:t>
            </a:r>
            <a:r>
              <a:rPr lang="en-US" altLang="zh-CN" sz="2400" dirty="0">
                <a:solidFill>
                  <a:srgbClr val="0000CC"/>
                </a:solidFill>
                <a:ea typeface="华文中宋" panose="02010600040101010101" pitchFamily="2" charset="-122"/>
              </a:rPr>
              <a:t>)</a:t>
            </a:r>
            <a:r>
              <a:rPr lang="en-US" altLang="zh-CN" sz="2400" b="0" dirty="0">
                <a:solidFill>
                  <a:srgbClr val="0000CC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400" b="0" dirty="0">
                <a:ea typeface="华文中宋" panose="02010600040101010101" pitchFamily="2" charset="-122"/>
              </a:rPr>
              <a:t>—— </a:t>
            </a:r>
            <a:r>
              <a:rPr lang="en-US" altLang="zh-CN" sz="2400" i="1" dirty="0">
                <a:ea typeface="华文中宋" panose="02010600040101010101" pitchFamily="2" charset="-122"/>
              </a:rPr>
              <a:t>s</a:t>
            </a:r>
            <a:r>
              <a:rPr lang="en-US" altLang="zh-CN" sz="2400" dirty="0">
                <a:ea typeface="华文中宋" panose="02010600040101010101" pitchFamily="2" charset="-122"/>
              </a:rPr>
              <a:t>(</a:t>
            </a:r>
            <a:r>
              <a:rPr lang="en-US" altLang="zh-CN" sz="2400" i="1" dirty="0">
                <a:ea typeface="华文中宋" panose="02010600040101010101" pitchFamily="2" charset="-122"/>
              </a:rPr>
              <a:t>t</a:t>
            </a:r>
            <a:r>
              <a:rPr lang="en-US" altLang="zh-CN" sz="2400" dirty="0">
                <a:ea typeface="华文中宋" panose="02010600040101010101" pitchFamily="2" charset="-122"/>
              </a:rPr>
              <a:t>) </a:t>
            </a:r>
            <a:r>
              <a:rPr lang="zh-CN" altLang="en-US" sz="2400" b="0" dirty="0">
                <a:ea typeface="华文中宋" panose="02010600040101010101" pitchFamily="2" charset="-122"/>
              </a:rPr>
              <a:t>的</a:t>
            </a:r>
            <a:r>
              <a:rPr lang="en-US" altLang="zh-CN" sz="2400" dirty="0">
                <a:ea typeface="华文中宋" panose="02010600040101010101" pitchFamily="2" charset="-122"/>
              </a:rPr>
              <a:t>PSD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ea typeface="华文中宋" panose="02010600040101010101" pitchFamily="2" charset="-122"/>
              </a:rPr>
              <a:t>  P</a:t>
            </a:r>
            <a:r>
              <a:rPr lang="en-US" altLang="zh-CN" sz="2400" b="1" baseline="-25000" dirty="0">
                <a:ea typeface="华文中宋" panose="02010600040101010101" pitchFamily="2" charset="-122"/>
              </a:rPr>
              <a:t>2ASK</a:t>
            </a:r>
            <a:r>
              <a:rPr lang="en-US" altLang="zh-CN" sz="2400" b="1" dirty="0">
                <a:ea typeface="华文中宋" panose="02010600040101010101" pitchFamily="2" charset="-122"/>
              </a:rPr>
              <a:t> (</a:t>
            </a:r>
            <a:r>
              <a:rPr lang="en-US" altLang="zh-CN" sz="2400" b="1" i="1" dirty="0">
                <a:ea typeface="华文中宋" panose="02010600040101010101" pitchFamily="2" charset="-122"/>
              </a:rPr>
              <a:t>f</a:t>
            </a:r>
            <a:r>
              <a:rPr lang="en-US" altLang="zh-CN" sz="2400" b="1" dirty="0">
                <a:ea typeface="华文中宋" panose="02010600040101010101" pitchFamily="2" charset="-122"/>
              </a:rPr>
              <a:t>) —— 2ASK</a:t>
            </a:r>
            <a:r>
              <a:rPr lang="zh-CN" altLang="en-US" sz="2400" dirty="0">
                <a:ea typeface="华文中宋" panose="02010600040101010101" pitchFamily="2" charset="-122"/>
              </a:rPr>
              <a:t>信号的</a:t>
            </a:r>
            <a:r>
              <a:rPr lang="en-US" altLang="zh-CN" sz="2400" b="1" dirty="0">
                <a:ea typeface="华文中宋" panose="02010600040101010101" pitchFamily="2" charset="-122"/>
              </a:rPr>
              <a:t>PSD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ea typeface="华文中宋" panose="02010600040101010101" pitchFamily="2" charset="-122"/>
              </a:rPr>
              <a:t>则</a:t>
            </a:r>
            <a:endParaRPr lang="zh-CN" altLang="en-US" dirty="0"/>
          </a:p>
        </p:txBody>
      </p:sp>
      <p:graphicFrame>
        <p:nvGraphicFramePr>
          <p:cNvPr id="203781" name="Object 5"/>
          <p:cNvGraphicFramePr>
            <a:graphicFrameLocks noChangeAspect="1"/>
          </p:cNvGraphicFramePr>
          <p:nvPr/>
        </p:nvGraphicFramePr>
        <p:xfrm>
          <a:off x="2616200" y="1376363"/>
          <a:ext cx="3844925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04" name="Equation" r:id="rId3" imgW="1307880" imgH="228600" progId="Equation.DSMT4">
                  <p:embed/>
                </p:oleObj>
              </mc:Choice>
              <mc:Fallback>
                <p:oleObj name="Equation" r:id="rId3" imgW="1307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1376363"/>
                        <a:ext cx="3844925" cy="674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9C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3783" name="Object 7"/>
          <p:cNvGraphicFramePr>
            <a:graphicFrameLocks noChangeAspect="1"/>
          </p:cNvGraphicFramePr>
          <p:nvPr/>
        </p:nvGraphicFramePr>
        <p:xfrm>
          <a:off x="2182813" y="4384675"/>
          <a:ext cx="487838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105" name="Equation" r:id="rId5" imgW="2311200" imgH="393480" progId="Equation.DSMT4">
                  <p:embed/>
                </p:oleObj>
              </mc:Choice>
              <mc:Fallback>
                <p:oleObj name="Equation" r:id="rId5" imgW="2311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4384675"/>
                        <a:ext cx="4878387" cy="8223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3785" name="AutoShape 9"/>
          <p:cNvSpPr>
            <a:spLocks noChangeArrowheads="1"/>
          </p:cNvSpPr>
          <p:nvPr/>
        </p:nvSpPr>
        <p:spPr bwMode="auto">
          <a:xfrm>
            <a:off x="468313" y="406400"/>
            <a:ext cx="4770437" cy="568325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999989"/>
            </a:prst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3200" b="1" u="sng" dirty="0">
                <a:solidFill>
                  <a:srgbClr val="800080"/>
                </a:solidFill>
              </a:rPr>
              <a:t>1</a:t>
            </a:r>
            <a:r>
              <a:rPr lang="en-US" altLang="zh-CN" sz="2800" b="1" dirty="0">
                <a:solidFill>
                  <a:srgbClr val="800080"/>
                </a:solidFill>
              </a:rPr>
              <a:t>   </a:t>
            </a:r>
            <a:r>
              <a:rPr lang="en-US" altLang="zh-CN" sz="2800" b="1" dirty="0">
                <a:solidFill>
                  <a:srgbClr val="000099"/>
                </a:solidFill>
              </a:rPr>
              <a:t>2ASK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信号的功率谱密度</a:t>
            </a:r>
          </a:p>
        </p:txBody>
      </p:sp>
      <p:sp>
        <p:nvSpPr>
          <p:cNvPr id="203787" name="Rectangle 11"/>
          <p:cNvSpPr>
            <a:spLocks noChangeArrowheads="1"/>
          </p:cNvSpPr>
          <p:nvPr/>
        </p:nvSpPr>
        <p:spPr bwMode="auto">
          <a:xfrm>
            <a:off x="882650" y="5456238"/>
            <a:ext cx="733425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可见，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</a:rPr>
              <a:t>P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</a:rPr>
              <a:t>2ASK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</a:rPr>
              <a:t> (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</a:rPr>
              <a:t>f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</a:rPr>
              <a:t>)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</a:rPr>
              <a:t> 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是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</a:rPr>
              <a:t>P</a:t>
            </a:r>
            <a:r>
              <a:rPr lang="en-US" altLang="zh-CN" sz="2400" b="1" i="1" baseline="-25000" dirty="0">
                <a:latin typeface="Times New Roman" pitchFamily="18" charset="0"/>
                <a:ea typeface="华文中宋" pitchFamily="2" charset="-122"/>
              </a:rPr>
              <a:t>s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</a:rPr>
              <a:t> (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</a:rPr>
              <a:t>f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</a:rPr>
              <a:t>)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</a:rPr>
              <a:t>的线性搬移（属线性调制）。</a:t>
            </a:r>
          </a:p>
        </p:txBody>
      </p:sp>
      <p:sp>
        <p:nvSpPr>
          <p:cNvPr id="203788" name="AutoShape 12"/>
          <p:cNvSpPr>
            <a:spLocks noChangeArrowheads="1"/>
          </p:cNvSpPr>
          <p:nvPr/>
        </p:nvSpPr>
        <p:spPr bwMode="auto">
          <a:xfrm>
            <a:off x="5283200" y="2265363"/>
            <a:ext cx="1155700" cy="541337"/>
          </a:xfrm>
          <a:prstGeom prst="wedgeRoundRectCallout">
            <a:avLst>
              <a:gd name="adj1" fmla="val -81597"/>
              <a:gd name="adj2" fmla="val -110074"/>
              <a:gd name="adj3" fmla="val 16667"/>
            </a:avLst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华文中宋" panose="02010600040101010101" pitchFamily="2" charset="-122"/>
              </a:rPr>
              <a:t>单极性</a:t>
            </a:r>
          </a:p>
        </p:txBody>
      </p:sp>
    </p:spTree>
    <p:extLst>
      <p:ext uri="{BB962C8B-B14F-4D97-AF65-F5344CB8AC3E}">
        <p14:creationId xmlns:p14="http://schemas.microsoft.com/office/powerpoint/2010/main" val="260577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03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203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03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0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5" grpId="0" animBg="1"/>
      <p:bldP spid="203787" grpId="0" animBg="1"/>
      <p:bldP spid="20378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9" b="53203"/>
          <a:stretch>
            <a:fillRect/>
          </a:stretch>
        </p:blipFill>
        <p:spPr bwMode="auto">
          <a:xfrm>
            <a:off x="1238250" y="539750"/>
            <a:ext cx="6429375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46" b="1207"/>
          <a:stretch>
            <a:fillRect/>
          </a:stretch>
        </p:blipFill>
        <p:spPr bwMode="auto">
          <a:xfrm>
            <a:off x="1238250" y="673100"/>
            <a:ext cx="6429375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>
            <a:cxnSpLocks noChangeShapeType="1"/>
          </p:cNvCxnSpPr>
          <p:nvPr/>
        </p:nvCxnSpPr>
        <p:spPr bwMode="auto">
          <a:xfrm>
            <a:off x="4349750" y="2451100"/>
            <a:ext cx="488950" cy="1588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AutoShape 12"/>
          <p:cNvSpPr>
            <a:spLocks noChangeArrowheads="1"/>
          </p:cNvSpPr>
          <p:nvPr/>
        </p:nvSpPr>
        <p:spPr bwMode="auto">
          <a:xfrm>
            <a:off x="4705350" y="3517900"/>
            <a:ext cx="1644650" cy="541338"/>
          </a:xfrm>
          <a:prstGeom prst="wedgeRoundRectCallout">
            <a:avLst>
              <a:gd name="adj1" fmla="val -40116"/>
              <a:gd name="adj2" fmla="val -171741"/>
              <a:gd name="adj3" fmla="val 16667"/>
            </a:avLst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华文中宋" panose="02010600040101010101" pitchFamily="2" charset="-122"/>
              </a:rPr>
              <a:t>基带带宽</a:t>
            </a:r>
          </a:p>
        </p:txBody>
      </p:sp>
    </p:spTree>
    <p:extLst>
      <p:ext uri="{BB962C8B-B14F-4D97-AF65-F5344CB8AC3E}">
        <p14:creationId xmlns:p14="http://schemas.microsoft.com/office/powerpoint/2010/main" val="201754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xit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9" b="53203"/>
          <a:stretch>
            <a:fillRect/>
          </a:stretch>
        </p:blipFill>
        <p:spPr bwMode="auto">
          <a:xfrm>
            <a:off x="1238250" y="539750"/>
            <a:ext cx="6429375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5372100" y="2438400"/>
            <a:ext cx="9906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 l="3944" t="10689" r="5177" b="57903"/>
          <a:stretch>
            <a:fillRect/>
          </a:stretch>
        </p:blipFill>
        <p:spPr bwMode="auto">
          <a:xfrm>
            <a:off x="1060450" y="3251200"/>
            <a:ext cx="6934200" cy="111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3549650" y="4525963"/>
          <a:ext cx="2122488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01" name="公式" r:id="rId5" imgW="761760" imgH="228600" progId="Equation.3">
                  <p:embed/>
                </p:oleObj>
              </mc:Choice>
              <mc:Fallback>
                <p:oleObj name="公式" r:id="rId5" imgW="761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0" y="4525963"/>
                        <a:ext cx="2122488" cy="63658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9797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线形标注 1 11"/>
          <p:cNvSpPr/>
          <p:nvPr/>
        </p:nvSpPr>
        <p:spPr>
          <a:xfrm>
            <a:off x="6350000" y="4806950"/>
            <a:ext cx="1866900" cy="400050"/>
          </a:xfrm>
          <a:prstGeom prst="borderCallout1">
            <a:avLst>
              <a:gd name="adj1" fmla="val 41808"/>
              <a:gd name="adj2" fmla="val -1909"/>
              <a:gd name="adj3" fmla="val 35252"/>
              <a:gd name="adj4" fmla="val -30412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en-US" altLang="zh-CN" sz="2400" b="1" i="1" dirty="0" err="1">
                <a:solidFill>
                  <a:srgbClr val="0000CC"/>
                </a:solidFill>
              </a:rPr>
              <a:t>f</a:t>
            </a:r>
            <a:r>
              <a:rPr lang="en-US" altLang="zh-CN" sz="2400" b="1" baseline="-25000" dirty="0" err="1">
                <a:solidFill>
                  <a:srgbClr val="0000CC"/>
                </a:solidFill>
              </a:rPr>
              <a:t>B</a:t>
            </a:r>
            <a:r>
              <a:rPr lang="en-US" altLang="zh-CN" sz="2400" b="1" baseline="-25000" dirty="0">
                <a:solidFill>
                  <a:srgbClr val="0000CC"/>
                </a:solidFill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</a:rPr>
              <a:t>= 1/</a:t>
            </a:r>
            <a:r>
              <a:rPr lang="en-US" altLang="zh-CN" sz="2400" b="1" i="1" dirty="0">
                <a:solidFill>
                  <a:srgbClr val="0000CC"/>
                </a:solidFill>
              </a:rPr>
              <a:t>T</a:t>
            </a:r>
            <a:r>
              <a:rPr lang="en-US" altLang="zh-CN" sz="2400" b="1" baseline="-25000" dirty="0">
                <a:solidFill>
                  <a:srgbClr val="0000CC"/>
                </a:solidFill>
              </a:rPr>
              <a:t>B</a:t>
            </a:r>
            <a:r>
              <a:rPr lang="en-US" altLang="zh-CN" sz="2400" b="1" i="1" dirty="0">
                <a:solidFill>
                  <a:srgbClr val="0000CC"/>
                </a:solidFill>
              </a:rPr>
              <a:t>=R</a:t>
            </a:r>
            <a:r>
              <a:rPr lang="en-US" altLang="zh-CN" sz="2400" b="1" baseline="-25000" dirty="0">
                <a:solidFill>
                  <a:srgbClr val="0000CC"/>
                </a:solidFill>
              </a:rPr>
              <a:t>B</a:t>
            </a:r>
          </a:p>
          <a:p>
            <a:pPr algn="ctr">
              <a:defRPr/>
            </a:pPr>
            <a:endParaRPr lang="zh-CN" altLang="en-US" dirty="0">
              <a:solidFill>
                <a:srgbClr val="003399"/>
              </a:solidFill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 l="3944" t="70993" r="5177" b="16444"/>
          <a:stretch>
            <a:fillRect/>
          </a:stretch>
        </p:blipFill>
        <p:spPr bwMode="auto">
          <a:xfrm>
            <a:off x="1076325" y="5353050"/>
            <a:ext cx="6934200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033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4" t="13904" b="36562"/>
          <a:stretch>
            <a:fillRect/>
          </a:stretch>
        </p:blipFill>
        <p:spPr bwMode="auto">
          <a:xfrm>
            <a:off x="3038475" y="1339850"/>
            <a:ext cx="584517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89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250825" y="1409700"/>
            <a:ext cx="8632825" cy="5219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3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lvl="3" eaLnBrk="1" hangingPunct="1">
              <a:lnSpc>
                <a:spcPct val="80000"/>
              </a:lnSpc>
            </a:pPr>
            <a:endParaRPr lang="en-US" altLang="zh-CN" sz="1400" dirty="0"/>
          </a:p>
          <a:p>
            <a:pPr lvl="3" eaLnBrk="1" hangingPunct="1">
              <a:lnSpc>
                <a:spcPct val="80000"/>
              </a:lnSpc>
            </a:pPr>
            <a:endParaRPr lang="en-US" altLang="zh-CN" sz="1400" dirty="0"/>
          </a:p>
          <a:p>
            <a:pPr lvl="3" eaLnBrk="1" hangingPunct="1">
              <a:lnSpc>
                <a:spcPct val="80000"/>
              </a:lnSpc>
            </a:pPr>
            <a:endParaRPr lang="en-US" altLang="zh-CN" sz="1400" dirty="0"/>
          </a:p>
          <a:p>
            <a:pPr lvl="3" eaLnBrk="1" hangingPunct="1">
              <a:lnSpc>
                <a:spcPct val="80000"/>
              </a:lnSpc>
            </a:pPr>
            <a:endParaRPr lang="en-US" altLang="zh-CN" sz="1400" dirty="0"/>
          </a:p>
          <a:p>
            <a:pPr lvl="3" eaLnBrk="1" hangingPunct="1">
              <a:lnSpc>
                <a:spcPct val="80000"/>
              </a:lnSpc>
            </a:pPr>
            <a:endParaRPr lang="en-US" altLang="zh-CN" sz="1400" dirty="0"/>
          </a:p>
          <a:p>
            <a:pPr lvl="3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dirty="0"/>
              <a:t>	</a:t>
            </a: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1400" dirty="0"/>
          </a:p>
          <a:p>
            <a:pPr lvl="1" eaLnBrk="1" hangingPunct="1">
              <a:lnSpc>
                <a:spcPct val="12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2PSK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信号的频谱与</a:t>
            </a:r>
            <a:r>
              <a:rPr lang="en-US" altLang="zh-CN" sz="2400" b="1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2ASK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的十分相似；</a:t>
            </a:r>
          </a:p>
          <a:p>
            <a:pPr lvl="1" eaLnBrk="1" hangingPunct="1">
              <a:lnSpc>
                <a:spcPct val="12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带宽也是基带信号带宽的两倍：</a:t>
            </a:r>
          </a:p>
          <a:p>
            <a:pPr lvl="2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Ø"/>
            </a:pPr>
            <a:endParaRPr lang="zh-CN" altLang="en-US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  <a:p>
            <a:pPr lvl="2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Ø"/>
            </a:pPr>
            <a:endParaRPr lang="zh-CN" altLang="en-US" dirty="0"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区别仅在于当</a:t>
            </a:r>
            <a:r>
              <a:rPr lang="en-US" altLang="zh-CN" sz="2400" b="1" i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P=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1/2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时，谱中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无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离散谱（即载波分量</a:t>
            </a:r>
            <a:r>
              <a:rPr lang="zh-CN" altLang="en-US" sz="2400" dirty="0">
                <a:ea typeface="华文中宋" panose="02010600040101010101" pitchFamily="2" charset="-122"/>
              </a:rPr>
              <a:t>）。</a:t>
            </a:r>
          </a:p>
        </p:txBody>
      </p:sp>
      <p:sp>
        <p:nvSpPr>
          <p:cNvPr id="208909" name="AutoShape 13"/>
          <p:cNvSpPr>
            <a:spLocks noChangeArrowheads="1"/>
          </p:cNvSpPr>
          <p:nvPr/>
        </p:nvSpPr>
        <p:spPr bwMode="auto">
          <a:xfrm>
            <a:off x="496888" y="406400"/>
            <a:ext cx="6030912" cy="568325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999985"/>
            </a:prst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3200" b="1" u="sng" dirty="0">
                <a:solidFill>
                  <a:srgbClr val="800080"/>
                </a:solidFill>
              </a:rPr>
              <a:t>2</a:t>
            </a:r>
            <a:r>
              <a:rPr lang="en-US" altLang="zh-CN" sz="2800" b="1" dirty="0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altLang="zh-CN" sz="2800" b="1" dirty="0">
                <a:solidFill>
                  <a:srgbClr val="000099"/>
                </a:solidFill>
              </a:rPr>
              <a:t>2PSK/2DPSK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信号的功率谱密度</a:t>
            </a:r>
          </a:p>
        </p:txBody>
      </p:sp>
      <p:graphicFrame>
        <p:nvGraphicFramePr>
          <p:cNvPr id="208911" name="Object 15"/>
          <p:cNvGraphicFramePr>
            <a:graphicFrameLocks noChangeAspect="1"/>
          </p:cNvGraphicFramePr>
          <p:nvPr/>
        </p:nvGraphicFramePr>
        <p:xfrm>
          <a:off x="979488" y="1223963"/>
          <a:ext cx="363696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25" name="Equation" r:id="rId4" imgW="1320480" imgH="253800" progId="Equation.DSMT4">
                  <p:embed/>
                </p:oleObj>
              </mc:Choice>
              <mc:Fallback>
                <p:oleObj name="Equation" r:id="rId4" imgW="13204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1223963"/>
                        <a:ext cx="3636962" cy="701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9C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2" name="AutoShape 16"/>
          <p:cNvSpPr>
            <a:spLocks noChangeArrowheads="1"/>
          </p:cNvSpPr>
          <p:nvPr/>
        </p:nvSpPr>
        <p:spPr bwMode="auto">
          <a:xfrm>
            <a:off x="1193800" y="2259013"/>
            <a:ext cx="1155700" cy="541337"/>
          </a:xfrm>
          <a:prstGeom prst="wedgeRoundRectCallout">
            <a:avLst>
              <a:gd name="adj1" fmla="val 85356"/>
              <a:gd name="adj2" fmla="val -141787"/>
              <a:gd name="adj3" fmla="val 16667"/>
            </a:avLst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ea typeface="华文中宋" panose="02010600040101010101" pitchFamily="2" charset="-122"/>
              </a:rPr>
              <a:t>双极性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96"/>
          <a:stretch>
            <a:fillRect/>
          </a:stretch>
        </p:blipFill>
        <p:spPr bwMode="auto">
          <a:xfrm>
            <a:off x="2527300" y="4892675"/>
            <a:ext cx="6067425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15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0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20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0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10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08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08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088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9" grpId="0" animBg="1"/>
      <p:bldP spid="2089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28" name="Object 4">
            <a:hlinkClick r:id="" action="ppaction://hlinkshowjump?jump=nextslide"/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238250" y="1493838"/>
          <a:ext cx="665956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9" name="Equation" r:id="rId3" imgW="2184120" imgH="228600" progId="Equation.DSMT4">
                  <p:embed/>
                </p:oleObj>
              </mc:Choice>
              <mc:Fallback>
                <p:oleObj name="Equation" r:id="rId3" imgW="2184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1493838"/>
                        <a:ext cx="6659563" cy="696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Rectangle 7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833" name="AutoShape 9"/>
          <p:cNvSpPr>
            <a:spLocks noChangeArrowheads="1"/>
          </p:cNvSpPr>
          <p:nvPr/>
        </p:nvSpPr>
        <p:spPr bwMode="auto">
          <a:xfrm>
            <a:off x="704850" y="415925"/>
            <a:ext cx="4635500" cy="568325"/>
          </a:xfrm>
          <a:prstGeom prst="flowChartAlternateProcess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999985"/>
            </a:prst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sz="3200" b="1" u="sng" dirty="0">
                <a:solidFill>
                  <a:srgbClr val="800080"/>
                </a:solidFill>
              </a:rPr>
              <a:t>3 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000099"/>
                </a:solidFill>
              </a:rPr>
              <a:t> 2FSK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信号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的功率谱密度</a:t>
            </a:r>
          </a:p>
        </p:txBody>
      </p:sp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75"/>
          <a:stretch>
            <a:fillRect/>
          </a:stretch>
        </p:blipFill>
        <p:spPr bwMode="auto">
          <a:xfrm>
            <a:off x="1233488" y="2895600"/>
            <a:ext cx="6677025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676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10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657225" y="503238"/>
          <a:ext cx="7065963" cy="319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00" name="Visio" r:id="rId3" imgW="6163655" imgH="2783715" progId="Visio.Drawing.11">
                  <p:embed/>
                </p:oleObj>
              </mc:Choice>
              <mc:Fallback>
                <p:oleObj name="Visio" r:id="rId3" imgW="6163655" imgH="278371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503238"/>
                        <a:ext cx="7065963" cy="319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2" name="Rectangle 4"/>
          <p:cNvSpPr>
            <a:spLocks noChangeArrowheads="1"/>
          </p:cNvSpPr>
          <p:nvPr/>
        </p:nvSpPr>
        <p:spPr bwMode="auto">
          <a:xfrm>
            <a:off x="927100" y="3924300"/>
            <a:ext cx="6659563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chemeClr val="folHlink"/>
              </a:buClr>
              <a:buSzPct val="80000"/>
              <a:buFont typeface="Wingdings" pitchFamily="2" charset="2"/>
              <a:buChar char="Ø"/>
              <a:defRPr/>
            </a:pPr>
            <a:r>
              <a:rPr lang="en-US" altLang="zh-CN" sz="24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连续谱形状随着两个载频之差的大小而变化</a:t>
            </a:r>
          </a:p>
        </p:txBody>
      </p:sp>
      <p:sp>
        <p:nvSpPr>
          <p:cNvPr id="206854" name="Rectangle 6"/>
          <p:cNvSpPr>
            <a:spLocks noChangeArrowheads="1"/>
          </p:cNvSpPr>
          <p:nvPr/>
        </p:nvSpPr>
        <p:spPr bwMode="auto">
          <a:xfrm>
            <a:off x="881063" y="5229225"/>
            <a:ext cx="6659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>
                <a:ea typeface="华文中宋" panose="02010600040101010101" pitchFamily="2" charset="-122"/>
              </a:rPr>
              <a:t> </a:t>
            </a:r>
            <a:r>
              <a:rPr lang="zh-CN" altLang="en-US" sz="2400">
                <a:ea typeface="华文中宋" panose="02010600040101010101" pitchFamily="2" charset="-122"/>
              </a:rPr>
              <a:t>谱零点带宽：</a:t>
            </a:r>
          </a:p>
        </p:txBody>
      </p:sp>
      <p:graphicFrame>
        <p:nvGraphicFramePr>
          <p:cNvPr id="2068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438501"/>
              </p:ext>
            </p:extLst>
          </p:nvPr>
        </p:nvGraphicFramePr>
        <p:xfrm>
          <a:off x="1460500" y="4516438"/>
          <a:ext cx="5727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01" name="Equation" r:id="rId5" imgW="2755800" imgH="253800" progId="Equation.DSMT4">
                  <p:embed/>
                </p:oleObj>
              </mc:Choice>
              <mc:Fallback>
                <p:oleObj name="Equation" r:id="rId5" imgW="2755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4516438"/>
                        <a:ext cx="5727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FF979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6" name="Line 8"/>
          <p:cNvSpPr>
            <a:spLocks noChangeShapeType="1"/>
          </p:cNvSpPr>
          <p:nvPr/>
        </p:nvSpPr>
        <p:spPr bwMode="auto">
          <a:xfrm flipV="1">
            <a:off x="1728788" y="3294063"/>
            <a:ext cx="4510087" cy="46037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857" name="Line 9"/>
          <p:cNvSpPr>
            <a:spLocks noChangeShapeType="1"/>
          </p:cNvSpPr>
          <p:nvPr/>
        </p:nvSpPr>
        <p:spPr bwMode="auto">
          <a:xfrm>
            <a:off x="2681288" y="1628775"/>
            <a:ext cx="0" cy="1935163"/>
          </a:xfrm>
          <a:prstGeom prst="line">
            <a:avLst/>
          </a:prstGeom>
          <a:noFill/>
          <a:ln w="28575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858" name="Line 10"/>
          <p:cNvSpPr>
            <a:spLocks noChangeShapeType="1"/>
          </p:cNvSpPr>
          <p:nvPr/>
        </p:nvSpPr>
        <p:spPr bwMode="auto">
          <a:xfrm>
            <a:off x="5337175" y="1628775"/>
            <a:ext cx="0" cy="1890713"/>
          </a:xfrm>
          <a:prstGeom prst="line">
            <a:avLst/>
          </a:prstGeom>
          <a:noFill/>
          <a:ln w="28575">
            <a:solidFill>
              <a:srgbClr val="0000CC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859" name="Line 11"/>
          <p:cNvSpPr>
            <a:spLocks noChangeShapeType="1"/>
          </p:cNvSpPr>
          <p:nvPr/>
        </p:nvSpPr>
        <p:spPr bwMode="auto">
          <a:xfrm flipV="1">
            <a:off x="2681288" y="3429000"/>
            <a:ext cx="2655887" cy="0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860" name="Line 12"/>
          <p:cNvSpPr>
            <a:spLocks noChangeShapeType="1"/>
          </p:cNvSpPr>
          <p:nvPr/>
        </p:nvSpPr>
        <p:spPr bwMode="auto">
          <a:xfrm flipV="1">
            <a:off x="5337175" y="3563938"/>
            <a:ext cx="900113" cy="0"/>
          </a:xfrm>
          <a:prstGeom prst="line">
            <a:avLst/>
          </a:prstGeom>
          <a:noFill/>
          <a:ln w="762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861" name="Line 13"/>
          <p:cNvSpPr>
            <a:spLocks noChangeShapeType="1"/>
          </p:cNvSpPr>
          <p:nvPr/>
        </p:nvSpPr>
        <p:spPr bwMode="auto">
          <a:xfrm flipV="1">
            <a:off x="1736725" y="3519488"/>
            <a:ext cx="900113" cy="0"/>
          </a:xfrm>
          <a:prstGeom prst="line">
            <a:avLst/>
          </a:prstGeom>
          <a:noFill/>
          <a:ln w="762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13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90" t="64674" r="9082"/>
          <a:stretch>
            <a:fillRect/>
          </a:stretch>
        </p:blipFill>
        <p:spPr bwMode="auto">
          <a:xfrm>
            <a:off x="3060700" y="5384800"/>
            <a:ext cx="39560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241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2000"/>
                                        <p:tgtEl>
                                          <p:spTgt spid="20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0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2000"/>
                                        <p:tgtEl>
                                          <p:spTgt spid="20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000"/>
                                        <p:tgtEl>
                                          <p:spTgt spid="206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0"/>
                                        <p:tgtEl>
                                          <p:spTgt spid="20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2000"/>
                                        <p:tgtEl>
                                          <p:spTgt spid="206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2000"/>
                                        <p:tgtEl>
                                          <p:spTgt spid="206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 animBg="1"/>
      <p:bldP spid="206854" grpId="0"/>
      <p:bldP spid="206856" grpId="0" animBg="1"/>
      <p:bldP spid="206857" grpId="0" animBg="1"/>
      <p:bldP spid="206858" grpId="0" animBg="1"/>
      <p:bldP spid="206859" grpId="0" animBg="1"/>
      <p:bldP spid="206860" grpId="0" animBg="1"/>
      <p:bldP spid="20686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E12B88-680F-9540-9685-7884702823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FF8DD2-70FB-48AA-9613-8154DC6E27A6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E4519-DBE9-6E46-881E-6B39FE2EBEEF}"/>
              </a:ext>
            </a:extLst>
          </p:cNvPr>
          <p:cNvSpPr txBox="1"/>
          <p:nvPr/>
        </p:nvSpPr>
        <p:spPr>
          <a:xfrm>
            <a:off x="156643" y="502920"/>
            <a:ext cx="85070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>
                <a:solidFill>
                  <a:srgbClr val="00AFEF"/>
                </a:solidFill>
                <a:effectLst/>
                <a:latin typeface="CIDFont+F3"/>
              </a:rPr>
              <a:t>举例分析</a:t>
            </a:r>
            <a:r>
              <a:rPr lang="zh-CN" altLang="en-US" sz="1800" dirty="0">
                <a:solidFill>
                  <a:srgbClr val="00AFEF"/>
                </a:solidFill>
                <a:effectLst/>
                <a:latin typeface="CIDFont+F3"/>
              </a:rPr>
              <a:t>：</a:t>
            </a:r>
            <a:r>
              <a:rPr lang="ja-JP" altLang="en-US" sz="1800">
                <a:effectLst/>
                <a:latin typeface="CIDFont+F3"/>
              </a:rPr>
              <a:t>说明以下调制结果是什么信号。 </a:t>
            </a:r>
            <a:endParaRPr lang="ja-JP" altLang="en-US" sz="1800"/>
          </a:p>
          <a:p>
            <a:r>
              <a:rPr lang="en-US" altLang="ja-JP" sz="1800" dirty="0">
                <a:solidFill>
                  <a:srgbClr val="FF0000"/>
                </a:solidFill>
                <a:effectLst/>
                <a:latin typeface="CIDFont+F2"/>
              </a:rPr>
              <a:t>(1)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单极性 </a:t>
            </a:r>
            <a:r>
              <a:rPr lang="en-US" sz="1800" dirty="0">
                <a:solidFill>
                  <a:srgbClr val="FF0000"/>
                </a:solidFill>
                <a:effectLst/>
                <a:latin typeface="CIDFont+F2"/>
              </a:rPr>
              <a:t>NRZ 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做 </a:t>
            </a:r>
            <a:r>
              <a:rPr lang="en-US" sz="1800" dirty="0">
                <a:solidFill>
                  <a:srgbClr val="FF0000"/>
                </a:solidFill>
                <a:effectLst/>
                <a:latin typeface="CIDFont+F2"/>
              </a:rPr>
              <a:t>DSB 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调制</a:t>
            </a:r>
            <a:r>
              <a:rPr lang="en-US" altLang="ja-JP" sz="1800" dirty="0">
                <a:solidFill>
                  <a:srgbClr val="FF0000"/>
                </a:solidFill>
                <a:effectLst/>
                <a:latin typeface="CIDFont+F3"/>
              </a:rPr>
              <a:t>;</a:t>
            </a:r>
            <a:br>
              <a:rPr lang="en-US" altLang="ja-JP" sz="1800" dirty="0">
                <a:solidFill>
                  <a:srgbClr val="FF0000"/>
                </a:solidFill>
                <a:effectLst/>
                <a:latin typeface="CIDFont+F3"/>
              </a:rPr>
            </a:br>
            <a:r>
              <a:rPr lang="en-US" altLang="ja-JP" sz="1800" dirty="0">
                <a:solidFill>
                  <a:srgbClr val="FF0000"/>
                </a:solidFill>
                <a:effectLst/>
                <a:latin typeface="CIDFont+F2"/>
              </a:rPr>
              <a:t>(2)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单极性 </a:t>
            </a:r>
            <a:r>
              <a:rPr lang="en-US" sz="1800" dirty="0">
                <a:solidFill>
                  <a:srgbClr val="FF0000"/>
                </a:solidFill>
                <a:effectLst/>
                <a:latin typeface="CIDFont+F2"/>
              </a:rPr>
              <a:t>NRZ 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做 </a:t>
            </a:r>
            <a:r>
              <a:rPr lang="en-US" sz="1800" dirty="0">
                <a:solidFill>
                  <a:srgbClr val="FF0000"/>
                </a:solidFill>
                <a:effectLst/>
                <a:latin typeface="CIDFont+F2"/>
              </a:rPr>
              <a:t>FM 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调制</a:t>
            </a:r>
            <a:r>
              <a:rPr lang="en-US" altLang="ja-JP" sz="1800" dirty="0">
                <a:solidFill>
                  <a:srgbClr val="FF0000"/>
                </a:solidFill>
                <a:effectLst/>
                <a:latin typeface="CIDFont+F3"/>
              </a:rPr>
              <a:t>;</a:t>
            </a:r>
            <a:br>
              <a:rPr lang="en-US" altLang="ja-JP" sz="1800" dirty="0">
                <a:solidFill>
                  <a:srgbClr val="FF0000"/>
                </a:solidFill>
                <a:effectLst/>
                <a:latin typeface="CIDFont+F3"/>
              </a:rPr>
            </a:br>
            <a:r>
              <a:rPr lang="en-US" altLang="ja-JP" sz="1800" dirty="0">
                <a:solidFill>
                  <a:srgbClr val="FF0000"/>
                </a:solidFill>
                <a:effectLst/>
                <a:latin typeface="CIDFont+F2"/>
              </a:rPr>
              <a:t>(3)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单极性 </a:t>
            </a:r>
            <a:r>
              <a:rPr lang="en-US" sz="1800" dirty="0">
                <a:solidFill>
                  <a:srgbClr val="FF0000"/>
                </a:solidFill>
                <a:effectLst/>
                <a:latin typeface="CIDFont+F2"/>
              </a:rPr>
              <a:t>NRZ 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做 </a:t>
            </a:r>
            <a:r>
              <a:rPr lang="en-US" sz="1800" dirty="0">
                <a:solidFill>
                  <a:srgbClr val="FF0000"/>
                </a:solidFill>
                <a:effectLst/>
                <a:latin typeface="CIDFont+F2"/>
              </a:rPr>
              <a:t>PM </a:t>
            </a:r>
            <a:r>
              <a:rPr lang="ja-JP" altLang="en-US" sz="1800">
                <a:solidFill>
                  <a:srgbClr val="FF0000"/>
                </a:solidFill>
                <a:effectLst/>
                <a:latin typeface="CIDFont+F3"/>
              </a:rPr>
              <a:t>调制</a:t>
            </a:r>
            <a:r>
              <a:rPr lang="en-US" altLang="ja-JP" sz="1800" dirty="0">
                <a:solidFill>
                  <a:srgbClr val="FF0000"/>
                </a:solidFill>
                <a:effectLst/>
                <a:latin typeface="CIDFont+F3"/>
              </a:rPr>
              <a:t>;</a:t>
            </a:r>
            <a:br>
              <a:rPr lang="en-US" altLang="ja-JP" sz="1800" dirty="0">
                <a:effectLst/>
                <a:latin typeface="CIDFont+F3"/>
              </a:rPr>
            </a:br>
            <a:r>
              <a:rPr lang="en-US" altLang="ja-JP" sz="1800" dirty="0">
                <a:effectLst/>
                <a:latin typeface="CIDFont+F2"/>
              </a:rPr>
              <a:t>(4)</a:t>
            </a:r>
            <a:r>
              <a:rPr lang="ja-JP" altLang="en-US" sz="1800">
                <a:effectLst/>
                <a:latin typeface="CIDFont+F3"/>
              </a:rPr>
              <a:t>双极性 </a:t>
            </a:r>
            <a:r>
              <a:rPr lang="en-US" sz="1800" dirty="0">
                <a:effectLst/>
                <a:latin typeface="CIDFont+F2"/>
              </a:rPr>
              <a:t>NRZ </a:t>
            </a:r>
            <a:r>
              <a:rPr lang="ja-JP" altLang="en-US" sz="1800">
                <a:effectLst/>
                <a:latin typeface="CIDFont+F3"/>
              </a:rPr>
              <a:t>做调幅系数为 </a:t>
            </a:r>
            <a:r>
              <a:rPr lang="en-US" altLang="ja-JP" sz="1800" dirty="0">
                <a:effectLst/>
                <a:latin typeface="CIDFont+F2"/>
              </a:rPr>
              <a:t>1 </a:t>
            </a:r>
            <a:r>
              <a:rPr lang="ja-JP" altLang="en-US" sz="1800">
                <a:effectLst/>
                <a:latin typeface="CIDFont+F3"/>
              </a:rPr>
              <a:t>的 </a:t>
            </a:r>
            <a:r>
              <a:rPr lang="en-US" sz="1800" dirty="0">
                <a:effectLst/>
                <a:latin typeface="CIDFont+F2"/>
              </a:rPr>
              <a:t>AM </a:t>
            </a:r>
            <a:r>
              <a:rPr lang="ja-JP" altLang="en-US" sz="1800">
                <a:effectLst/>
                <a:latin typeface="CIDFont+F3"/>
              </a:rPr>
              <a:t>调制</a:t>
            </a:r>
            <a:r>
              <a:rPr lang="en-US" altLang="ja-JP" sz="1800" dirty="0">
                <a:effectLst/>
                <a:latin typeface="CIDFont+F3"/>
              </a:rPr>
              <a:t>; </a:t>
            </a:r>
          </a:p>
          <a:p>
            <a:r>
              <a:rPr lang="en-US" altLang="ja-JP" sz="1800" dirty="0">
                <a:effectLst/>
                <a:latin typeface="CIDFont+F2"/>
              </a:rPr>
              <a:t>(5)</a:t>
            </a:r>
            <a:r>
              <a:rPr lang="ja-JP" altLang="en-US" sz="1800">
                <a:effectLst/>
                <a:latin typeface="CIDFont+F3"/>
              </a:rPr>
              <a:t>双极性 </a:t>
            </a:r>
            <a:r>
              <a:rPr lang="en-US" sz="1800" dirty="0">
                <a:effectLst/>
                <a:latin typeface="CIDFont+F2"/>
              </a:rPr>
              <a:t>NRZ </a:t>
            </a:r>
            <a:r>
              <a:rPr lang="ja-JP" altLang="en-US" sz="1800">
                <a:effectLst/>
                <a:latin typeface="CIDFont+F3"/>
              </a:rPr>
              <a:t>做 </a:t>
            </a:r>
            <a:r>
              <a:rPr lang="en-US" sz="1800" dirty="0">
                <a:effectLst/>
                <a:latin typeface="CIDFont+F2"/>
              </a:rPr>
              <a:t>DSB </a:t>
            </a:r>
            <a:r>
              <a:rPr lang="ja-JP" altLang="en-US" sz="1800">
                <a:effectLst/>
                <a:latin typeface="CIDFont+F3"/>
              </a:rPr>
              <a:t>调制</a:t>
            </a:r>
            <a:r>
              <a:rPr lang="en-US" altLang="ja-JP" sz="1800" dirty="0">
                <a:effectLst/>
                <a:latin typeface="CIDFont+F3"/>
              </a:rPr>
              <a:t>; </a:t>
            </a:r>
            <a:endParaRPr lang="ja-JP" altLang="en-US" sz="1800"/>
          </a:p>
          <a:p>
            <a:r>
              <a:rPr lang="en-US" altLang="ja-JP" sz="1800" dirty="0">
                <a:effectLst/>
                <a:latin typeface="CIDFont+F2"/>
              </a:rPr>
              <a:t>(6)</a:t>
            </a:r>
            <a:r>
              <a:rPr lang="ja-JP" altLang="en-US" sz="1800">
                <a:effectLst/>
                <a:latin typeface="CIDFont+F3"/>
              </a:rPr>
              <a:t>双极性 </a:t>
            </a:r>
            <a:r>
              <a:rPr lang="en-US" sz="1800" dirty="0">
                <a:effectLst/>
                <a:latin typeface="CIDFont+F2"/>
              </a:rPr>
              <a:t>NRZ </a:t>
            </a:r>
            <a:r>
              <a:rPr lang="ja-JP" altLang="en-US" sz="1800">
                <a:effectLst/>
                <a:latin typeface="CIDFont+F3"/>
              </a:rPr>
              <a:t>做 </a:t>
            </a:r>
            <a:r>
              <a:rPr lang="en-US" sz="1800" dirty="0">
                <a:effectLst/>
                <a:latin typeface="CIDFont+F2"/>
              </a:rPr>
              <a:t>FM </a:t>
            </a:r>
            <a:r>
              <a:rPr lang="ja-JP" altLang="en-US" sz="1800">
                <a:effectLst/>
                <a:latin typeface="CIDFont+F3"/>
              </a:rPr>
              <a:t>调制</a:t>
            </a:r>
            <a:r>
              <a:rPr lang="en-US" altLang="ja-JP" sz="1800" dirty="0">
                <a:effectLst/>
                <a:latin typeface="CIDFont+F3"/>
              </a:rPr>
              <a:t>; </a:t>
            </a:r>
          </a:p>
          <a:p>
            <a:r>
              <a:rPr lang="en-US" altLang="ja-JP" sz="1800" dirty="0">
                <a:effectLst/>
                <a:latin typeface="CIDFont+F2"/>
              </a:rPr>
              <a:t>(7)</a:t>
            </a:r>
            <a:r>
              <a:rPr lang="ja-JP" altLang="en-US" sz="1800">
                <a:effectLst/>
                <a:latin typeface="CIDFont+F3"/>
              </a:rPr>
              <a:t>双极性 </a:t>
            </a:r>
            <a:r>
              <a:rPr lang="en-US" sz="1800" dirty="0">
                <a:effectLst/>
                <a:latin typeface="CIDFont+F2"/>
              </a:rPr>
              <a:t>NRZ </a:t>
            </a:r>
            <a:r>
              <a:rPr lang="ja-JP" altLang="en-US" sz="1800">
                <a:effectLst/>
                <a:latin typeface="CIDFont+F3"/>
              </a:rPr>
              <a:t>做 </a:t>
            </a:r>
            <a:r>
              <a:rPr lang="en-US" sz="1800" dirty="0">
                <a:effectLst/>
                <a:latin typeface="CIDFont+F2"/>
              </a:rPr>
              <a:t>PM </a:t>
            </a:r>
            <a:r>
              <a:rPr lang="ja-JP" altLang="en-US" sz="1800">
                <a:effectLst/>
                <a:latin typeface="CIDFont+F3"/>
              </a:rPr>
              <a:t>调制 </a:t>
            </a:r>
            <a:endParaRPr lang="ja-JP" altLang="en-US" sz="1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56BA87-E01C-3E45-9CD6-BA17C1A8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43" y="2935210"/>
            <a:ext cx="8507008" cy="377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77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93D0CD-9712-D247-A917-3D08CB5703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FF8DD2-70FB-48AA-9613-8154DC6E27A6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BCFB3-A1FD-CD45-8269-518187E39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71279"/>
            <a:ext cx="8046720" cy="44343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B21D94-7437-C942-834A-C11FCBF72A31}"/>
              </a:ext>
            </a:extLst>
          </p:cNvPr>
          <p:cNvSpPr txBox="1"/>
          <p:nvPr/>
        </p:nvSpPr>
        <p:spPr>
          <a:xfrm>
            <a:off x="365760" y="455397"/>
            <a:ext cx="7772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rgbClr val="00AFEF"/>
                </a:solidFill>
                <a:effectLst/>
                <a:latin typeface="CIDFont+F3"/>
              </a:rPr>
              <a:t>举例分析</a:t>
            </a:r>
            <a:r>
              <a:rPr lang="zh-CN" altLang="en-US" sz="1400" dirty="0">
                <a:solidFill>
                  <a:srgbClr val="00AFEF"/>
                </a:solidFill>
                <a:effectLst/>
                <a:latin typeface="CIDFont+F3"/>
              </a:rPr>
              <a:t>：</a:t>
            </a:r>
            <a:r>
              <a:rPr lang="ja-JP" altLang="en-US" sz="1400">
                <a:effectLst/>
                <a:latin typeface="CIDFont+F3"/>
              </a:rPr>
              <a:t>说明以下调制结果是什么信号。 </a:t>
            </a:r>
            <a:endParaRPr lang="ja-JP" altLang="en-US" sz="1400"/>
          </a:p>
          <a:p>
            <a:r>
              <a:rPr lang="en-US" altLang="ja-JP" sz="1400" dirty="0">
                <a:effectLst/>
                <a:latin typeface="CIDFont+F2"/>
              </a:rPr>
              <a:t>(1)</a:t>
            </a:r>
            <a:r>
              <a:rPr lang="ja-JP" altLang="en-US" sz="1400">
                <a:effectLst/>
                <a:latin typeface="CIDFont+F3"/>
              </a:rPr>
              <a:t>单极性 </a:t>
            </a:r>
            <a:r>
              <a:rPr lang="en-US" sz="1400" dirty="0">
                <a:effectLst/>
                <a:latin typeface="CIDFont+F2"/>
              </a:rPr>
              <a:t>NRZ </a:t>
            </a:r>
            <a:r>
              <a:rPr lang="ja-JP" altLang="en-US" sz="1400">
                <a:effectLst/>
                <a:latin typeface="CIDFont+F3"/>
              </a:rPr>
              <a:t>做 </a:t>
            </a:r>
            <a:r>
              <a:rPr lang="en-US" sz="1400" dirty="0">
                <a:effectLst/>
                <a:latin typeface="CIDFont+F2"/>
              </a:rPr>
              <a:t>DSB </a:t>
            </a:r>
            <a:r>
              <a:rPr lang="ja-JP" altLang="en-US" sz="1400">
                <a:effectLst/>
                <a:latin typeface="CIDFont+F3"/>
              </a:rPr>
              <a:t>调制</a:t>
            </a:r>
            <a:r>
              <a:rPr lang="en-US" altLang="ja-JP" sz="1400" dirty="0">
                <a:effectLst/>
                <a:latin typeface="CIDFont+F3"/>
              </a:rPr>
              <a:t>;</a:t>
            </a:r>
            <a:br>
              <a:rPr lang="en-US" altLang="ja-JP" sz="1400" dirty="0">
                <a:effectLst/>
                <a:latin typeface="CIDFont+F3"/>
              </a:rPr>
            </a:br>
            <a:r>
              <a:rPr lang="en-US" altLang="ja-JP" sz="1400" dirty="0">
                <a:effectLst/>
                <a:latin typeface="CIDFont+F2"/>
              </a:rPr>
              <a:t>(2)</a:t>
            </a:r>
            <a:r>
              <a:rPr lang="ja-JP" altLang="en-US" sz="1400">
                <a:effectLst/>
                <a:latin typeface="CIDFont+F3"/>
              </a:rPr>
              <a:t>单极性 </a:t>
            </a:r>
            <a:r>
              <a:rPr lang="en-US" sz="1400" dirty="0">
                <a:effectLst/>
                <a:latin typeface="CIDFont+F2"/>
              </a:rPr>
              <a:t>NRZ </a:t>
            </a:r>
            <a:r>
              <a:rPr lang="ja-JP" altLang="en-US" sz="1400">
                <a:effectLst/>
                <a:latin typeface="CIDFont+F3"/>
              </a:rPr>
              <a:t>做 </a:t>
            </a:r>
            <a:r>
              <a:rPr lang="en-US" sz="1400" dirty="0">
                <a:effectLst/>
                <a:latin typeface="CIDFont+F2"/>
              </a:rPr>
              <a:t>FM </a:t>
            </a:r>
            <a:r>
              <a:rPr lang="ja-JP" altLang="en-US" sz="1400">
                <a:effectLst/>
                <a:latin typeface="CIDFont+F3"/>
              </a:rPr>
              <a:t>调制</a:t>
            </a:r>
            <a:r>
              <a:rPr lang="en-US" altLang="ja-JP" sz="1400" dirty="0">
                <a:effectLst/>
                <a:latin typeface="CIDFont+F3"/>
              </a:rPr>
              <a:t>;</a:t>
            </a:r>
            <a:br>
              <a:rPr lang="en-US" altLang="ja-JP" sz="1400" dirty="0">
                <a:effectLst/>
                <a:latin typeface="CIDFont+F3"/>
              </a:rPr>
            </a:br>
            <a:r>
              <a:rPr lang="en-US" altLang="ja-JP" sz="1400" dirty="0">
                <a:effectLst/>
                <a:latin typeface="CIDFont+F2"/>
              </a:rPr>
              <a:t>(3)</a:t>
            </a:r>
            <a:r>
              <a:rPr lang="ja-JP" altLang="en-US" sz="1400">
                <a:effectLst/>
                <a:latin typeface="CIDFont+F3"/>
              </a:rPr>
              <a:t>单极性 </a:t>
            </a:r>
            <a:r>
              <a:rPr lang="en-US" sz="1400" dirty="0">
                <a:effectLst/>
                <a:latin typeface="CIDFont+F2"/>
              </a:rPr>
              <a:t>NRZ </a:t>
            </a:r>
            <a:r>
              <a:rPr lang="ja-JP" altLang="en-US" sz="1400">
                <a:effectLst/>
                <a:latin typeface="CIDFont+F3"/>
              </a:rPr>
              <a:t>做 </a:t>
            </a:r>
            <a:r>
              <a:rPr lang="en-US" sz="1400" dirty="0">
                <a:effectLst/>
                <a:latin typeface="CIDFont+F2"/>
              </a:rPr>
              <a:t>PM </a:t>
            </a:r>
            <a:r>
              <a:rPr lang="ja-JP" altLang="en-US" sz="1400">
                <a:effectLst/>
                <a:latin typeface="CIDFont+F3"/>
              </a:rPr>
              <a:t>调制</a:t>
            </a:r>
            <a:r>
              <a:rPr lang="en-US" altLang="ja-JP" sz="1400" dirty="0">
                <a:effectLst/>
                <a:latin typeface="CIDFont+F3"/>
              </a:rPr>
              <a:t>;</a:t>
            </a:r>
            <a:br>
              <a:rPr lang="en-US" altLang="ja-JP" sz="1400" dirty="0">
                <a:effectLst/>
                <a:latin typeface="CIDFont+F3"/>
              </a:rPr>
            </a:br>
            <a:r>
              <a:rPr lang="en-US" altLang="ja-JP" sz="1400" dirty="0">
                <a:solidFill>
                  <a:srgbClr val="FF0000"/>
                </a:solidFill>
                <a:effectLst/>
                <a:latin typeface="CIDFont+F2"/>
              </a:rPr>
              <a:t>(4)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双极性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NRZ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做调幅系数为 </a:t>
            </a:r>
            <a:r>
              <a:rPr lang="en-US" altLang="ja-JP" sz="1400" dirty="0">
                <a:solidFill>
                  <a:srgbClr val="FF0000"/>
                </a:solidFill>
                <a:effectLst/>
                <a:latin typeface="CIDFont+F2"/>
              </a:rPr>
              <a:t>1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的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AM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调制</a:t>
            </a:r>
            <a:r>
              <a:rPr lang="en-US" altLang="ja-JP" sz="1400" dirty="0">
                <a:solidFill>
                  <a:srgbClr val="FF0000"/>
                </a:solidFill>
                <a:effectLst/>
                <a:latin typeface="CIDFont+F3"/>
              </a:rPr>
              <a:t>; </a:t>
            </a:r>
          </a:p>
          <a:p>
            <a:r>
              <a:rPr lang="en-US" altLang="ja-JP" sz="1400" dirty="0">
                <a:solidFill>
                  <a:srgbClr val="FF0000"/>
                </a:solidFill>
                <a:effectLst/>
                <a:latin typeface="CIDFont+F2"/>
              </a:rPr>
              <a:t>(5)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双极性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NRZ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做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DSB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调制</a:t>
            </a:r>
            <a:r>
              <a:rPr lang="en-US" altLang="ja-JP" sz="1400" dirty="0">
                <a:solidFill>
                  <a:srgbClr val="FF0000"/>
                </a:solidFill>
                <a:effectLst/>
                <a:latin typeface="CIDFont+F3"/>
              </a:rPr>
              <a:t>; </a:t>
            </a:r>
            <a:endParaRPr lang="ja-JP" altLang="en-US" sz="1400">
              <a:solidFill>
                <a:srgbClr val="FF0000"/>
              </a:solidFill>
            </a:endParaRPr>
          </a:p>
          <a:p>
            <a:r>
              <a:rPr lang="en-US" altLang="ja-JP" sz="1400" dirty="0">
                <a:solidFill>
                  <a:srgbClr val="FF0000"/>
                </a:solidFill>
                <a:effectLst/>
                <a:latin typeface="CIDFont+F2"/>
              </a:rPr>
              <a:t>(6)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双极性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NRZ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做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FM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调制</a:t>
            </a:r>
            <a:r>
              <a:rPr lang="en-US" altLang="ja-JP" sz="1400" dirty="0">
                <a:solidFill>
                  <a:srgbClr val="FF0000"/>
                </a:solidFill>
                <a:effectLst/>
                <a:latin typeface="CIDFont+F3"/>
              </a:rPr>
              <a:t>; </a:t>
            </a:r>
          </a:p>
          <a:p>
            <a:r>
              <a:rPr lang="en-US" altLang="ja-JP" sz="1400" dirty="0">
                <a:solidFill>
                  <a:srgbClr val="FF0000"/>
                </a:solidFill>
                <a:effectLst/>
                <a:latin typeface="CIDFont+F2"/>
              </a:rPr>
              <a:t>(7)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双极性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NRZ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做 </a:t>
            </a:r>
            <a:r>
              <a:rPr lang="en-US" sz="1400" dirty="0">
                <a:solidFill>
                  <a:srgbClr val="FF0000"/>
                </a:solidFill>
                <a:effectLst/>
                <a:latin typeface="CIDFont+F2"/>
              </a:rPr>
              <a:t>PM </a:t>
            </a:r>
            <a:r>
              <a:rPr lang="ja-JP" altLang="en-US" sz="1400">
                <a:solidFill>
                  <a:srgbClr val="FF0000"/>
                </a:solidFill>
                <a:effectLst/>
                <a:latin typeface="CIDFont+F3"/>
              </a:rPr>
              <a:t>调制 </a:t>
            </a:r>
            <a:endParaRPr lang="ja-JP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195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098550" y="2832100"/>
            <a:ext cx="77406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4800" kern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       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二进制数字调制系统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sz="40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              抗噪声性能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520700" y="1069975"/>
            <a:ext cx="2341563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 algn="ctr">
              <a:defRPr/>
            </a:pPr>
            <a:r>
              <a:rPr lang="en-US" altLang="en-US" sz="4000" b="1" u="sng" kern="0" dirty="0">
                <a:solidFill>
                  <a:srgbClr val="800080"/>
                </a:solidFill>
                <a:latin typeface="+mj-lt"/>
                <a:ea typeface="+mj-ea"/>
                <a:cs typeface="+mj-cs"/>
              </a:rPr>
              <a:t>§</a:t>
            </a:r>
            <a:r>
              <a:rPr lang="en-US" altLang="zh-CN" sz="4000" b="1" u="sng" kern="0" dirty="0">
                <a:solidFill>
                  <a:srgbClr val="800080"/>
                </a:solidFill>
                <a:latin typeface="+mj-lt"/>
                <a:ea typeface="+mj-ea"/>
                <a:cs typeface="+mj-cs"/>
              </a:rPr>
              <a:t>7.2</a:t>
            </a:r>
          </a:p>
        </p:txBody>
      </p:sp>
    </p:spTree>
    <p:extLst>
      <p:ext uri="{BB962C8B-B14F-4D97-AF65-F5344CB8AC3E}">
        <p14:creationId xmlns:p14="http://schemas.microsoft.com/office/powerpoint/2010/main" val="292740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460750" y="406400"/>
            <a:ext cx="1555750" cy="630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 述  </a:t>
            </a:r>
            <a:endParaRPr lang="zh-CN" altLang="en-US" sz="360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57225" y="1314450"/>
            <a:ext cx="7959725" cy="49149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latin typeface="黑体" pitchFamily="2" charset="-122"/>
                <a:ea typeface="黑体" pitchFamily="2" charset="-122"/>
              </a:rPr>
              <a:t>性能指标</a:t>
            </a:r>
            <a:r>
              <a:rPr lang="zh-CN" altLang="en-US" sz="2800" kern="0" dirty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系统的误码率</a:t>
            </a:r>
            <a:r>
              <a:rPr lang="zh-CN" altLang="en-US" sz="2800" i="1" kern="0" dirty="0">
                <a:solidFill>
                  <a:schemeClr val="hlink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sz="2800" b="1" i="1" kern="0" dirty="0" err="1">
                <a:solidFill>
                  <a:srgbClr val="FF0000"/>
                </a:solidFill>
                <a:ea typeface="华文中宋" pitchFamily="2" charset="-122"/>
              </a:rPr>
              <a:t>P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ea typeface="华文中宋" pitchFamily="2" charset="-122"/>
              </a:rPr>
              <a:t>e</a:t>
            </a:r>
            <a:endParaRPr lang="en-US" altLang="zh-CN" sz="2800" b="1" kern="0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分析方法</a:t>
            </a:r>
            <a:r>
              <a:rPr lang="zh-CN" altLang="en-US" sz="2800" kern="0" dirty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借用数字</a:t>
            </a:r>
            <a:r>
              <a:rPr lang="zh-CN" altLang="en-US" sz="28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基带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系统的方法和结论                  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latin typeface="黑体" pitchFamily="2" charset="-122"/>
                <a:ea typeface="黑体" pitchFamily="2" charset="-122"/>
              </a:rPr>
              <a:t>分析条件</a:t>
            </a:r>
            <a:r>
              <a:rPr lang="zh-CN" altLang="en-US" sz="2800" kern="0" dirty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800" kern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恒参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信道（</a:t>
            </a:r>
            <a:r>
              <a:rPr lang="zh-CN" altLang="en-US" sz="2800" kern="0" dirty="0">
                <a:latin typeface="+mn-lt"/>
                <a:ea typeface="华文中宋" pitchFamily="2" charset="-122"/>
              </a:rPr>
              <a:t>传输系数取为 </a:t>
            </a:r>
            <a:r>
              <a:rPr lang="en-US" altLang="zh-CN" sz="2800" b="1" kern="0" dirty="0">
                <a:solidFill>
                  <a:srgbClr val="FF0000"/>
                </a:solidFill>
                <a:ea typeface="华文中宋" pitchFamily="2" charset="-122"/>
              </a:rPr>
              <a:t>K</a:t>
            </a:r>
            <a:r>
              <a:rPr lang="en-US" altLang="zh-CN" sz="2800" kern="0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）</a:t>
            </a:r>
            <a:r>
              <a:rPr lang="en-US" altLang="zh-CN" sz="2800" kern="0" dirty="0">
                <a:latin typeface="华文中宋" pitchFamily="2" charset="-122"/>
                <a:ea typeface="华文中宋" pitchFamily="2" charset="-122"/>
              </a:rPr>
              <a:t>    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kern="0" dirty="0">
                <a:latin typeface="+mn-lt"/>
                <a:ea typeface="华文中宋" pitchFamily="2" charset="-122"/>
              </a:rPr>
              <a:t>                         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信道噪声是</a:t>
            </a:r>
            <a:r>
              <a:rPr lang="zh-CN" altLang="en-US" sz="2800" kern="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加性高斯白噪声</a:t>
            </a:r>
            <a:endParaRPr lang="zh-CN" altLang="en-US" sz="2800" kern="0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rgbClr val="FF0000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latin typeface="黑体" pitchFamily="2" charset="-122"/>
                <a:ea typeface="黑体" pitchFamily="2" charset="-122"/>
              </a:rPr>
              <a:t>背景知识</a:t>
            </a:r>
            <a:r>
              <a:rPr lang="zh-CN" altLang="en-US" sz="2800" kern="0" dirty="0">
                <a:latin typeface="黑体" pitchFamily="2" charset="-122"/>
                <a:ea typeface="黑体" pitchFamily="2" charset="-122"/>
              </a:rPr>
              <a:t>：</a:t>
            </a:r>
            <a:endParaRPr lang="en-US" altLang="zh-CN" sz="2800" kern="0" dirty="0">
              <a:solidFill>
                <a:srgbClr val="000099"/>
              </a:solidFill>
              <a:latin typeface="华文中宋" pitchFamily="2" charset="-122"/>
              <a:ea typeface="华文中宋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kern="0" dirty="0">
                <a:latin typeface="华文中宋" pitchFamily="2" charset="-122"/>
                <a:ea typeface="华文中宋" pitchFamily="2" charset="-122"/>
              </a:rPr>
              <a:t>                    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窄带噪声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                    正弦波</a:t>
            </a:r>
            <a:r>
              <a:rPr lang="en-US" altLang="zh-CN" sz="2800" kern="0" dirty="0">
                <a:latin typeface="华文中宋" pitchFamily="2" charset="-122"/>
                <a:ea typeface="华文中宋" pitchFamily="2" charset="-122"/>
              </a:rPr>
              <a:t>+</a:t>
            </a:r>
            <a:r>
              <a:rPr lang="zh-CN" altLang="en-US" sz="2800" kern="0" dirty="0">
                <a:latin typeface="华文中宋" pitchFamily="2" charset="-122"/>
                <a:ea typeface="华文中宋" pitchFamily="2" charset="-122"/>
              </a:rPr>
              <a:t>窄带噪声</a:t>
            </a:r>
          </a:p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en-US" altLang="zh-CN" kern="0" dirty="0"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654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标注 23"/>
          <p:cNvSpPr/>
          <p:nvPr/>
        </p:nvSpPr>
        <p:spPr>
          <a:xfrm>
            <a:off x="5072063" y="3429000"/>
            <a:ext cx="3071812" cy="2786063"/>
          </a:xfrm>
          <a:prstGeom prst="wedgeRoundRectCallout">
            <a:avLst>
              <a:gd name="adj1" fmla="val 6417"/>
              <a:gd name="adj2" fmla="val -62557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000CC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ts val="38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高斯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ts val="38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 E[</a:t>
            </a:r>
            <a:r>
              <a:rPr lang="en-US" sz="2400" b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US" sz="2400" b="1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(t)]=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0</a:t>
            </a:r>
          </a:p>
          <a:p>
            <a:pPr>
              <a:defRPr/>
            </a:pPr>
            <a:endParaRPr lang="en-US" altLang="zh-CN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altLang="zh-CN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altLang="zh-CN" sz="2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22" name="圆角矩形标注 21"/>
          <p:cNvSpPr/>
          <p:nvPr/>
        </p:nvSpPr>
        <p:spPr>
          <a:xfrm>
            <a:off x="2857500" y="3500438"/>
            <a:ext cx="1714500" cy="2643187"/>
          </a:xfrm>
          <a:prstGeom prst="wedgeRoundRectCallout">
            <a:avLst>
              <a:gd name="adj1" fmla="val -11415"/>
              <a:gd name="adj2" fmla="val -65905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03399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39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高斯 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ts val="39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白噪 </a:t>
            </a:r>
            <a:endParaRPr lang="en-US" altLang="zh-C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lnSpc>
                <a:spcPts val="3900"/>
              </a:lnSpc>
              <a:defRPr/>
            </a:pP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E[</a:t>
            </a: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n(t)]=</a:t>
            </a:r>
            <a:r>
              <a:rPr lang="en-US" altLang="zh-CN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0</a:t>
            </a:r>
          </a:p>
          <a:p>
            <a:pPr>
              <a:lnSpc>
                <a:spcPts val="3800"/>
              </a:lnSpc>
              <a:defRPr/>
            </a:pPr>
            <a:endParaRPr lang="en-US" altLang="zh-CN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800"/>
              </a:lnSpc>
              <a:defRPr/>
            </a:pPr>
            <a:endParaRPr lang="en-US" altLang="zh-CN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defRPr/>
            </a:pPr>
            <a:endParaRPr lang="zh-CN" altLang="en-US" dirty="0"/>
          </a:p>
        </p:txBody>
      </p:sp>
      <p:sp>
        <p:nvSpPr>
          <p:cNvPr id="31752" name="Rectangle 4"/>
          <p:cNvSpPr>
            <a:spLocks noChangeArrowheads="1"/>
          </p:cNvSpPr>
          <p:nvPr/>
        </p:nvSpPr>
        <p:spPr bwMode="auto">
          <a:xfrm>
            <a:off x="4386263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14375" y="2857500"/>
            <a:ext cx="1928813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2800" b="1" dirty="0">
                <a:solidFill>
                  <a:srgbClr val="0033CC"/>
                </a:solidFill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lang="en-US" sz="2800" b="1" dirty="0" err="1">
                <a:solidFill>
                  <a:srgbClr val="0033CC"/>
                </a:solidFill>
                <a:latin typeface="Arial" pitchFamily="34" charset="0"/>
                <a:ea typeface="宋体" charset="-122"/>
                <a:cs typeface="Arial" pitchFamily="34" charset="0"/>
              </a:rPr>
              <a:t>n</a:t>
            </a:r>
            <a:r>
              <a:rPr lang="en-US" sz="2800" b="1" baseline="-25000" dirty="0" err="1">
                <a:solidFill>
                  <a:srgbClr val="0033CC"/>
                </a:solidFill>
                <a:latin typeface="Arial" pitchFamily="34" charset="0"/>
                <a:ea typeface="宋体" charset="-122"/>
                <a:cs typeface="Arial" pitchFamily="34" charset="0"/>
              </a:rPr>
              <a:t>R</a:t>
            </a:r>
            <a:r>
              <a:rPr lang="en-US" sz="2800" b="1" dirty="0">
                <a:solidFill>
                  <a:srgbClr val="0033CC"/>
                </a:solidFill>
                <a:latin typeface="Arial" pitchFamily="34" charset="0"/>
                <a:ea typeface="宋体" charset="-122"/>
                <a:cs typeface="Arial" pitchFamily="34" charset="0"/>
              </a:rPr>
              <a:t>(t)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特性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  <p:sp>
        <p:nvSpPr>
          <p:cNvPr id="17102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76803" name="Object 11"/>
          <p:cNvGraphicFramePr>
            <a:graphicFrameLocks noChangeAspect="1"/>
          </p:cNvGraphicFramePr>
          <p:nvPr/>
        </p:nvGraphicFramePr>
        <p:xfrm>
          <a:off x="2728913" y="1571625"/>
          <a:ext cx="4565650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89" name="Visio" r:id="rId4" imgW="2109991" imgH="627982" progId="Visio.Drawing.11">
                  <p:embed/>
                </p:oleObj>
              </mc:Choice>
              <mc:Fallback>
                <p:oleObj name="Visio" r:id="rId4" imgW="2109991" imgH="627982" progId="Visio.Drawing.11">
                  <p:embed/>
                  <p:pic>
                    <p:nvPicPr>
                      <p:cNvPr id="768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1571625"/>
                        <a:ext cx="4565650" cy="135731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013325" y="2424113"/>
            <a:ext cx="2144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x(t)</a:t>
            </a:r>
            <a:r>
              <a:rPr kumimoji="1"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=s(t)+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400" b="1" baseline="-2500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(t)</a:t>
            </a:r>
            <a:endParaRPr lang="zh-CN" altLang="en-US" sz="2400" b="1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300913" y="1857375"/>
            <a:ext cx="5032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2400" b="1" baseline="-25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5229225" y="2000250"/>
            <a:ext cx="71438" cy="71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 rot="5400000">
            <a:off x="5006976" y="2235200"/>
            <a:ext cx="500062" cy="158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6330950" y="2428875"/>
            <a:ext cx="827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400" b="1" baseline="-2500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400" b="1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(t)</a:t>
            </a:r>
            <a:endParaRPr lang="zh-CN" altLang="en-US"/>
          </a:p>
        </p:txBody>
      </p:sp>
      <p:graphicFrame>
        <p:nvGraphicFramePr>
          <p:cNvPr id="77828" name="Object 4"/>
          <p:cNvGraphicFramePr>
            <a:graphicFrameLocks noChangeAspect="1"/>
          </p:cNvGraphicFramePr>
          <p:nvPr/>
        </p:nvGraphicFramePr>
        <p:xfrm>
          <a:off x="5241925" y="4600575"/>
          <a:ext cx="26844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90" name="Equation" r:id="rId6" imgW="1231560" imgH="393480" progId="Equation.DSMT4">
                  <p:embed/>
                </p:oleObj>
              </mc:Choice>
              <mc:Fallback>
                <p:oleObj name="Equation" r:id="rId6" imgW="1231560" imgH="393480" progId="Equation.DSMT4">
                  <p:embed/>
                  <p:pic>
                    <p:nvPicPr>
                      <p:cNvPr id="778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4600575"/>
                        <a:ext cx="2684463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2951163" y="5286375"/>
          <a:ext cx="15494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91" name="Equation" r:id="rId8" imgW="711000" imgH="393480" progId="Equation.DSMT4">
                  <p:embed/>
                </p:oleObj>
              </mc:Choice>
              <mc:Fallback>
                <p:oleObj name="Equation" r:id="rId8" imgW="711000" imgH="393480" progId="Equation.DSMT4">
                  <p:embed/>
                  <p:pic>
                    <p:nvPicPr>
                      <p:cNvPr id="778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5286375"/>
                        <a:ext cx="15494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3" name="Object 9"/>
          <p:cNvGraphicFramePr>
            <a:graphicFrameLocks noChangeAspect="1"/>
          </p:cNvGraphicFramePr>
          <p:nvPr/>
        </p:nvGraphicFramePr>
        <p:xfrm>
          <a:off x="5141913" y="5357813"/>
          <a:ext cx="30003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92" name="Equation" r:id="rId10" imgW="1460160" imgH="393480" progId="Equation.DSMT4">
                  <p:embed/>
                </p:oleObj>
              </mc:Choice>
              <mc:Fallback>
                <p:oleObj name="Equation" r:id="rId10" imgW="1460160" imgH="393480" progId="Equation.DSMT4">
                  <p:embed/>
                  <p:pic>
                    <p:nvPicPr>
                      <p:cNvPr id="2314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3" y="5357813"/>
                        <a:ext cx="30003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96969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FFFF6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0" y="422275"/>
            <a:ext cx="6786563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ea typeface="宋体" charset="-122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6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.5</a:t>
            </a:r>
            <a:r>
              <a:rPr lang="en-US" altLang="zh-CN" sz="3200" b="1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二进制</a:t>
            </a:r>
            <a:r>
              <a:rPr lang="zh-CN" altLang="en-US" sz="3200" b="1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极性基带系统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sz="3200" b="1" i="1" dirty="0" err="1">
                <a:solidFill>
                  <a:srgbClr val="003399"/>
                </a:solidFill>
                <a:latin typeface="Arial" pitchFamily="34" charset="0"/>
                <a:ea typeface="宋体" charset="-122"/>
                <a:cs typeface="Arial" pitchFamily="34" charset="0"/>
              </a:rPr>
              <a:t>P</a:t>
            </a:r>
            <a:r>
              <a:rPr lang="en-US" sz="3200" b="1" baseline="-25000" dirty="0" err="1">
                <a:solidFill>
                  <a:srgbClr val="003399"/>
                </a:solidFill>
                <a:latin typeface="Arial" pitchFamily="34" charset="0"/>
                <a:ea typeface="宋体" charset="-122"/>
                <a:cs typeface="Arial" pitchFamily="34" charset="0"/>
              </a:rPr>
              <a:t>e</a:t>
            </a:r>
            <a:endParaRPr lang="zh-CN" altLang="en-US" sz="3200" b="1" dirty="0">
              <a:solidFill>
                <a:srgbClr val="003399"/>
              </a:solidFill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endParaRPr lang="en-US" altLang="zh-CN" sz="3200" b="1" kern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14375" y="1143000"/>
            <a:ext cx="1928813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2800" b="1" dirty="0">
                <a:solidFill>
                  <a:srgbClr val="0033CC"/>
                </a:solidFill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分析模型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27A19E0-A5ED-1D46-8393-F3090830D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294563" y="262731"/>
            <a:ext cx="1555750" cy="630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回顾</a:t>
            </a:r>
            <a:endParaRPr lang="zh-CN" altLang="en-US" sz="3600" dirty="0">
              <a:solidFill>
                <a:srgbClr val="FF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29451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20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2000"/>
                                        <p:tgtEl>
                                          <p:spTgt spid="23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2" grpId="0" build="allAtOnce" animBg="1"/>
      <p:bldP spid="16" grpId="0" animBg="1"/>
      <p:bldP spid="17" grpId="0"/>
      <p:bldP spid="19" grpId="0"/>
      <p:bldP spid="23" grpId="0" animBg="1"/>
      <p:bldP spid="30" grpId="0"/>
      <p:bldP spid="20" grpId="0" autoUpdateAnimBg="0"/>
      <p:bldP spid="25" grpId="0" animBg="1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4" name="Rectangle 2"/>
          <p:cNvSpPr>
            <a:spLocks noChangeArrowheads="1"/>
          </p:cNvSpPr>
          <p:nvPr/>
        </p:nvSpPr>
        <p:spPr bwMode="auto">
          <a:xfrm>
            <a:off x="785813" y="1000125"/>
            <a:ext cx="5357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latin typeface="Arial" panose="020B0604020202020204" pitchFamily="34" charset="0"/>
              </a:rPr>
              <a:t> </a:t>
            </a: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800" b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 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2400" b="1" baseline="-2500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(t) 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的一维概率密度函数为       </a:t>
            </a:r>
          </a:p>
        </p:txBody>
      </p:sp>
      <p:graphicFrame>
        <p:nvGraphicFramePr>
          <p:cNvPr id="233480" name="Object 8"/>
          <p:cNvGraphicFramePr>
            <a:graphicFrameLocks noChangeAspect="1"/>
          </p:cNvGraphicFramePr>
          <p:nvPr/>
        </p:nvGraphicFramePr>
        <p:xfrm>
          <a:off x="2414588" y="5072063"/>
          <a:ext cx="41497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13" name="Equation" r:id="rId3" imgW="1904760" imgH="482400" progId="Equation.DSMT4">
                  <p:embed/>
                </p:oleObj>
              </mc:Choice>
              <mc:Fallback>
                <p:oleObj name="Equation" r:id="rId3" imgW="1904760" imgH="482400" progId="Equation.DSMT4">
                  <p:embed/>
                  <p:pic>
                    <p:nvPicPr>
                      <p:cNvPr id="2334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5072063"/>
                        <a:ext cx="4149725" cy="10287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3">
                                <a:alpha val="64999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3" name="Object 11"/>
          <p:cNvGraphicFramePr>
            <a:graphicFrameLocks noChangeAspect="1"/>
          </p:cNvGraphicFramePr>
          <p:nvPr/>
        </p:nvGraphicFramePr>
        <p:xfrm>
          <a:off x="2516188" y="1697038"/>
          <a:ext cx="3433762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14" name="Equation" r:id="rId5" imgW="1726920" imgH="482400" progId="Equation.DSMT4">
                  <p:embed/>
                </p:oleObj>
              </mc:Choice>
              <mc:Fallback>
                <p:oleObj name="Equation" r:id="rId5" imgW="1726920" imgH="482400" progId="Equation.DSMT4">
                  <p:embed/>
                  <p:pic>
                    <p:nvPicPr>
                      <p:cNvPr id="2334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1697038"/>
                        <a:ext cx="3433762" cy="1017587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D">
                                <a:alpha val="81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2" name="Object 4"/>
          <p:cNvGraphicFramePr>
            <a:graphicFrameLocks noChangeAspect="1"/>
          </p:cNvGraphicFramePr>
          <p:nvPr/>
        </p:nvGraphicFramePr>
        <p:xfrm>
          <a:off x="6308725" y="2214563"/>
          <a:ext cx="19065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15" name="Equation" r:id="rId7" imgW="927000" imgH="279360" progId="Equation.DSMT4">
                  <p:embed/>
                </p:oleObj>
              </mc:Choice>
              <mc:Fallback>
                <p:oleObj name="Equation" r:id="rId7" imgW="927000" imgH="279360" progId="Equation.DSMT4">
                  <p:embed/>
                  <p:pic>
                    <p:nvPicPr>
                      <p:cNvPr id="788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2214563"/>
                        <a:ext cx="19065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929313" y="1752600"/>
            <a:ext cx="22145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  <a:cs typeface="Arial" pitchFamily="34" charset="0"/>
              </a:rPr>
              <a:t> </a:t>
            </a:r>
            <a:r>
              <a:rPr lang="zh-CN" altLang="en-US" sz="2400" b="1" dirty="0">
                <a:latin typeface="+mn-ea"/>
                <a:ea typeface="+mn-ea"/>
                <a:cs typeface="Arial" pitchFamily="34" charset="0"/>
              </a:rPr>
              <a:t>可简记</a:t>
            </a:r>
            <a:r>
              <a:rPr lang="zh-CN" altLang="en-US" sz="2400" b="1" dirty="0">
                <a:latin typeface="+mn-ea"/>
                <a:ea typeface="+mn-ea"/>
              </a:rPr>
              <a:t>为：       </a:t>
            </a:r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428750" y="3938588"/>
            <a:ext cx="6715125" cy="1011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8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 对于</a:t>
            </a:r>
            <a:r>
              <a:rPr lang="zh-CN" altLang="en-US" sz="2800" b="1" dirty="0">
                <a:solidFill>
                  <a:srgbClr val="80008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双极性</a:t>
            </a: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基带信号，其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抽样值为（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+mn-ea"/>
                <a:cs typeface="Arial" pitchFamily="34" charset="0"/>
              </a:rPr>
              <a:t>+A,-A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），  </a:t>
            </a:r>
            <a:r>
              <a:rPr kumimoji="1" lang="zh-CN" altLang="en-US" sz="2400" b="1" dirty="0">
                <a:latin typeface="+mn-ea"/>
                <a:ea typeface="+mn-ea"/>
                <a:cs typeface="Arial" pitchFamily="34" charset="0"/>
              </a:rPr>
              <a:t>则合成</a:t>
            </a:r>
            <a:r>
              <a:rPr lang="zh-CN" altLang="en-US" sz="2400" b="1" dirty="0">
                <a:latin typeface="+mn-ea"/>
                <a:ea typeface="+mn-ea"/>
                <a:cs typeface="Arial" pitchFamily="34" charset="0"/>
              </a:rPr>
              <a:t>波 </a:t>
            </a:r>
            <a:r>
              <a:rPr kumimoji="1" lang="en-US" altLang="zh-CN" sz="2400" b="1" dirty="0">
                <a:solidFill>
                  <a:srgbClr val="FF0000"/>
                </a:solidFill>
                <a:latin typeface="Arial" pitchFamily="34" charset="0"/>
                <a:ea typeface="宋体" charset="-122"/>
                <a:cs typeface="Arial" pitchFamily="34" charset="0"/>
              </a:rPr>
              <a:t>x(t)</a:t>
            </a:r>
            <a:r>
              <a:rPr kumimoji="1"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=s(t)+</a:t>
            </a:r>
            <a:r>
              <a:rPr lang="en-US" altLang="zh-CN" sz="2400" b="1" dirty="0" err="1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n</a:t>
            </a:r>
            <a:r>
              <a:rPr lang="en-US" altLang="zh-CN" sz="2400" b="1" baseline="-25000" dirty="0" err="1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R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(t)</a:t>
            </a:r>
            <a:r>
              <a:rPr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在抽样时刻的取值为</a:t>
            </a:r>
            <a:r>
              <a:rPr kumimoji="1"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:</a:t>
            </a:r>
            <a:endParaRPr kumimoji="1" lang="zh-CN" altLang="en-US" sz="2400" b="1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78853" name="Object 14"/>
          <p:cNvGraphicFramePr>
            <a:graphicFrameLocks noChangeAspect="1"/>
          </p:cNvGraphicFramePr>
          <p:nvPr/>
        </p:nvGraphicFramePr>
        <p:xfrm>
          <a:off x="4079875" y="3143250"/>
          <a:ext cx="22780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16" name="Equation" r:id="rId9" imgW="990360" imgH="279360" progId="Equation.DSMT4">
                  <p:embed/>
                </p:oleObj>
              </mc:Choice>
              <mc:Fallback>
                <p:oleObj name="Equation" r:id="rId9" imgW="990360" imgH="279360" progId="Equation.DSMT4">
                  <p:embed/>
                  <p:pic>
                    <p:nvPicPr>
                      <p:cNvPr id="7885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3143250"/>
                        <a:ext cx="2278063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8" name="矩形 28"/>
          <p:cNvSpPr>
            <a:spLocks noChangeArrowheads="1"/>
          </p:cNvSpPr>
          <p:nvPr/>
        </p:nvSpPr>
        <p:spPr bwMode="auto">
          <a:xfrm>
            <a:off x="2571750" y="3181350"/>
            <a:ext cx="1419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高斯</a:t>
            </a:r>
            <a:endParaRPr lang="zh-CN" altLang="en-US" sz="2400">
              <a:ea typeface="楷体_GB2312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42938" y="3109913"/>
            <a:ext cx="1785937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sz="2800" b="1" dirty="0">
                <a:solidFill>
                  <a:srgbClr val="0033CC"/>
                </a:solidFill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Arial" pitchFamily="34" charset="0"/>
                <a:ea typeface="宋体" charset="-122"/>
                <a:cs typeface="Arial" pitchFamily="34" charset="0"/>
              </a:rPr>
              <a:t>x(t)</a:t>
            </a:r>
            <a:r>
              <a:rPr kumimoji="1" lang="zh-CN" altLang="en-US" sz="2800" b="1" dirty="0">
                <a:latin typeface="黑体" pitchFamily="2" charset="-122"/>
                <a:ea typeface="黑体" pitchFamily="2" charset="-122"/>
              </a:rPr>
              <a:t>特性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17653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/>
      <p:bldP spid="13" grpId="0"/>
      <p:bldP spid="23" grpId="0"/>
      <p:bldP spid="78858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509" name="Object 13"/>
          <p:cNvGraphicFramePr>
            <a:graphicFrameLocks noChangeAspect="1"/>
          </p:cNvGraphicFramePr>
          <p:nvPr/>
        </p:nvGraphicFramePr>
        <p:xfrm>
          <a:off x="4786313" y="1000125"/>
          <a:ext cx="392906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41" name="Equation" r:id="rId3" imgW="1993680" imgH="482400" progId="Equation.DSMT4">
                  <p:embed/>
                </p:oleObj>
              </mc:Choice>
              <mc:Fallback>
                <p:oleObj name="Equation" r:id="rId3" imgW="1993680" imgH="482400" progId="Equation.DSMT4">
                  <p:embed/>
                  <p:pic>
                    <p:nvPicPr>
                      <p:cNvPr id="2345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1000125"/>
                        <a:ext cx="3929062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9">
                                <a:alpha val="44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96969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FFFFB9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10" name="Object 14"/>
          <p:cNvGraphicFramePr>
            <a:graphicFrameLocks noChangeAspect="1"/>
          </p:cNvGraphicFramePr>
          <p:nvPr/>
        </p:nvGraphicFramePr>
        <p:xfrm>
          <a:off x="642938" y="1000125"/>
          <a:ext cx="37147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42" name="Equation" r:id="rId5" imgW="2006280" imgH="482400" progId="Equation.DSMT4">
                  <p:embed/>
                </p:oleObj>
              </mc:Choice>
              <mc:Fallback>
                <p:oleObj name="Equation" r:id="rId5" imgW="2006280" imgH="482400" progId="Equation.DSMT4">
                  <p:embed/>
                  <p:pic>
                    <p:nvPicPr>
                      <p:cNvPr id="2345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000125"/>
                        <a:ext cx="37147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9">
                                <a:alpha val="81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96969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8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79876" name="Object 4"/>
          <p:cNvGraphicFramePr>
            <a:graphicFrameLocks noChangeAspect="1"/>
          </p:cNvGraphicFramePr>
          <p:nvPr/>
        </p:nvGraphicFramePr>
        <p:xfrm>
          <a:off x="2239963" y="1714500"/>
          <a:ext cx="4689475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43" name="Visio" r:id="rId7" imgW="3150187" imgH="1732577" progId="Visio.Drawing.11">
                  <p:embed/>
                </p:oleObj>
              </mc:Choice>
              <mc:Fallback>
                <p:oleObj name="Visio" r:id="rId7" imgW="3150187" imgH="1732577" progId="Visio.Drawing.11">
                  <p:embed/>
                  <p:pic>
                    <p:nvPicPr>
                      <p:cNvPr id="79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1714500"/>
                        <a:ext cx="4689475" cy="2578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714625" y="5159375"/>
            <a:ext cx="3929063" cy="112712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kumimoji="1"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 x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(</a:t>
            </a:r>
            <a:r>
              <a:rPr kumimoji="1" lang="en-US" altLang="zh-CN" sz="2400" b="1" i="1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kT</a:t>
            </a:r>
            <a:r>
              <a:rPr kumimoji="1" lang="en-US" altLang="zh-CN" sz="2400" b="1" i="1" baseline="-25000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B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) </a:t>
            </a:r>
            <a:r>
              <a:rPr kumimoji="1"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&gt; </a:t>
            </a:r>
            <a:r>
              <a:rPr kumimoji="1" lang="en-US" altLang="zh-CN" sz="2400" b="1" i="1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V</a:t>
            </a:r>
            <a:r>
              <a:rPr kumimoji="1" lang="en-US" altLang="zh-CN" sz="2400" b="1" baseline="-25000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d</a:t>
            </a:r>
            <a:r>
              <a:rPr kumimoji="1"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,  </a:t>
            </a:r>
            <a:r>
              <a:rPr kumimoji="1" lang="zh-CN" altLang="en-US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判为“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1</a:t>
            </a:r>
            <a:r>
              <a:rPr kumimoji="1" lang="zh-CN" altLang="en-US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”码</a:t>
            </a:r>
          </a:p>
          <a:p>
            <a:pPr eaLnBrk="0" hangingPunct="0">
              <a:lnSpc>
                <a:spcPct val="140000"/>
              </a:lnSpc>
              <a:defRPr/>
            </a:pPr>
            <a:r>
              <a:rPr kumimoji="1" lang="zh-CN" altLang="en-US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 </a:t>
            </a:r>
            <a:r>
              <a:rPr kumimoji="1"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x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(</a:t>
            </a:r>
            <a:r>
              <a:rPr kumimoji="1" lang="en-US" altLang="zh-CN" sz="2400" b="1" i="1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kT</a:t>
            </a:r>
            <a:r>
              <a:rPr kumimoji="1" lang="en-US" altLang="zh-CN" sz="2400" b="1" i="1" baseline="-25000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B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) 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  <a:sym typeface="Symbol"/>
              </a:rPr>
              <a:t></a:t>
            </a:r>
            <a:r>
              <a:rPr kumimoji="1"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r>
              <a:rPr kumimoji="1" lang="en-US" altLang="zh-CN" sz="2400" b="1" i="1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V</a:t>
            </a:r>
            <a:r>
              <a:rPr kumimoji="1" lang="en-US" altLang="zh-CN" sz="2400" b="1" baseline="-25000" dirty="0" err="1">
                <a:latin typeface="Arial" pitchFamily="34" charset="0"/>
                <a:ea typeface="华文中宋" pitchFamily="2" charset="-122"/>
                <a:cs typeface="Arial" pitchFamily="34" charset="0"/>
              </a:rPr>
              <a:t>d</a:t>
            </a:r>
            <a:r>
              <a:rPr kumimoji="1"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,  </a:t>
            </a:r>
            <a:r>
              <a:rPr kumimoji="1" lang="zh-CN" altLang="en-US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判为“</a:t>
            </a:r>
            <a:r>
              <a:rPr kumimoji="1" lang="en-US" altLang="zh-CN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0</a:t>
            </a:r>
            <a:r>
              <a:rPr kumimoji="1" lang="zh-CN" altLang="en-US" sz="24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”码</a:t>
            </a:r>
          </a:p>
        </p:txBody>
      </p:sp>
      <p:cxnSp>
        <p:nvCxnSpPr>
          <p:cNvPr id="11" name="直接连接符 10"/>
          <p:cNvCxnSpPr/>
          <p:nvPr/>
        </p:nvCxnSpPr>
        <p:spPr>
          <a:xfrm rot="5400000">
            <a:off x="4251325" y="2820988"/>
            <a:ext cx="1357313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643188" y="4605338"/>
            <a:ext cx="43576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设判决门限为 </a:t>
            </a:r>
            <a:r>
              <a:rPr kumimoji="1"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V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r>
              <a:rPr kumimoji="1"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，判决规则</a:t>
            </a:r>
            <a:r>
              <a:rPr kumimoji="1" lang="en-US" altLang="zh-CN" sz="240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643438" y="3500438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V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endParaRPr lang="zh-CN" altLang="en-US"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78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3552825" y="2300288"/>
          <a:ext cx="13906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44" name="Visio" r:id="rId9" imgW="928283" imgH="813394" progId="Visio.Drawing.11">
                  <p:embed/>
                </p:oleObj>
              </mc:Choice>
              <mc:Fallback>
                <p:oleObj name="Visio" r:id="rId9" imgW="928283" imgH="813394" progId="Visio.Drawing.11">
                  <p:embed/>
                  <p:pic>
                    <p:nvPicPr>
                      <p:cNvPr id="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2300288"/>
                        <a:ext cx="1390650" cy="1228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4914900" y="3043238"/>
          <a:ext cx="85725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45" name="Visio" r:id="rId11" imgW="568302" imgH="334248" progId="Visio.Drawing.11">
                  <p:embed/>
                </p:oleObj>
              </mc:Choice>
              <mc:Fallback>
                <p:oleObj name="Visio" r:id="rId11" imgW="568302" imgH="334248" progId="Visio.Drawing.11">
                  <p:embed/>
                  <p:pic>
                    <p:nvPicPr>
                      <p:cNvPr id="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3043238"/>
                        <a:ext cx="857250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3662363" y="4038600"/>
            <a:ext cx="1123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P(0/1)</a:t>
            </a: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en-US" sz="2400">
              <a:solidFill>
                <a:srgbClr val="0000CC"/>
              </a:solidFill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786438" y="2214563"/>
            <a:ext cx="104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80008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P(1/0) </a:t>
            </a:r>
            <a:endParaRPr lang="zh-CN" altLang="en-US" sz="2400">
              <a:solidFill>
                <a:srgbClr val="800080"/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 rot="5400000" flipH="1" flipV="1">
            <a:off x="5179219" y="2678907"/>
            <a:ext cx="714375" cy="642937"/>
          </a:xfrm>
          <a:prstGeom prst="line">
            <a:avLst/>
          </a:prstGeom>
          <a:ln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rot="5400000">
            <a:off x="3893343" y="3393282"/>
            <a:ext cx="785813" cy="571500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4502150" y="4038600"/>
            <a:ext cx="1427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=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rial" panose="020B0604020202020204" pitchFamily="34" charset="0"/>
              </a:rPr>
              <a:t>P(</a:t>
            </a:r>
            <a:r>
              <a:rPr kumimoji="1" lang="en-US" altLang="zh-CN" sz="2400" b="1" i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x</a:t>
            </a:r>
            <a:r>
              <a:rPr kumimoji="1" lang="en-US" altLang="zh-CN" sz="24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kumimoji="1" lang="en-US" altLang="zh-CN" sz="2400" b="1" i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V</a:t>
            </a:r>
            <a:r>
              <a:rPr kumimoji="1" lang="en-US" altLang="zh-CN" sz="2400" b="1" baseline="-2500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r>
              <a:rPr kumimoji="1" lang="en-US" altLang="zh-CN" sz="24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)</a:t>
            </a:r>
            <a:endParaRPr lang="zh-CN" altLang="en-US" sz="2400" b="1">
              <a:solidFill>
                <a:srgbClr val="0000CC"/>
              </a:solidFill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6643688" y="2214563"/>
            <a:ext cx="1438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rgbClr val="80008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=</a:t>
            </a:r>
            <a:r>
              <a:rPr kumimoji="1" lang="en-US" altLang="zh-CN" sz="2400" b="1">
                <a:solidFill>
                  <a:srgbClr val="80008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Arial" panose="020B0604020202020204" pitchFamily="34" charset="0"/>
              </a:rPr>
              <a:t>P(</a:t>
            </a:r>
            <a:r>
              <a:rPr kumimoji="1" lang="en-US" altLang="zh-CN" sz="2400" b="1" i="1">
                <a:solidFill>
                  <a:srgbClr val="80008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x&gt;V</a:t>
            </a:r>
            <a:r>
              <a:rPr kumimoji="1" lang="en-US" altLang="zh-CN" sz="2400" b="1" baseline="-25000">
                <a:solidFill>
                  <a:srgbClr val="80008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r>
              <a:rPr kumimoji="1" lang="en-US" altLang="zh-CN" sz="2400" b="1">
                <a:solidFill>
                  <a:srgbClr val="80008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)</a:t>
            </a:r>
            <a:endParaRPr lang="zh-CN" altLang="en-US" sz="2400" b="1">
              <a:solidFill>
                <a:srgbClr val="800080"/>
              </a:solidFill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1214438" y="5715000"/>
            <a:ext cx="1103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“</a:t>
            </a:r>
            <a:r>
              <a:rPr kumimoji="1" lang="en-US" altLang="zh-CN" sz="28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kumimoji="1" lang="zh-CN" altLang="en-US" sz="2800" b="1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”</a:t>
            </a:r>
            <a:endParaRPr lang="zh-CN" altLang="en-US" sz="2800">
              <a:solidFill>
                <a:srgbClr val="0000CC"/>
              </a:solidFill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591300" y="5172075"/>
            <a:ext cx="12668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 dirty="0">
                <a:latin typeface="Arial" pitchFamily="34" charset="0"/>
                <a:ea typeface="+mn-ea"/>
                <a:cs typeface="Arial" pitchFamily="34" charset="0"/>
                <a:sym typeface="Symbol"/>
              </a:rPr>
              <a:t>—</a:t>
            </a:r>
            <a:r>
              <a:rPr kumimoji="1" lang="zh-CN" altLang="en-US" sz="2800" b="1" dirty="0">
                <a:latin typeface="+mn-ea"/>
                <a:ea typeface="+mn-ea"/>
                <a:cs typeface="Arial" pitchFamily="34" charset="0"/>
                <a:sym typeface="Symbol"/>
              </a:rPr>
              <a:t>正确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591300" y="5715000"/>
            <a:ext cx="1266825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 dirty="0">
                <a:solidFill>
                  <a:srgbClr val="0000CC"/>
                </a:solidFill>
                <a:latin typeface="Arial" pitchFamily="34" charset="0"/>
                <a:ea typeface="+mn-ea"/>
                <a:cs typeface="Arial" pitchFamily="34" charset="0"/>
                <a:sym typeface="Symbol"/>
              </a:rPr>
              <a:t>—</a:t>
            </a:r>
            <a:r>
              <a:rPr kumimoji="1" lang="zh-CN" altLang="en-US" sz="2800" b="1" dirty="0">
                <a:solidFill>
                  <a:srgbClr val="0000CC"/>
                </a:solidFill>
                <a:latin typeface="+mn-ea"/>
                <a:ea typeface="+mn-ea"/>
                <a:cs typeface="Arial" pitchFamily="34" charset="0"/>
                <a:sym typeface="Symbol"/>
              </a:rPr>
              <a:t>错误</a:t>
            </a:r>
            <a:endParaRPr lang="zh-CN" altLang="en-US" sz="2800" b="1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817813" y="5786438"/>
            <a:ext cx="1785937" cy="500062"/>
          </a:xfrm>
          <a:prstGeom prst="rect">
            <a:avLst/>
          </a:prstGeom>
          <a:noFill/>
          <a:ln>
            <a:solidFill>
              <a:srgbClr val="0033C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214438" y="5119688"/>
            <a:ext cx="11033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“</a:t>
            </a:r>
            <a:r>
              <a:rPr kumimoji="1" lang="en-US" altLang="zh-CN" sz="2800" b="1">
                <a:solidFill>
                  <a:srgbClr val="80008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0</a:t>
            </a:r>
            <a:r>
              <a:rPr kumimoji="1" lang="zh-CN" altLang="en-US" sz="2800" b="1">
                <a:solidFill>
                  <a:srgbClr val="80008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”</a:t>
            </a:r>
            <a:endParaRPr lang="zh-CN" altLang="en-US" sz="2800">
              <a:solidFill>
                <a:srgbClr val="800080"/>
              </a:solidFill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814638" y="5214938"/>
            <a:ext cx="1785937" cy="500062"/>
          </a:xfrm>
          <a:prstGeom prst="rect">
            <a:avLst/>
          </a:prstGeom>
          <a:noFill/>
          <a:ln>
            <a:solidFill>
              <a:srgbClr val="80008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80008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715125" y="5162550"/>
            <a:ext cx="1266825" cy="523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 dirty="0">
                <a:solidFill>
                  <a:srgbClr val="800080"/>
                </a:solidFill>
                <a:latin typeface="Arial" pitchFamily="34" charset="0"/>
                <a:ea typeface="+mn-ea"/>
                <a:cs typeface="Arial" pitchFamily="34" charset="0"/>
                <a:sym typeface="Symbol"/>
              </a:rPr>
              <a:t>—</a:t>
            </a:r>
            <a:r>
              <a:rPr kumimoji="1" lang="zh-CN" altLang="en-US" sz="2800" b="1" dirty="0">
                <a:solidFill>
                  <a:srgbClr val="800080"/>
                </a:solidFill>
                <a:latin typeface="+mn-ea"/>
                <a:ea typeface="+mn-ea"/>
                <a:cs typeface="Arial" pitchFamily="34" charset="0"/>
                <a:sym typeface="Symbol"/>
              </a:rPr>
              <a:t>错误</a:t>
            </a:r>
            <a:endParaRPr lang="zh-CN" altLang="en-US" sz="2800" b="1" dirty="0">
              <a:solidFill>
                <a:srgbClr val="800080"/>
              </a:solidFill>
              <a:latin typeface="+mn-ea"/>
              <a:ea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715125" y="5691188"/>
            <a:ext cx="1266825" cy="523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 dirty="0">
                <a:latin typeface="Arial" pitchFamily="34" charset="0"/>
                <a:ea typeface="+mn-ea"/>
                <a:cs typeface="Arial" pitchFamily="34" charset="0"/>
                <a:sym typeface="Symbol"/>
              </a:rPr>
              <a:t>—</a:t>
            </a:r>
            <a:r>
              <a:rPr kumimoji="1" lang="zh-CN" altLang="en-US" sz="2800" b="1" dirty="0">
                <a:latin typeface="+mn-ea"/>
                <a:ea typeface="+mn-ea"/>
                <a:cs typeface="Arial" pitchFamily="34" charset="0"/>
                <a:sym typeface="Symbol"/>
              </a:rPr>
              <a:t>正确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42938" y="3690938"/>
            <a:ext cx="2143125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kumimoji="1" lang="zh-CN" altLang="en-US" sz="2800" b="1" dirty="0">
                <a:latin typeface="Arial" pitchFamily="34" charset="0"/>
                <a:ea typeface="黑体" pitchFamily="2" charset="-122"/>
                <a:cs typeface="Arial" pitchFamily="34" charset="0"/>
              </a:rPr>
              <a:t> 误码率 </a:t>
            </a:r>
            <a:r>
              <a:rPr lang="en-US" sz="2800" b="1" i="1" dirty="0" err="1">
                <a:latin typeface="Arial" pitchFamily="34" charset="0"/>
                <a:ea typeface="宋体" charset="-122"/>
                <a:cs typeface="Arial" pitchFamily="34" charset="0"/>
              </a:rPr>
              <a:t>P</a:t>
            </a:r>
            <a:r>
              <a:rPr lang="en-US" sz="2800" b="1" baseline="-25000" dirty="0" err="1">
                <a:latin typeface="Arial" pitchFamily="34" charset="0"/>
                <a:ea typeface="宋体" charset="-122"/>
                <a:cs typeface="Arial" pitchFamily="34" charset="0"/>
              </a:rPr>
              <a:t>e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830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/>
      <p:bldP spid="19" grpId="0"/>
      <p:bldP spid="20" grpId="0"/>
      <p:bldP spid="29" grpId="0"/>
      <p:bldP spid="30" grpId="0"/>
      <p:bldP spid="34" grpId="0"/>
      <p:bldP spid="35" grpId="0"/>
      <p:bldP spid="36" grpId="0"/>
      <p:bldP spid="39" grpId="0" animBg="1"/>
      <p:bldP spid="40" grpId="0"/>
      <p:bldP spid="41" grpId="0" animBg="1"/>
      <p:bldP spid="42" grpId="0" animBg="1"/>
      <p:bldP spid="43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767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000125" y="1428750"/>
          <a:ext cx="402272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3" name="Equation" r:id="rId3" imgW="1549080" imgH="330120" progId="Equation.DSMT4">
                  <p:embed/>
                </p:oleObj>
              </mc:Choice>
              <mc:Fallback>
                <p:oleObj name="Equation" r:id="rId3" imgW="1549080" imgH="330120" progId="Equation.DSMT4">
                  <p:embed/>
                  <p:pic>
                    <p:nvPicPr>
                      <p:cNvPr id="1177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428750"/>
                        <a:ext cx="402272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8E8E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E8E8E8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0" name="Rectangle 10"/>
          <p:cNvSpPr>
            <a:spLocks noChangeArrowheads="1"/>
          </p:cNvSpPr>
          <p:nvPr/>
        </p:nvSpPr>
        <p:spPr bwMode="auto">
          <a:xfrm>
            <a:off x="500063" y="476250"/>
            <a:ext cx="5357812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999976"/>
            </a:prst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800" b="1">
                <a:ea typeface="宋体" charset="-122"/>
              </a:rPr>
              <a:t> </a:t>
            </a:r>
            <a:r>
              <a:rPr lang="en-US" altLang="zh-CN" sz="2800" b="1">
                <a:solidFill>
                  <a:srgbClr val="0000CC"/>
                </a:solidFill>
                <a:latin typeface="Arial" charset="0"/>
                <a:ea typeface="宋体" charset="-122"/>
                <a:cs typeface="Arial" charset="0"/>
              </a:rPr>
              <a:t>P(0/1) </a:t>
            </a:r>
            <a:r>
              <a:rPr lang="en-US" altLang="zh-CN" sz="2400">
                <a:latin typeface="Arial" charset="0"/>
                <a:ea typeface="宋体" charset="-122"/>
                <a:cs typeface="Arial" charset="0"/>
              </a:rPr>
              <a:t>——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  <a:cs typeface="Arial" charset="0"/>
              </a:rPr>
              <a:t>发 </a:t>
            </a:r>
            <a:r>
              <a:rPr lang="en-US" altLang="zh-CN" sz="2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1 </a:t>
            </a:r>
            <a:r>
              <a:rPr lang="zh-CN" altLang="en-US" sz="2400" b="1">
                <a:latin typeface="Arial" charset="0"/>
                <a:ea typeface="微软雅黑" pitchFamily="34" charset="-122"/>
                <a:cs typeface="Arial" charset="0"/>
              </a:rPr>
              <a:t>错判为 </a:t>
            </a:r>
            <a:r>
              <a:rPr lang="en-US" altLang="zh-CN" sz="2400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0 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  <a:cs typeface="Arial" charset="0"/>
              </a:rPr>
              <a:t>的概率 </a:t>
            </a:r>
            <a:r>
              <a:rPr lang="en-US" altLang="zh-CN" sz="2400" b="1">
                <a:latin typeface="微软雅黑" pitchFamily="34" charset="-122"/>
                <a:ea typeface="微软雅黑" pitchFamily="34" charset="-122"/>
                <a:cs typeface="Arial" charset="0"/>
              </a:rPr>
              <a:t>:</a:t>
            </a:r>
          </a:p>
        </p:txBody>
      </p:sp>
      <p:graphicFrame>
        <p:nvGraphicFramePr>
          <p:cNvPr id="117788" name="Object 28"/>
          <p:cNvGraphicFramePr>
            <a:graphicFrameLocks noChangeAspect="1"/>
          </p:cNvGraphicFramePr>
          <p:nvPr/>
        </p:nvGraphicFramePr>
        <p:xfrm>
          <a:off x="6715125" y="3706813"/>
          <a:ext cx="19192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4" name="Equation" r:id="rId5" imgW="965160" imgH="507960" progId="Equation.DSMT4">
                  <p:embed/>
                </p:oleObj>
              </mc:Choice>
              <mc:Fallback>
                <p:oleObj name="Equation" r:id="rId5" imgW="965160" imgH="507960" progId="Equation.DSMT4">
                  <p:embed/>
                  <p:pic>
                    <p:nvPicPr>
                      <p:cNvPr id="11778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5" y="3706813"/>
                        <a:ext cx="191928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prstShdw prst="shdw17" dist="17961" dir="2700000">
                          <a:srgbClr val="D5FFD5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FFD5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5"/>
          <p:cNvGraphicFramePr>
            <a:graphicFrameLocks noChangeAspect="1"/>
          </p:cNvGraphicFramePr>
          <p:nvPr/>
        </p:nvGraphicFramePr>
        <p:xfrm>
          <a:off x="1000125" y="3630613"/>
          <a:ext cx="5324475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5" name="Equation" r:id="rId7" imgW="2222280" imgH="482400" progId="Equation.DSMT4">
                  <p:embed/>
                </p:oleObj>
              </mc:Choice>
              <mc:Fallback>
                <p:oleObj name="Equation" r:id="rId7" imgW="2222280" imgH="482400" progId="Equation.DSMT4">
                  <p:embed/>
                  <p:pic>
                    <p:nvPicPr>
                      <p:cNvPr id="7578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630613"/>
                        <a:ext cx="5324475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/>
        </p:nvGraphicFramePr>
        <p:xfrm>
          <a:off x="1000125" y="5091113"/>
          <a:ext cx="328612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6" name="Equation" r:id="rId9" imgW="1257120" imgH="457200" progId="Equation.DSMT4">
                  <p:embed/>
                </p:oleObj>
              </mc:Choice>
              <mc:Fallback>
                <p:oleObj name="Equation" r:id="rId9" imgW="1257120" imgH="457200" progId="Equation.DSMT4">
                  <p:embed/>
                  <p:pic>
                    <p:nvPicPr>
                      <p:cNvPr id="757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5091113"/>
                        <a:ext cx="3286125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9"/>
          <p:cNvGraphicFramePr>
            <a:graphicFrameLocks noChangeAspect="1"/>
          </p:cNvGraphicFramePr>
          <p:nvPr/>
        </p:nvGraphicFramePr>
        <p:xfrm>
          <a:off x="4286250" y="5072063"/>
          <a:ext cx="31686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7" name="Equation" r:id="rId11" imgW="1231560" imgH="444240" progId="Equation.DSMT4">
                  <p:embed/>
                </p:oleObj>
              </mc:Choice>
              <mc:Fallback>
                <p:oleObj name="Equation" r:id="rId11" imgW="1231560" imgH="444240" progId="Equation.DSMT4">
                  <p:embed/>
                  <p:pic>
                    <p:nvPicPr>
                      <p:cNvPr id="757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5072063"/>
                        <a:ext cx="31686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4"/>
          <p:cNvGraphicFramePr>
            <a:graphicFrameLocks noChangeAspect="1"/>
          </p:cNvGraphicFramePr>
          <p:nvPr/>
        </p:nvGraphicFramePr>
        <p:xfrm>
          <a:off x="4429125" y="895350"/>
          <a:ext cx="4287838" cy="235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8" name="Visio" r:id="rId13" imgW="3150187" imgH="1732577" progId="Visio.Drawing.11">
                  <p:embed/>
                </p:oleObj>
              </mc:Choice>
              <mc:Fallback>
                <p:oleObj name="Visio" r:id="rId13" imgW="3150187" imgH="1732577" progId="Visio.Drawing.11">
                  <p:embed/>
                  <p:pic>
                    <p:nvPicPr>
                      <p:cNvPr id="348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895350"/>
                        <a:ext cx="4287838" cy="2357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/>
          <p:cNvCxnSpPr/>
          <p:nvPr/>
        </p:nvCxnSpPr>
        <p:spPr>
          <a:xfrm rot="5400000">
            <a:off x="6165851" y="1873250"/>
            <a:ext cx="1357312" cy="15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716588" y="2824163"/>
            <a:ext cx="1123950" cy="4619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华文中宋" pitchFamily="2" charset="-122"/>
              </a:rPr>
              <a:t>P(0/1)</a:t>
            </a:r>
            <a:r>
              <a:rPr lang="en-US" altLang="zh-CN" sz="2400" dirty="0">
                <a:solidFill>
                  <a:srgbClr val="0000CC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endParaRPr lang="zh-CN" altLang="en-US" sz="2400" dirty="0">
              <a:solidFill>
                <a:srgbClr val="0000CC"/>
              </a:solidFill>
              <a:ea typeface="宋体" charset="-122"/>
            </a:endParaRPr>
          </a:p>
        </p:txBody>
      </p:sp>
      <p:graphicFrame>
        <p:nvGraphicFramePr>
          <p:cNvPr id="82955" name="Object 11"/>
          <p:cNvGraphicFramePr>
            <a:graphicFrameLocks noChangeAspect="1"/>
          </p:cNvGraphicFramePr>
          <p:nvPr/>
        </p:nvGraphicFramePr>
        <p:xfrm>
          <a:off x="1000125" y="2446338"/>
          <a:ext cx="40005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9" name="Equation" r:id="rId15" imgW="1562040" imgH="355320" progId="Equation.DSMT4">
                  <p:embed/>
                </p:oleObj>
              </mc:Choice>
              <mc:Fallback>
                <p:oleObj name="Equation" r:id="rId15" imgW="1562040" imgH="355320" progId="Equation.DSMT4">
                  <p:embed/>
                  <p:pic>
                    <p:nvPicPr>
                      <p:cNvPr id="829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446338"/>
                        <a:ext cx="40005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圆角矩形 18"/>
          <p:cNvSpPr/>
          <p:nvPr/>
        </p:nvSpPr>
        <p:spPr>
          <a:xfrm>
            <a:off x="6643688" y="3643313"/>
            <a:ext cx="2000250" cy="114300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144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0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767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143000" y="1428750"/>
          <a:ext cx="373538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97" name="Equation" r:id="rId3" imgW="1549080" imgH="355320" progId="Equation.DSMT4">
                  <p:embed/>
                </p:oleObj>
              </mc:Choice>
              <mc:Fallback>
                <p:oleObj name="Equation" r:id="rId3" imgW="1549080" imgH="355320" progId="Equation.DSMT4">
                  <p:embed/>
                  <p:pic>
                    <p:nvPicPr>
                      <p:cNvPr id="1177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428750"/>
                        <a:ext cx="373538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8E8E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E8E8E8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70" name="Rectangle 10"/>
          <p:cNvSpPr>
            <a:spLocks noChangeArrowheads="1"/>
          </p:cNvSpPr>
          <p:nvPr/>
        </p:nvSpPr>
        <p:spPr bwMode="auto">
          <a:xfrm>
            <a:off x="500063" y="471488"/>
            <a:ext cx="5357812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999976"/>
            </a:prst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60000"/>
              <a:buFont typeface="Wingdings" pitchFamily="2" charset="2"/>
              <a:buChar char="u"/>
              <a:defRPr/>
            </a:pPr>
            <a:r>
              <a:rPr lang="en-US" altLang="zh-CN" sz="2800" b="1">
                <a:ea typeface="宋体" charset="-122"/>
              </a:rPr>
              <a:t> </a:t>
            </a:r>
            <a:r>
              <a:rPr lang="en-US" altLang="zh-CN" sz="2800" b="1">
                <a:solidFill>
                  <a:srgbClr val="800080"/>
                </a:solidFill>
                <a:latin typeface="Arial" charset="0"/>
                <a:ea typeface="宋体" charset="-122"/>
                <a:cs typeface="Arial" charset="0"/>
              </a:rPr>
              <a:t>P(1/0) </a:t>
            </a:r>
            <a:r>
              <a:rPr lang="en-US" altLang="zh-CN" sz="2400">
                <a:latin typeface="Arial" charset="0"/>
                <a:ea typeface="宋体" charset="-122"/>
                <a:cs typeface="Arial" charset="0"/>
              </a:rPr>
              <a:t>——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  <a:cs typeface="Arial" charset="0"/>
              </a:rPr>
              <a:t>发 </a:t>
            </a:r>
            <a:r>
              <a:rPr lang="en-US" altLang="zh-CN" sz="2400" b="1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0 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  <a:cs typeface="Arial" charset="0"/>
              </a:rPr>
              <a:t>错判为 </a:t>
            </a:r>
            <a:r>
              <a:rPr lang="en-US" altLang="zh-CN" sz="2400" b="1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1 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  <a:cs typeface="Arial" charset="0"/>
              </a:rPr>
              <a:t>的概率 </a:t>
            </a:r>
            <a:r>
              <a:rPr lang="en-US" altLang="zh-CN" sz="2400" b="1">
                <a:latin typeface="Arial" charset="0"/>
                <a:ea typeface="微软雅黑" pitchFamily="34" charset="-122"/>
                <a:cs typeface="Arial" charset="0"/>
              </a:rPr>
              <a:t>:</a:t>
            </a:r>
          </a:p>
        </p:txBody>
      </p:sp>
      <p:graphicFrame>
        <p:nvGraphicFramePr>
          <p:cNvPr id="117788" name="Object 28"/>
          <p:cNvGraphicFramePr>
            <a:graphicFrameLocks noChangeAspect="1"/>
          </p:cNvGraphicFramePr>
          <p:nvPr/>
        </p:nvGraphicFramePr>
        <p:xfrm>
          <a:off x="6799263" y="3635375"/>
          <a:ext cx="1919287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98" name="Equation" r:id="rId5" imgW="965160" imgH="507960" progId="Equation.DSMT4">
                  <p:embed/>
                </p:oleObj>
              </mc:Choice>
              <mc:Fallback>
                <p:oleObj name="Equation" r:id="rId5" imgW="965160" imgH="507960" progId="Equation.DSMT4">
                  <p:embed/>
                  <p:pic>
                    <p:nvPicPr>
                      <p:cNvPr id="11778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263" y="3635375"/>
                        <a:ext cx="1919287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prstShdw prst="shdw17" dist="17961" dir="2700000">
                          <a:srgbClr val="D5FFD5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5FFD5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0C0C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5"/>
          <p:cNvGraphicFramePr>
            <a:graphicFrameLocks noChangeAspect="1"/>
          </p:cNvGraphicFramePr>
          <p:nvPr/>
        </p:nvGraphicFramePr>
        <p:xfrm>
          <a:off x="1044575" y="3559175"/>
          <a:ext cx="523398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99" name="Equation" r:id="rId7" imgW="2184120" imgH="482400" progId="Equation.DSMT4">
                  <p:embed/>
                </p:oleObj>
              </mc:Choice>
              <mc:Fallback>
                <p:oleObj name="Equation" r:id="rId7" imgW="2184120" imgH="482400" progId="Equation.DSMT4">
                  <p:embed/>
                  <p:pic>
                    <p:nvPicPr>
                      <p:cNvPr id="7578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3559175"/>
                        <a:ext cx="523398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/>
        </p:nvGraphicFramePr>
        <p:xfrm>
          <a:off x="966788" y="5106988"/>
          <a:ext cx="33528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0" name="Equation" r:id="rId9" imgW="1282680" imgH="444240" progId="Equation.DSMT4">
                  <p:embed/>
                </p:oleObj>
              </mc:Choice>
              <mc:Fallback>
                <p:oleObj name="Equation" r:id="rId9" imgW="1282680" imgH="444240" progId="Equation.DSMT4">
                  <p:embed/>
                  <p:pic>
                    <p:nvPicPr>
                      <p:cNvPr id="757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5106988"/>
                        <a:ext cx="33528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5" name="Object 9"/>
          <p:cNvGraphicFramePr>
            <a:graphicFrameLocks noChangeAspect="1"/>
          </p:cNvGraphicFramePr>
          <p:nvPr/>
        </p:nvGraphicFramePr>
        <p:xfrm>
          <a:off x="4333875" y="5143500"/>
          <a:ext cx="30718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1" name="Equation" r:id="rId11" imgW="1193760" imgH="444240" progId="Equation.DSMT4">
                  <p:embed/>
                </p:oleObj>
              </mc:Choice>
              <mc:Fallback>
                <p:oleObj name="Equation" r:id="rId11" imgW="1193760" imgH="444240" progId="Equation.DSMT4">
                  <p:embed/>
                  <p:pic>
                    <p:nvPicPr>
                      <p:cNvPr id="757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5" y="5143500"/>
                        <a:ext cx="30718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5" name="Object 7"/>
          <p:cNvGraphicFramePr>
            <a:graphicFrameLocks noChangeAspect="1"/>
          </p:cNvGraphicFramePr>
          <p:nvPr/>
        </p:nvGraphicFramePr>
        <p:xfrm>
          <a:off x="1071563" y="2511425"/>
          <a:ext cx="413067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2" name="Equation" r:id="rId13" imgW="1612800" imgH="330120" progId="Equation.DSMT4">
                  <p:embed/>
                </p:oleObj>
              </mc:Choice>
              <mc:Fallback>
                <p:oleObj name="Equation" r:id="rId13" imgW="1612800" imgH="330120" progId="Equation.DSMT4">
                  <p:embed/>
                  <p:pic>
                    <p:nvPicPr>
                      <p:cNvPr id="829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511425"/>
                        <a:ext cx="4130675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圆角矩形 18"/>
          <p:cNvSpPr/>
          <p:nvPr/>
        </p:nvSpPr>
        <p:spPr>
          <a:xfrm>
            <a:off x="6786563" y="3571875"/>
            <a:ext cx="2000250" cy="1143000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35848" name="Object 4"/>
          <p:cNvGraphicFramePr>
            <a:graphicFrameLocks noChangeAspect="1"/>
          </p:cNvGraphicFramePr>
          <p:nvPr/>
        </p:nvGraphicFramePr>
        <p:xfrm>
          <a:off x="5143500" y="928688"/>
          <a:ext cx="4429125" cy="243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03" name="Visio" r:id="rId15" imgW="3150187" imgH="1732577" progId="Visio.Drawing.11">
                  <p:embed/>
                </p:oleObj>
              </mc:Choice>
              <mc:Fallback>
                <p:oleObj name="Visio" r:id="rId15" imgW="3150187" imgH="1732577" progId="Visio.Drawing.11">
                  <p:embed/>
                  <p:pic>
                    <p:nvPicPr>
                      <p:cNvPr id="358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928688"/>
                        <a:ext cx="4429125" cy="243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7739063" y="1571625"/>
            <a:ext cx="1047750" cy="4619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800080"/>
                </a:solidFill>
                <a:latin typeface="Times New Roman" pitchFamily="18" charset="0"/>
                <a:ea typeface="华文中宋" pitchFamily="2" charset="-122"/>
              </a:rPr>
              <a:t>P(1/0) </a:t>
            </a:r>
            <a:endParaRPr lang="zh-CN" altLang="en-US" sz="2400" dirty="0">
              <a:solidFill>
                <a:srgbClr val="800080"/>
              </a:solidFill>
              <a:ea typeface="宋体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rot="5400000">
            <a:off x="7715250" y="2071688"/>
            <a:ext cx="428625" cy="285750"/>
          </a:xfrm>
          <a:prstGeom prst="line">
            <a:avLst/>
          </a:prstGeom>
          <a:ln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1260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1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0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61" name="Rectangle 9"/>
          <p:cNvSpPr>
            <a:spLocks noChangeArrowheads="1"/>
          </p:cNvSpPr>
          <p:nvPr/>
        </p:nvSpPr>
        <p:spPr bwMode="auto">
          <a:xfrm>
            <a:off x="1285875" y="4616450"/>
            <a:ext cx="7143750" cy="13843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  <a:lumOff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chemeClr val="hlink"/>
              </a:buClr>
              <a:buSzPct val="55000"/>
              <a:defRPr/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</a:rPr>
              <a:t>   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</a:rPr>
              <a:t>    </a:t>
            </a:r>
            <a:r>
              <a:rPr lang="en-US" altLang="zh-CN" sz="2800" b="1" i="1" dirty="0" err="1">
                <a:solidFill>
                  <a:schemeClr val="hlink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P</a:t>
            </a:r>
            <a:r>
              <a:rPr lang="en-US" altLang="zh-CN" sz="2800" b="1" baseline="-25000" dirty="0" err="1">
                <a:solidFill>
                  <a:schemeClr val="hlink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e</a:t>
            </a:r>
            <a:r>
              <a:rPr lang="zh-CN" altLang="en-US" sz="2800" dirty="0">
                <a:latin typeface="Arial" pitchFamily="34" charset="0"/>
                <a:ea typeface="华文中宋" pitchFamily="2" charset="-122"/>
                <a:cs typeface="Arial" pitchFamily="34" charset="0"/>
              </a:rPr>
              <a:t>的值取决于</a:t>
            </a:r>
            <a:endParaRPr lang="en-US" altLang="zh-CN" sz="280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  <a:p>
            <a:pPr>
              <a:lnSpc>
                <a:spcPct val="150000"/>
              </a:lnSpc>
              <a:buClr>
                <a:schemeClr val="hlink"/>
              </a:buClr>
              <a:buSzPct val="55000"/>
              <a:defRPr/>
            </a:pPr>
            <a:r>
              <a:rPr lang="en-US" altLang="zh-CN" sz="24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      —— </a:t>
            </a:r>
            <a:r>
              <a:rPr lang="en-US" altLang="zh-CN" sz="28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P</a:t>
            </a:r>
            <a:r>
              <a:rPr lang="en-US" altLang="zh-CN" sz="28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(1)</a:t>
            </a:r>
            <a:r>
              <a:rPr lang="zh-CN" altLang="en-US" sz="2800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、</a:t>
            </a:r>
            <a:r>
              <a:rPr lang="en-US" altLang="zh-CN" sz="28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P</a:t>
            </a:r>
            <a:r>
              <a:rPr lang="en-US" altLang="zh-CN" sz="2800" b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(0)</a:t>
            </a:r>
            <a:r>
              <a:rPr lang="zh-CN" altLang="en-US" sz="2800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、</a:t>
            </a:r>
            <a:r>
              <a:rPr lang="en-US" altLang="zh-CN" sz="2800" b="1" i="1" dirty="0">
                <a:latin typeface="Arial" pitchFamily="34" charset="0"/>
                <a:ea typeface="华文中宋" pitchFamily="2" charset="-122"/>
                <a:cs typeface="Arial" pitchFamily="34" charset="0"/>
              </a:rPr>
              <a:t>A</a:t>
            </a:r>
            <a:r>
              <a:rPr lang="zh-CN" altLang="en-US" sz="2800" dirty="0">
                <a:latin typeface="Arial" pitchFamily="34" charset="0"/>
                <a:ea typeface="华文中宋" pitchFamily="2" charset="-122"/>
                <a:cs typeface="Arial" pitchFamily="34" charset="0"/>
              </a:rPr>
              <a:t>、      和</a:t>
            </a:r>
            <a:r>
              <a:rPr lang="en-US" altLang="zh-CN" sz="2800" b="1" i="1" dirty="0" err="1">
                <a:solidFill>
                  <a:schemeClr val="hlink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V</a:t>
            </a:r>
            <a:r>
              <a:rPr lang="en-US" altLang="zh-CN" sz="2800" b="1" baseline="-25000" dirty="0" err="1">
                <a:solidFill>
                  <a:schemeClr val="hlink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d</a:t>
            </a:r>
            <a:r>
              <a:rPr lang="en-US" altLang="zh-CN" sz="2800" b="1" baseline="-25000" dirty="0">
                <a:solidFill>
                  <a:schemeClr val="hlink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 </a:t>
            </a:r>
            <a:endParaRPr lang="zh-CN" altLang="en-US" sz="2800" dirty="0">
              <a:latin typeface="Arial" pitchFamily="34" charset="0"/>
              <a:ea typeface="华文中宋" pitchFamily="2" charset="-122"/>
              <a:cs typeface="Arial" pitchFamily="34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14375" y="454025"/>
            <a:ext cx="7715250" cy="5222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prstShdw prst="shdw17" dist="17961" dir="2700000">
              <a:srgbClr val="999976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60000"/>
              <a:buFont typeface="Wingdings" panose="05000000000000000000" pitchFamily="2" charset="2"/>
              <a:buChar char="u"/>
            </a:pPr>
            <a:r>
              <a:rPr kumimoji="1" lang="zh-CN" altLang="en-US" sz="28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2800" b="1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双极性</a:t>
            </a:r>
            <a:r>
              <a:rPr kumimoji="1"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基带系统的</a:t>
            </a: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总误码率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356356" name="Object 4"/>
          <p:cNvGraphicFramePr>
            <a:graphicFrameLocks noChangeAspect="1"/>
          </p:cNvGraphicFramePr>
          <p:nvPr/>
        </p:nvGraphicFramePr>
        <p:xfrm>
          <a:off x="5172075" y="5329238"/>
          <a:ext cx="56038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97" name="公式" r:id="rId4" imgW="203040" imgH="241200" progId="Equation.3">
                  <p:embed/>
                </p:oleObj>
              </mc:Choice>
              <mc:Fallback>
                <p:oleObj name="公式" r:id="rId4" imgW="203040" imgH="241200" progId="Equation.3">
                  <p:embed/>
                  <p:pic>
                    <p:nvPicPr>
                      <p:cNvPr id="3563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5" y="5329238"/>
                        <a:ext cx="56038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云形标注 13"/>
          <p:cNvSpPr/>
          <p:nvPr/>
        </p:nvSpPr>
        <p:spPr>
          <a:xfrm>
            <a:off x="7000875" y="4184650"/>
            <a:ext cx="1785938" cy="1214438"/>
          </a:xfrm>
          <a:prstGeom prst="cloudCallout">
            <a:avLst>
              <a:gd name="adj1" fmla="val -69739"/>
              <a:gd name="adj2" fmla="val 50736"/>
            </a:avLst>
          </a:prstGeom>
          <a:solidFill>
            <a:schemeClr val="bg2">
              <a:lumMod val="10000"/>
              <a:lumOff val="90000"/>
            </a:schemeClr>
          </a:solidFill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Q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  <a:sym typeface="Symbol"/>
              </a:rPr>
              <a:t>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A</a:t>
            </a:r>
            <a:endParaRPr lang="zh-CN" altLang="en-US" sz="3200" dirty="0"/>
          </a:p>
        </p:txBody>
      </p:sp>
      <p:sp>
        <p:nvSpPr>
          <p:cNvPr id="9" name="椭圆 8"/>
          <p:cNvSpPr/>
          <p:nvPr/>
        </p:nvSpPr>
        <p:spPr bwMode="auto">
          <a:xfrm>
            <a:off x="771525" y="4368800"/>
            <a:ext cx="1000125" cy="571500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 cap="flat" cmpd="sng" algn="ctr">
            <a:solidFill>
              <a:schemeClr val="tx2">
                <a:lumMod val="20000"/>
                <a:lumOff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可见</a:t>
            </a:r>
          </a:p>
          <a:p>
            <a:pPr>
              <a:defRPr/>
            </a:pPr>
            <a:endParaRPr lang="zh-CN" altLang="en-US" dirty="0">
              <a:ea typeface="宋体" charset="-122"/>
            </a:endParaRPr>
          </a:p>
        </p:txBody>
      </p:sp>
      <p:pic>
        <p:nvPicPr>
          <p:cNvPr id="3994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64"/>
          <a:stretch>
            <a:fillRect/>
          </a:stretch>
        </p:blipFill>
        <p:spPr bwMode="auto">
          <a:xfrm>
            <a:off x="844550" y="1162050"/>
            <a:ext cx="76835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8343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5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356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61" grpId="0" animBg="1"/>
      <p:bldP spid="10" grpId="0" animBg="1"/>
      <p:bldP spid="14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81" name="Object 13"/>
          <p:cNvGraphicFramePr>
            <a:graphicFrameLocks noChangeAspect="1"/>
          </p:cNvGraphicFramePr>
          <p:nvPr/>
        </p:nvGraphicFramePr>
        <p:xfrm>
          <a:off x="1071563" y="1335088"/>
          <a:ext cx="17145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1" name="Equation" r:id="rId4" imgW="749160" imgH="431640" progId="Equation.DSMT4">
                  <p:embed/>
                </p:oleObj>
              </mc:Choice>
              <mc:Fallback>
                <p:oleObj name="Equation" r:id="rId4" imgW="749160" imgH="431640" progId="Equation.DSMT4">
                  <p:embed/>
                  <p:pic>
                    <p:nvPicPr>
                      <p:cNvPr id="13518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335088"/>
                        <a:ext cx="1714500" cy="10033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prstShdw prst="shdw17" dist="17961" dir="2700000">
                          <a:srgbClr val="C0C0C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7" name="Object 19"/>
          <p:cNvGraphicFramePr>
            <a:graphicFrameLocks noChangeAspect="1"/>
          </p:cNvGraphicFramePr>
          <p:nvPr/>
        </p:nvGraphicFramePr>
        <p:xfrm>
          <a:off x="3571875" y="1285875"/>
          <a:ext cx="24288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2" name="Equation" r:id="rId6" imgW="1028520" imgH="444240" progId="Equation.DSMT4">
                  <p:embed/>
                </p:oleObj>
              </mc:Choice>
              <mc:Fallback>
                <p:oleObj name="Equation" r:id="rId6" imgW="1028520" imgH="444240" progId="Equation.DSMT4">
                  <p:embed/>
                  <p:pic>
                    <p:nvPicPr>
                      <p:cNvPr id="13518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1285875"/>
                        <a:ext cx="2428875" cy="10525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prstShdw prst="shdw17" dist="17961" dir="2700000">
                          <a:srgbClr val="C0C0C0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7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4383088" y="2071688"/>
          <a:ext cx="4689475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3" name="Visio" r:id="rId8" imgW="3150187" imgH="1732577" progId="Visio.Drawing.11">
                  <p:embed/>
                </p:oleObj>
              </mc:Choice>
              <mc:Fallback>
                <p:oleObj name="Visio" r:id="rId8" imgW="3150187" imgH="1732577" progId="Visio.Drawing.11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2071688"/>
                        <a:ext cx="4689475" cy="2578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/>
          <p:nvPr/>
        </p:nvCxnSpPr>
        <p:spPr>
          <a:xfrm rot="5400000">
            <a:off x="6364288" y="3178175"/>
            <a:ext cx="1357312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15"/>
          <p:cNvGraphicFramePr>
            <a:graphicFrameLocks noChangeAspect="1"/>
          </p:cNvGraphicFramePr>
          <p:nvPr/>
        </p:nvGraphicFramePr>
        <p:xfrm>
          <a:off x="5143500" y="4886325"/>
          <a:ext cx="3286125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4" name="Equation" r:id="rId10" imgW="1155600" imgH="444240" progId="Equation.DSMT4">
                  <p:embed/>
                </p:oleObj>
              </mc:Choice>
              <mc:Fallback>
                <p:oleObj name="Equation" r:id="rId10" imgW="1155600" imgH="44424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4886325"/>
                        <a:ext cx="3286125" cy="12636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4747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FF4747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214688" y="425450"/>
            <a:ext cx="5715000" cy="54610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76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buClr>
                <a:srgbClr val="0000CC"/>
              </a:buClr>
              <a:buSzPct val="80000"/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——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</a:t>
            </a:r>
            <a:r>
              <a:rPr lang="en-US" altLang="zh-CN" sz="2400" b="1" i="1">
                <a:solidFill>
                  <a:schemeClr val="hlin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sz="2400" b="1" baseline="-25000">
                <a:solidFill>
                  <a:schemeClr val="hlin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最小的判决门限电平</a:t>
            </a:r>
            <a:endParaRPr lang="en-US" altLang="zh-CN" sz="24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857875" y="4191000"/>
            <a:ext cx="1139824" cy="4619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华文中宋" pitchFamily="2" charset="-122"/>
              </a:rPr>
              <a:t>P(0/1)</a:t>
            </a:r>
            <a:r>
              <a:rPr lang="en-US" altLang="zh-CN" sz="2400" dirty="0">
                <a:solidFill>
                  <a:srgbClr val="0000CC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endParaRPr lang="zh-CN" altLang="en-US" sz="2400" dirty="0">
              <a:solidFill>
                <a:srgbClr val="0000CC"/>
              </a:solidFill>
              <a:ea typeface="宋体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258050" y="4200525"/>
            <a:ext cx="1139824" cy="4619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800080"/>
                </a:solidFill>
                <a:latin typeface="Times New Roman" pitchFamily="18" charset="0"/>
                <a:ea typeface="华文中宋" pitchFamily="2" charset="-122"/>
              </a:rPr>
              <a:t>P(1/0) </a:t>
            </a:r>
            <a:endParaRPr lang="zh-CN" altLang="en-US" sz="2400" dirty="0">
              <a:solidFill>
                <a:srgbClr val="800080"/>
              </a:solidFill>
              <a:ea typeface="宋体" charset="-122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985838" y="2857500"/>
            <a:ext cx="2428875" cy="604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buClr>
                <a:srgbClr val="0000CC"/>
              </a:buClr>
              <a:buSzPct val="80000"/>
            </a:pPr>
            <a:r>
              <a:rPr lang="en-US" altLang="zh-CN" sz="2800" b="1">
                <a:latin typeface="Arial" panose="020B0604020202020204" pitchFamily="34" charset="0"/>
                <a:cs typeface="Arial" panose="020B0604020202020204" pitchFamily="34" charset="0"/>
              </a:rPr>
              <a:t>P(1)=P(0)</a:t>
            </a:r>
            <a:r>
              <a:rPr lang="zh-CN" altLang="en-US" sz="2800" b="1">
                <a:latin typeface="Times New Roman" panose="02020603050405020304" pitchFamily="18" charset="0"/>
                <a:cs typeface="Arial" panose="020B0604020202020204" pitchFamily="34" charset="0"/>
              </a:rPr>
              <a:t>时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3" name="矩形 22"/>
          <p:cNvSpPr/>
          <p:nvPr/>
        </p:nvSpPr>
        <p:spPr>
          <a:xfrm>
            <a:off x="1785938" y="4357688"/>
            <a:ext cx="2428875" cy="523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华文中宋" pitchFamily="2" charset="-122"/>
              </a:rPr>
              <a:t>P(0/1)</a:t>
            </a:r>
            <a:r>
              <a:rPr lang="en-US" altLang="zh-CN" sz="2800" b="1" dirty="0">
                <a:solidFill>
                  <a:srgbClr val="800080"/>
                </a:solidFill>
                <a:latin typeface="Times New Roman" pitchFamily="18" charset="0"/>
                <a:ea typeface="华文中宋" pitchFamily="2" charset="-122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</a:rPr>
              <a:t>=</a:t>
            </a:r>
            <a:r>
              <a:rPr lang="en-US" altLang="zh-CN" sz="2800" b="1" dirty="0">
                <a:solidFill>
                  <a:srgbClr val="800080"/>
                </a:solidFill>
                <a:latin typeface="Times New Roman" pitchFamily="18" charset="0"/>
                <a:ea typeface="华文中宋" pitchFamily="2" charset="-122"/>
              </a:rPr>
              <a:t>P(1/0)</a:t>
            </a:r>
            <a:endParaRPr lang="zh-CN" altLang="en-US" sz="2800" dirty="0">
              <a:solidFill>
                <a:srgbClr val="0000CC"/>
              </a:solidFill>
              <a:ea typeface="宋体" charset="-122"/>
            </a:endParaRPr>
          </a:p>
        </p:txBody>
      </p:sp>
      <p:sp>
        <p:nvSpPr>
          <p:cNvPr id="25" name="Freeform 34"/>
          <p:cNvSpPr>
            <a:spLocks/>
          </p:cNvSpPr>
          <p:nvPr/>
        </p:nvSpPr>
        <p:spPr bwMode="auto">
          <a:xfrm>
            <a:off x="2714625" y="1552575"/>
            <a:ext cx="769938" cy="500063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79797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1000125" y="4343400"/>
            <a:ext cx="785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800" b="1" baseline="-2500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</a:t>
            </a:r>
            <a:r>
              <a:rPr lang="en-US" altLang="zh-CN" sz="2800" b="1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=</a:t>
            </a:r>
            <a:endParaRPr lang="zh-CN" altLang="en-US" sz="2800"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75785" name="Object 9"/>
          <p:cNvGraphicFramePr>
            <a:graphicFrameLocks noChangeAspect="1"/>
          </p:cNvGraphicFramePr>
          <p:nvPr/>
        </p:nvGraphicFramePr>
        <p:xfrm>
          <a:off x="1420813" y="5078413"/>
          <a:ext cx="27940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5" name="Equation" r:id="rId12" imgW="1180800" imgH="444240" progId="Equation.DSMT4">
                  <p:embed/>
                </p:oleObj>
              </mc:Choice>
              <mc:Fallback>
                <p:oleObj name="Equation" r:id="rId12" imgW="1180800" imgH="444240" progId="Equation.DSMT4">
                  <p:embed/>
                  <p:pic>
                    <p:nvPicPr>
                      <p:cNvPr id="7578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5078413"/>
                        <a:ext cx="27940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接连接符 29"/>
          <p:cNvCxnSpPr/>
          <p:nvPr/>
        </p:nvCxnSpPr>
        <p:spPr>
          <a:xfrm rot="5400000">
            <a:off x="6094413" y="3197225"/>
            <a:ext cx="1357312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055" name="Object 7"/>
          <p:cNvGraphicFramePr>
            <a:graphicFrameLocks noChangeAspect="1"/>
          </p:cNvGraphicFramePr>
          <p:nvPr/>
        </p:nvGraphicFramePr>
        <p:xfrm>
          <a:off x="2286000" y="3554413"/>
          <a:ext cx="107156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46" name="Equation" r:id="rId14" imgW="482400" imgH="266400" progId="Equation.DSMT4">
                  <p:embed/>
                </p:oleObj>
              </mc:Choice>
              <mc:Fallback>
                <p:oleObj name="Equation" r:id="rId14" imgW="482400" imgH="266400" progId="Equation.DSMT4">
                  <p:embed/>
                  <p:pic>
                    <p:nvPicPr>
                      <p:cNvPr id="870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554413"/>
                        <a:ext cx="1071563" cy="5889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4747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椭圆 35"/>
          <p:cNvSpPr/>
          <p:nvPr/>
        </p:nvSpPr>
        <p:spPr>
          <a:xfrm>
            <a:off x="6886575" y="3033713"/>
            <a:ext cx="114300" cy="12858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14375" y="404813"/>
            <a:ext cx="2786063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  <a:cs typeface="Arial" charset="0"/>
              </a:rPr>
              <a:t> 最佳门限电平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" name="Freeform 34"/>
          <p:cNvSpPr>
            <a:spLocks/>
          </p:cNvSpPr>
          <p:nvPr/>
        </p:nvSpPr>
        <p:spPr bwMode="auto">
          <a:xfrm>
            <a:off x="4214813" y="5286375"/>
            <a:ext cx="769937" cy="500063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797979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264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3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8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2000"/>
                                        <p:tgtEl>
                                          <p:spTgt spid="8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 animBg="1"/>
      <p:bldP spid="23" grpId="0" animBg="1"/>
      <p:bldP spid="25" grpId="0" animBg="1"/>
      <p:bldP spid="28" grpId="0"/>
      <p:bldP spid="36" grpId="0" animBg="1"/>
      <p:bldP spid="24" grpId="0" animBg="1"/>
      <p:bldP spid="2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0" y="428625"/>
            <a:ext cx="7072313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ea typeface="宋体" charset="-122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6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.5.</a:t>
            </a:r>
            <a:r>
              <a:rPr lang="en-US" altLang="zh-CN" sz="3200" b="1" dirty="0">
                <a:solidFill>
                  <a:srgbClr val="99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  </a:t>
            </a:r>
            <a:r>
              <a:rPr lang="zh-CN" altLang="en-US" sz="3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二进制</a:t>
            </a:r>
            <a:r>
              <a:rPr lang="zh-CN" altLang="en-US" sz="3200" b="1" dirty="0">
                <a:solidFill>
                  <a:srgbClr val="80008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单</a:t>
            </a:r>
            <a:r>
              <a:rPr lang="zh-CN" altLang="en-US" sz="32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极性基带系统</a:t>
            </a:r>
            <a:r>
              <a:rPr lang="zh-CN" altLang="en-US" sz="3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sz="3200" b="1" i="1" dirty="0" err="1">
                <a:latin typeface="Arial" pitchFamily="34" charset="0"/>
                <a:ea typeface="宋体" charset="-122"/>
                <a:cs typeface="Arial" pitchFamily="34" charset="0"/>
              </a:rPr>
              <a:t>P</a:t>
            </a:r>
            <a:r>
              <a:rPr lang="en-US" sz="3200" b="1" baseline="-25000" dirty="0" err="1">
                <a:latin typeface="Arial" pitchFamily="34" charset="0"/>
                <a:ea typeface="宋体" charset="-122"/>
                <a:cs typeface="Arial" pitchFamily="34" charset="0"/>
              </a:rPr>
              <a:t>e</a:t>
            </a:r>
            <a:endParaRPr lang="zh-CN" altLang="en-US" sz="3200" b="1" dirty="0">
              <a:latin typeface="微软雅黑" pitchFamily="34" charset="-122"/>
              <a:ea typeface="微软雅黑" pitchFamily="34" charset="-122"/>
              <a:cs typeface="Arial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endParaRPr lang="en-US" altLang="zh-CN" sz="3200" b="1" kern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2355850" y="2428875"/>
          <a:ext cx="373062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3" name="Equation" r:id="rId3" imgW="1828800" imgH="482400" progId="Equation.DSMT4">
                  <p:embed/>
                </p:oleObj>
              </mc:Choice>
              <mc:Fallback>
                <p:oleObj name="Equation" r:id="rId3" imgW="1828800" imgH="48240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2428875"/>
                        <a:ext cx="3730625" cy="10969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3">
                                <a:alpha val="64999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43000" y="1285875"/>
            <a:ext cx="6715125" cy="101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8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对于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单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  <a:cs typeface="Arial" pitchFamily="34" charset="0"/>
              </a:rPr>
              <a:t>极性</a:t>
            </a: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基带信号，其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抽样值为（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+mn-ea"/>
                <a:cs typeface="Arial" pitchFamily="34" charset="0"/>
              </a:rPr>
              <a:t>+A,</a:t>
            </a:r>
            <a:r>
              <a:rPr kumimoji="1" lang="en-US" altLang="zh-CN" sz="2400" b="1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0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），  </a:t>
            </a:r>
            <a:r>
              <a:rPr kumimoji="1" lang="zh-CN" altLang="en-US" sz="2400" b="1" dirty="0">
                <a:latin typeface="+mn-ea"/>
                <a:ea typeface="+mn-ea"/>
                <a:cs typeface="Arial" pitchFamily="34" charset="0"/>
              </a:rPr>
              <a:t>则合成</a:t>
            </a:r>
            <a:r>
              <a:rPr lang="zh-CN" altLang="en-US" sz="2400" b="1" dirty="0">
                <a:latin typeface="+mn-ea"/>
                <a:ea typeface="+mn-ea"/>
                <a:cs typeface="Arial" pitchFamily="34" charset="0"/>
              </a:rPr>
              <a:t>波 </a:t>
            </a:r>
            <a:r>
              <a:rPr kumimoji="1" lang="en-US" altLang="zh-CN" sz="2400" b="1" dirty="0">
                <a:solidFill>
                  <a:srgbClr val="FF0000"/>
                </a:solidFill>
                <a:latin typeface="Arial" pitchFamily="34" charset="0"/>
                <a:ea typeface="宋体" charset="-122"/>
                <a:cs typeface="Arial" pitchFamily="34" charset="0"/>
              </a:rPr>
              <a:t>x(t)</a:t>
            </a:r>
            <a:r>
              <a:rPr kumimoji="1"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=s(t)+</a:t>
            </a:r>
            <a:r>
              <a:rPr lang="en-US" altLang="zh-CN" sz="2400" b="1" dirty="0" err="1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n</a:t>
            </a:r>
            <a:r>
              <a:rPr lang="en-US" altLang="zh-CN" sz="2400" b="1" baseline="-25000" dirty="0" err="1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R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ea typeface="宋体" charset="-122"/>
                <a:cs typeface="Arial" pitchFamily="34" charset="0"/>
              </a:rPr>
              <a:t>(t)</a:t>
            </a:r>
            <a:r>
              <a:rPr lang="en-US" altLang="zh-CN" sz="2400" b="1" dirty="0">
                <a:latin typeface="Arial" pitchFamily="34" charset="0"/>
                <a:ea typeface="宋体" charset="-122"/>
                <a:cs typeface="Arial" pitchFamily="34" charset="0"/>
              </a:rPr>
              <a:t> 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在抽样时刻的取值为</a:t>
            </a:r>
            <a:r>
              <a:rPr kumimoji="1" lang="en-US" altLang="zh-CN" sz="2400" b="1" dirty="0">
                <a:latin typeface="Arial" pitchFamily="34" charset="0"/>
                <a:ea typeface="+mn-ea"/>
                <a:cs typeface="Arial" pitchFamily="34" charset="0"/>
              </a:rPr>
              <a:t>:</a:t>
            </a:r>
            <a:endParaRPr kumimoji="1" lang="zh-CN" altLang="en-US" sz="2400" b="1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071563" y="3786188"/>
            <a:ext cx="7000875" cy="541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5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 对比：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  <a:cs typeface="Arial" pitchFamily="34" charset="0"/>
              </a:rPr>
              <a:t>双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  <a:cs typeface="Arial" pitchFamily="34" charset="0"/>
              </a:rPr>
              <a:t>极性</a:t>
            </a: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基带信号，其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抽样值为（</a:t>
            </a:r>
            <a:r>
              <a:rPr kumimoji="1" lang="en-US" altLang="zh-CN" sz="2400" b="1" dirty="0">
                <a:solidFill>
                  <a:srgbClr val="800080"/>
                </a:solidFill>
                <a:latin typeface="Arial" pitchFamily="34" charset="0"/>
                <a:ea typeface="+mn-ea"/>
                <a:cs typeface="Arial" pitchFamily="34" charset="0"/>
              </a:rPr>
              <a:t>+A,</a:t>
            </a:r>
            <a:r>
              <a:rPr kumimoji="1" lang="en-US" altLang="zh-CN" sz="2400" b="1" dirty="0">
                <a:solidFill>
                  <a:srgbClr val="FF0000"/>
                </a:solidFill>
                <a:latin typeface="Arial" pitchFamily="34" charset="0"/>
                <a:ea typeface="+mn-ea"/>
                <a:cs typeface="Arial" pitchFamily="34" charset="0"/>
              </a:rPr>
              <a:t>-A</a:t>
            </a:r>
            <a:r>
              <a:rPr kumimoji="1"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）</a:t>
            </a:r>
            <a:endParaRPr kumimoji="1" lang="zh-CN" altLang="en-US" sz="2400" b="1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233480" name="Object 3"/>
          <p:cNvGraphicFramePr>
            <a:graphicFrameLocks noChangeAspect="1"/>
          </p:cNvGraphicFramePr>
          <p:nvPr/>
        </p:nvGraphicFramePr>
        <p:xfrm>
          <a:off x="2271713" y="4357688"/>
          <a:ext cx="4364037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4" name="Equation" r:id="rId5" imgW="1904760" imgH="482400" progId="Equation.DSMT4">
                  <p:embed/>
                </p:oleObj>
              </mc:Choice>
              <mc:Fallback>
                <p:oleObj name="Equation" r:id="rId5" imgW="1904760" imgH="482400" progId="Equation.DSMT4">
                  <p:embed/>
                  <p:pic>
                    <p:nvPicPr>
                      <p:cNvPr id="23348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1713" y="4357688"/>
                        <a:ext cx="4364037" cy="108267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3">
                                <a:alpha val="64999"/>
                              </a:srgbClr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071563" y="5715000"/>
            <a:ext cx="67151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35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en-US" sz="2400" b="1" dirty="0">
                <a:ea typeface="宋体" charset="-122"/>
              </a:rPr>
              <a:t>∴ </a:t>
            </a:r>
            <a:r>
              <a:rPr lang="zh-CN" altLang="en-US" sz="2400" b="1" dirty="0">
                <a:ea typeface="宋体" charset="-122"/>
              </a:rPr>
              <a:t>只需将         的分布中心由</a:t>
            </a:r>
            <a:r>
              <a:rPr lang="en-US" altLang="zh-CN" sz="2400" b="1" dirty="0">
                <a:solidFill>
                  <a:srgbClr val="FF0000"/>
                </a:solidFill>
                <a:ea typeface="宋体" charset="-122"/>
              </a:rPr>
              <a:t>-A </a:t>
            </a:r>
            <a:r>
              <a:rPr lang="zh-CN" altLang="en-US" sz="2400" b="1" dirty="0">
                <a:ea typeface="宋体" charset="-122"/>
              </a:rPr>
              <a:t>移到</a:t>
            </a:r>
            <a:r>
              <a:rPr lang="en-US" altLang="zh-CN" sz="2400" b="1" dirty="0">
                <a:solidFill>
                  <a:srgbClr val="FF0000"/>
                </a:solidFill>
                <a:ea typeface="宋体" charset="-122"/>
              </a:rPr>
              <a:t>0</a:t>
            </a:r>
            <a:r>
              <a:rPr lang="zh-CN" altLang="en-US" sz="2400" b="1" dirty="0">
                <a:ea typeface="宋体" charset="-122"/>
              </a:rPr>
              <a:t>即可：</a:t>
            </a:r>
            <a:endParaRPr kumimoji="1" lang="zh-CN" altLang="en-US" sz="2400" b="1" dirty="0">
              <a:solidFill>
                <a:srgbClr val="FF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234510" name="Object 14"/>
          <p:cNvGraphicFramePr>
            <a:graphicFrameLocks noChangeAspect="1"/>
          </p:cNvGraphicFramePr>
          <p:nvPr/>
        </p:nvGraphicFramePr>
        <p:xfrm>
          <a:off x="2571750" y="5715000"/>
          <a:ext cx="8413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5" name="Equation" r:id="rId7" imgW="368280" imgH="228600" progId="Equation.DSMT4">
                  <p:embed/>
                </p:oleObj>
              </mc:Choice>
              <mc:Fallback>
                <p:oleObj name="Equation" r:id="rId7" imgW="368280" imgH="228600" progId="Equation.DSMT4">
                  <p:embed/>
                  <p:pic>
                    <p:nvPicPr>
                      <p:cNvPr id="2345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5715000"/>
                        <a:ext cx="8413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B9">
                                <a:alpha val="81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96969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9"/>
          <p:cNvSpPr>
            <a:spLocks noEditPoints="1"/>
          </p:cNvSpPr>
          <p:nvPr/>
        </p:nvSpPr>
        <p:spPr bwMode="auto">
          <a:xfrm flipH="1">
            <a:off x="5286375" y="5786438"/>
            <a:ext cx="1090613" cy="698500"/>
          </a:xfrm>
          <a:custGeom>
            <a:avLst/>
            <a:gdLst>
              <a:gd name="T0" fmla="*/ 1802 w 1844"/>
              <a:gd name="T1" fmla="*/ 4 h 916"/>
              <a:gd name="T2" fmla="*/ 1844 w 1844"/>
              <a:gd name="T3" fmla="*/ 0 h 916"/>
              <a:gd name="T4" fmla="*/ 1824 w 1844"/>
              <a:gd name="T5" fmla="*/ 0 h 916"/>
              <a:gd name="T6" fmla="*/ 1802 w 1844"/>
              <a:gd name="T7" fmla="*/ 4 h 916"/>
              <a:gd name="T8" fmla="*/ 352 w 1844"/>
              <a:gd name="T9" fmla="*/ 732 h 916"/>
              <a:gd name="T10" fmla="*/ 400 w 1844"/>
              <a:gd name="T11" fmla="*/ 754 h 916"/>
              <a:gd name="T12" fmla="*/ 500 w 1844"/>
              <a:gd name="T13" fmla="*/ 792 h 916"/>
              <a:gd name="T14" fmla="*/ 598 w 1844"/>
              <a:gd name="T15" fmla="*/ 818 h 916"/>
              <a:gd name="T16" fmla="*/ 696 w 1844"/>
              <a:gd name="T17" fmla="*/ 838 h 916"/>
              <a:gd name="T18" fmla="*/ 790 w 1844"/>
              <a:gd name="T19" fmla="*/ 846 h 916"/>
              <a:gd name="T20" fmla="*/ 878 w 1844"/>
              <a:gd name="T21" fmla="*/ 846 h 916"/>
              <a:gd name="T22" fmla="*/ 962 w 1844"/>
              <a:gd name="T23" fmla="*/ 838 h 916"/>
              <a:gd name="T24" fmla="*/ 1038 w 1844"/>
              <a:gd name="T25" fmla="*/ 820 h 916"/>
              <a:gd name="T26" fmla="*/ 1074 w 1844"/>
              <a:gd name="T27" fmla="*/ 808 h 916"/>
              <a:gd name="T28" fmla="*/ 1144 w 1844"/>
              <a:gd name="T29" fmla="*/ 774 h 916"/>
              <a:gd name="T30" fmla="*/ 1208 w 1844"/>
              <a:gd name="T31" fmla="*/ 736 h 916"/>
              <a:gd name="T32" fmla="*/ 1262 w 1844"/>
              <a:gd name="T33" fmla="*/ 696 h 916"/>
              <a:gd name="T34" fmla="*/ 1310 w 1844"/>
              <a:gd name="T35" fmla="*/ 652 h 916"/>
              <a:gd name="T36" fmla="*/ 1350 w 1844"/>
              <a:gd name="T37" fmla="*/ 606 h 916"/>
              <a:gd name="T38" fmla="*/ 1384 w 1844"/>
              <a:gd name="T39" fmla="*/ 558 h 916"/>
              <a:gd name="T40" fmla="*/ 1410 w 1844"/>
              <a:gd name="T41" fmla="*/ 512 h 916"/>
              <a:gd name="T42" fmla="*/ 1432 w 1844"/>
              <a:gd name="T43" fmla="*/ 464 h 916"/>
              <a:gd name="T44" fmla="*/ 1484 w 1844"/>
              <a:gd name="T45" fmla="*/ 348 h 916"/>
              <a:gd name="T46" fmla="*/ 1534 w 1844"/>
              <a:gd name="T47" fmla="*/ 252 h 916"/>
              <a:gd name="T48" fmla="*/ 1584 w 1844"/>
              <a:gd name="T49" fmla="*/ 174 h 916"/>
              <a:gd name="T50" fmla="*/ 1634 w 1844"/>
              <a:gd name="T51" fmla="*/ 114 h 916"/>
              <a:gd name="T52" fmla="*/ 1680 w 1844"/>
              <a:gd name="T53" fmla="*/ 68 h 916"/>
              <a:gd name="T54" fmla="*/ 1724 w 1844"/>
              <a:gd name="T55" fmla="*/ 36 h 916"/>
              <a:gd name="T56" fmla="*/ 1766 w 1844"/>
              <a:gd name="T57" fmla="*/ 16 h 916"/>
              <a:gd name="T58" fmla="*/ 1802 w 1844"/>
              <a:gd name="T59" fmla="*/ 4 h 916"/>
              <a:gd name="T60" fmla="*/ 1774 w 1844"/>
              <a:gd name="T61" fmla="*/ 12 h 916"/>
              <a:gd name="T62" fmla="*/ 1720 w 1844"/>
              <a:gd name="T63" fmla="*/ 36 h 916"/>
              <a:gd name="T64" fmla="*/ 1668 w 1844"/>
              <a:gd name="T65" fmla="*/ 74 h 916"/>
              <a:gd name="T66" fmla="*/ 1618 w 1844"/>
              <a:gd name="T67" fmla="*/ 126 h 916"/>
              <a:gd name="T68" fmla="*/ 1572 w 1844"/>
              <a:gd name="T69" fmla="*/ 186 h 916"/>
              <a:gd name="T70" fmla="*/ 1526 w 1844"/>
              <a:gd name="T71" fmla="*/ 256 h 916"/>
              <a:gd name="T72" fmla="*/ 1484 w 1844"/>
              <a:gd name="T73" fmla="*/ 334 h 916"/>
              <a:gd name="T74" fmla="*/ 1426 w 1844"/>
              <a:gd name="T75" fmla="*/ 462 h 916"/>
              <a:gd name="T76" fmla="*/ 1412 w 1844"/>
              <a:gd name="T77" fmla="*/ 492 h 916"/>
              <a:gd name="T78" fmla="*/ 1378 w 1844"/>
              <a:gd name="T79" fmla="*/ 550 h 916"/>
              <a:gd name="T80" fmla="*/ 1340 w 1844"/>
              <a:gd name="T81" fmla="*/ 602 h 916"/>
              <a:gd name="T82" fmla="*/ 1296 w 1844"/>
              <a:gd name="T83" fmla="*/ 646 h 916"/>
              <a:gd name="T84" fmla="*/ 1248 w 1844"/>
              <a:gd name="T85" fmla="*/ 688 h 916"/>
              <a:gd name="T86" fmla="*/ 1196 w 1844"/>
              <a:gd name="T87" fmla="*/ 722 h 916"/>
              <a:gd name="T88" fmla="*/ 1144 w 1844"/>
              <a:gd name="T89" fmla="*/ 750 h 916"/>
              <a:gd name="T90" fmla="*/ 1090 w 1844"/>
              <a:gd name="T91" fmla="*/ 774 h 916"/>
              <a:gd name="T92" fmla="*/ 1064 w 1844"/>
              <a:gd name="T93" fmla="*/ 784 h 916"/>
              <a:gd name="T94" fmla="*/ 996 w 1844"/>
              <a:gd name="T95" fmla="*/ 800 h 916"/>
              <a:gd name="T96" fmla="*/ 920 w 1844"/>
              <a:gd name="T97" fmla="*/ 808 h 916"/>
              <a:gd name="T98" fmla="*/ 840 w 1844"/>
              <a:gd name="T99" fmla="*/ 808 h 916"/>
              <a:gd name="T100" fmla="*/ 754 w 1844"/>
              <a:gd name="T101" fmla="*/ 798 h 916"/>
              <a:gd name="T102" fmla="*/ 666 w 1844"/>
              <a:gd name="T103" fmla="*/ 782 h 916"/>
              <a:gd name="T104" fmla="*/ 574 w 1844"/>
              <a:gd name="T105" fmla="*/ 756 h 916"/>
              <a:gd name="T106" fmla="*/ 482 w 1844"/>
              <a:gd name="T107" fmla="*/ 724 h 916"/>
              <a:gd name="T108" fmla="*/ 388 w 1844"/>
              <a:gd name="T109" fmla="*/ 684 h 916"/>
              <a:gd name="T110" fmla="*/ 0 w 1844"/>
              <a:gd name="T111" fmla="*/ 540 h 9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844" h="916">
                <a:moveTo>
                  <a:pt x="1802" y="4"/>
                </a:moveTo>
                <a:lnTo>
                  <a:pt x="1802" y="4"/>
                </a:lnTo>
                <a:lnTo>
                  <a:pt x="1824" y="2"/>
                </a:lnTo>
                <a:lnTo>
                  <a:pt x="1844" y="0"/>
                </a:lnTo>
                <a:lnTo>
                  <a:pt x="1844" y="0"/>
                </a:lnTo>
                <a:lnTo>
                  <a:pt x="1824" y="0"/>
                </a:lnTo>
                <a:lnTo>
                  <a:pt x="1802" y="4"/>
                </a:lnTo>
                <a:lnTo>
                  <a:pt x="1802" y="4"/>
                </a:lnTo>
                <a:close/>
                <a:moveTo>
                  <a:pt x="436" y="916"/>
                </a:moveTo>
                <a:lnTo>
                  <a:pt x="352" y="732"/>
                </a:lnTo>
                <a:lnTo>
                  <a:pt x="352" y="732"/>
                </a:lnTo>
                <a:lnTo>
                  <a:pt x="400" y="754"/>
                </a:lnTo>
                <a:lnTo>
                  <a:pt x="450" y="774"/>
                </a:lnTo>
                <a:lnTo>
                  <a:pt x="500" y="792"/>
                </a:lnTo>
                <a:lnTo>
                  <a:pt x="548" y="806"/>
                </a:lnTo>
                <a:lnTo>
                  <a:pt x="598" y="818"/>
                </a:lnTo>
                <a:lnTo>
                  <a:pt x="648" y="830"/>
                </a:lnTo>
                <a:lnTo>
                  <a:pt x="696" y="838"/>
                </a:lnTo>
                <a:lnTo>
                  <a:pt x="742" y="844"/>
                </a:lnTo>
                <a:lnTo>
                  <a:pt x="790" y="846"/>
                </a:lnTo>
                <a:lnTo>
                  <a:pt x="834" y="848"/>
                </a:lnTo>
                <a:lnTo>
                  <a:pt x="878" y="846"/>
                </a:lnTo>
                <a:lnTo>
                  <a:pt x="922" y="844"/>
                </a:lnTo>
                <a:lnTo>
                  <a:pt x="962" y="838"/>
                </a:lnTo>
                <a:lnTo>
                  <a:pt x="1002" y="830"/>
                </a:lnTo>
                <a:lnTo>
                  <a:pt x="1038" y="820"/>
                </a:lnTo>
                <a:lnTo>
                  <a:pt x="1074" y="808"/>
                </a:lnTo>
                <a:lnTo>
                  <a:pt x="1074" y="808"/>
                </a:lnTo>
                <a:lnTo>
                  <a:pt x="1110" y="792"/>
                </a:lnTo>
                <a:lnTo>
                  <a:pt x="1144" y="774"/>
                </a:lnTo>
                <a:lnTo>
                  <a:pt x="1178" y="756"/>
                </a:lnTo>
                <a:lnTo>
                  <a:pt x="1208" y="736"/>
                </a:lnTo>
                <a:lnTo>
                  <a:pt x="1236" y="716"/>
                </a:lnTo>
                <a:lnTo>
                  <a:pt x="1262" y="696"/>
                </a:lnTo>
                <a:lnTo>
                  <a:pt x="1288" y="674"/>
                </a:lnTo>
                <a:lnTo>
                  <a:pt x="1310" y="652"/>
                </a:lnTo>
                <a:lnTo>
                  <a:pt x="1330" y="628"/>
                </a:lnTo>
                <a:lnTo>
                  <a:pt x="1350" y="606"/>
                </a:lnTo>
                <a:lnTo>
                  <a:pt x="1368" y="582"/>
                </a:lnTo>
                <a:lnTo>
                  <a:pt x="1384" y="558"/>
                </a:lnTo>
                <a:lnTo>
                  <a:pt x="1398" y="536"/>
                </a:lnTo>
                <a:lnTo>
                  <a:pt x="1410" y="512"/>
                </a:lnTo>
                <a:lnTo>
                  <a:pt x="1432" y="464"/>
                </a:lnTo>
                <a:lnTo>
                  <a:pt x="1432" y="464"/>
                </a:lnTo>
                <a:lnTo>
                  <a:pt x="1458" y="404"/>
                </a:lnTo>
                <a:lnTo>
                  <a:pt x="1484" y="348"/>
                </a:lnTo>
                <a:lnTo>
                  <a:pt x="1508" y="298"/>
                </a:lnTo>
                <a:lnTo>
                  <a:pt x="1534" y="252"/>
                </a:lnTo>
                <a:lnTo>
                  <a:pt x="1560" y="210"/>
                </a:lnTo>
                <a:lnTo>
                  <a:pt x="1584" y="174"/>
                </a:lnTo>
                <a:lnTo>
                  <a:pt x="1610" y="142"/>
                </a:lnTo>
                <a:lnTo>
                  <a:pt x="1634" y="114"/>
                </a:lnTo>
                <a:lnTo>
                  <a:pt x="1656" y="90"/>
                </a:lnTo>
                <a:lnTo>
                  <a:pt x="1680" y="68"/>
                </a:lnTo>
                <a:lnTo>
                  <a:pt x="1702" y="50"/>
                </a:lnTo>
                <a:lnTo>
                  <a:pt x="1724" y="36"/>
                </a:lnTo>
                <a:lnTo>
                  <a:pt x="1744" y="24"/>
                </a:lnTo>
                <a:lnTo>
                  <a:pt x="1766" y="16"/>
                </a:lnTo>
                <a:lnTo>
                  <a:pt x="1784" y="8"/>
                </a:lnTo>
                <a:lnTo>
                  <a:pt x="1802" y="4"/>
                </a:lnTo>
                <a:lnTo>
                  <a:pt x="1802" y="4"/>
                </a:lnTo>
                <a:lnTo>
                  <a:pt x="1774" y="12"/>
                </a:lnTo>
                <a:lnTo>
                  <a:pt x="1746" y="22"/>
                </a:lnTo>
                <a:lnTo>
                  <a:pt x="1720" y="36"/>
                </a:lnTo>
                <a:lnTo>
                  <a:pt x="1694" y="54"/>
                </a:lnTo>
                <a:lnTo>
                  <a:pt x="1668" y="74"/>
                </a:lnTo>
                <a:lnTo>
                  <a:pt x="1642" y="98"/>
                </a:lnTo>
                <a:lnTo>
                  <a:pt x="1618" y="126"/>
                </a:lnTo>
                <a:lnTo>
                  <a:pt x="1594" y="154"/>
                </a:lnTo>
                <a:lnTo>
                  <a:pt x="1572" y="186"/>
                </a:lnTo>
                <a:lnTo>
                  <a:pt x="1548" y="220"/>
                </a:lnTo>
                <a:lnTo>
                  <a:pt x="1526" y="256"/>
                </a:lnTo>
                <a:lnTo>
                  <a:pt x="1506" y="294"/>
                </a:lnTo>
                <a:lnTo>
                  <a:pt x="1484" y="334"/>
                </a:lnTo>
                <a:lnTo>
                  <a:pt x="1464" y="376"/>
                </a:lnTo>
                <a:lnTo>
                  <a:pt x="1426" y="462"/>
                </a:lnTo>
                <a:lnTo>
                  <a:pt x="1426" y="462"/>
                </a:lnTo>
                <a:lnTo>
                  <a:pt x="1412" y="492"/>
                </a:lnTo>
                <a:lnTo>
                  <a:pt x="1396" y="522"/>
                </a:lnTo>
                <a:lnTo>
                  <a:pt x="1378" y="550"/>
                </a:lnTo>
                <a:lnTo>
                  <a:pt x="1360" y="576"/>
                </a:lnTo>
                <a:lnTo>
                  <a:pt x="1340" y="602"/>
                </a:lnTo>
                <a:lnTo>
                  <a:pt x="1318" y="624"/>
                </a:lnTo>
                <a:lnTo>
                  <a:pt x="1296" y="646"/>
                </a:lnTo>
                <a:lnTo>
                  <a:pt x="1272" y="668"/>
                </a:lnTo>
                <a:lnTo>
                  <a:pt x="1248" y="688"/>
                </a:lnTo>
                <a:lnTo>
                  <a:pt x="1222" y="706"/>
                </a:lnTo>
                <a:lnTo>
                  <a:pt x="1196" y="722"/>
                </a:lnTo>
                <a:lnTo>
                  <a:pt x="1170" y="738"/>
                </a:lnTo>
                <a:lnTo>
                  <a:pt x="1144" y="750"/>
                </a:lnTo>
                <a:lnTo>
                  <a:pt x="1118" y="764"/>
                </a:lnTo>
                <a:lnTo>
                  <a:pt x="1090" y="774"/>
                </a:lnTo>
                <a:lnTo>
                  <a:pt x="1064" y="784"/>
                </a:lnTo>
                <a:lnTo>
                  <a:pt x="1064" y="784"/>
                </a:lnTo>
                <a:lnTo>
                  <a:pt x="1032" y="792"/>
                </a:lnTo>
                <a:lnTo>
                  <a:pt x="996" y="800"/>
                </a:lnTo>
                <a:lnTo>
                  <a:pt x="960" y="806"/>
                </a:lnTo>
                <a:lnTo>
                  <a:pt x="920" y="808"/>
                </a:lnTo>
                <a:lnTo>
                  <a:pt x="882" y="810"/>
                </a:lnTo>
                <a:lnTo>
                  <a:pt x="840" y="808"/>
                </a:lnTo>
                <a:lnTo>
                  <a:pt x="798" y="804"/>
                </a:lnTo>
                <a:lnTo>
                  <a:pt x="754" y="798"/>
                </a:lnTo>
                <a:lnTo>
                  <a:pt x="710" y="792"/>
                </a:lnTo>
                <a:lnTo>
                  <a:pt x="666" y="782"/>
                </a:lnTo>
                <a:lnTo>
                  <a:pt x="620" y="770"/>
                </a:lnTo>
                <a:lnTo>
                  <a:pt x="574" y="756"/>
                </a:lnTo>
                <a:lnTo>
                  <a:pt x="528" y="742"/>
                </a:lnTo>
                <a:lnTo>
                  <a:pt x="482" y="724"/>
                </a:lnTo>
                <a:lnTo>
                  <a:pt x="434" y="704"/>
                </a:lnTo>
                <a:lnTo>
                  <a:pt x="388" y="684"/>
                </a:lnTo>
                <a:lnTo>
                  <a:pt x="488" y="630"/>
                </a:lnTo>
                <a:lnTo>
                  <a:pt x="0" y="540"/>
                </a:lnTo>
                <a:lnTo>
                  <a:pt x="436" y="916"/>
                </a:lnTo>
                <a:close/>
              </a:path>
            </a:pathLst>
          </a:custGeom>
          <a:solidFill>
            <a:schemeClr val="bg2">
              <a:lumMod val="50000"/>
              <a:lumOff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31450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3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/>
      <p:bldP spid="8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72"/>
          <a:stretch>
            <a:fillRect/>
          </a:stretch>
        </p:blipFill>
        <p:spPr bwMode="auto">
          <a:xfrm>
            <a:off x="1252538" y="1049338"/>
            <a:ext cx="6505575" cy="308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8"/>
          <p:cNvCxnSpPr/>
          <p:nvPr/>
        </p:nvCxnSpPr>
        <p:spPr>
          <a:xfrm rot="5400000">
            <a:off x="3994150" y="2506663"/>
            <a:ext cx="1357313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386263" y="3186113"/>
            <a:ext cx="514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i="1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V</a:t>
            </a:r>
            <a:r>
              <a:rPr kumimoji="1" lang="en-US" altLang="zh-CN" sz="2400" b="1" baseline="-2500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endParaRPr lang="zh-CN" altLang="en-US"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341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00"/>
          <a:stretch>
            <a:fillRect/>
          </a:stretch>
        </p:blipFill>
        <p:spPr bwMode="auto">
          <a:xfrm>
            <a:off x="1287463" y="4762500"/>
            <a:ext cx="6573837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098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53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15"/>
          <a:stretch>
            <a:fillRect/>
          </a:stretch>
        </p:blipFill>
        <p:spPr bwMode="auto">
          <a:xfrm>
            <a:off x="4764088" y="1287463"/>
            <a:ext cx="3822700" cy="511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2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57"/>
          <a:stretch>
            <a:fillRect/>
          </a:stretch>
        </p:blipFill>
        <p:spPr bwMode="auto">
          <a:xfrm>
            <a:off x="527050" y="1281113"/>
            <a:ext cx="3821113" cy="512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2928938" y="357188"/>
            <a:ext cx="2786062" cy="604837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ts val="4000"/>
              </a:lnSpc>
              <a:buClr>
                <a:srgbClr val="FF0000"/>
              </a:buClr>
              <a:buSzPct val="8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归纳  对比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800" b="1" dirty="0"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graphicFrame>
        <p:nvGraphicFramePr>
          <p:cNvPr id="19" name="Object 23"/>
          <p:cNvGraphicFramePr>
            <a:graphicFrameLocks noChangeAspect="1"/>
          </p:cNvGraphicFramePr>
          <p:nvPr/>
        </p:nvGraphicFramePr>
        <p:xfrm>
          <a:off x="6357938" y="3960813"/>
          <a:ext cx="1785937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89" name="Equation" r:id="rId5" imgW="634680" imgH="241200" progId="Equation.DSMT4">
                  <p:embed/>
                </p:oleObj>
              </mc:Choice>
              <mc:Fallback>
                <p:oleObj name="Equation" r:id="rId5" imgW="634680" imgH="241200" progId="Equation.DSMT4">
                  <p:embed/>
                  <p:pic>
                    <p:nvPicPr>
                      <p:cNvPr id="1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3960813"/>
                        <a:ext cx="1785937" cy="6826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9FF">
                                <a:alpha val="84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4"/>
          <p:cNvGraphicFramePr>
            <a:graphicFrameLocks noChangeAspect="1"/>
          </p:cNvGraphicFramePr>
          <p:nvPr/>
        </p:nvGraphicFramePr>
        <p:xfrm>
          <a:off x="5013325" y="4930775"/>
          <a:ext cx="3198813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0" name="Equation" r:id="rId7" imgW="1231560" imgH="444240" progId="Equation.DSMT4">
                  <p:embed/>
                </p:oleObj>
              </mc:Choice>
              <mc:Fallback>
                <p:oleObj name="Equation" r:id="rId7" imgW="1231560" imgH="444240" progId="Equation.DSMT4">
                  <p:embed/>
                  <p:pic>
                    <p:nvPicPr>
                      <p:cNvPr id="2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4930775"/>
                        <a:ext cx="3198813" cy="12128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9FF">
                                <a:alpha val="86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5"/>
          <p:cNvGraphicFramePr>
            <a:graphicFrameLocks noChangeAspect="1"/>
          </p:cNvGraphicFramePr>
          <p:nvPr/>
        </p:nvGraphicFramePr>
        <p:xfrm>
          <a:off x="4910138" y="2320925"/>
          <a:ext cx="3475037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1" name="Equation" r:id="rId9" imgW="1282680" imgH="444240" progId="Equation.DSMT4">
                  <p:embed/>
                </p:oleObj>
              </mc:Choice>
              <mc:Fallback>
                <p:oleObj name="Equation" r:id="rId9" imgW="1282680" imgH="444240" progId="Equation.DSMT4">
                  <p:embed/>
                  <p:pic>
                    <p:nvPicPr>
                      <p:cNvPr id="2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138" y="2320925"/>
                        <a:ext cx="3475037" cy="11795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9FF">
                                <a:alpha val="75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4849980" y="3881438"/>
            <a:ext cx="173736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等概时：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en-US" altLang="zh-CN" sz="2800" dirty="0">
              <a:latin typeface="黑体" pitchFamily="2" charset="-122"/>
              <a:ea typeface="黑体" pitchFamily="2" charset="-122"/>
            </a:endParaRPr>
          </a:p>
        </p:txBody>
      </p:sp>
      <p:graphicFrame>
        <p:nvGraphicFramePr>
          <p:cNvPr id="26" name="Object 8"/>
          <p:cNvGraphicFramePr>
            <a:graphicFrameLocks noChangeAspect="1"/>
          </p:cNvGraphicFramePr>
          <p:nvPr/>
        </p:nvGraphicFramePr>
        <p:xfrm>
          <a:off x="2286000" y="3962400"/>
          <a:ext cx="1214438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2" name="Equation" r:id="rId11" imgW="431640" imgH="241200" progId="Equation.DSMT4">
                  <p:embed/>
                </p:oleObj>
              </mc:Choice>
              <mc:Fallback>
                <p:oleObj name="Equation" r:id="rId11" imgW="431640" imgH="241200" progId="Equation.DSMT4">
                  <p:embed/>
                  <p:pic>
                    <p:nvPicPr>
                      <p:cNvPr id="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962400"/>
                        <a:ext cx="1214438" cy="68103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9FF">
                                <a:alpha val="84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9"/>
          <p:cNvGraphicFramePr>
            <a:graphicFrameLocks noChangeAspect="1"/>
          </p:cNvGraphicFramePr>
          <p:nvPr/>
        </p:nvGraphicFramePr>
        <p:xfrm>
          <a:off x="928688" y="4929188"/>
          <a:ext cx="3000375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3" name="Equation" r:id="rId13" imgW="1155600" imgH="444240" progId="Equation.DSMT4">
                  <p:embed/>
                </p:oleObj>
              </mc:Choice>
              <mc:Fallback>
                <p:oleObj name="Equation" r:id="rId13" imgW="1155600" imgH="444240" progId="Equation.DSMT4">
                  <p:embed/>
                  <p:pic>
                    <p:nvPicPr>
                      <p:cNvPr id="2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4929188"/>
                        <a:ext cx="3000375" cy="12128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9FF">
                                <a:alpha val="86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1071563" y="2320925"/>
          <a:ext cx="2786062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94" name="Equation" r:id="rId15" imgW="1028520" imgH="444240" progId="Equation.DSMT4">
                  <p:embed/>
                </p:oleObj>
              </mc:Choice>
              <mc:Fallback>
                <p:oleObj name="Equation" r:id="rId15" imgW="1028520" imgH="444240" progId="Equation.DSMT4">
                  <p:embed/>
                  <p:pic>
                    <p:nvPicPr>
                      <p:cNvPr id="2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2320925"/>
                        <a:ext cx="2786062" cy="11795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9FF">
                                <a:alpha val="75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723424" y="3927125"/>
            <a:ext cx="1714182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等概时：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endParaRPr lang="zh-CN" altLang="en-US" sz="2800" dirty="0">
              <a:latin typeface="黑体" pitchFamily="2" charset="-122"/>
              <a:ea typeface="黑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endParaRPr lang="en-US" altLang="zh-CN" sz="2800" dirty="0"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28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670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55638" y="3206750"/>
          <a:ext cx="36909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8" name="Equation" r:id="rId3" imgW="1968480" imgH="482400" progId="Equation.DSMT4">
                  <p:embed/>
                </p:oleObj>
              </mc:Choice>
              <mc:Fallback>
                <p:oleObj name="Equation" r:id="rId3" imgW="1968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3206750"/>
                        <a:ext cx="3690937" cy="904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0" y="2809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5671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888114673"/>
              </p:ext>
            </p:extLst>
          </p:nvPr>
        </p:nvGraphicFramePr>
        <p:xfrm>
          <a:off x="3556000" y="4303713"/>
          <a:ext cx="4635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9" name="Equation" r:id="rId5" imgW="2349360" imgH="482400" progId="Equation.DSMT4">
                  <p:embed/>
                </p:oleObj>
              </mc:Choice>
              <mc:Fallback>
                <p:oleObj name="Equation" r:id="rId5" imgW="2349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4303713"/>
                        <a:ext cx="4635500" cy="9525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13" name="AutoShape 9"/>
          <p:cNvSpPr>
            <a:spLocks noChangeArrowheads="1"/>
          </p:cNvSpPr>
          <p:nvPr/>
        </p:nvSpPr>
        <p:spPr bwMode="auto">
          <a:xfrm>
            <a:off x="4838700" y="3429000"/>
            <a:ext cx="1349375" cy="487363"/>
          </a:xfrm>
          <a:prstGeom prst="wedgeRoundRectCallout">
            <a:avLst>
              <a:gd name="adj1" fmla="val -62014"/>
              <a:gd name="adj2" fmla="val 136037"/>
              <a:gd name="adj3" fmla="val 16667"/>
            </a:avLst>
          </a:prstGeom>
          <a:noFill/>
          <a:ln w="9525">
            <a:solidFill>
              <a:srgbClr val="80808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</a:rPr>
              <a:t>= </a:t>
            </a:r>
            <a:r>
              <a:rPr lang="en-US" altLang="zh-CN" sz="2800" dirty="0">
                <a:solidFill>
                  <a:schemeClr val="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1512" name="Rectangle 15"/>
          <p:cNvSpPr>
            <a:spLocks noChangeArrowheads="1"/>
          </p:cNvSpPr>
          <p:nvPr/>
        </p:nvSpPr>
        <p:spPr bwMode="auto">
          <a:xfrm>
            <a:off x="0" y="2800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3" name="Rectangle 18"/>
          <p:cNvSpPr>
            <a:spLocks noChangeArrowheads="1"/>
          </p:cNvSpPr>
          <p:nvPr/>
        </p:nvSpPr>
        <p:spPr bwMode="auto">
          <a:xfrm>
            <a:off x="0" y="2728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56723" name="Object 19"/>
          <p:cNvGraphicFramePr>
            <a:graphicFrameLocks noChangeAspect="1"/>
          </p:cNvGraphicFramePr>
          <p:nvPr/>
        </p:nvGraphicFramePr>
        <p:xfrm>
          <a:off x="971550" y="4406900"/>
          <a:ext cx="22796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80" name="Visio" r:id="rId7" imgW="2435299" imgH="866570" progId="Visio.Drawing.11">
                  <p:embed/>
                </p:oleObj>
              </mc:Choice>
              <mc:Fallback>
                <p:oleObj name="Visio" r:id="rId7" imgW="2435299" imgH="86657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406900"/>
                        <a:ext cx="2279650" cy="84931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DDDDDD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24" name="Rectangle 20"/>
          <p:cNvSpPr>
            <a:spLocks noChangeArrowheads="1"/>
          </p:cNvSpPr>
          <p:nvPr/>
        </p:nvSpPr>
        <p:spPr bwMode="auto">
          <a:xfrm>
            <a:off x="971550" y="4362450"/>
            <a:ext cx="2295525" cy="914400"/>
          </a:xfrm>
          <a:prstGeom prst="rect">
            <a:avLst/>
          </a:prstGeom>
          <a:noFill/>
          <a:ln w="19050">
            <a:solidFill>
              <a:schemeClr val="folHlink"/>
            </a:solidFill>
            <a:prstDash val="dash"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aphicFrame>
        <p:nvGraphicFramePr>
          <p:cNvPr id="456725" name="Object 21"/>
          <p:cNvGraphicFramePr>
            <a:graphicFrameLocks noChangeAspect="1"/>
          </p:cNvGraphicFramePr>
          <p:nvPr/>
        </p:nvGraphicFramePr>
        <p:xfrm>
          <a:off x="3475038" y="5307013"/>
          <a:ext cx="4786312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81" name="Equation" r:id="rId9" imgW="2286000" imgH="482400" progId="Equation.DSMT4">
                  <p:embed/>
                </p:oleObj>
              </mc:Choice>
              <mc:Fallback>
                <p:oleObj name="Equation" r:id="rId9" imgW="2286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5307013"/>
                        <a:ext cx="4786312" cy="1011237"/>
                      </a:xfrm>
                      <a:prstGeom prst="rect">
                        <a:avLst/>
                      </a:prstGeom>
                      <a:solidFill>
                        <a:schemeClr val="bg1">
                          <a:alpha val="67999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6727" name="AutoShape 23"/>
          <p:cNvSpPr>
            <a:spLocks noChangeArrowheads="1"/>
          </p:cNvSpPr>
          <p:nvPr/>
        </p:nvSpPr>
        <p:spPr bwMode="auto">
          <a:xfrm>
            <a:off x="658813" y="3962400"/>
            <a:ext cx="179387" cy="584200"/>
          </a:xfrm>
          <a:prstGeom prst="curvedRightArrow">
            <a:avLst>
              <a:gd name="adj1" fmla="val 65133"/>
              <a:gd name="adj2" fmla="val 130266"/>
              <a:gd name="adj3" fmla="val 33333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450850"/>
            <a:ext cx="71120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.2.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   </a:t>
            </a:r>
            <a:r>
              <a:rPr lang="en-US" altLang="zh-CN" sz="32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2ASK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系统的抗噪声性能</a:t>
            </a:r>
            <a:endParaRPr lang="en-US" altLang="zh-CN" sz="3200" b="1" kern="0" dirty="0">
              <a:solidFill>
                <a:srgbClr val="0033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750888" y="1117600"/>
            <a:ext cx="3065462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Times New Roman" pitchFamily="18" charset="0"/>
              </a:rPr>
              <a:t>  </a:t>
            </a:r>
            <a:r>
              <a:rPr lang="en-US" altLang="zh-CN" sz="2400" b="1" dirty="0">
                <a:ea typeface="楷体_GB2312" pitchFamily="49" charset="-122"/>
              </a:rPr>
              <a:t>2ASK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---</a:t>
            </a:r>
            <a:r>
              <a:rPr lang="zh-CN" altLang="en-US" sz="2400" b="1" kern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相干</a:t>
            </a:r>
            <a:r>
              <a:rPr lang="zh-CN" altLang="en-US" sz="2400" b="1" kern="0" dirty="0">
                <a:latin typeface="微软雅黑" pitchFamily="34" charset="-122"/>
                <a:ea typeface="微软雅黑" pitchFamily="34" charset="-122"/>
              </a:rPr>
              <a:t>解调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pic>
        <p:nvPicPr>
          <p:cNvPr id="26640" name="Picture 16"/>
          <p:cNvPicPr>
            <a:picLocks noChangeAspect="1" noChangeArrowheads="1"/>
          </p:cNvPicPr>
          <p:nvPr/>
        </p:nvPicPr>
        <p:blipFill>
          <a:blip r:embed="rId11"/>
          <a:srcRect l="10603" t="43473" b="11030"/>
          <a:stretch>
            <a:fillRect/>
          </a:stretch>
        </p:blipFill>
        <p:spPr bwMode="auto">
          <a:xfrm>
            <a:off x="793750" y="1695450"/>
            <a:ext cx="79406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56717" name="Rectangle 13"/>
          <p:cNvSpPr>
            <a:spLocks noChangeArrowheads="1"/>
          </p:cNvSpPr>
          <p:nvPr/>
        </p:nvSpPr>
        <p:spPr bwMode="auto">
          <a:xfrm>
            <a:off x="1667760" y="1828800"/>
            <a:ext cx="811212" cy="633412"/>
          </a:xfrm>
          <a:prstGeom prst="rect">
            <a:avLst/>
          </a:prstGeom>
          <a:noFill/>
          <a:ln w="19050">
            <a:solidFill>
              <a:srgbClr val="0000CC"/>
            </a:solidFill>
            <a:prstDash val="dash"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79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56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56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56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8" dur="1000"/>
                                        <p:tgtEl>
                                          <p:spTgt spid="456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1000"/>
                                        <p:tgtEl>
                                          <p:spTgt spid="456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456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45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45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45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56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56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56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13" grpId="0" animBg="1"/>
      <p:bldP spid="456727" grpId="0" animBg="1"/>
      <p:bldP spid="16" grpId="0"/>
      <p:bldP spid="1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Rectangle 20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6" name="Rectangle 5"/>
          <p:cNvSpPr>
            <a:spLocks noChangeArrowheads="1"/>
          </p:cNvSpPr>
          <p:nvPr/>
        </p:nvSpPr>
        <p:spPr bwMode="auto">
          <a:xfrm>
            <a:off x="0" y="2809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3741" name="Object 13"/>
          <p:cNvGraphicFramePr>
            <a:graphicFrameLocks noChangeAspect="1"/>
          </p:cNvGraphicFramePr>
          <p:nvPr/>
        </p:nvGraphicFramePr>
        <p:xfrm>
          <a:off x="2171700" y="5251450"/>
          <a:ext cx="391953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29" name="Equation" r:id="rId3" imgW="1828800" imgH="482400" progId="Equation.DSMT4">
                  <p:embed/>
                </p:oleObj>
              </mc:Choice>
              <mc:Fallback>
                <p:oleObj name="Equation" r:id="rId3" imgW="18288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251450"/>
                        <a:ext cx="3919538" cy="1041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 cmpd="dbl">
                        <a:solidFill>
                          <a:srgbClr val="CCC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CCCC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24"/>
          <p:cNvSpPr>
            <a:spLocks noChangeArrowheads="1"/>
          </p:cNvSpPr>
          <p:nvPr/>
        </p:nvSpPr>
        <p:spPr bwMode="auto">
          <a:xfrm>
            <a:off x="0" y="2800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3755" name="Object 27"/>
          <p:cNvGraphicFramePr>
            <a:graphicFrameLocks noChangeAspect="1"/>
          </p:cNvGraphicFramePr>
          <p:nvPr/>
        </p:nvGraphicFramePr>
        <p:xfrm>
          <a:off x="6572250" y="4229100"/>
          <a:ext cx="16621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0" name="Equation" r:id="rId5" imgW="660240" imgH="228600" progId="Equation.DSMT4">
                  <p:embed/>
                </p:oleObj>
              </mc:Choice>
              <mc:Fallback>
                <p:oleObj name="Equation" r:id="rId5" imgW="660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4229100"/>
                        <a:ext cx="1662113" cy="57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7" name="Rectangle 29"/>
          <p:cNvSpPr>
            <a:spLocks noChangeArrowheads="1"/>
          </p:cNvSpPr>
          <p:nvPr/>
        </p:nvSpPr>
        <p:spPr bwMode="auto">
          <a:xfrm>
            <a:off x="6480968" y="4109243"/>
            <a:ext cx="1844675" cy="7651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2532" name="Object 33"/>
          <p:cNvGraphicFramePr>
            <a:graphicFrameLocks noGrp="1" noChangeAspect="1"/>
          </p:cNvGraphicFramePr>
          <p:nvPr>
            <p:ph/>
          </p:nvPr>
        </p:nvGraphicFramePr>
        <p:xfrm>
          <a:off x="3994150" y="106363"/>
          <a:ext cx="41783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1" name="Equation" r:id="rId7" imgW="2286000" imgH="482400" progId="Equation.DSMT4">
                  <p:embed/>
                </p:oleObj>
              </mc:Choice>
              <mc:Fallback>
                <p:oleObj name="Equation" r:id="rId7" imgW="2286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106363"/>
                        <a:ext cx="4178300" cy="882650"/>
                      </a:xfrm>
                      <a:prstGeom prst="rect">
                        <a:avLst/>
                      </a:prstGeom>
                      <a:solidFill>
                        <a:srgbClr val="E7E7FF">
                          <a:alpha val="67999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E7E7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8"/>
          <p:cNvGraphicFramePr>
            <a:graphicFrameLocks noChangeAspect="1"/>
          </p:cNvGraphicFramePr>
          <p:nvPr/>
        </p:nvGraphicFramePr>
        <p:xfrm>
          <a:off x="2159000" y="3162300"/>
          <a:ext cx="4457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2" name="Equation" r:id="rId9" imgW="1981080" imgH="228600" progId="Equation.DSMT4">
                  <p:embed/>
                </p:oleObj>
              </mc:Choice>
              <mc:Fallback>
                <p:oleObj name="Equation" r:id="rId9" imgW="1981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3162300"/>
                        <a:ext cx="445770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9"/>
          <p:cNvGraphicFramePr>
            <a:graphicFrameLocks noChangeAspect="1"/>
          </p:cNvGraphicFramePr>
          <p:nvPr/>
        </p:nvGraphicFramePr>
        <p:xfrm>
          <a:off x="1104900" y="3954463"/>
          <a:ext cx="5289550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33" name="Equation" r:id="rId11" imgW="2374560" imgH="482400" progId="Equation.DSMT4">
                  <p:embed/>
                </p:oleObj>
              </mc:Choice>
              <mc:Fallback>
                <p:oleObj name="Equation" r:id="rId11" imgW="2374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3954463"/>
                        <a:ext cx="5289550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16"/>
          <p:cNvPicPr>
            <a:picLocks noChangeAspect="1" noChangeArrowheads="1"/>
          </p:cNvPicPr>
          <p:nvPr/>
        </p:nvPicPr>
        <p:blipFill>
          <a:blip r:embed="rId13"/>
          <a:srcRect l="10603" t="43473" b="11030"/>
          <a:stretch>
            <a:fillRect/>
          </a:stretch>
        </p:blipFill>
        <p:spPr bwMode="auto">
          <a:xfrm>
            <a:off x="765175" y="1339850"/>
            <a:ext cx="79406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3758" name="Rectangle 30"/>
          <p:cNvSpPr>
            <a:spLocks noChangeArrowheads="1"/>
          </p:cNvSpPr>
          <p:nvPr/>
        </p:nvSpPr>
        <p:spPr bwMode="auto">
          <a:xfrm>
            <a:off x="4542540" y="1339850"/>
            <a:ext cx="1866900" cy="14224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73759" name="Oval 31"/>
          <p:cNvSpPr>
            <a:spLocks noChangeArrowheads="1"/>
          </p:cNvSpPr>
          <p:nvPr/>
        </p:nvSpPr>
        <p:spPr bwMode="auto">
          <a:xfrm>
            <a:off x="7208838" y="1295400"/>
            <a:ext cx="674687" cy="585788"/>
          </a:xfrm>
          <a:prstGeom prst="ellipse">
            <a:avLst/>
          </a:prstGeom>
          <a:noFill/>
          <a:ln w="38100" cmpd="dbl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67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625 -0.24393 C -0.11979 -0.14312 -0.03316 -0.04115 1.38889E-6 -4.68208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737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12" y="1218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2000"/>
                                        <p:tgtEl>
                                          <p:spTgt spid="73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1000"/>
                                        <p:tgtEl>
                                          <p:spTgt spid="7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57" grpId="0" animBg="1"/>
      <p:bldP spid="7375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67" name="Rectangle 43"/>
          <p:cNvSpPr>
            <a:spLocks noChangeArrowheads="1"/>
          </p:cNvSpPr>
          <p:nvPr/>
        </p:nvSpPr>
        <p:spPr bwMode="auto">
          <a:xfrm>
            <a:off x="615950" y="3090863"/>
            <a:ext cx="8031163" cy="523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ea typeface="华文中宋" pitchFamily="2" charset="-122"/>
              </a:rPr>
              <a:t>               </a:t>
            </a:r>
            <a:r>
              <a:rPr lang="zh-CN" altLang="en-US" sz="2400" dirty="0">
                <a:ea typeface="华文中宋" pitchFamily="2" charset="-122"/>
              </a:rPr>
              <a:t>（均值 </a:t>
            </a:r>
            <a:r>
              <a:rPr lang="en-US" altLang="zh-CN" sz="2800" b="1" i="1" dirty="0">
                <a:solidFill>
                  <a:schemeClr val="hlink"/>
                </a:solidFill>
                <a:latin typeface="+mn-lt"/>
                <a:ea typeface="华文中宋" pitchFamily="2" charset="-122"/>
              </a:rPr>
              <a:t>a</a:t>
            </a:r>
            <a:r>
              <a:rPr lang="zh-CN" altLang="en-US" sz="2400" dirty="0">
                <a:ea typeface="华文中宋" pitchFamily="2" charset="-122"/>
              </a:rPr>
              <a:t>或 </a:t>
            </a:r>
            <a:r>
              <a:rPr lang="en-US" altLang="zh-CN" sz="2400" b="1" dirty="0">
                <a:solidFill>
                  <a:schemeClr val="hlink"/>
                </a:solidFill>
                <a:ea typeface="华文中宋" pitchFamily="2" charset="-122"/>
              </a:rPr>
              <a:t>0</a:t>
            </a:r>
            <a:r>
              <a:rPr lang="zh-CN" altLang="en-US" sz="2400" dirty="0">
                <a:ea typeface="华文中宋" pitchFamily="2" charset="-122"/>
              </a:rPr>
              <a:t>，方差 </a:t>
            </a:r>
            <a:r>
              <a:rPr lang="zh-CN" altLang="en-US" sz="2800" b="1" dirty="0">
                <a:solidFill>
                  <a:schemeClr val="hlink"/>
                </a:solidFill>
                <a:latin typeface="+mn-lt"/>
                <a:ea typeface="华文中宋" pitchFamily="2" charset="-122"/>
                <a:sym typeface="Symbol" pitchFamily="18" charset="2"/>
              </a:rPr>
              <a:t></a:t>
            </a:r>
            <a:r>
              <a:rPr lang="en-US" altLang="zh-CN" sz="2800" b="1" baseline="-25000" dirty="0">
                <a:solidFill>
                  <a:schemeClr val="hlink"/>
                </a:solidFill>
                <a:latin typeface="Times New Roman" pitchFamily="18" charset="0"/>
                <a:ea typeface="华文中宋" pitchFamily="2" charset="-122"/>
                <a:sym typeface="Symbol" pitchFamily="18" charset="2"/>
              </a:rPr>
              <a:t>n</a:t>
            </a:r>
            <a:r>
              <a:rPr lang="en-US" altLang="zh-CN" sz="2800" b="1" baseline="30000" dirty="0">
                <a:solidFill>
                  <a:schemeClr val="hlink"/>
                </a:solidFill>
                <a:latin typeface="Times New Roman" pitchFamily="18" charset="0"/>
                <a:ea typeface="华文中宋" pitchFamily="2" charset="-122"/>
                <a:sym typeface="Symbol" pitchFamily="18" charset="2"/>
              </a:rPr>
              <a:t>2</a:t>
            </a:r>
            <a:r>
              <a:rPr lang="zh-CN" altLang="en-US" sz="2400" dirty="0">
                <a:ea typeface="华文中宋" pitchFamily="2" charset="-122"/>
                <a:sym typeface="Symbol" pitchFamily="18" charset="2"/>
              </a:rPr>
              <a:t>）</a:t>
            </a:r>
            <a:r>
              <a:rPr lang="zh-CN" altLang="en-US" sz="2400" dirty="0">
                <a:ea typeface="华文中宋" pitchFamily="2" charset="-122"/>
              </a:rPr>
              <a:t>，一维概率密度函数：</a:t>
            </a:r>
          </a:p>
        </p:txBody>
      </p:sp>
      <p:graphicFrame>
        <p:nvGraphicFramePr>
          <p:cNvPr id="77829" name="Object 5"/>
          <p:cNvGraphicFramePr>
            <a:graphicFrameLocks noChangeAspect="1"/>
          </p:cNvGraphicFramePr>
          <p:nvPr/>
        </p:nvGraphicFramePr>
        <p:xfrm>
          <a:off x="1771650" y="1644650"/>
          <a:ext cx="5370513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45" name="Equation" r:id="rId3" imgW="2489040" imgH="482400" progId="Equation.DSMT4">
                  <p:embed/>
                </p:oleObj>
              </mc:Choice>
              <mc:Fallback>
                <p:oleObj name="Equation" r:id="rId3" imgW="2489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1644650"/>
                        <a:ext cx="5370513" cy="1049338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EBEB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5" name="AutoShape 31"/>
          <p:cNvSpPr>
            <a:spLocks noChangeArrowheads="1"/>
          </p:cNvSpPr>
          <p:nvPr/>
        </p:nvSpPr>
        <p:spPr bwMode="auto">
          <a:xfrm>
            <a:off x="4832350" y="406400"/>
            <a:ext cx="2609850" cy="1035050"/>
          </a:xfrm>
          <a:prstGeom prst="wedgeRoundRectCallout">
            <a:avLst>
              <a:gd name="adj1" fmla="val -46903"/>
              <a:gd name="adj2" fmla="val 71671"/>
              <a:gd name="adj3" fmla="val 16667"/>
            </a:avLst>
          </a:prstGeom>
          <a:solidFill>
            <a:schemeClr val="bg1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i="1">
                <a:solidFill>
                  <a:srgbClr val="CC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baseline="-25000">
                <a:solidFill>
                  <a:srgbClr val="CC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400">
                <a:solidFill>
                  <a:srgbClr val="CC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(t)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高斯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过程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       （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， 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77862" name="Rectangle 38"/>
          <p:cNvSpPr>
            <a:spLocks noChangeArrowheads="1"/>
          </p:cNvSpPr>
          <p:nvPr/>
        </p:nvSpPr>
        <p:spPr bwMode="auto">
          <a:xfrm>
            <a:off x="660400" y="1203325"/>
            <a:ext cx="1109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抽样</a:t>
            </a:r>
            <a:r>
              <a:rPr lang="zh-CN" altLang="en-US" sz="2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77863" name="Rectangle 39"/>
          <p:cNvSpPr>
            <a:spLocks noChangeArrowheads="1"/>
          </p:cNvSpPr>
          <p:nvPr/>
        </p:nvSpPr>
        <p:spPr bwMode="auto">
          <a:xfrm>
            <a:off x="765175" y="3028950"/>
            <a:ext cx="1289050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i="1">
                <a:solidFill>
                  <a:schemeClr val="hlink"/>
                </a:solidFill>
                <a:ea typeface="华文中宋" panose="02010600040101010101" pitchFamily="2" charset="-122"/>
              </a:rPr>
              <a:t> </a:t>
            </a:r>
            <a:r>
              <a:rPr lang="en-US" altLang="zh-CN" sz="2400">
                <a:solidFill>
                  <a:schemeClr val="hlink"/>
                </a:solidFill>
                <a:ea typeface="华文中宋" panose="02010600040101010101" pitchFamily="2" charset="-122"/>
              </a:rPr>
              <a:t>~</a:t>
            </a:r>
            <a:r>
              <a:rPr lang="zh-CN" altLang="en-US" sz="2400">
                <a:solidFill>
                  <a:schemeClr val="hlink"/>
                </a:solidFill>
                <a:ea typeface="华文中宋" panose="02010600040101010101" pitchFamily="2" charset="-122"/>
              </a:rPr>
              <a:t>高斯</a:t>
            </a:r>
            <a:endParaRPr lang="zh-CN" altLang="en-US" sz="2400">
              <a:ea typeface="华文中宋" panose="02010600040101010101" pitchFamily="2" charset="-122"/>
            </a:endParaRPr>
          </a:p>
        </p:txBody>
      </p:sp>
      <p:sp>
        <p:nvSpPr>
          <p:cNvPr id="77864" name="Rectangle 40"/>
          <p:cNvSpPr>
            <a:spLocks noChangeArrowheads="1"/>
          </p:cNvSpPr>
          <p:nvPr/>
        </p:nvSpPr>
        <p:spPr bwMode="auto">
          <a:xfrm>
            <a:off x="6080125" y="4098925"/>
            <a:ext cx="1897063" cy="53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发送“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1”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</a:p>
        </p:txBody>
      </p:sp>
      <p:sp>
        <p:nvSpPr>
          <p:cNvPr id="77865" name="Rectangle 41"/>
          <p:cNvSpPr>
            <a:spLocks noChangeArrowheads="1"/>
          </p:cNvSpPr>
          <p:nvPr/>
        </p:nvSpPr>
        <p:spPr bwMode="auto">
          <a:xfrm>
            <a:off x="6080125" y="5299075"/>
            <a:ext cx="18970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发送“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0”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</a:p>
        </p:txBody>
      </p:sp>
      <p:sp>
        <p:nvSpPr>
          <p:cNvPr id="13" name="Oval 31"/>
          <p:cNvSpPr>
            <a:spLocks noChangeArrowheads="1"/>
          </p:cNvSpPr>
          <p:nvPr/>
        </p:nvSpPr>
        <p:spPr bwMode="auto">
          <a:xfrm>
            <a:off x="601663" y="1131888"/>
            <a:ext cx="933450" cy="622300"/>
          </a:xfrm>
          <a:prstGeom prst="ellipse">
            <a:avLst/>
          </a:prstGeom>
          <a:noFill/>
          <a:ln w="38100" cmpd="dbl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5614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95"/>
          <a:stretch>
            <a:fillRect/>
          </a:stretch>
        </p:blipFill>
        <p:spPr bwMode="auto">
          <a:xfrm>
            <a:off x="2241550" y="5016500"/>
            <a:ext cx="37528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3"/>
          <a:stretch>
            <a:fillRect/>
          </a:stretch>
        </p:blipFill>
        <p:spPr bwMode="auto">
          <a:xfrm>
            <a:off x="2241550" y="3873500"/>
            <a:ext cx="3752850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102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7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77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77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67" grpId="0" animBg="1"/>
      <p:bldP spid="77855" grpId="0" animBg="1"/>
      <p:bldP spid="77862" grpId="0"/>
      <p:bldP spid="77863" grpId="0" animBg="1"/>
      <p:bldP spid="77864" grpId="0" animBg="1"/>
      <p:bldP spid="77865" grpId="0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2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68"/>
          <a:stretch>
            <a:fillRect/>
          </a:stretch>
        </p:blipFill>
        <p:spPr bwMode="auto">
          <a:xfrm>
            <a:off x="1163638" y="868363"/>
            <a:ext cx="5822950" cy="264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8755" name="Rectangle 3"/>
          <p:cNvSpPr>
            <a:spLocks noChangeArrowheads="1"/>
          </p:cNvSpPr>
          <p:nvPr/>
        </p:nvSpPr>
        <p:spPr bwMode="auto">
          <a:xfrm>
            <a:off x="1979613" y="4851400"/>
            <a:ext cx="4814887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设判决门限为 </a:t>
            </a:r>
            <a:r>
              <a:rPr lang="en-US" altLang="zh-CN" sz="2400" b="1" i="1" dirty="0">
                <a:solidFill>
                  <a:srgbClr val="CC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b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，则判决规则为：</a:t>
            </a:r>
          </a:p>
        </p:txBody>
      </p:sp>
      <p:graphicFrame>
        <p:nvGraphicFramePr>
          <p:cNvPr id="458756" name="Object 4"/>
          <p:cNvGraphicFramePr>
            <a:graphicFrameLocks noChangeAspect="1"/>
          </p:cNvGraphicFramePr>
          <p:nvPr/>
        </p:nvGraphicFramePr>
        <p:xfrm>
          <a:off x="371475" y="3829050"/>
          <a:ext cx="40497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50" name="Equation" r:id="rId4" imgW="1942920" imgH="330120" progId="Equation.DSMT4">
                  <p:embed/>
                </p:oleObj>
              </mc:Choice>
              <mc:Fallback>
                <p:oleObj name="Equation" r:id="rId4" imgW="1942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475" y="3829050"/>
                        <a:ext cx="4049713" cy="7493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FFCCFF">
                              <a:gamma/>
                              <a:shade val="46275"/>
                              <a:invGamma/>
                              <a:alpha val="44000"/>
                            </a:srgbClr>
                          </a:gs>
                          <a:gs pos="100000">
                            <a:srgbClr val="FFCCFF">
                              <a:alpha val="60001"/>
                            </a:srgbClr>
                          </a:gs>
                        </a:gsLst>
                        <a:lin ang="18900000" scaled="1"/>
                      </a:gradFill>
                      <a:ln w="9525">
                        <a:solidFill>
                          <a:srgbClr val="CC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57" name="Object 5"/>
          <p:cNvGraphicFramePr>
            <a:graphicFrameLocks noChangeAspect="1"/>
          </p:cNvGraphicFramePr>
          <p:nvPr/>
        </p:nvGraphicFramePr>
        <p:xfrm>
          <a:off x="4557713" y="3829050"/>
          <a:ext cx="41925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51" name="Equation" r:id="rId6" imgW="1930320" imgH="330120" progId="Equation.DSMT4">
                  <p:embed/>
                </p:oleObj>
              </mc:Choice>
              <mc:Fallback>
                <p:oleObj name="Equation" r:id="rId6" imgW="1930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3829050"/>
                        <a:ext cx="4192587" cy="7747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CCCCFF">
                              <a:gamma/>
                              <a:shade val="46275"/>
                              <a:invGamma/>
                              <a:alpha val="49001"/>
                            </a:srgbClr>
                          </a:gs>
                          <a:gs pos="100000">
                            <a:srgbClr val="CCCCFF">
                              <a:alpha val="67999"/>
                            </a:srgbClr>
                          </a:gs>
                        </a:gsLst>
                        <a:lin ang="18900000" scaled="1"/>
                      </a:gra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58" name="Line 6"/>
          <p:cNvSpPr>
            <a:spLocks noChangeShapeType="1"/>
          </p:cNvSpPr>
          <p:nvPr/>
        </p:nvSpPr>
        <p:spPr bwMode="auto">
          <a:xfrm flipV="1">
            <a:off x="4557713" y="1443038"/>
            <a:ext cx="0" cy="161925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8759" name="Text Box 7"/>
          <p:cNvSpPr txBox="1">
            <a:spLocks noChangeArrowheads="1"/>
          </p:cNvSpPr>
          <p:nvPr/>
        </p:nvSpPr>
        <p:spPr bwMode="auto">
          <a:xfrm>
            <a:off x="4378325" y="3146425"/>
            <a:ext cx="31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i="1">
                <a:solidFill>
                  <a:srgbClr val="CC00CC"/>
                </a:solidFill>
                <a:latin typeface="Times New Roman" panose="02020603050405020304" pitchFamily="18" charset="0"/>
              </a:rPr>
              <a:t>b</a:t>
            </a:r>
            <a:endParaRPr lang="en-US" altLang="zh-CN" b="1">
              <a:solidFill>
                <a:srgbClr val="CC00CC"/>
              </a:solidFill>
            </a:endParaRPr>
          </a:p>
        </p:txBody>
      </p:sp>
      <p:graphicFrame>
        <p:nvGraphicFramePr>
          <p:cNvPr id="458760" name="Object 8"/>
          <p:cNvGraphicFramePr>
            <a:graphicFrameLocks noChangeAspect="1"/>
          </p:cNvGraphicFramePr>
          <p:nvPr/>
        </p:nvGraphicFramePr>
        <p:xfrm>
          <a:off x="3162300" y="2027238"/>
          <a:ext cx="145415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52" name="Visio" r:id="rId8" imgW="673449" imgH="424000" progId="Visio.Drawing.11">
                  <p:embed/>
                </p:oleObj>
              </mc:Choice>
              <mc:Fallback>
                <p:oleObj name="Visio" r:id="rId8" imgW="673449" imgH="42400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2027238"/>
                        <a:ext cx="145415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61" name="Object 9"/>
          <p:cNvGraphicFramePr>
            <a:graphicFrameLocks noChangeAspect="1"/>
          </p:cNvGraphicFramePr>
          <p:nvPr/>
        </p:nvGraphicFramePr>
        <p:xfrm>
          <a:off x="4511675" y="2493963"/>
          <a:ext cx="1216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53" name="Visio" r:id="rId10" imgW="651743" imgH="351974" progId="Visio.Drawing.11">
                  <p:embed/>
                </p:oleObj>
              </mc:Choice>
              <mc:Fallback>
                <p:oleObj name="Visio" r:id="rId10" imgW="651743" imgH="35197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2493963"/>
                        <a:ext cx="12160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68" name="Line 16"/>
          <p:cNvSpPr>
            <a:spLocks noChangeShapeType="1"/>
          </p:cNvSpPr>
          <p:nvPr/>
        </p:nvSpPr>
        <p:spPr bwMode="auto">
          <a:xfrm flipV="1">
            <a:off x="1355725" y="2882900"/>
            <a:ext cx="2797175" cy="1123950"/>
          </a:xfrm>
          <a:prstGeom prst="line">
            <a:avLst/>
          </a:prstGeom>
          <a:noFill/>
          <a:ln w="19050">
            <a:solidFill>
              <a:srgbClr val="CC99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8769" name="Line 17"/>
          <p:cNvSpPr>
            <a:spLocks noChangeShapeType="1"/>
          </p:cNvSpPr>
          <p:nvPr/>
        </p:nvSpPr>
        <p:spPr bwMode="auto">
          <a:xfrm>
            <a:off x="4781550" y="2927350"/>
            <a:ext cx="219075" cy="107950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958013" y="939800"/>
            <a:ext cx="2027237" cy="2355850"/>
          </a:xfrm>
          <a:ln w="28575"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algn="l" eaLnBrk="1" hangingPunct="1">
              <a:defRPr/>
            </a:pP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咦？</a:t>
            </a:r>
            <a:br>
              <a:rPr lang="en-US" altLang="zh-CN" sz="2400" dirty="0">
                <a:solidFill>
                  <a:schemeClr val="tx1"/>
                </a:solidFill>
                <a:latin typeface="+mj-ea"/>
              </a:rPr>
            </a:b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好像与</a:t>
            </a:r>
            <a:r>
              <a:rPr lang="zh-CN" altLang="en-US" sz="2400" dirty="0">
                <a:solidFill>
                  <a:schemeClr val="hlink"/>
                </a:solidFill>
                <a:latin typeface="+mj-ea"/>
              </a:rPr>
              <a:t>单</a:t>
            </a: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极性</a:t>
            </a:r>
            <a:br>
              <a:rPr lang="en-US" altLang="zh-CN" sz="2400" dirty="0">
                <a:solidFill>
                  <a:schemeClr val="tx1"/>
                </a:solidFill>
                <a:latin typeface="+mj-ea"/>
              </a:rPr>
            </a:br>
            <a:r>
              <a:rPr lang="zh-CN" altLang="en-US" sz="2400" dirty="0">
                <a:solidFill>
                  <a:schemeClr val="hlink"/>
                </a:solidFill>
                <a:latin typeface="+mj-ea"/>
              </a:rPr>
              <a:t>基带</a:t>
            </a: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系统的</a:t>
            </a:r>
            <a:br>
              <a:rPr lang="en-US" altLang="zh-CN" sz="2400" dirty="0">
                <a:solidFill>
                  <a:schemeClr val="tx1"/>
                </a:solidFill>
                <a:latin typeface="+mj-ea"/>
              </a:rPr>
            </a:br>
            <a:r>
              <a:rPr lang="zh-CN" altLang="en-US" sz="2400" dirty="0">
                <a:solidFill>
                  <a:schemeClr val="tx1"/>
                </a:solidFill>
                <a:latin typeface="+mj-ea"/>
              </a:rPr>
              <a:t>情况类似！</a:t>
            </a:r>
          </a:p>
        </p:txBody>
      </p:sp>
      <p:pic>
        <p:nvPicPr>
          <p:cNvPr id="18" name="Picture 2" descr="C:\DOCUME~1\ADMINI~1\LOCALS~1\Temp\_A~_C_F`%IP6P74Q9KE%$%5.gif"/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950" y="806450"/>
            <a:ext cx="3111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9" name="Picture 1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3" t="30466" r="16965"/>
          <a:stretch>
            <a:fillRect/>
          </a:stretch>
        </p:blipFill>
        <p:spPr bwMode="auto">
          <a:xfrm>
            <a:off x="2838450" y="5340350"/>
            <a:ext cx="315595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09312" y="4595167"/>
            <a:ext cx="3167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Arial" charset="0"/>
              </a:rPr>
              <a:t>发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1 </a:t>
            </a:r>
            <a:r>
              <a:rPr lang="zh-CN" altLang="en-US" b="1" dirty="0">
                <a:latin typeface="Arial" charset="0"/>
                <a:ea typeface="微软雅黑" pitchFamily="34" charset="-122"/>
                <a:cs typeface="Arial" charset="0"/>
              </a:rPr>
              <a:t>错判为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0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Arial" charset="0"/>
              </a:rPr>
              <a:t>的概率 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616450" y="4628983"/>
            <a:ext cx="3167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Arial" charset="0"/>
              </a:rPr>
              <a:t>发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0 </a:t>
            </a:r>
            <a:r>
              <a:rPr lang="zh-CN" altLang="en-US" b="1" dirty="0">
                <a:latin typeface="Arial" charset="0"/>
                <a:ea typeface="微软雅黑" pitchFamily="34" charset="-122"/>
                <a:cs typeface="Arial" charset="0"/>
              </a:rPr>
              <a:t>错判为 </a:t>
            </a:r>
            <a:r>
              <a:rPr lang="en-US" altLang="zh-CN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1 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Arial" charset="0"/>
              </a:rPr>
              <a:t>的概率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0697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5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1000"/>
                                        <p:tgtEl>
                                          <p:spTgt spid="45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45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5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45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45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5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5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5" grpId="0"/>
      <p:bldP spid="458758" grpId="0" animBg="1"/>
      <p:bldP spid="458759" grpId="0"/>
      <p:bldP spid="458768" grpId="0" animBg="1"/>
      <p:bldP spid="458769" grpId="0" animBg="1"/>
      <p:bldP spid="458769" grpId="1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46124" y="2425700"/>
            <a:ext cx="8214995" cy="514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ea typeface="华文中宋" panose="02010600040101010101" pitchFamily="2" charset="-122"/>
              </a:rPr>
              <a:t>因此，借助</a:t>
            </a:r>
            <a:r>
              <a:rPr lang="zh-CN" altLang="en-US" sz="2400" dirty="0">
                <a:solidFill>
                  <a:schemeClr val="hlink"/>
                </a:solidFill>
                <a:ea typeface="华文中宋" panose="02010600040101010101" pitchFamily="2" charset="-122"/>
              </a:rPr>
              <a:t>单</a:t>
            </a:r>
            <a:r>
              <a:rPr lang="zh-CN" altLang="en-US" sz="2400" dirty="0">
                <a:solidFill>
                  <a:schemeClr val="tx1"/>
                </a:solidFill>
                <a:ea typeface="华文中宋" panose="02010600040101010101" pitchFamily="2" charset="-122"/>
              </a:rPr>
              <a:t>极性</a:t>
            </a:r>
            <a:r>
              <a:rPr lang="zh-CN" altLang="en-US" sz="2400" dirty="0">
                <a:solidFill>
                  <a:schemeClr val="hlink"/>
                </a:solidFill>
                <a:ea typeface="华文中宋" panose="02010600040101010101" pitchFamily="2" charset="-122"/>
              </a:rPr>
              <a:t>基带</a:t>
            </a:r>
            <a:r>
              <a:rPr lang="zh-CN" altLang="en-US" sz="2400" dirty="0">
                <a:solidFill>
                  <a:schemeClr val="tx1"/>
                </a:solidFill>
                <a:ea typeface="华文中宋" panose="02010600040101010101" pitchFamily="2" charset="-122"/>
              </a:rPr>
              <a:t>系统的分析结果：设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判决门限为</a:t>
            </a:r>
            <a:r>
              <a:rPr kumimoji="1" lang="en-US" altLang="zh-CN" sz="2400" dirty="0" err="1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Vd</a:t>
            </a:r>
            <a:r>
              <a:rPr kumimoji="1"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endParaRPr lang="zh-CN" altLang="en-US" sz="2400" dirty="0">
              <a:solidFill>
                <a:schemeClr val="tx1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48947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087438" y="1255713"/>
          <a:ext cx="404336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20" name="Equation" r:id="rId3" imgW="2031840" imgH="482400" progId="Equation.DSMT4">
                  <p:embed/>
                </p:oleObj>
              </mc:Choice>
              <mc:Fallback>
                <p:oleObj name="Equation" r:id="rId3" imgW="2031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8" y="1255713"/>
                        <a:ext cx="4043362" cy="960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76" name="Rectangle 4"/>
          <p:cNvSpPr>
            <a:spLocks noChangeArrowheads="1"/>
          </p:cNvSpPr>
          <p:nvPr/>
        </p:nvSpPr>
        <p:spPr bwMode="auto">
          <a:xfrm>
            <a:off x="6732588" y="458788"/>
            <a:ext cx="417512" cy="1079500"/>
          </a:xfrm>
          <a:prstGeom prst="rect">
            <a:avLst/>
          </a:prstGeom>
          <a:noFill/>
          <a:ln w="9525">
            <a:solidFill>
              <a:srgbClr val="0000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9477" name="Rectangle 5"/>
          <p:cNvSpPr>
            <a:spLocks noChangeArrowheads="1"/>
          </p:cNvSpPr>
          <p:nvPr/>
        </p:nvSpPr>
        <p:spPr bwMode="auto">
          <a:xfrm>
            <a:off x="7407275" y="458788"/>
            <a:ext cx="720725" cy="1079500"/>
          </a:xfrm>
          <a:prstGeom prst="rect">
            <a:avLst/>
          </a:prstGeom>
          <a:noFill/>
          <a:ln w="9525">
            <a:solidFill>
              <a:srgbClr val="80008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9478" name="Rectangle 6"/>
          <p:cNvSpPr>
            <a:spLocks noChangeArrowheads="1"/>
          </p:cNvSpPr>
          <p:nvPr/>
        </p:nvSpPr>
        <p:spPr bwMode="auto">
          <a:xfrm>
            <a:off x="5202238" y="1474788"/>
            <a:ext cx="35560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单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极性</a:t>
            </a:r>
            <a:r>
              <a:rPr lang="zh-CN" altLang="en-US" sz="2000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基带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信号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高斯噪声</a:t>
            </a:r>
          </a:p>
        </p:txBody>
      </p:sp>
      <p:graphicFrame>
        <p:nvGraphicFramePr>
          <p:cNvPr id="489479" name="Object 7"/>
          <p:cNvGraphicFramePr>
            <a:graphicFrameLocks noChangeAspect="1"/>
          </p:cNvGraphicFramePr>
          <p:nvPr/>
        </p:nvGraphicFramePr>
        <p:xfrm>
          <a:off x="5781675" y="519113"/>
          <a:ext cx="22812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321" name="Equation" r:id="rId5" imgW="1104840" imgH="482400" progId="Equation.DSMT4">
                  <p:embed/>
                </p:oleObj>
              </mc:Choice>
              <mc:Fallback>
                <p:oleObj name="Equation" r:id="rId5" imgW="11048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1675" y="519113"/>
                        <a:ext cx="2281238" cy="9747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64999"/>
                        </a:schemeClr>
                      </a:solidFill>
                      <a:ln w="9525">
                        <a:solidFill>
                          <a:srgbClr val="D9D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D9D9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488" name="Rectangle 16"/>
          <p:cNvSpPr>
            <a:spLocks noChangeArrowheads="1"/>
          </p:cNvSpPr>
          <p:nvPr/>
        </p:nvSpPr>
        <p:spPr bwMode="auto">
          <a:xfrm>
            <a:off x="657225" y="4381500"/>
            <a:ext cx="67056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可方便地得到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2ASK-</a:t>
            </a:r>
            <a:r>
              <a:rPr lang="zh-CN" altLang="en-US" sz="2400" b="1">
                <a:solidFill>
                  <a:srgbClr val="0000CC"/>
                </a:solidFill>
                <a:ea typeface="华文中宋" panose="02010600040101010101" pitchFamily="2" charset="-122"/>
              </a:rPr>
              <a:t>相干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系统的分析结果：</a:t>
            </a:r>
          </a:p>
        </p:txBody>
      </p:sp>
      <p:sp>
        <p:nvSpPr>
          <p:cNvPr id="489489" name="Rectangle 17"/>
          <p:cNvSpPr>
            <a:spLocks noChangeArrowheads="1"/>
          </p:cNvSpPr>
          <p:nvPr/>
        </p:nvSpPr>
        <p:spPr bwMode="auto">
          <a:xfrm>
            <a:off x="2082800" y="1135063"/>
            <a:ext cx="419100" cy="1079500"/>
          </a:xfrm>
          <a:prstGeom prst="rect">
            <a:avLst/>
          </a:prstGeom>
          <a:noFill/>
          <a:ln w="9525">
            <a:solidFill>
              <a:srgbClr val="0000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9490" name="Rectangle 18"/>
          <p:cNvSpPr>
            <a:spLocks noChangeArrowheads="1"/>
          </p:cNvSpPr>
          <p:nvPr/>
        </p:nvSpPr>
        <p:spPr bwMode="auto">
          <a:xfrm>
            <a:off x="2759075" y="1135063"/>
            <a:ext cx="720725" cy="1079500"/>
          </a:xfrm>
          <a:prstGeom prst="rect">
            <a:avLst/>
          </a:prstGeom>
          <a:noFill/>
          <a:ln w="9525">
            <a:solidFill>
              <a:srgbClr val="80008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9491" name="Rectangle 19"/>
          <p:cNvSpPr>
            <a:spLocks noChangeArrowheads="1"/>
          </p:cNvSpPr>
          <p:nvPr/>
        </p:nvSpPr>
        <p:spPr bwMode="auto">
          <a:xfrm>
            <a:off x="704850" y="495300"/>
            <a:ext cx="224948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借用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：</a:t>
            </a:r>
            <a:endParaRPr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30740" name="Picture 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028950"/>
            <a:ext cx="8031162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1" name="Picture 2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4895850"/>
            <a:ext cx="8045450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511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8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8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8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48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1000"/>
                                        <p:tgtEl>
                                          <p:spTgt spid="4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48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48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48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48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4" grpId="0"/>
      <p:bldP spid="489476" grpId="0" animBg="1"/>
      <p:bldP spid="489477" grpId="0" animBg="1"/>
      <p:bldP spid="489478" grpId="0"/>
      <p:bldP spid="489488" grpId="0"/>
      <p:bldP spid="489489" grpId="0" animBg="1"/>
      <p:bldP spid="489490" grpId="0" animBg="1"/>
      <p:bldP spid="48949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927100" y="1162050"/>
            <a:ext cx="6391275" cy="674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2ASK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</a:rPr>
              <a:t>信号</a:t>
            </a:r>
            <a:r>
              <a:rPr lang="zh-CN" altLang="en-US" sz="2800" dirty="0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相干</a:t>
            </a:r>
            <a:r>
              <a:rPr lang="zh-CN" altLang="en-US" sz="2400" b="0" dirty="0">
                <a:latin typeface="Arial" panose="020B0604020202020204" pitchFamily="34" charset="0"/>
                <a:ea typeface="华文中宋" panose="02010600040101010101" pitchFamily="2" charset="-122"/>
              </a:rPr>
              <a:t>解调时系统的总误码率为</a:t>
            </a:r>
          </a:p>
        </p:txBody>
      </p:sp>
      <p:graphicFrame>
        <p:nvGraphicFramePr>
          <p:cNvPr id="490503" name="Object 7"/>
          <p:cNvGraphicFramePr>
            <a:graphicFrameLocks noChangeAspect="1"/>
          </p:cNvGraphicFramePr>
          <p:nvPr/>
        </p:nvGraphicFramePr>
        <p:xfrm>
          <a:off x="6172200" y="2755900"/>
          <a:ext cx="1333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4" name="Equation" r:id="rId3" imgW="545760" imgH="457200" progId="Equation.DSMT4">
                  <p:embed/>
                </p:oleObj>
              </mc:Choice>
              <mc:Fallback>
                <p:oleObj name="Equation" r:id="rId3" imgW="545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755900"/>
                        <a:ext cx="1333500" cy="11176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EEEA4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04" name="AutoShape 8"/>
          <p:cNvSpPr>
            <a:spLocks noChangeArrowheads="1"/>
          </p:cNvSpPr>
          <p:nvPr/>
        </p:nvSpPr>
        <p:spPr bwMode="auto">
          <a:xfrm>
            <a:off x="882650" y="4718050"/>
            <a:ext cx="1333500" cy="444500"/>
          </a:xfrm>
          <a:prstGeom prst="wedgeRoundRectCallout">
            <a:avLst>
              <a:gd name="adj1" fmla="val 59986"/>
              <a:gd name="adj2" fmla="val 11208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i="1">
                <a:solidFill>
                  <a:schemeClr val="hlink"/>
                </a:solidFill>
                <a:cs typeface="Arial" panose="020B0604020202020204" pitchFamily="34" charset="0"/>
              </a:rPr>
              <a:t>r </a:t>
            </a:r>
            <a:r>
              <a:rPr lang="en-US" altLang="zh-CN" sz="2400" b="1">
                <a:solidFill>
                  <a:schemeClr val="hlink"/>
                </a:solidFill>
                <a:cs typeface="Arial" panose="020B0604020202020204" pitchFamily="34" charset="0"/>
              </a:rPr>
              <a:t>&gt;&gt;1</a:t>
            </a:r>
            <a:r>
              <a:rPr lang="zh-CN" altLang="en-US" sz="2400" b="1">
                <a:solidFill>
                  <a:schemeClr val="hlink"/>
                </a:solidFill>
                <a:cs typeface="Arial" panose="020B0604020202020204" pitchFamily="34" charset="0"/>
              </a:rPr>
              <a:t>时</a:t>
            </a:r>
          </a:p>
        </p:txBody>
      </p:sp>
      <p:sp>
        <p:nvSpPr>
          <p:cNvPr id="490505" name="AutoShape 9"/>
          <p:cNvSpPr>
            <a:spLocks noChangeArrowheads="1"/>
          </p:cNvSpPr>
          <p:nvPr/>
        </p:nvSpPr>
        <p:spPr bwMode="auto">
          <a:xfrm flipH="1">
            <a:off x="5821363" y="2851150"/>
            <a:ext cx="261937" cy="1022350"/>
          </a:xfrm>
          <a:prstGeom prst="curvedRightArrow">
            <a:avLst>
              <a:gd name="adj1" fmla="val 82614"/>
              <a:gd name="adj2" fmla="val 165229"/>
              <a:gd name="adj3" fmla="val 33333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7594600" y="2717800"/>
            <a:ext cx="11557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j-ea"/>
                <a:ea typeface="+mj-ea"/>
              </a:rPr>
              <a:t>解调器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400" dirty="0">
                <a:latin typeface="+mj-ea"/>
                <a:ea typeface="+mj-ea"/>
              </a:rPr>
              <a:t>输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入</a:t>
            </a:r>
            <a:r>
              <a:rPr lang="zh-CN" altLang="en-US" sz="2400" dirty="0">
                <a:latin typeface="+mj-ea"/>
                <a:ea typeface="+mj-ea"/>
              </a:rPr>
              <a:t>端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400" dirty="0">
                <a:latin typeface="+mj-ea"/>
                <a:ea typeface="+mj-ea"/>
              </a:rPr>
              <a:t>信噪比 </a:t>
            </a:r>
          </a:p>
        </p:txBody>
      </p:sp>
      <p:graphicFrame>
        <p:nvGraphicFramePr>
          <p:cNvPr id="26627" name="Object 11"/>
          <p:cNvGraphicFramePr>
            <a:graphicFrameLocks noChangeAspect="1"/>
          </p:cNvGraphicFramePr>
          <p:nvPr/>
        </p:nvGraphicFramePr>
        <p:xfrm>
          <a:off x="2308225" y="1828800"/>
          <a:ext cx="3375025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5" name="Equation" r:id="rId5" imgW="1231560" imgH="444240" progId="Equation.DSMT4">
                  <p:embed/>
                </p:oleObj>
              </mc:Choice>
              <mc:Fallback>
                <p:oleObj name="Equation" r:id="rId5" imgW="1231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1828800"/>
                        <a:ext cx="3375025" cy="12176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2305050" y="4540250"/>
            <a:ext cx="266700" cy="1022350"/>
          </a:xfrm>
          <a:prstGeom prst="curvedRightArrow">
            <a:avLst>
              <a:gd name="adj1" fmla="val 82630"/>
              <a:gd name="adj2" fmla="val 165224"/>
              <a:gd name="adj3" fmla="val 33333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1755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7" t="47153"/>
          <a:stretch>
            <a:fillRect/>
          </a:stretch>
        </p:blipFill>
        <p:spPr bwMode="auto">
          <a:xfrm>
            <a:off x="2824163" y="4718050"/>
            <a:ext cx="27336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82"/>
          <a:stretch>
            <a:fillRect/>
          </a:stretch>
        </p:blipFill>
        <p:spPr bwMode="auto">
          <a:xfrm>
            <a:off x="2312988" y="3295650"/>
            <a:ext cx="32670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909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04" grpId="0"/>
      <p:bldP spid="490505" grpId="0" animBg="1"/>
      <p:bldP spid="11" grpId="0"/>
      <p:bldP spid="1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12"/>
          <p:cNvGraphicFramePr>
            <a:graphicFrameLocks noChangeAspect="1"/>
          </p:cNvGraphicFramePr>
          <p:nvPr/>
        </p:nvGraphicFramePr>
        <p:xfrm>
          <a:off x="571500" y="4049713"/>
          <a:ext cx="48958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95" name="公式" r:id="rId3" imgW="2349360" imgH="469800" progId="Equation.3">
                  <p:embed/>
                </p:oleObj>
              </mc:Choice>
              <mc:Fallback>
                <p:oleObj name="公式" r:id="rId3" imgW="23493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4049713"/>
                        <a:ext cx="4895850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>
                                <a:alpha val="67999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80808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21"/>
          <p:cNvGraphicFramePr>
            <a:graphicFrameLocks noChangeAspect="1"/>
          </p:cNvGraphicFramePr>
          <p:nvPr/>
        </p:nvGraphicFramePr>
        <p:xfrm>
          <a:off x="1771650" y="5473700"/>
          <a:ext cx="50260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96" name="公式" r:id="rId5" imgW="2070000" imgH="228600" progId="Equation.3">
                  <p:embed/>
                </p:oleObj>
              </mc:Choice>
              <mc:Fallback>
                <p:oleObj name="公式" r:id="rId5" imgW="2070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5473700"/>
                        <a:ext cx="5026025" cy="557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B2B2B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FCFC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882650" y="1082675"/>
            <a:ext cx="3014663" cy="46196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Times New Roman" pitchFamily="18" charset="0"/>
              </a:rPr>
              <a:t>  </a:t>
            </a:r>
            <a:r>
              <a:rPr lang="en-US" altLang="zh-CN" sz="2400" b="1" dirty="0">
                <a:ea typeface="楷体_GB2312" pitchFamily="49" charset="-122"/>
              </a:rPr>
              <a:t>2ASK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---</a:t>
            </a:r>
            <a:r>
              <a:rPr lang="zh-CN" altLang="en-US" sz="2400" b="1" kern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包络</a:t>
            </a:r>
            <a:r>
              <a:rPr lang="zh-CN" altLang="en-US" sz="2400" b="1" kern="0" dirty="0">
                <a:latin typeface="微软雅黑" pitchFamily="34" charset="-122"/>
                <a:ea typeface="微软雅黑" pitchFamily="34" charset="-122"/>
              </a:rPr>
              <a:t>检波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  <p:sp>
        <p:nvSpPr>
          <p:cNvPr id="10" name="Rectangle 20"/>
          <p:cNvSpPr>
            <a:spLocks noChangeArrowheads="1"/>
          </p:cNvSpPr>
          <p:nvPr/>
        </p:nvSpPr>
        <p:spPr bwMode="auto">
          <a:xfrm>
            <a:off x="5372100" y="3994150"/>
            <a:ext cx="3644900" cy="539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正弦波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窄带高斯噪声</a:t>
            </a:r>
          </a:p>
        </p:txBody>
      </p:sp>
      <p:sp>
        <p:nvSpPr>
          <p:cNvPr id="11" name="Rectangle 21"/>
          <p:cNvSpPr>
            <a:spLocks noChangeArrowheads="1"/>
          </p:cNvSpPr>
          <p:nvPr/>
        </p:nvSpPr>
        <p:spPr bwMode="auto">
          <a:xfrm>
            <a:off x="5372100" y="4489450"/>
            <a:ext cx="3330575" cy="539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~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窄带高斯噪声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/>
        </p:nvPicPr>
        <p:blipFill>
          <a:blip r:embed="rId7"/>
          <a:srcRect l="10603" t="43473" b="11030"/>
          <a:stretch>
            <a:fillRect/>
          </a:stretch>
        </p:blipFill>
        <p:spPr bwMode="auto">
          <a:xfrm>
            <a:off x="793750" y="1828800"/>
            <a:ext cx="79406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461835" name="Object 11"/>
          <p:cNvGraphicFramePr>
            <a:graphicFrameLocks noChangeAspect="1"/>
          </p:cNvGraphicFramePr>
          <p:nvPr/>
        </p:nvGraphicFramePr>
        <p:xfrm>
          <a:off x="6483350" y="1873250"/>
          <a:ext cx="5778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97" name="Equation" r:id="rId8" imgW="304560" imgH="203040" progId="Equation.DSMT4">
                  <p:embed/>
                </p:oleObj>
              </mc:Choice>
              <mc:Fallback>
                <p:oleObj name="Equation" r:id="rId8" imgW="304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3350" y="1873250"/>
                        <a:ext cx="577850" cy="38893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616450" y="1873250"/>
            <a:ext cx="1733550" cy="1377950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prstShdw prst="shdw17" dist="17961" dir="2700000">
              <a:srgbClr val="5A5A5A"/>
            </a:prstShdw>
          </a:effectLst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包络检波器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0" dirty="0">
                <a:solidFill>
                  <a:srgbClr val="003399"/>
                </a:solidFill>
                <a:latin typeface="+mj-ea"/>
                <a:ea typeface="+mj-ea"/>
              </a:rPr>
              <a:t> </a:t>
            </a:r>
            <a:r>
              <a:rPr lang="zh-CN" altLang="en-US" sz="2000" b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整流</a:t>
            </a:r>
            <a:r>
              <a:rPr lang="en-US" altLang="zh-CN" sz="2000" b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---</a:t>
            </a:r>
            <a:r>
              <a:rPr lang="zh-CN" altLang="en-US" sz="2000" b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低通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b="0" dirty="0">
              <a:latin typeface="Arial" charset="0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43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46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46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46183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9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1313" y="1117600"/>
            <a:ext cx="8621712" cy="5183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ct val="110000"/>
              </a:lnSpc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华文中宋" panose="02010600040101010101" pitchFamily="2" charset="-122"/>
              </a:rPr>
              <a:t>当发送“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en-US" altLang="zh-CN" sz="2400" dirty="0">
                <a:ea typeface="华文中宋" panose="02010600040101010101" pitchFamily="2" charset="-122"/>
              </a:rPr>
              <a:t>”</a:t>
            </a:r>
            <a:r>
              <a:rPr lang="zh-CN" altLang="en-US" sz="2400" dirty="0">
                <a:ea typeface="华文中宋" panose="02010600040101010101" pitchFamily="2" charset="-122"/>
              </a:rPr>
              <a:t>符号时，包络检波器的输出为 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2400" dirty="0"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2400" dirty="0"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2400" dirty="0"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zh-CN" altLang="en-US" sz="2400" dirty="0"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10000"/>
              </a:lnSpc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ea typeface="华文中宋" panose="02010600040101010101" pitchFamily="2" charset="-122"/>
              </a:rPr>
              <a:t>当发送“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0</a:t>
            </a:r>
            <a:r>
              <a:rPr lang="en-US" altLang="zh-CN" sz="2400" dirty="0">
                <a:ea typeface="华文中宋" panose="02010600040101010101" pitchFamily="2" charset="-122"/>
              </a:rPr>
              <a:t>”</a:t>
            </a:r>
            <a:r>
              <a:rPr lang="zh-CN" altLang="en-US" sz="2400" dirty="0">
                <a:ea typeface="华文中宋" panose="02010600040101010101" pitchFamily="2" charset="-122"/>
              </a:rPr>
              <a:t>符号时，包络检波器的输出为</a:t>
            </a:r>
          </a:p>
          <a:p>
            <a:pPr lvl="2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 dirty="0"/>
              <a:t>                                                           </a:t>
            </a:r>
          </a:p>
        </p:txBody>
      </p:sp>
      <p:sp>
        <p:nvSpPr>
          <p:cNvPr id="28680" name="Rectangle 3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1" name="Rectangle 5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8294" name="Object 6"/>
          <p:cNvGraphicFramePr>
            <a:graphicFrameLocks noChangeAspect="1"/>
          </p:cNvGraphicFramePr>
          <p:nvPr/>
        </p:nvGraphicFramePr>
        <p:xfrm>
          <a:off x="2392363" y="1739900"/>
          <a:ext cx="369093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46" name="公式" r:id="rId3" imgW="1726920" imgH="291960" progId="Equation.3">
                  <p:embed/>
                </p:oleObj>
              </mc:Choice>
              <mc:Fallback>
                <p:oleObj name="公式" r:id="rId3" imgW="172692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1739900"/>
                        <a:ext cx="3690937" cy="630238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DDDDDD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Rectangle 7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8296" name="Object 8"/>
          <p:cNvGraphicFramePr>
            <a:graphicFrameLocks noChangeAspect="1"/>
          </p:cNvGraphicFramePr>
          <p:nvPr/>
        </p:nvGraphicFramePr>
        <p:xfrm>
          <a:off x="2635250" y="4125913"/>
          <a:ext cx="295910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47" name="公式" r:id="rId5" imgW="1358640" imgH="291960" progId="Equation.3">
                  <p:embed/>
                </p:oleObj>
              </mc:Choice>
              <mc:Fallback>
                <p:oleObj name="公式" r:id="rId5" imgW="135864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0" y="4125913"/>
                        <a:ext cx="2959100" cy="639762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DDDDDD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8" name="Rectangle 10"/>
          <p:cNvSpPr>
            <a:spLocks noChangeArrowheads="1"/>
          </p:cNvSpPr>
          <p:nvPr/>
        </p:nvSpPr>
        <p:spPr bwMode="auto">
          <a:xfrm>
            <a:off x="6102349" y="2733675"/>
            <a:ext cx="2860675" cy="56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~ 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广义瑞利分布</a:t>
            </a:r>
            <a:r>
              <a:rPr lang="en-US" altLang="zh-CN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/Rice</a:t>
            </a:r>
            <a:endParaRPr lang="zh-CN" altLang="en-US" sz="2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299" name="Rectangle 11"/>
          <p:cNvSpPr>
            <a:spLocks noChangeArrowheads="1"/>
          </p:cNvSpPr>
          <p:nvPr/>
        </p:nvSpPr>
        <p:spPr bwMode="auto">
          <a:xfrm>
            <a:off x="6059488" y="5178425"/>
            <a:ext cx="193516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~ </a:t>
            </a:r>
            <a:r>
              <a:rPr lang="zh-CN" altLang="en-US" sz="2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瑞利分布</a:t>
            </a:r>
          </a:p>
        </p:txBody>
      </p:sp>
      <p:graphicFrame>
        <p:nvGraphicFramePr>
          <p:cNvPr id="268300" name="Object 12"/>
          <p:cNvGraphicFramePr>
            <a:graphicFrameLocks noChangeAspect="1"/>
          </p:cNvGraphicFramePr>
          <p:nvPr/>
        </p:nvGraphicFramePr>
        <p:xfrm>
          <a:off x="2368550" y="2505075"/>
          <a:ext cx="37592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48" name="Equation" r:id="rId7" imgW="1930320" imgH="482400" progId="Equation.DSMT4">
                  <p:embed/>
                </p:oleObj>
              </mc:Choice>
              <mc:Fallback>
                <p:oleObj name="Equation" r:id="rId7" imgW="19303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2505075"/>
                        <a:ext cx="3759200" cy="9445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2779713" y="4903788"/>
          <a:ext cx="285591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49" name="Equation" r:id="rId9" imgW="1193760" imgH="431640" progId="Equation.DSMT4">
                  <p:embed/>
                </p:oleObj>
              </mc:Choice>
              <mc:Fallback>
                <p:oleObj name="Equation" r:id="rId9" imgW="1193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4903788"/>
                        <a:ext cx="2855912" cy="9461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2" name="Rectangle 14"/>
          <p:cNvSpPr>
            <a:spLocks noChangeArrowheads="1"/>
          </p:cNvSpPr>
          <p:nvPr/>
        </p:nvSpPr>
        <p:spPr bwMode="auto">
          <a:xfrm>
            <a:off x="927100" y="5903913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式中，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3000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为窄带高斯噪声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的方差。</a:t>
            </a:r>
          </a:p>
        </p:txBody>
      </p:sp>
    </p:spTree>
    <p:extLst>
      <p:ext uri="{BB962C8B-B14F-4D97-AF65-F5344CB8AC3E}">
        <p14:creationId xmlns:p14="http://schemas.microsoft.com/office/powerpoint/2010/main" val="22223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68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6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8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26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6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8" grpId="0"/>
      <p:bldP spid="268299" grpId="0"/>
      <p:bldP spid="26830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5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93" t="4588" r="4279" b="19083"/>
          <a:stretch>
            <a:fillRect/>
          </a:stretch>
        </p:blipFill>
        <p:spPr bwMode="auto">
          <a:xfrm>
            <a:off x="5564188" y="255588"/>
            <a:ext cx="33337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3" name="Rectangle 5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53" name="Rectangle 13"/>
          <p:cNvSpPr>
            <a:spLocks noChangeArrowheads="1"/>
          </p:cNvSpPr>
          <p:nvPr/>
        </p:nvSpPr>
        <p:spPr bwMode="auto">
          <a:xfrm>
            <a:off x="838200" y="539750"/>
            <a:ext cx="4622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设判决门限为</a:t>
            </a:r>
            <a:r>
              <a:rPr lang="en-US" altLang="zh-CN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b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微软雅黑" pitchFamily="34" charset="-122"/>
                <a:cs typeface="Arial" pitchFamily="34" charset="0"/>
              </a:rPr>
              <a:t>，判决规则为：</a:t>
            </a:r>
          </a:p>
        </p:txBody>
      </p:sp>
      <p:sp>
        <p:nvSpPr>
          <p:cNvPr id="87054" name="Rectangle 14"/>
          <p:cNvSpPr>
            <a:spLocks noChangeArrowheads="1"/>
          </p:cNvSpPr>
          <p:nvPr/>
        </p:nvSpPr>
        <p:spPr bwMode="auto">
          <a:xfrm>
            <a:off x="615950" y="2584450"/>
            <a:ext cx="44783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发“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中宋" pitchFamily="2" charset="-122"/>
              </a:rPr>
              <a:t>1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”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错判为“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中宋" pitchFamily="2" charset="-122"/>
              </a:rPr>
              <a:t>0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”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的概率为</a:t>
            </a:r>
            <a:endParaRPr lang="en-US" altLang="zh-CN" sz="240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9706" name="Rectangle 18"/>
          <p:cNvSpPr>
            <a:spLocks noChangeArrowheads="1"/>
          </p:cNvSpPr>
          <p:nvPr/>
        </p:nvSpPr>
        <p:spPr bwMode="auto">
          <a:xfrm>
            <a:off x="0" y="2185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060" name="Rectangle 20"/>
          <p:cNvSpPr>
            <a:spLocks noChangeArrowheads="1"/>
          </p:cNvSpPr>
          <p:nvPr/>
        </p:nvSpPr>
        <p:spPr bwMode="auto">
          <a:xfrm>
            <a:off x="882650" y="5072063"/>
            <a:ext cx="322897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400">
                <a:ea typeface="华文中宋" panose="02010600040101010101" pitchFamily="2" charset="-122"/>
              </a:rPr>
              <a:t>利用</a:t>
            </a:r>
            <a:r>
              <a:rPr lang="en-US" altLang="zh-CN" sz="2400" b="1">
                <a:solidFill>
                  <a:srgbClr val="0033CC"/>
                </a:solidFill>
                <a:ea typeface="华文中宋" panose="02010600040101010101" pitchFamily="2" charset="-122"/>
              </a:rPr>
              <a:t>Marcum Q</a:t>
            </a:r>
            <a:r>
              <a:rPr lang="zh-CN" altLang="en-US" sz="2400">
                <a:ea typeface="华文中宋" panose="02010600040101010101" pitchFamily="2" charset="-122"/>
              </a:rPr>
              <a:t>函数：</a:t>
            </a:r>
          </a:p>
        </p:txBody>
      </p:sp>
      <p:graphicFrame>
        <p:nvGraphicFramePr>
          <p:cNvPr id="87062" name="Object 22"/>
          <p:cNvGraphicFramePr>
            <a:graphicFrameLocks noChangeAspect="1"/>
          </p:cNvGraphicFramePr>
          <p:nvPr/>
        </p:nvGraphicFramePr>
        <p:xfrm>
          <a:off x="2070100" y="5597525"/>
          <a:ext cx="45910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0" name="公式" r:id="rId4" imgW="1943100" imgH="342900" progId="Equation.3">
                  <p:embed/>
                </p:oleObj>
              </mc:Choice>
              <mc:Fallback>
                <p:oleObj name="公式" r:id="rId4" imgW="19431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100" y="5597525"/>
                        <a:ext cx="4591050" cy="80962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33CC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9F4C2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65" name="Object 25"/>
          <p:cNvGraphicFramePr>
            <a:graphicFrameLocks noChangeAspect="1"/>
          </p:cNvGraphicFramePr>
          <p:nvPr/>
        </p:nvGraphicFramePr>
        <p:xfrm>
          <a:off x="7232650" y="4064000"/>
          <a:ext cx="850900" cy="225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1" name="Equation" r:id="rId6" imgW="495000" imgH="1320480" progId="Equation.DSMT4">
                  <p:embed/>
                </p:oleObj>
              </mc:Choice>
              <mc:Fallback>
                <p:oleObj name="Equation" r:id="rId6" imgW="495000" imgH="1320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0" y="4064000"/>
                        <a:ext cx="850900" cy="2254250"/>
                      </a:xfrm>
                      <a:prstGeom prst="rect">
                        <a:avLst/>
                      </a:prstGeom>
                      <a:noFill/>
                      <a:ln w="22225" cmpd="dbl">
                        <a:solidFill>
                          <a:srgbClr val="0033CC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987425" y="3162300"/>
          <a:ext cx="70961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2" name="Equation" r:id="rId8" imgW="2984400" imgH="330120" progId="Equation.DSMT4">
                  <p:embed/>
                </p:oleObj>
              </mc:Choice>
              <mc:Fallback>
                <p:oleObj name="Equation" r:id="rId8" imgW="2984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3162300"/>
                        <a:ext cx="7096125" cy="7334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8"/>
          <p:cNvGraphicFramePr>
            <a:graphicFrameLocks noChangeAspect="1"/>
          </p:cNvGraphicFramePr>
          <p:nvPr/>
        </p:nvGraphicFramePr>
        <p:xfrm>
          <a:off x="2082800" y="3962400"/>
          <a:ext cx="45783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3" name="公式" r:id="rId10" imgW="2095200" imgH="482400" progId="Equation.3">
                  <p:embed/>
                </p:oleObj>
              </mc:Choice>
              <mc:Fallback>
                <p:oleObj name="公式" r:id="rId10" imgW="20952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3962400"/>
                        <a:ext cx="457835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63" name="Rectangle 23"/>
          <p:cNvSpPr>
            <a:spLocks noChangeArrowheads="1"/>
          </p:cNvSpPr>
          <p:nvPr/>
        </p:nvSpPr>
        <p:spPr bwMode="auto">
          <a:xfrm>
            <a:off x="2794000" y="4006850"/>
            <a:ext cx="3870325" cy="1035050"/>
          </a:xfrm>
          <a:prstGeom prst="rect">
            <a:avLst/>
          </a:prstGeom>
          <a:noFill/>
          <a:ln w="9525">
            <a:solidFill>
              <a:srgbClr val="0033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1760" name="Picture 1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36" r="11494"/>
          <a:stretch>
            <a:fillRect/>
          </a:stretch>
        </p:blipFill>
        <p:spPr bwMode="auto">
          <a:xfrm>
            <a:off x="731838" y="1162050"/>
            <a:ext cx="41068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683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87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8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1000"/>
                                        <p:tgtEl>
                                          <p:spTgt spid="8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70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7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7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8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3000"/>
                                        <p:tgtEl>
                                          <p:spTgt spid="8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3" grpId="0"/>
      <p:bldP spid="87054" grpId="0"/>
      <p:bldP spid="87060" grpId="0"/>
      <p:bldP spid="8706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705100" y="2673350"/>
            <a:ext cx="4000500" cy="12446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400" kern="0" dirty="0">
                <a:latin typeface="+mn-lt"/>
                <a:ea typeface="华文中宋" pitchFamily="2" charset="-122"/>
              </a:rPr>
              <a:t> </a:t>
            </a:r>
            <a:r>
              <a:rPr lang="en-US" altLang="zh-CN" sz="2400" b="1" i="1" kern="0" dirty="0">
                <a:solidFill>
                  <a:schemeClr val="hlink"/>
                </a:solidFill>
                <a:latin typeface="+mn-lt"/>
                <a:ea typeface="华文中宋" pitchFamily="2" charset="-122"/>
              </a:rPr>
              <a:t>r</a:t>
            </a:r>
            <a:r>
              <a:rPr lang="en-US" altLang="zh-CN" sz="2400" b="1" kern="0" dirty="0">
                <a:solidFill>
                  <a:schemeClr val="hlink"/>
                </a:solidFill>
                <a:latin typeface="+mn-lt"/>
                <a:ea typeface="华文中宋" pitchFamily="2" charset="-122"/>
              </a:rPr>
              <a:t> = </a:t>
            </a:r>
            <a:r>
              <a:rPr lang="en-US" altLang="zh-CN" sz="2400" b="1" i="1" kern="0" dirty="0">
                <a:solidFill>
                  <a:schemeClr val="hlink"/>
                </a:solidFill>
                <a:latin typeface="+mn-lt"/>
                <a:ea typeface="华文中宋" pitchFamily="2" charset="-122"/>
              </a:rPr>
              <a:t>a</a:t>
            </a:r>
            <a:r>
              <a:rPr lang="en-US" altLang="zh-CN" sz="2400" b="1" kern="0" baseline="30000" dirty="0">
                <a:solidFill>
                  <a:schemeClr val="hlink"/>
                </a:solidFill>
                <a:latin typeface="+mn-lt"/>
                <a:ea typeface="华文中宋" pitchFamily="2" charset="-122"/>
              </a:rPr>
              <a:t>2 </a:t>
            </a:r>
            <a:r>
              <a:rPr lang="en-US" altLang="zh-CN" sz="2400" b="1" kern="0" dirty="0">
                <a:solidFill>
                  <a:schemeClr val="hlink"/>
                </a:solidFill>
                <a:latin typeface="+mn-lt"/>
                <a:ea typeface="华文中宋" pitchFamily="2" charset="-122"/>
              </a:rPr>
              <a:t>/ 2</a:t>
            </a:r>
            <a:r>
              <a:rPr lang="en-US" altLang="zh-CN" sz="2400" b="1" i="1" kern="0" dirty="0">
                <a:solidFill>
                  <a:schemeClr val="hlink"/>
                </a:solidFill>
                <a:latin typeface="+mn-lt"/>
                <a:ea typeface="华文中宋" pitchFamily="2" charset="-122"/>
                <a:sym typeface="Symbol" pitchFamily="18" charset="2"/>
              </a:rPr>
              <a:t></a:t>
            </a:r>
            <a:r>
              <a:rPr lang="en-US" altLang="zh-CN" sz="2400" b="1" i="1" kern="0" baseline="-25000" dirty="0">
                <a:solidFill>
                  <a:schemeClr val="hlink"/>
                </a:solidFill>
                <a:latin typeface="+mn-lt"/>
                <a:ea typeface="华文中宋" pitchFamily="2" charset="-122"/>
                <a:sym typeface="Symbol" pitchFamily="18" charset="2"/>
              </a:rPr>
              <a:t>n</a:t>
            </a:r>
            <a:r>
              <a:rPr lang="en-US" altLang="zh-CN" sz="2400" b="1" kern="0" baseline="30000" dirty="0">
                <a:solidFill>
                  <a:schemeClr val="hlink"/>
                </a:solidFill>
                <a:latin typeface="+mn-lt"/>
                <a:ea typeface="华文中宋" pitchFamily="2" charset="-122"/>
                <a:sym typeface="Symbol" pitchFamily="18" charset="2"/>
              </a:rPr>
              <a:t>2</a:t>
            </a:r>
            <a:r>
              <a:rPr lang="en-US" altLang="zh-CN" sz="2400" kern="0" baseline="30000" dirty="0">
                <a:solidFill>
                  <a:schemeClr val="hlink"/>
                </a:solidFill>
                <a:latin typeface="+mn-lt"/>
                <a:ea typeface="华文中宋" pitchFamily="2" charset="-122"/>
                <a:sym typeface="Symbol" pitchFamily="18" charset="2"/>
              </a:rPr>
              <a:t>  </a:t>
            </a: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信号噪声功率比</a:t>
            </a:r>
            <a:endParaRPr lang="en-US" altLang="zh-CN" sz="2400" kern="0" dirty="0">
              <a:latin typeface="华文中宋" pitchFamily="2" charset="-122"/>
              <a:ea typeface="华文中宋" pitchFamily="2" charset="-122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500" b="1" i="1" kern="0" dirty="0">
                <a:latin typeface="+mn-lt"/>
                <a:ea typeface="华文中宋" pitchFamily="2" charset="-122"/>
              </a:rPr>
              <a:t> </a:t>
            </a:r>
            <a:r>
              <a:rPr lang="en-US" altLang="zh-CN" sz="2500" b="1" i="1" kern="0" dirty="0">
                <a:solidFill>
                  <a:srgbClr val="CC00CC"/>
                </a:solidFill>
                <a:latin typeface="+mn-lt"/>
                <a:ea typeface="华文中宋" pitchFamily="2" charset="-122"/>
              </a:rPr>
              <a:t>b</a:t>
            </a:r>
            <a:r>
              <a:rPr lang="en-US" altLang="zh-CN" sz="2500" b="1" kern="0" baseline="-25000" dirty="0">
                <a:solidFill>
                  <a:srgbClr val="CC00CC"/>
                </a:solidFill>
                <a:latin typeface="+mn-lt"/>
                <a:ea typeface="华文中宋" pitchFamily="2" charset="-122"/>
              </a:rPr>
              <a:t>0</a:t>
            </a:r>
            <a:r>
              <a:rPr lang="en-US" altLang="zh-CN" sz="2500" b="1" kern="0" dirty="0">
                <a:solidFill>
                  <a:srgbClr val="CC00CC"/>
                </a:solidFill>
                <a:latin typeface="+mn-lt"/>
                <a:ea typeface="华文中宋" pitchFamily="2" charset="-122"/>
              </a:rPr>
              <a:t> =</a:t>
            </a:r>
            <a:r>
              <a:rPr lang="en-US" altLang="zh-CN" sz="2500" b="1" i="1" kern="0" dirty="0">
                <a:solidFill>
                  <a:srgbClr val="CC00CC"/>
                </a:solidFill>
                <a:latin typeface="+mn-lt"/>
                <a:ea typeface="华文中宋" pitchFamily="2" charset="-122"/>
              </a:rPr>
              <a:t>b</a:t>
            </a:r>
            <a:r>
              <a:rPr lang="en-US" altLang="zh-CN" sz="2500" b="1" kern="0" dirty="0">
                <a:solidFill>
                  <a:srgbClr val="CC00CC"/>
                </a:solidFill>
                <a:latin typeface="+mn-lt"/>
                <a:ea typeface="华文中宋" pitchFamily="2" charset="-122"/>
              </a:rPr>
              <a:t> /</a:t>
            </a:r>
            <a:r>
              <a:rPr lang="en-US" altLang="zh-CN" sz="2500" b="1" i="1" kern="0" dirty="0">
                <a:solidFill>
                  <a:srgbClr val="CC00CC"/>
                </a:solidFill>
                <a:latin typeface="+mn-lt"/>
                <a:ea typeface="华文中宋" pitchFamily="2" charset="-122"/>
                <a:sym typeface="Symbol" pitchFamily="18" charset="2"/>
              </a:rPr>
              <a:t></a:t>
            </a:r>
            <a:r>
              <a:rPr lang="en-US" altLang="zh-CN" sz="2500" b="1" i="1" kern="0" baseline="-25000" dirty="0">
                <a:solidFill>
                  <a:srgbClr val="CC00CC"/>
                </a:solidFill>
                <a:latin typeface="+mn-lt"/>
                <a:ea typeface="华文中宋" pitchFamily="2" charset="-122"/>
                <a:sym typeface="Symbol" pitchFamily="18" charset="2"/>
              </a:rPr>
              <a:t>n</a:t>
            </a:r>
            <a:r>
              <a:rPr lang="en-US" altLang="zh-CN" sz="2500" b="1" kern="0" dirty="0">
                <a:solidFill>
                  <a:srgbClr val="CC00CC"/>
                </a:solidFill>
                <a:latin typeface="+mn-lt"/>
                <a:ea typeface="华文中宋" pitchFamily="2" charset="-122"/>
              </a:rPr>
              <a:t>   </a:t>
            </a:r>
            <a:r>
              <a:rPr lang="zh-CN" altLang="en-US" sz="2500" kern="0" dirty="0">
                <a:latin typeface="+mn-lt"/>
                <a:ea typeface="华文中宋" pitchFamily="2" charset="-122"/>
              </a:rPr>
              <a:t>归一化门限值</a:t>
            </a:r>
          </a:p>
        </p:txBody>
      </p:sp>
      <p:sp>
        <p:nvSpPr>
          <p:cNvPr id="3072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1001713" y="977900"/>
            <a:ext cx="7793037" cy="539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则 </a:t>
            </a:r>
            <a:r>
              <a:rPr lang="en-US" altLang="zh-CN" sz="2400" b="1" i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P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(0/1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可借助</a:t>
            </a:r>
            <a:r>
              <a:rPr lang="en-US" altLang="zh-CN" sz="2400" b="1" dirty="0">
                <a:solidFill>
                  <a:srgbClr val="0033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Marcum Q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函数表示为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704850" y="4140200"/>
            <a:ext cx="475615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发“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中宋" pitchFamily="2" charset="-122"/>
              </a:rPr>
              <a:t>0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”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错判为“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中宋" pitchFamily="2" charset="-122"/>
              </a:rPr>
              <a:t>1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”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的概率为</a:t>
            </a:r>
          </a:p>
        </p:txBody>
      </p:sp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2705100" y="5502275"/>
          <a:ext cx="50863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7" name="公式" r:id="rId3" imgW="2286000" imgH="431800" progId="Equation.3">
                  <p:embed/>
                </p:oleObj>
              </mc:Choice>
              <mc:Fallback>
                <p:oleObj name="公式" r:id="rId3" imgW="2286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5502275"/>
                        <a:ext cx="5086350" cy="1038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1" name="Object 13"/>
          <p:cNvGraphicFramePr>
            <a:graphicFrameLocks noChangeAspect="1"/>
          </p:cNvGraphicFramePr>
          <p:nvPr/>
        </p:nvGraphicFramePr>
        <p:xfrm>
          <a:off x="1649413" y="1562100"/>
          <a:ext cx="563403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8" name="Equation" r:id="rId5" imgW="2450880" imgH="431640" progId="Equation.DSMT4">
                  <p:embed/>
                </p:oleObj>
              </mc:Choice>
              <mc:Fallback>
                <p:oleObj name="Equation" r:id="rId5" imgW="2450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1562100"/>
                        <a:ext cx="5634037" cy="9271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1638300" y="4718050"/>
          <a:ext cx="46672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9" name="Equation" r:id="rId7" imgW="2019240" imgH="330120" progId="Equation.DSMT4">
                  <p:embed/>
                </p:oleObj>
              </mc:Choice>
              <mc:Fallback>
                <p:oleObj name="Equation" r:id="rId7" imgW="2019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4718050"/>
                        <a:ext cx="4667250" cy="71278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49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 animBg="1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6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48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49" name="Rectangle 11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104" name="Rectangle 16"/>
          <p:cNvSpPr>
            <a:spLocks noChangeArrowheads="1"/>
          </p:cNvSpPr>
          <p:nvPr/>
        </p:nvSpPr>
        <p:spPr bwMode="auto">
          <a:xfrm>
            <a:off x="836613" y="1206500"/>
            <a:ext cx="3379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400">
                <a:ea typeface="华文中宋" panose="02010600040101010101" pitchFamily="2" charset="-122"/>
              </a:rPr>
              <a:t> 系统的总误码率为</a:t>
            </a:r>
          </a:p>
        </p:txBody>
      </p:sp>
      <p:sp>
        <p:nvSpPr>
          <p:cNvPr id="89105" name="Rectangle 17"/>
          <p:cNvSpPr>
            <a:spLocks noChangeArrowheads="1"/>
          </p:cNvSpPr>
          <p:nvPr/>
        </p:nvSpPr>
        <p:spPr bwMode="auto">
          <a:xfrm>
            <a:off x="1036638" y="3519488"/>
            <a:ext cx="3090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当 </a:t>
            </a:r>
            <a:r>
              <a:rPr lang="en-US" altLang="zh-CN" sz="2400" b="1" i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(1) = </a:t>
            </a:r>
            <a:r>
              <a:rPr lang="en-US" altLang="zh-CN" sz="2400" b="1" i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(0)</a:t>
            </a:r>
            <a:r>
              <a:rPr lang="en-US" altLang="zh-CN" sz="2400" b="1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时，有</a:t>
            </a:r>
          </a:p>
        </p:txBody>
      </p:sp>
      <p:sp>
        <p:nvSpPr>
          <p:cNvPr id="89113" name="Rectangle 25"/>
          <p:cNvSpPr>
            <a:spLocks noChangeArrowheads="1"/>
          </p:cNvSpPr>
          <p:nvPr/>
        </p:nvSpPr>
        <p:spPr bwMode="auto">
          <a:xfrm>
            <a:off x="927100" y="5381625"/>
            <a:ext cx="657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/>
              <a:t>包检系统的</a:t>
            </a:r>
            <a:r>
              <a:rPr lang="en-US" altLang="zh-CN" sz="2400" b="1" dirty="0" err="1">
                <a:solidFill>
                  <a:schemeClr val="hlink"/>
                </a:solidFill>
              </a:rPr>
              <a:t>P</a:t>
            </a:r>
            <a:r>
              <a:rPr lang="en-US" altLang="zh-CN" sz="2400" b="1" baseline="-25000" dirty="0" err="1">
                <a:solidFill>
                  <a:schemeClr val="hlink"/>
                </a:solidFill>
              </a:rPr>
              <a:t>e</a:t>
            </a:r>
            <a:r>
              <a:rPr lang="zh-CN" altLang="en-US" sz="2400" b="1" dirty="0"/>
              <a:t>取决于信噪比</a:t>
            </a:r>
            <a:r>
              <a:rPr lang="en-US" altLang="zh-CN" sz="2400" b="1" i="1" dirty="0">
                <a:solidFill>
                  <a:schemeClr val="hlink"/>
                </a:solidFill>
              </a:rPr>
              <a:t>r </a:t>
            </a:r>
            <a:r>
              <a:rPr lang="zh-CN" altLang="en-US" sz="2400" b="1" dirty="0"/>
              <a:t>和归一化门限值</a:t>
            </a:r>
            <a:r>
              <a:rPr lang="en-US" altLang="zh-CN" sz="2400" b="1" i="1" dirty="0">
                <a:solidFill>
                  <a:schemeClr val="hlink"/>
                </a:solidFill>
              </a:rPr>
              <a:t>b</a:t>
            </a:r>
            <a:r>
              <a:rPr lang="en-US" altLang="zh-CN" sz="2400" b="1" baseline="-25000" dirty="0">
                <a:solidFill>
                  <a:schemeClr val="hlink"/>
                </a:solidFill>
              </a:rPr>
              <a:t>0</a:t>
            </a:r>
            <a:endParaRPr lang="zh-CN" altLang="en-US" sz="2400" b="1" dirty="0"/>
          </a:p>
        </p:txBody>
      </p:sp>
      <p:graphicFrame>
        <p:nvGraphicFramePr>
          <p:cNvPr id="39939" name="Object 11"/>
          <p:cNvGraphicFramePr>
            <a:graphicFrameLocks noChangeAspect="1"/>
          </p:cNvGraphicFramePr>
          <p:nvPr/>
        </p:nvGraphicFramePr>
        <p:xfrm>
          <a:off x="2794000" y="2540000"/>
          <a:ext cx="48895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37" name="公式" r:id="rId3" imgW="2095200" imgH="266400" progId="Equation.3">
                  <p:embed/>
                </p:oleObj>
              </mc:Choice>
              <mc:Fallback>
                <p:oleObj name="公式" r:id="rId3" imgW="20952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2540000"/>
                        <a:ext cx="48895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7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54"/>
          <a:stretch>
            <a:fillRect/>
          </a:stretch>
        </p:blipFill>
        <p:spPr bwMode="auto">
          <a:xfrm>
            <a:off x="2254250" y="4095750"/>
            <a:ext cx="489585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104"/>
          <a:stretch>
            <a:fillRect/>
          </a:stretch>
        </p:blipFill>
        <p:spPr bwMode="auto">
          <a:xfrm>
            <a:off x="2328863" y="1873250"/>
            <a:ext cx="489585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94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8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9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04" grpId="0"/>
      <p:bldP spid="89105" grpId="0"/>
      <p:bldP spid="891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17600"/>
            <a:ext cx="3679825" cy="539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SzPct val="55000"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求最佳判决门限，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令：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63300"/>
              </p:ext>
            </p:extLst>
          </p:nvPr>
        </p:nvGraphicFramePr>
        <p:xfrm>
          <a:off x="4937760" y="1207185"/>
          <a:ext cx="10636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15" name="公式" r:id="rId3" imgW="495000" imgH="393480" progId="Equation.3">
                  <p:embed/>
                </p:oleObj>
              </mc:Choice>
              <mc:Fallback>
                <p:oleObj name="公式" r:id="rId3" imgW="495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7760" y="1207185"/>
                        <a:ext cx="1063625" cy="84613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/>
        </p:nvGraphicFramePr>
        <p:xfrm>
          <a:off x="4038600" y="2139950"/>
          <a:ext cx="337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16" name="公式" r:id="rId5" imgW="1549080" imgH="241200" progId="Equation.3">
                  <p:embed/>
                </p:oleObj>
              </mc:Choice>
              <mc:Fallback>
                <p:oleObj name="公式" r:id="rId5" imgW="15490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139950"/>
                        <a:ext cx="3378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8"/>
          <p:cNvGraphicFramePr>
            <a:graphicFrameLocks noChangeAspect="1"/>
          </p:cNvGraphicFramePr>
          <p:nvPr/>
        </p:nvGraphicFramePr>
        <p:xfrm>
          <a:off x="4616450" y="2889250"/>
          <a:ext cx="22225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17" name="公式" r:id="rId7" imgW="977760" imgH="241200" progId="Equation.3">
                  <p:embed/>
                </p:oleObj>
              </mc:Choice>
              <mc:Fallback>
                <p:oleObj name="公式" r:id="rId7" imgW="9777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0" y="2889250"/>
                        <a:ext cx="2222500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0" name="Rectangle 14"/>
          <p:cNvSpPr>
            <a:spLocks noChangeArrowheads="1"/>
          </p:cNvSpPr>
          <p:nvPr/>
        </p:nvSpPr>
        <p:spPr bwMode="auto">
          <a:xfrm>
            <a:off x="1016000" y="2851150"/>
            <a:ext cx="2844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80000"/>
            </a:pPr>
            <a:r>
              <a:rPr lang="en-US" altLang="zh-CN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当</a:t>
            </a:r>
            <a:r>
              <a:rPr lang="en-US" altLang="zh-CN" sz="2400" b="1" i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(1)=</a:t>
            </a:r>
            <a:r>
              <a:rPr lang="en-US" altLang="zh-CN" sz="2400" b="1" i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b="1" dirty="0">
                <a:solidFill>
                  <a:srgbClr val="000099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(0)</a:t>
            </a:r>
            <a:r>
              <a:rPr lang="zh-CN" altLang="en-US" sz="24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时，有</a:t>
            </a:r>
          </a:p>
        </p:txBody>
      </p:sp>
      <p:sp>
        <p:nvSpPr>
          <p:cNvPr id="91153" name="Rectangle 17"/>
          <p:cNvSpPr>
            <a:spLocks noChangeArrowheads="1"/>
          </p:cNvSpPr>
          <p:nvPr/>
        </p:nvSpPr>
        <p:spPr bwMode="auto">
          <a:xfrm>
            <a:off x="1381125" y="3829050"/>
            <a:ext cx="2746375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80000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最佳判决门限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:  </a:t>
            </a:r>
          </a:p>
        </p:txBody>
      </p:sp>
      <p:sp>
        <p:nvSpPr>
          <p:cNvPr id="91154" name="Rectangle 18"/>
          <p:cNvSpPr>
            <a:spLocks noChangeArrowheads="1"/>
          </p:cNvSpPr>
          <p:nvPr/>
        </p:nvSpPr>
        <p:spPr bwMode="auto">
          <a:xfrm>
            <a:off x="746125" y="5251450"/>
            <a:ext cx="342106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80000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   归一化最佳判决门限</a:t>
            </a:r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: </a:t>
            </a:r>
          </a:p>
        </p:txBody>
      </p:sp>
      <p:pic>
        <p:nvPicPr>
          <p:cNvPr id="37899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97"/>
          <a:stretch>
            <a:fillRect/>
          </a:stretch>
        </p:blipFill>
        <p:spPr bwMode="auto">
          <a:xfrm>
            <a:off x="4232275" y="3651250"/>
            <a:ext cx="3762375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71" b="-3886"/>
          <a:stretch>
            <a:fillRect/>
          </a:stretch>
        </p:blipFill>
        <p:spPr bwMode="auto">
          <a:xfrm>
            <a:off x="4216400" y="4984750"/>
            <a:ext cx="376237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87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10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91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91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5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1117600"/>
            <a:ext cx="8281988" cy="5678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3500"/>
              </a:lnSpc>
              <a:buClr>
                <a:srgbClr val="0000CC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实际情况</a:t>
            </a:r>
          </a:p>
          <a:p>
            <a:pPr lvl="1" eaLnBrk="1" hangingPunct="1">
              <a:lnSpc>
                <a:spcPts val="35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en-US" altLang="zh-CN" sz="24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系统工作在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大信噪比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情况下，</a:t>
            </a:r>
            <a:r>
              <a:rPr lang="en-US" altLang="zh-CN" sz="24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∴</a:t>
            </a:r>
            <a:r>
              <a:rPr lang="zh-CN" altLang="en-US" sz="24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最佳门限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应取</a:t>
            </a:r>
            <a:r>
              <a:rPr lang="zh-CN" altLang="en-US" sz="24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b="1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 b="1" dirty="0"/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zh-CN" altLang="en-US" sz="2400" b="1" dirty="0"/>
              <a:t>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ea typeface="华文中宋" panose="02010600040101010101" pitchFamily="2" charset="-122"/>
              </a:rPr>
              <a:t>此时，系统的总误码率为：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 dirty="0">
              <a:ea typeface="华文中宋" panose="02010600040101010101" pitchFamily="2" charset="-122"/>
            </a:endParaRPr>
          </a:p>
          <a:p>
            <a:pPr lvl="3" eaLnBrk="1" hangingPunct="1">
              <a:buFont typeface="Wingdings" panose="05000000000000000000" pitchFamily="2" charset="2"/>
              <a:buNone/>
            </a:pPr>
            <a:endParaRPr lang="en-US" altLang="zh-CN" sz="2400" b="1" dirty="0"/>
          </a:p>
        </p:txBody>
      </p:sp>
      <p:pic>
        <p:nvPicPr>
          <p:cNvPr id="3892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75" y="2184400"/>
            <a:ext cx="570547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3192" name="Object 8"/>
          <p:cNvGraphicFramePr>
            <a:graphicFrameLocks noChangeAspect="1"/>
          </p:cNvGraphicFramePr>
          <p:nvPr/>
        </p:nvGraphicFramePr>
        <p:xfrm>
          <a:off x="4481513" y="3694113"/>
          <a:ext cx="3465512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85" name="公式" r:id="rId4" imgW="1574800" imgH="508000" progId="Equation.3">
                  <p:embed/>
                </p:oleObj>
              </mc:Choice>
              <mc:Fallback>
                <p:oleObj name="公式" r:id="rId4" imgW="15748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3694113"/>
                        <a:ext cx="3465512" cy="1112837"/>
                      </a:xfrm>
                      <a:prstGeom prst="rect">
                        <a:avLst/>
                      </a:prstGeom>
                      <a:solidFill>
                        <a:srgbClr val="FFFFE5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E5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Rectangle 11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198" name="Rectangle 14"/>
          <p:cNvSpPr>
            <a:spLocks noChangeArrowheads="1"/>
          </p:cNvSpPr>
          <p:nvPr/>
        </p:nvSpPr>
        <p:spPr bwMode="auto">
          <a:xfrm>
            <a:off x="836613" y="4959350"/>
            <a:ext cx="421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当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 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时，上式的下界为：</a:t>
            </a:r>
          </a:p>
        </p:txBody>
      </p:sp>
      <p:sp>
        <p:nvSpPr>
          <p:cNvPr id="93204" name="Freeform 20"/>
          <p:cNvSpPr>
            <a:spLocks/>
          </p:cNvSpPr>
          <p:nvPr/>
        </p:nvSpPr>
        <p:spPr bwMode="auto">
          <a:xfrm flipH="1">
            <a:off x="3627438" y="2347913"/>
            <a:ext cx="998537" cy="811212"/>
          </a:xfrm>
          <a:custGeom>
            <a:avLst/>
            <a:gdLst>
              <a:gd name="T0" fmla="*/ 2147483647 w 46"/>
              <a:gd name="T1" fmla="*/ 0 h 43"/>
              <a:gd name="T2" fmla="*/ 2147483647 w 46"/>
              <a:gd name="T3" fmla="*/ 2147483647 h 43"/>
              <a:gd name="T4" fmla="*/ 2147483647 w 46"/>
              <a:gd name="T5" fmla="*/ 2147483647 h 43"/>
              <a:gd name="T6" fmla="*/ 2147483647 w 46"/>
              <a:gd name="T7" fmla="*/ 2147483647 h 43"/>
              <a:gd name="T8" fmla="*/ 2147483647 w 46"/>
              <a:gd name="T9" fmla="*/ 2147483647 h 43"/>
              <a:gd name="T10" fmla="*/ 2147483647 w 46"/>
              <a:gd name="T11" fmla="*/ 2147483647 h 43"/>
              <a:gd name="T12" fmla="*/ 0 w 46"/>
              <a:gd name="T13" fmla="*/ 2147483647 h 43"/>
              <a:gd name="T14" fmla="*/ 2147483647 w 46"/>
              <a:gd name="T15" fmla="*/ 0 h 4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6"/>
              <a:gd name="T25" fmla="*/ 0 h 43"/>
              <a:gd name="T26" fmla="*/ 46 w 46"/>
              <a:gd name="T27" fmla="*/ 43 h 4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6" h="43">
                <a:moveTo>
                  <a:pt x="4" y="0"/>
                </a:moveTo>
                <a:cubicBezTo>
                  <a:pt x="4" y="0"/>
                  <a:pt x="24" y="13"/>
                  <a:pt x="35" y="15"/>
                </a:cubicBezTo>
                <a:lnTo>
                  <a:pt x="30" y="6"/>
                </a:lnTo>
                <a:lnTo>
                  <a:pt x="46" y="22"/>
                </a:lnTo>
                <a:lnTo>
                  <a:pt x="27" y="40"/>
                </a:lnTo>
                <a:lnTo>
                  <a:pt x="34" y="30"/>
                </a:lnTo>
                <a:cubicBezTo>
                  <a:pt x="34" y="30"/>
                  <a:pt x="6" y="33"/>
                  <a:pt x="0" y="43"/>
                </a:cubicBezTo>
                <a:lnTo>
                  <a:pt x="4" y="0"/>
                </a:lnTo>
              </a:path>
            </a:pathLst>
          </a:custGeom>
          <a:gradFill rotWithShape="0">
            <a:gsLst>
              <a:gs pos="0">
                <a:srgbClr val="979797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585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2" t="50000"/>
          <a:stretch>
            <a:fillRect/>
          </a:stretch>
        </p:blipFill>
        <p:spPr bwMode="auto">
          <a:xfrm>
            <a:off x="4883150" y="5029200"/>
            <a:ext cx="30670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039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9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0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8" grpId="0"/>
      <p:bldP spid="9320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83A7D-8234-EE45-8202-0A6B39FC9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总结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B3B0B-7519-3248-B894-6696403C75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7F4DD2-422A-41DA-9080-89F305368B89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61923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05"/>
          <a:stretch>
            <a:fillRect/>
          </a:stretch>
        </p:blipFill>
        <p:spPr bwMode="auto">
          <a:xfrm>
            <a:off x="793750" y="406400"/>
            <a:ext cx="711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50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226"/>
          <a:stretch>
            <a:fillRect/>
          </a:stretch>
        </p:blipFill>
        <p:spPr bwMode="auto">
          <a:xfrm>
            <a:off x="971550" y="5162550"/>
            <a:ext cx="7112000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椭圆 13"/>
          <p:cNvSpPr/>
          <p:nvPr/>
        </p:nvSpPr>
        <p:spPr bwMode="auto">
          <a:xfrm>
            <a:off x="615950" y="361950"/>
            <a:ext cx="1289050" cy="666750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800080"/>
                </a:solidFill>
                <a:latin typeface="黑体" pitchFamily="2" charset="-122"/>
                <a:ea typeface="黑体" pitchFamily="2" charset="-122"/>
              </a:rPr>
              <a:t>归纳</a:t>
            </a:r>
          </a:p>
        </p:txBody>
      </p:sp>
      <p:pic>
        <p:nvPicPr>
          <p:cNvPr id="5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9" b="22385"/>
          <a:stretch>
            <a:fillRect/>
          </a:stretch>
        </p:blipFill>
        <p:spPr bwMode="auto">
          <a:xfrm>
            <a:off x="927100" y="1073150"/>
            <a:ext cx="711200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37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7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584200"/>
            <a:ext cx="8045450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/>
        </p:nvSpPr>
        <p:spPr bwMode="auto">
          <a:xfrm>
            <a:off x="0" y="895350"/>
            <a:ext cx="704850" cy="311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7100" y="2800350"/>
            <a:ext cx="5337175" cy="314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接收端带通滤波器带宽为：</a:t>
            </a:r>
          </a:p>
          <a:p>
            <a:pPr lvl="3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   带通滤波器输出噪声平均功率为：</a:t>
            </a:r>
          </a:p>
          <a:p>
            <a:pPr lvl="3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	信噪比为：</a:t>
            </a:r>
          </a:p>
          <a:p>
            <a:pPr eaLnBrk="1" hangingPunct="1"/>
            <a:endParaRPr lang="en-US" altLang="zh-CN" sz="2400" b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4040" name="Oval 12"/>
          <p:cNvSpPr>
            <a:spLocks noChangeArrowheads="1"/>
          </p:cNvSpPr>
          <p:nvPr/>
        </p:nvSpPr>
        <p:spPr bwMode="auto">
          <a:xfrm>
            <a:off x="306388" y="2798763"/>
            <a:ext cx="842962" cy="496887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解</a:t>
            </a:r>
          </a:p>
        </p:txBody>
      </p:sp>
      <p:graphicFrame>
        <p:nvGraphicFramePr>
          <p:cNvPr id="474125" name="Object 13"/>
          <p:cNvGraphicFramePr>
            <a:graphicFrameLocks noChangeAspect="1"/>
          </p:cNvGraphicFramePr>
          <p:nvPr/>
        </p:nvGraphicFramePr>
        <p:xfrm>
          <a:off x="3016250" y="3389313"/>
          <a:ext cx="31813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3" name="公式" r:id="rId4" imgW="1485720" imgH="228600" progId="Equation.3">
                  <p:embed/>
                </p:oleObj>
              </mc:Choice>
              <mc:Fallback>
                <p:oleObj name="公式" r:id="rId4" imgW="14857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3389313"/>
                        <a:ext cx="3181350" cy="488950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6" name="Object 14"/>
          <p:cNvGraphicFramePr>
            <a:graphicFrameLocks noChangeAspect="1"/>
          </p:cNvGraphicFramePr>
          <p:nvPr/>
        </p:nvGraphicFramePr>
        <p:xfrm>
          <a:off x="2927350" y="4538663"/>
          <a:ext cx="36449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4" name="公式" r:id="rId6" imgW="1625400" imgH="241200" progId="Equation.3">
                  <p:embed/>
                </p:oleObj>
              </mc:Choice>
              <mc:Fallback>
                <p:oleObj name="公式" r:id="rId6" imgW="1625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538663"/>
                        <a:ext cx="3644900" cy="534987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4127" name="Object 15"/>
          <p:cNvGraphicFramePr>
            <a:graphicFrameLocks noChangeAspect="1"/>
          </p:cNvGraphicFramePr>
          <p:nvPr/>
        </p:nvGraphicFramePr>
        <p:xfrm>
          <a:off x="2927350" y="5229225"/>
          <a:ext cx="486092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65" name="Equation" r:id="rId8" imgW="2120760" imgH="457200" progId="Equation.DSMT4">
                  <p:embed/>
                </p:oleObj>
              </mc:Choice>
              <mc:Fallback>
                <p:oleObj name="Equation" r:id="rId8" imgW="2120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229225"/>
                        <a:ext cx="4860925" cy="1044575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66713" y="211138"/>
            <a:ext cx="649287" cy="692150"/>
            <a:chOff x="1655" y="845"/>
            <a:chExt cx="454" cy="453"/>
          </a:xfrm>
        </p:grpSpPr>
        <p:grpSp>
          <p:nvGrpSpPr>
            <p:cNvPr id="34826" name="Group 23"/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34828" name="Oval 24"/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29" name="Oval 25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0" name="Oval 26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1" name="Oval 27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32" name="Oval 28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4827" name="Text Box 29"/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283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74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47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74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0"/>
                                        <p:tgtEl>
                                          <p:spTgt spid="47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474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47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24"/>
          <a:stretch>
            <a:fillRect/>
          </a:stretch>
        </p:blipFill>
        <p:spPr bwMode="auto">
          <a:xfrm>
            <a:off x="1371600" y="4940300"/>
            <a:ext cx="6738938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6125" y="1073150"/>
            <a:ext cx="8012113" cy="2338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indent="-609600" eaLnBrk="1" hangingPunct="1">
              <a:lnSpc>
                <a:spcPts val="34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ea typeface="华文中宋" panose="02010600040101010101" pitchFamily="2" charset="-122"/>
              </a:rPr>
              <a:t>(1) </a:t>
            </a:r>
            <a:r>
              <a:rPr lang="zh-CN" altLang="en-US" sz="240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同步检测</a:t>
            </a: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法解调时系统的误码率为</a:t>
            </a:r>
          </a:p>
          <a:p>
            <a:pPr marL="1790700" lvl="3" indent="-419100" eaLnBrk="1" hangingPunct="1">
              <a:lnSpc>
                <a:spcPts val="34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r"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790700" lvl="3" indent="-419100" eaLnBrk="1" hangingPunct="1">
              <a:lnSpc>
                <a:spcPts val="34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790700" lvl="3" indent="-419100" eaLnBrk="1" hangingPunct="1">
              <a:lnSpc>
                <a:spcPts val="34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</a:p>
          <a:p>
            <a:pPr marL="609600" indent="-609600" eaLnBrk="1" hangingPunct="1">
              <a:lnSpc>
                <a:spcPts val="3400"/>
              </a:lnSpc>
              <a:buFont typeface="Wingdings" panose="05000000000000000000" pitchFamily="2" charset="2"/>
              <a:buNone/>
            </a:pPr>
            <a:r>
              <a:rPr lang="en-US" altLang="zh-CN" sz="2400" b="0">
                <a:ea typeface="华文中宋" panose="02010600040101010101" pitchFamily="2" charset="-122"/>
              </a:rPr>
              <a:t>(2) </a:t>
            </a:r>
            <a:r>
              <a:rPr lang="zh-CN" altLang="en-US" sz="240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包络检波</a:t>
            </a: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法解调时系统的误码率为</a:t>
            </a:r>
          </a:p>
          <a:p>
            <a:pPr marL="1790700" lvl="3" indent="-419100" eaLnBrk="1" hangingPunct="1">
              <a:lnSpc>
                <a:spcPts val="34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r"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790700" lvl="3" indent="-419100" eaLnBrk="1" hangingPunct="1">
              <a:lnSpc>
                <a:spcPts val="34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Char char="r"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790700" lvl="3" indent="-419100" eaLnBrk="1" hangingPunct="1">
              <a:lnSpc>
                <a:spcPts val="34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5236" name="Object 4"/>
          <p:cNvGraphicFramePr>
            <a:graphicFrameLocks noChangeAspect="1"/>
          </p:cNvGraphicFramePr>
          <p:nvPr/>
        </p:nvGraphicFramePr>
        <p:xfrm>
          <a:off x="1784350" y="1866900"/>
          <a:ext cx="62960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60" name="公式" r:id="rId4" imgW="3225600" imgH="444240" progId="Equation.3">
                  <p:embed/>
                </p:oleObj>
              </mc:Choice>
              <mc:Fallback>
                <p:oleObj name="公式" r:id="rId4" imgW="32256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50" y="1866900"/>
                        <a:ext cx="6296025" cy="874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2366963" y="3698875"/>
          <a:ext cx="44545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61" name="公式" r:id="rId6" imgW="1993900" imgH="393700" progId="Equation.3">
                  <p:embed/>
                </p:oleObj>
              </mc:Choice>
              <mc:Fallback>
                <p:oleObj name="公式" r:id="rId6" imgW="19939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3698875"/>
                        <a:ext cx="4454525" cy="876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2" name="Oval 10"/>
          <p:cNvSpPr>
            <a:spLocks noChangeArrowheads="1"/>
          </p:cNvSpPr>
          <p:nvPr/>
        </p:nvSpPr>
        <p:spPr bwMode="auto">
          <a:xfrm>
            <a:off x="788988" y="4652963"/>
            <a:ext cx="1027112" cy="554037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69696"/>
            </a:solidFill>
            <a:round/>
            <a:headEnd/>
            <a:tailEnd/>
          </a:ln>
          <a:effectLst>
            <a:prstShdw prst="shdw17" dist="17961" dir="13500000">
              <a:srgbClr val="5A5A5A"/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评注</a:t>
            </a:r>
          </a:p>
        </p:txBody>
      </p:sp>
    </p:spTree>
    <p:extLst>
      <p:ext uri="{BB962C8B-B14F-4D97-AF65-F5344CB8AC3E}">
        <p14:creationId xmlns:p14="http://schemas.microsoft.com/office/powerpoint/2010/main" val="38886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95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742950" y="1147763"/>
          <a:ext cx="7785100" cy="277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5" name="Visio" r:id="rId3" imgW="5057777" imgH="2123940" progId="Visio.Drawing.11">
                  <p:embed/>
                </p:oleObj>
              </mc:Choice>
              <mc:Fallback>
                <p:oleObj name="Visio" r:id="rId3" imgW="5057777" imgH="21239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51" t="10170" b="6441"/>
                      <a:stretch>
                        <a:fillRect/>
                      </a:stretch>
                    </p:blipFill>
                    <p:spPr bwMode="auto">
                      <a:xfrm>
                        <a:off x="742950" y="1147763"/>
                        <a:ext cx="7785100" cy="2778125"/>
                      </a:xfrm>
                      <a:prstGeom prst="rect">
                        <a:avLst/>
                      </a:prstGeom>
                      <a:solidFill>
                        <a:srgbClr val="EAEAEA">
                          <a:alpha val="7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3" name="Object 7"/>
          <p:cNvGraphicFramePr>
            <a:graphicFrameLocks noChangeAspect="1"/>
          </p:cNvGraphicFramePr>
          <p:nvPr/>
        </p:nvGraphicFramePr>
        <p:xfrm>
          <a:off x="385763" y="4165600"/>
          <a:ext cx="38258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6" name="Equation" r:id="rId5" imgW="2044440" imgH="482400" progId="Equation.DSMT4">
                  <p:embed/>
                </p:oleObj>
              </mc:Choice>
              <mc:Fallback>
                <p:oleObj name="Equation" r:id="rId5" imgW="2044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4165600"/>
                        <a:ext cx="3825875" cy="9080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B2B2B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2" name="Object 16"/>
          <p:cNvGraphicFramePr>
            <a:graphicFrameLocks noChangeAspect="1"/>
          </p:cNvGraphicFramePr>
          <p:nvPr/>
        </p:nvGraphicFramePr>
        <p:xfrm>
          <a:off x="385763" y="5235575"/>
          <a:ext cx="50863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7" name="Equation" r:id="rId7" imgW="2489040" imgH="482400" progId="Equation.DSMT4">
                  <p:embed/>
                </p:oleObj>
              </mc:Choice>
              <mc:Fallback>
                <p:oleObj name="Equation" r:id="rId7" imgW="2489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3" y="5235575"/>
                        <a:ext cx="5086350" cy="99377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B2B2B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8" name="Oval 22"/>
          <p:cNvSpPr>
            <a:spLocks noChangeArrowheads="1"/>
          </p:cNvSpPr>
          <p:nvPr/>
        </p:nvSpPr>
        <p:spPr bwMode="auto">
          <a:xfrm>
            <a:off x="1504950" y="2619375"/>
            <a:ext cx="674688" cy="495300"/>
          </a:xfrm>
          <a:prstGeom prst="ellipse">
            <a:avLst/>
          </a:prstGeom>
          <a:noFill/>
          <a:ln w="38100" cmpd="dbl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79" name="Oval 23"/>
          <p:cNvSpPr>
            <a:spLocks noChangeArrowheads="1"/>
          </p:cNvSpPr>
          <p:nvPr/>
        </p:nvSpPr>
        <p:spPr bwMode="auto">
          <a:xfrm>
            <a:off x="2900363" y="2079625"/>
            <a:ext cx="674687" cy="495300"/>
          </a:xfrm>
          <a:prstGeom prst="ellipse">
            <a:avLst/>
          </a:prstGeom>
          <a:noFill/>
          <a:ln w="38100" cmpd="dbl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6280" name="Object 24"/>
          <p:cNvGraphicFramePr>
            <a:graphicFrameLocks noChangeAspect="1"/>
          </p:cNvGraphicFramePr>
          <p:nvPr/>
        </p:nvGraphicFramePr>
        <p:xfrm>
          <a:off x="4481513" y="4156075"/>
          <a:ext cx="44005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8" name="Equation" r:id="rId9" imgW="2273040" imgH="482400" progId="Equation.DSMT4">
                  <p:embed/>
                </p:oleObj>
              </mc:Choice>
              <mc:Fallback>
                <p:oleObj name="Equation" r:id="rId9" imgW="2273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513" y="4156075"/>
                        <a:ext cx="4400550" cy="9398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D581AB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EEEA4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81" name="Object 25"/>
          <p:cNvGraphicFramePr>
            <a:graphicFrameLocks noChangeAspect="1"/>
          </p:cNvGraphicFramePr>
          <p:nvPr/>
        </p:nvGraphicFramePr>
        <p:xfrm>
          <a:off x="5786438" y="5256213"/>
          <a:ext cx="291782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69" name="Equation" r:id="rId11" imgW="1523880" imgH="482400" progId="Equation.DSMT4">
                  <p:embed/>
                </p:oleObj>
              </mc:Choice>
              <mc:Fallback>
                <p:oleObj name="Equation" r:id="rId11" imgW="1523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6438" y="5256213"/>
                        <a:ext cx="2917825" cy="93027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EEC98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82" name="Line 26"/>
          <p:cNvSpPr>
            <a:spLocks noChangeShapeType="1"/>
          </p:cNvSpPr>
          <p:nvPr/>
        </p:nvSpPr>
        <p:spPr bwMode="auto">
          <a:xfrm>
            <a:off x="5551488" y="4605338"/>
            <a:ext cx="3240087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83" name="Line 27"/>
          <p:cNvSpPr>
            <a:spLocks noChangeShapeType="1"/>
          </p:cNvSpPr>
          <p:nvPr/>
        </p:nvSpPr>
        <p:spPr bwMode="auto">
          <a:xfrm>
            <a:off x="7902575" y="5691188"/>
            <a:ext cx="854075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284" name="Oval 28"/>
          <p:cNvSpPr>
            <a:spLocks noChangeArrowheads="1"/>
          </p:cNvSpPr>
          <p:nvPr/>
        </p:nvSpPr>
        <p:spPr bwMode="auto">
          <a:xfrm>
            <a:off x="3800475" y="3338513"/>
            <a:ext cx="674688" cy="495300"/>
          </a:xfrm>
          <a:prstGeom prst="ellipse">
            <a:avLst/>
          </a:prstGeom>
          <a:noFill/>
          <a:ln w="38100" cmpd="dbl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85" name="Oval 29"/>
          <p:cNvSpPr>
            <a:spLocks noChangeArrowheads="1"/>
          </p:cNvSpPr>
          <p:nvPr/>
        </p:nvSpPr>
        <p:spPr bwMode="auto">
          <a:xfrm>
            <a:off x="3844925" y="1898650"/>
            <a:ext cx="674688" cy="495300"/>
          </a:xfrm>
          <a:prstGeom prst="ellipse">
            <a:avLst/>
          </a:prstGeom>
          <a:noFill/>
          <a:ln w="38100" cmpd="dbl">
            <a:solidFill>
              <a:srgbClr val="D581A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-6350" y="406400"/>
            <a:ext cx="71120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.2.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   </a:t>
            </a:r>
            <a:r>
              <a:rPr lang="en-US" altLang="zh-CN" sz="3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2FSK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系统的抗</a:t>
            </a:r>
            <a:r>
              <a:rPr lang="zh-CN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噪声性能*</a:t>
            </a:r>
            <a:endParaRPr lang="en-US" altLang="zh-CN" sz="32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741363" y="1082675"/>
            <a:ext cx="1874837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Times New Roman" pitchFamily="18" charset="0"/>
              </a:rPr>
              <a:t> 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相干解调 </a:t>
            </a:r>
          </a:p>
        </p:txBody>
      </p:sp>
    </p:spTree>
    <p:extLst>
      <p:ext uri="{BB962C8B-B14F-4D97-AF65-F5344CB8AC3E}">
        <p14:creationId xmlns:p14="http://schemas.microsoft.com/office/powerpoint/2010/main" val="313644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20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1" dur="10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96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6" dur="10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6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6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96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1" dur="10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962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6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6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1000"/>
                                        <p:tgtEl>
                                          <p:spTgt spid="96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6" dur="1000"/>
                                        <p:tgtEl>
                                          <p:spTgt spid="9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1000"/>
                                        <p:tgtEl>
                                          <p:spTgt spid="9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9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9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78" grpId="0" animBg="1"/>
      <p:bldP spid="96279" grpId="0" animBg="1"/>
      <p:bldP spid="96279" grpId="1" animBg="1"/>
      <p:bldP spid="96282" grpId="0" animBg="1"/>
      <p:bldP spid="96283" grpId="0" animBg="1"/>
      <p:bldP spid="96284" grpId="0" animBg="1"/>
      <p:bldP spid="96285" grpId="0" animBg="1"/>
      <p:bldP spid="96285" grpId="1" animBg="1"/>
      <p:bldP spid="15" grpId="0"/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 bwMode="auto">
          <a:xfrm>
            <a:off x="0" y="895350"/>
            <a:ext cx="9144000" cy="4445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34533" name="Rectangle 5"/>
          <p:cNvSpPr>
            <a:spLocks noChangeArrowheads="1"/>
          </p:cNvSpPr>
          <p:nvPr/>
        </p:nvSpPr>
        <p:spPr bwMode="auto">
          <a:xfrm>
            <a:off x="1060450" y="5391150"/>
            <a:ext cx="4889500" cy="1016000"/>
          </a:xfrm>
          <a:prstGeom prst="rect">
            <a:avLst/>
          </a:prstGeom>
          <a:solidFill>
            <a:srgbClr val="FFFFE5"/>
          </a:solidFill>
          <a:ln>
            <a:noFill/>
          </a:ln>
          <a:effectLst>
            <a:prstShdw prst="shdw17" dist="17961" dir="2700000">
              <a:srgbClr val="999989"/>
            </a:prstShdw>
          </a:effectLst>
          <a:extLs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i="1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经过上、下带通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滤波器的输出噪声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—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窄带高斯噪声</a:t>
            </a:r>
            <a:endParaRPr lang="zh-CN" altLang="en-US" sz="240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aphicFrame>
        <p:nvGraphicFramePr>
          <p:cNvPr id="534534" name="Object 6"/>
          <p:cNvGraphicFramePr>
            <a:graphicFrameLocks noChangeAspect="1"/>
          </p:cNvGraphicFramePr>
          <p:nvPr/>
        </p:nvGraphicFramePr>
        <p:xfrm>
          <a:off x="1238250" y="4184650"/>
          <a:ext cx="44418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2" name="Equation" r:id="rId3" imgW="2133360" imgH="457200" progId="Equation.DSMT4">
                  <p:embed/>
                </p:oleObj>
              </mc:Choice>
              <mc:Fallback>
                <p:oleObj name="Equation" r:id="rId3" imgW="21333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4184650"/>
                        <a:ext cx="4441825" cy="9890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B2B2B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36" name="AutoShape 8"/>
          <p:cNvSpPr>
            <a:spLocks noChangeArrowheads="1"/>
          </p:cNvSpPr>
          <p:nvPr/>
        </p:nvSpPr>
        <p:spPr bwMode="auto">
          <a:xfrm>
            <a:off x="6523038" y="4149725"/>
            <a:ext cx="1981200" cy="1035050"/>
          </a:xfrm>
          <a:prstGeom prst="wedgeRoundRectCallout">
            <a:avLst>
              <a:gd name="adj1" fmla="val -53926"/>
              <a:gd name="adj2" fmla="val 7361"/>
              <a:gd name="adj3" fmla="val 16667"/>
            </a:avLst>
          </a:prstGeom>
          <a:noFill/>
          <a:ln w="9525">
            <a:solidFill>
              <a:srgbClr val="99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均值同为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方差同为</a:t>
            </a: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34537" name="Rectangle 9"/>
          <p:cNvSpPr>
            <a:spLocks noChangeArrowheads="1"/>
          </p:cNvSpPr>
          <p:nvPr/>
        </p:nvSpPr>
        <p:spPr bwMode="auto">
          <a:xfrm>
            <a:off x="6477000" y="5457825"/>
            <a:ext cx="2051050" cy="860425"/>
          </a:xfrm>
          <a:prstGeom prst="rect">
            <a:avLst/>
          </a:prstGeom>
          <a:noFill/>
          <a:ln w="38100" cmpd="dbl">
            <a:solidFill>
              <a:srgbClr val="B2B2B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只是中心频率</a:t>
            </a:r>
          </a:p>
          <a:p>
            <a:pPr eaLnBrk="1" hangingPunct="1"/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 不同而已</a:t>
            </a:r>
          </a:p>
        </p:txBody>
      </p:sp>
      <p:graphicFrame>
        <p:nvGraphicFramePr>
          <p:cNvPr id="534538" name="Object 10"/>
          <p:cNvGraphicFramePr>
            <a:graphicFrameLocks noChangeAspect="1"/>
          </p:cNvGraphicFramePr>
          <p:nvPr/>
        </p:nvGraphicFramePr>
        <p:xfrm>
          <a:off x="3489325" y="2889250"/>
          <a:ext cx="33289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3" name="Equation" r:id="rId5" imgW="1396800" imgH="228600" progId="Equation.DSMT4">
                  <p:embed/>
                </p:oleObj>
              </mc:Choice>
              <mc:Fallback>
                <p:oleObj name="Equation" r:id="rId5" imgW="139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2889250"/>
                        <a:ext cx="3328988" cy="549275"/>
                      </a:xfrm>
                      <a:prstGeom prst="rect">
                        <a:avLst/>
                      </a:prstGeom>
                      <a:solidFill>
                        <a:srgbClr val="FFFFE5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E5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D581A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4539" name="Object 11"/>
          <p:cNvGraphicFramePr>
            <a:graphicFrameLocks noChangeAspect="1"/>
          </p:cNvGraphicFramePr>
          <p:nvPr/>
        </p:nvGraphicFramePr>
        <p:xfrm>
          <a:off x="3460750" y="3467100"/>
          <a:ext cx="33845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4" name="Equation" r:id="rId7" imgW="1409400" imgH="228600" progId="Equation.DSMT4">
                  <p:embed/>
                </p:oleObj>
              </mc:Choice>
              <mc:Fallback>
                <p:oleObj name="Equation" r:id="rId7" imgW="1409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3467100"/>
                        <a:ext cx="3384550" cy="554038"/>
                      </a:xfrm>
                      <a:prstGeom prst="rect">
                        <a:avLst/>
                      </a:prstGeom>
                      <a:solidFill>
                        <a:srgbClr val="FFFFE5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E5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99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14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017588" y="-1588"/>
          <a:ext cx="7424737" cy="270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65" name="Visio" r:id="rId9" imgW="5057777" imgH="2123940" progId="Visio.Drawing.11">
                  <p:embed/>
                </p:oleObj>
              </mc:Choice>
              <mc:Fallback>
                <p:oleObj name="Visio" r:id="rId9" imgW="5057777" imgH="2123940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51" t="10170" b="6441"/>
                      <a:stretch>
                        <a:fillRect/>
                      </a:stretch>
                    </p:blipFill>
                    <p:spPr bwMode="auto">
                      <a:xfrm>
                        <a:off x="1017588" y="-1588"/>
                        <a:ext cx="7424737" cy="2706688"/>
                      </a:xfrm>
                      <a:prstGeom prst="rect">
                        <a:avLst/>
                      </a:prstGeom>
                      <a:solidFill>
                        <a:srgbClr val="DDDDDD">
                          <a:alpha val="7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4543" name="Rectangle 15"/>
          <p:cNvSpPr>
            <a:spLocks noChangeArrowheads="1"/>
          </p:cNvSpPr>
          <p:nvPr/>
        </p:nvSpPr>
        <p:spPr bwMode="auto">
          <a:xfrm>
            <a:off x="1000125" y="2909888"/>
            <a:ext cx="2049463" cy="523875"/>
          </a:xfrm>
          <a:prstGeom prst="rect">
            <a:avLst/>
          </a:prstGeom>
          <a:solidFill>
            <a:srgbClr val="FFFFE5"/>
          </a:solidFill>
          <a:ln w="38100" cmpd="dbl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hlink"/>
                </a:solidFill>
                <a:latin typeface="华文中宋" pitchFamily="2" charset="-122"/>
                <a:ea typeface="华文中宋" pitchFamily="2" charset="-122"/>
              </a:rPr>
              <a:t>发</a:t>
            </a:r>
            <a:r>
              <a:rPr lang="zh-CN" altLang="en-US" sz="2800" dirty="0">
                <a:solidFill>
                  <a:schemeClr val="hlink"/>
                </a:solidFill>
                <a:latin typeface="华文中宋" pitchFamily="2" charset="-122"/>
                <a:ea typeface="华文中宋" pitchFamily="2" charset="-122"/>
                <a:cs typeface="Arial" charset="0"/>
              </a:rPr>
              <a:t>“</a:t>
            </a:r>
            <a:r>
              <a:rPr lang="en-US" altLang="zh-CN" sz="2800" b="1" dirty="0">
                <a:solidFill>
                  <a:schemeClr val="hlink"/>
                </a:solidFill>
                <a:latin typeface="华文中宋" pitchFamily="2" charset="-122"/>
                <a:ea typeface="华文中宋" pitchFamily="2" charset="-122"/>
                <a:cs typeface="Arial" charset="0"/>
              </a:rPr>
              <a:t>1</a:t>
            </a:r>
            <a:r>
              <a:rPr lang="zh-CN" altLang="en-US" sz="2800" dirty="0">
                <a:solidFill>
                  <a:schemeClr val="hlink"/>
                </a:solidFill>
                <a:latin typeface="华文中宋" pitchFamily="2" charset="-122"/>
                <a:ea typeface="华文中宋" pitchFamily="2" charset="-122"/>
                <a:cs typeface="Arial" charset="0"/>
              </a:rPr>
              <a:t>”</a:t>
            </a:r>
            <a:r>
              <a:rPr lang="zh-CN" altLang="en-US" sz="2400" dirty="0">
                <a:solidFill>
                  <a:schemeClr val="hlink"/>
                </a:solidFill>
                <a:latin typeface="华文中宋" pitchFamily="2" charset="-122"/>
                <a:ea typeface="华文中宋" pitchFamily="2" charset="-122"/>
              </a:rPr>
              <a:t>时：</a:t>
            </a:r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 flipH="1">
            <a:off x="5461000" y="4095750"/>
            <a:ext cx="819150" cy="666750"/>
          </a:xfrm>
          <a:custGeom>
            <a:avLst/>
            <a:gdLst>
              <a:gd name="T0" fmla="*/ 2147483647 w 1612"/>
              <a:gd name="T1" fmla="*/ 2147483647 h 1618"/>
              <a:gd name="T2" fmla="*/ 2147483647 w 1612"/>
              <a:gd name="T3" fmla="*/ 2147483647 h 1618"/>
              <a:gd name="T4" fmla="*/ 2147483647 w 1612"/>
              <a:gd name="T5" fmla="*/ 2147483647 h 1618"/>
              <a:gd name="T6" fmla="*/ 2147483647 w 1612"/>
              <a:gd name="T7" fmla="*/ 2147483647 h 1618"/>
              <a:gd name="T8" fmla="*/ 2147483647 w 1612"/>
              <a:gd name="T9" fmla="*/ 2147483647 h 1618"/>
              <a:gd name="T10" fmla="*/ 2147483647 w 1612"/>
              <a:gd name="T11" fmla="*/ 2147483647 h 1618"/>
              <a:gd name="T12" fmla="*/ 2147483647 w 1612"/>
              <a:gd name="T13" fmla="*/ 2147483647 h 1618"/>
              <a:gd name="T14" fmla="*/ 2147483647 w 1612"/>
              <a:gd name="T15" fmla="*/ 0 h 1618"/>
              <a:gd name="T16" fmla="*/ 2147483647 w 1612"/>
              <a:gd name="T17" fmla="*/ 2147483647 h 1618"/>
              <a:gd name="T18" fmla="*/ 2147483647 w 1612"/>
              <a:gd name="T19" fmla="*/ 2147483647 h 1618"/>
              <a:gd name="T20" fmla="*/ 2147483647 w 1612"/>
              <a:gd name="T21" fmla="*/ 2147483647 h 1618"/>
              <a:gd name="T22" fmla="*/ 2147483647 w 1612"/>
              <a:gd name="T23" fmla="*/ 2147483647 h 1618"/>
              <a:gd name="T24" fmla="*/ 2147483647 w 1612"/>
              <a:gd name="T25" fmla="*/ 2147483647 h 1618"/>
              <a:gd name="T26" fmla="*/ 2147483647 w 1612"/>
              <a:gd name="T27" fmla="*/ 2147483647 h 1618"/>
              <a:gd name="T28" fmla="*/ 2147483647 w 1612"/>
              <a:gd name="T29" fmla="*/ 2147483647 h 1618"/>
              <a:gd name="T30" fmla="*/ 2147483647 w 1612"/>
              <a:gd name="T31" fmla="*/ 2147483647 h 1618"/>
              <a:gd name="T32" fmla="*/ 2147483647 w 1612"/>
              <a:gd name="T33" fmla="*/ 2147483647 h 1618"/>
              <a:gd name="T34" fmla="*/ 2147483647 w 1612"/>
              <a:gd name="T35" fmla="*/ 2147483647 h 1618"/>
              <a:gd name="T36" fmla="*/ 2147483647 w 1612"/>
              <a:gd name="T37" fmla="*/ 2147483647 h 1618"/>
              <a:gd name="T38" fmla="*/ 2147483647 w 1612"/>
              <a:gd name="T39" fmla="*/ 2147483647 h 1618"/>
              <a:gd name="T40" fmla="*/ 2147483647 w 1612"/>
              <a:gd name="T41" fmla="*/ 2147483647 h 1618"/>
              <a:gd name="T42" fmla="*/ 2147483647 w 1612"/>
              <a:gd name="T43" fmla="*/ 2147483647 h 1618"/>
              <a:gd name="T44" fmla="*/ 2147483647 w 1612"/>
              <a:gd name="T45" fmla="*/ 2147483647 h 1618"/>
              <a:gd name="T46" fmla="*/ 2147483647 w 1612"/>
              <a:gd name="T47" fmla="*/ 2147483647 h 1618"/>
              <a:gd name="T48" fmla="*/ 2147483647 w 1612"/>
              <a:gd name="T49" fmla="*/ 2147483647 h 1618"/>
              <a:gd name="T50" fmla="*/ 2147483647 w 1612"/>
              <a:gd name="T51" fmla="*/ 2147483647 h 1618"/>
              <a:gd name="T52" fmla="*/ 2147483647 w 1612"/>
              <a:gd name="T53" fmla="*/ 2147483647 h 1618"/>
              <a:gd name="T54" fmla="*/ 2147483647 w 1612"/>
              <a:gd name="T55" fmla="*/ 2147483647 h 1618"/>
              <a:gd name="T56" fmla="*/ 2147483647 w 1612"/>
              <a:gd name="T57" fmla="*/ 2147483647 h 1618"/>
              <a:gd name="T58" fmla="*/ 2147483647 w 1612"/>
              <a:gd name="T59" fmla="*/ 2147483647 h 1618"/>
              <a:gd name="T60" fmla="*/ 2147483647 w 1612"/>
              <a:gd name="T61" fmla="*/ 2147483647 h 1618"/>
              <a:gd name="T62" fmla="*/ 2147483647 w 1612"/>
              <a:gd name="T63" fmla="*/ 2147483647 h 1618"/>
              <a:gd name="T64" fmla="*/ 2147483647 w 1612"/>
              <a:gd name="T65" fmla="*/ 2147483647 h 1618"/>
              <a:gd name="T66" fmla="*/ 2147483647 w 1612"/>
              <a:gd name="T67" fmla="*/ 2147483647 h 1618"/>
              <a:gd name="T68" fmla="*/ 2147483647 w 1612"/>
              <a:gd name="T69" fmla="*/ 2147483647 h 1618"/>
              <a:gd name="T70" fmla="*/ 2147483647 w 1612"/>
              <a:gd name="T71" fmla="*/ 2147483647 h 1618"/>
              <a:gd name="T72" fmla="*/ 2147483647 w 1612"/>
              <a:gd name="T73" fmla="*/ 2147483647 h 1618"/>
              <a:gd name="T74" fmla="*/ 2147483647 w 1612"/>
              <a:gd name="T75" fmla="*/ 2147483647 h 1618"/>
              <a:gd name="T76" fmla="*/ 2147483647 w 1612"/>
              <a:gd name="T77" fmla="*/ 2147483647 h 1618"/>
              <a:gd name="T78" fmla="*/ 2147483647 w 1612"/>
              <a:gd name="T79" fmla="*/ 2147483647 h 1618"/>
              <a:gd name="T80" fmla="*/ 2147483647 w 1612"/>
              <a:gd name="T81" fmla="*/ 2147483647 h 161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612"/>
              <a:gd name="T124" fmla="*/ 0 h 1618"/>
              <a:gd name="T125" fmla="*/ 1612 w 1612"/>
              <a:gd name="T126" fmla="*/ 1618 h 161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99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61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4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4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4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53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3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7" dur="2000"/>
                                        <p:tgtEl>
                                          <p:spTgt spid="53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345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3" grpId="0" animBg="1"/>
      <p:bldP spid="534536" grpId="0" animBg="1"/>
      <p:bldP spid="534537" grpId="0" animBg="1"/>
      <p:bldP spid="534543" grpId="0" animBg="1"/>
      <p:bldP spid="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19"/>
          <p:cNvGraphicFramePr>
            <a:graphicFrameLocks noChangeAspect="1"/>
          </p:cNvGraphicFramePr>
          <p:nvPr/>
        </p:nvGraphicFramePr>
        <p:xfrm>
          <a:off x="5961063" y="628650"/>
          <a:ext cx="2700337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67" name="Visio" r:id="rId3" imgW="1761286" imgH="1189564" progId="Visio.Drawing.11">
                  <p:embed/>
                </p:oleObj>
              </mc:Choice>
              <mc:Fallback>
                <p:oleObj name="Visio" r:id="rId3" imgW="1761286" imgH="118956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1063" y="628650"/>
                        <a:ext cx="2700337" cy="1824038"/>
                      </a:xfrm>
                      <a:prstGeom prst="rect">
                        <a:avLst/>
                      </a:prstGeom>
                      <a:solidFill>
                        <a:srgbClr val="D5D5FF">
                          <a:alpha val="62000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536575" y="1395413"/>
            <a:ext cx="7902575" cy="56340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	</a:t>
            </a:r>
            <a:endParaRPr lang="en-US" altLang="zh-CN">
              <a:solidFill>
                <a:srgbClr val="0000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3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经过相干解调后，送入抽样判决器的两路波形分别为：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 上支路                             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 下支路</a:t>
            </a:r>
            <a:r>
              <a:rPr lang="zh-CN" altLang="en-US" sz="2000" b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389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0361" name="Object 9"/>
          <p:cNvGraphicFramePr>
            <a:graphicFrameLocks noChangeAspect="1"/>
          </p:cNvGraphicFramePr>
          <p:nvPr/>
        </p:nvGraphicFramePr>
        <p:xfrm>
          <a:off x="927100" y="1162050"/>
          <a:ext cx="5356225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68" name="公式" r:id="rId5" imgW="2463800" imgH="228600" progId="Equation.3">
                  <p:embed/>
                </p:oleObj>
              </mc:Choice>
              <mc:Fallback>
                <p:oleObj name="公式" r:id="rId5" imgW="2463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1162050"/>
                        <a:ext cx="5356225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9933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0" name="Object 8"/>
          <p:cNvGraphicFramePr>
            <a:graphicFrameLocks noChangeAspect="1"/>
          </p:cNvGraphicFramePr>
          <p:nvPr/>
        </p:nvGraphicFramePr>
        <p:xfrm>
          <a:off x="971550" y="1793875"/>
          <a:ext cx="49514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69" name="公式" r:id="rId7" imgW="2247900" imgH="228600" progId="Equation.3">
                  <p:embed/>
                </p:oleObj>
              </mc:Choice>
              <mc:Fallback>
                <p:oleObj name="公式" r:id="rId7" imgW="2247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793875"/>
                        <a:ext cx="49514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4" name="Object 12"/>
          <p:cNvGraphicFramePr>
            <a:graphicFrameLocks noChangeAspect="1"/>
          </p:cNvGraphicFramePr>
          <p:nvPr/>
        </p:nvGraphicFramePr>
        <p:xfrm>
          <a:off x="1916113" y="3562350"/>
          <a:ext cx="24765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70" name="公式" r:id="rId9" imgW="1066800" imgH="228600" progId="Equation.3">
                  <p:embed/>
                </p:oleObj>
              </mc:Choice>
              <mc:Fallback>
                <p:oleObj name="公式" r:id="rId9" imgW="106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3562350"/>
                        <a:ext cx="2476500" cy="5302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AEAEA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6" name="Object 14"/>
          <p:cNvGraphicFramePr>
            <a:graphicFrameLocks noChangeAspect="1"/>
          </p:cNvGraphicFramePr>
          <p:nvPr/>
        </p:nvGraphicFramePr>
        <p:xfrm>
          <a:off x="1916113" y="4629150"/>
          <a:ext cx="2116137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71" name="公式" r:id="rId11" imgW="863225" imgH="228501" progId="Equation.3">
                  <p:embed/>
                </p:oleObj>
              </mc:Choice>
              <mc:Fallback>
                <p:oleObj name="公式" r:id="rId11" imgW="863225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4629150"/>
                        <a:ext cx="2116137" cy="528638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AEAEA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4" name="AutoShape 22"/>
          <p:cNvSpPr>
            <a:spLocks noChangeArrowheads="1"/>
          </p:cNvSpPr>
          <p:nvPr/>
        </p:nvSpPr>
        <p:spPr bwMode="auto">
          <a:xfrm>
            <a:off x="746125" y="5688013"/>
            <a:ext cx="7696200" cy="585787"/>
          </a:xfrm>
          <a:prstGeom prst="wedgeRectCallout">
            <a:avLst>
              <a:gd name="adj1" fmla="val -12375"/>
              <a:gd name="adj2" fmla="val -72495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式中，</a:t>
            </a:r>
            <a:r>
              <a:rPr lang="en-US" altLang="zh-CN" sz="2400" b="1" i="1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400" b="1" i="1" baseline="-25000">
                <a:latin typeface="Times New Roman" panose="0202060305040502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均为低通型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高斯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噪声，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( 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400" b="1" i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="1" i="1" baseline="-250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 )</a:t>
            </a:r>
          </a:p>
        </p:txBody>
      </p:sp>
      <p:graphicFrame>
        <p:nvGraphicFramePr>
          <p:cNvPr id="100376" name="Object 24"/>
          <p:cNvGraphicFramePr>
            <a:graphicFrameLocks noChangeAspect="1"/>
          </p:cNvGraphicFramePr>
          <p:nvPr/>
        </p:nvGraphicFramePr>
        <p:xfrm>
          <a:off x="4662488" y="3340100"/>
          <a:ext cx="373538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72" name="公式" r:id="rId13" imgW="2108200" imgH="482600" progId="Equation.3">
                  <p:embed/>
                </p:oleObj>
              </mc:Choice>
              <mc:Fallback>
                <p:oleObj name="公式" r:id="rId13" imgW="2108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3340100"/>
                        <a:ext cx="3735387" cy="862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66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7" name="Object 25"/>
          <p:cNvGraphicFramePr>
            <a:graphicFrameLocks noChangeAspect="1"/>
          </p:cNvGraphicFramePr>
          <p:nvPr/>
        </p:nvGraphicFramePr>
        <p:xfrm>
          <a:off x="4662488" y="4495800"/>
          <a:ext cx="351155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73" name="公式" r:id="rId15" imgW="1841500" imgH="482600" progId="Equation.3">
                  <p:embed/>
                </p:oleObj>
              </mc:Choice>
              <mc:Fallback>
                <p:oleObj name="公式" r:id="rId15" imgW="1841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4495800"/>
                        <a:ext cx="3511550" cy="928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859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0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10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7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1" r="49503" b="26149"/>
          <a:stretch>
            <a:fillRect/>
          </a:stretch>
        </p:blipFill>
        <p:spPr bwMode="auto">
          <a:xfrm>
            <a:off x="1949450" y="998538"/>
            <a:ext cx="3289300" cy="112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Rectangle 9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1384" name="Object 8"/>
          <p:cNvGraphicFramePr>
            <a:graphicFrameLocks noChangeAspect="1"/>
          </p:cNvGraphicFramePr>
          <p:nvPr/>
        </p:nvGraphicFramePr>
        <p:xfrm>
          <a:off x="927100" y="2954338"/>
          <a:ext cx="48260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3" name="Equation" r:id="rId4" imgW="2158920" imgH="228600" progId="Equation.DSMT4">
                  <p:embed/>
                </p:oleObj>
              </mc:Choice>
              <mc:Fallback>
                <p:oleObj name="Equation" r:id="rId4" imgW="2158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954338"/>
                        <a:ext cx="4826000" cy="51911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EEEA4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1" name="Rectangle 25"/>
          <p:cNvSpPr>
            <a:spLocks noChangeArrowheads="1"/>
          </p:cNvSpPr>
          <p:nvPr/>
        </p:nvSpPr>
        <p:spPr bwMode="auto">
          <a:xfrm>
            <a:off x="571500" y="2360613"/>
            <a:ext cx="467995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发 “</a:t>
            </a:r>
            <a:r>
              <a:rPr lang="en-US" altLang="zh-CN" sz="2400" b="1">
                <a:solidFill>
                  <a:schemeClr val="hlink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 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错判为“</a:t>
            </a:r>
            <a:r>
              <a:rPr lang="en-US" altLang="zh-CN" sz="2400" b="1">
                <a:solidFill>
                  <a:srgbClr val="0033CC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的概率为</a:t>
            </a:r>
            <a:endParaRPr lang="en-US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01403" name="Object 27"/>
          <p:cNvGraphicFramePr>
            <a:graphicFrameLocks noChangeAspect="1"/>
          </p:cNvGraphicFramePr>
          <p:nvPr/>
        </p:nvGraphicFramePr>
        <p:xfrm>
          <a:off x="1930400" y="3559175"/>
          <a:ext cx="4365625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4" name="Equation" r:id="rId6" imgW="1955520" imgH="812520" progId="Equation.DSMT4">
                  <p:embed/>
                </p:oleObj>
              </mc:Choice>
              <mc:Fallback>
                <p:oleObj name="Equation" r:id="rId6" imgW="195552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59175"/>
                        <a:ext cx="4365625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EEEA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4" name="Object 28"/>
          <p:cNvGraphicFramePr>
            <a:graphicFrameLocks noChangeAspect="1"/>
          </p:cNvGraphicFramePr>
          <p:nvPr/>
        </p:nvGraphicFramePr>
        <p:xfrm>
          <a:off x="1944688" y="5486400"/>
          <a:ext cx="186531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5" name="公式" r:id="rId8" imgW="888840" imgH="507960" progId="Equation.3">
                  <p:embed/>
                </p:oleObj>
              </mc:Choice>
              <mc:Fallback>
                <p:oleObj name="公式" r:id="rId8" imgW="8888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5486400"/>
                        <a:ext cx="1865312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EEEA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2B2B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3" name="Oval 33"/>
          <p:cNvSpPr>
            <a:spLocks noChangeArrowheads="1"/>
          </p:cNvSpPr>
          <p:nvPr/>
        </p:nvSpPr>
        <p:spPr bwMode="auto">
          <a:xfrm>
            <a:off x="779463" y="650875"/>
            <a:ext cx="1169987" cy="846138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999FF"/>
            </a:solidFill>
            <a:round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判决</a:t>
            </a:r>
          </a:p>
          <a:p>
            <a:pPr algn="ctr">
              <a:defRPr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规则</a:t>
            </a:r>
          </a:p>
        </p:txBody>
      </p:sp>
      <p:pic>
        <p:nvPicPr>
          <p:cNvPr id="41997" name="Picture 13"/>
          <p:cNvPicPr>
            <a:picLocks noChangeAspect="1" noChangeArrowheads="1"/>
          </p:cNvPicPr>
          <p:nvPr/>
        </p:nvPicPr>
        <p:blipFill>
          <a:blip r:embed="rId3"/>
          <a:srcRect l="57475"/>
          <a:stretch>
            <a:fillRect/>
          </a:stretch>
        </p:blipFill>
        <p:spPr bwMode="auto">
          <a:xfrm>
            <a:off x="5816600" y="628650"/>
            <a:ext cx="2914650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1998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0" y="3162300"/>
            <a:ext cx="2257425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231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0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01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1" grpId="0"/>
      <p:bldP spid="4916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9" name="AutoShape 29"/>
          <p:cNvSpPr>
            <a:spLocks noChangeArrowheads="1"/>
          </p:cNvSpPr>
          <p:nvPr/>
        </p:nvSpPr>
        <p:spPr bwMode="auto">
          <a:xfrm>
            <a:off x="1730375" y="5340350"/>
            <a:ext cx="1552575" cy="603250"/>
          </a:xfrm>
          <a:prstGeom prst="wedgeRoundRectCallout">
            <a:avLst>
              <a:gd name="adj1" fmla="val 47560"/>
              <a:gd name="adj2" fmla="val 12204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i="1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&gt;&gt;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时</a:t>
            </a:r>
            <a:endParaRPr lang="en-US" altLang="zh-CN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2488" y="1071563"/>
            <a:ext cx="616426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55000"/>
              <a:buFont typeface="Wingdings" pitchFamily="2" charset="2"/>
              <a:buChar char="l"/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发 “</a:t>
            </a:r>
            <a:r>
              <a:rPr lang="en-US" altLang="zh-CN" sz="2400" kern="0" dirty="0">
                <a:solidFill>
                  <a:srgbClr val="FF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0</a:t>
            </a:r>
            <a:r>
              <a:rPr lang="en-US" altLang="zh-CN" sz="2400" kern="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”</a:t>
            </a:r>
            <a:r>
              <a:rPr lang="en-US" altLang="zh-CN" sz="2400" kern="0" dirty="0">
                <a:solidFill>
                  <a:srgbClr val="000099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错判为 “</a:t>
            </a:r>
            <a:r>
              <a:rPr lang="en-US" altLang="zh-CN" sz="2400" b="1" kern="0" dirty="0">
                <a:solidFill>
                  <a:srgbClr val="0000CC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1</a:t>
            </a:r>
            <a:r>
              <a:rPr lang="en-US" altLang="zh-CN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” 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的概率 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838200" y="3544888"/>
            <a:ext cx="63119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CC"/>
              </a:buClr>
              <a:buSzPct val="55000"/>
              <a:buFont typeface="Wingdings" pitchFamily="2" charset="2"/>
              <a:buChar char="l"/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2400" b="1" kern="0" dirty="0">
                <a:solidFill>
                  <a:srgbClr val="003399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2FSK-</a:t>
            </a:r>
            <a:r>
              <a:rPr lang="zh-CN" altLang="en-US" sz="2400" b="1" kern="0" dirty="0">
                <a:solidFill>
                  <a:srgbClr val="003399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相干解调</a:t>
            </a:r>
            <a:r>
              <a:rPr lang="zh-CN" altLang="en-US" sz="2400" kern="0" dirty="0">
                <a:solidFill>
                  <a:srgbClr val="00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系统的</a:t>
            </a:r>
            <a:r>
              <a:rPr lang="zh-CN" altLang="en-US" sz="2400" kern="0" dirty="0">
                <a:solidFill>
                  <a:srgbClr val="FF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总误码率</a:t>
            </a:r>
            <a:r>
              <a:rPr lang="zh-CN" altLang="en-US" sz="2400" kern="0" dirty="0">
                <a:solidFill>
                  <a:srgbClr val="00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为</a:t>
            </a:r>
            <a:endParaRPr lang="zh-CN" altLang="en-US" dirty="0">
              <a:latin typeface="Arial" pitchFamily="34" charset="0"/>
              <a:ea typeface="黑体" pitchFamily="2" charset="-122"/>
              <a:cs typeface="Arial" pitchFamily="34" charset="0"/>
            </a:endParaRPr>
          </a:p>
        </p:txBody>
      </p:sp>
      <p:graphicFrame>
        <p:nvGraphicFramePr>
          <p:cNvPr id="50178" name="Object 10"/>
          <p:cNvGraphicFramePr>
            <a:graphicFrameLocks noChangeAspect="1"/>
          </p:cNvGraphicFramePr>
          <p:nvPr/>
        </p:nvGraphicFramePr>
        <p:xfrm>
          <a:off x="2482850" y="1606550"/>
          <a:ext cx="4578350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0" name="公式" r:id="rId3" imgW="2133360" imgH="507960" progId="Equation.3">
                  <p:embed/>
                </p:oleObj>
              </mc:Choice>
              <mc:Fallback>
                <p:oleObj name="公式" r:id="rId3" imgW="21333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1606550"/>
                        <a:ext cx="4578350" cy="10906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13"/>
          <p:cNvGraphicFramePr>
            <a:graphicFrameLocks noChangeAspect="1"/>
          </p:cNvGraphicFramePr>
          <p:nvPr/>
        </p:nvGraphicFramePr>
        <p:xfrm>
          <a:off x="6350000" y="4691063"/>
          <a:ext cx="1333500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81" name="公式" r:id="rId5" imgW="545760" imgH="457200" progId="Equation.3">
                  <p:embed/>
                </p:oleObj>
              </mc:Choice>
              <mc:Fallback>
                <p:oleObj name="公式" r:id="rId5" imgW="545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4691063"/>
                        <a:ext cx="1333500" cy="111601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19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68"/>
          <a:stretch>
            <a:fillRect/>
          </a:stretch>
        </p:blipFill>
        <p:spPr bwMode="auto">
          <a:xfrm>
            <a:off x="927100" y="2762250"/>
            <a:ext cx="70231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0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08"/>
          <a:stretch>
            <a:fillRect/>
          </a:stretch>
        </p:blipFill>
        <p:spPr bwMode="auto">
          <a:xfrm>
            <a:off x="3390900" y="5200650"/>
            <a:ext cx="238125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160"/>
          <a:stretch>
            <a:fillRect/>
          </a:stretch>
        </p:blipFill>
        <p:spPr bwMode="auto">
          <a:xfrm>
            <a:off x="3390900" y="4089400"/>
            <a:ext cx="23812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844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8" dur="20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0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9" grpId="0"/>
      <p:bldP spid="10" grpId="0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881063" y="1239838"/>
          <a:ext cx="7786687" cy="277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31" name="Visio" r:id="rId3" imgW="5057777" imgH="2123940" progId="Visio.Drawing.11">
                  <p:embed/>
                </p:oleObj>
              </mc:Choice>
              <mc:Fallback>
                <p:oleObj name="Visio" r:id="rId3" imgW="5057777" imgH="212394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839" t="10207" b="6494"/>
                      <a:stretch>
                        <a:fillRect/>
                      </a:stretch>
                    </p:blipFill>
                    <p:spPr bwMode="auto">
                      <a:xfrm>
                        <a:off x="881063" y="1239838"/>
                        <a:ext cx="7786687" cy="277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9F4C2">
                                <a:alpha val="70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4" name="Rectangle 10"/>
          <p:cNvSpPr>
            <a:spLocks noChangeArrowheads="1"/>
          </p:cNvSpPr>
          <p:nvPr/>
        </p:nvSpPr>
        <p:spPr bwMode="auto">
          <a:xfrm>
            <a:off x="4706938" y="1162050"/>
            <a:ext cx="2043112" cy="1052513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8E9479"/>
            </a:prstShdw>
          </a:effec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400" b="1" dirty="0"/>
              <a:t>     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包络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  检波器</a:t>
            </a:r>
          </a:p>
        </p:txBody>
      </p:sp>
      <p:sp>
        <p:nvSpPr>
          <p:cNvPr id="277515" name="Rectangle 11"/>
          <p:cNvSpPr>
            <a:spLocks noChangeArrowheads="1"/>
          </p:cNvSpPr>
          <p:nvPr/>
        </p:nvSpPr>
        <p:spPr bwMode="auto">
          <a:xfrm>
            <a:off x="4706938" y="2813050"/>
            <a:ext cx="2147887" cy="100012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8E9479"/>
            </a:prstShdw>
          </a:effec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400" b="1" dirty="0"/>
              <a:t>     </a:t>
            </a:r>
            <a:r>
              <a:rPr lang="zh-CN" altLang="en-US" sz="2400" b="1" dirty="0"/>
              <a:t>包络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2400" b="1" dirty="0"/>
              <a:t>   检波器</a:t>
            </a:r>
            <a:endParaRPr lang="zh-CN" altLang="en-US" sz="2800" b="1" dirty="0"/>
          </a:p>
        </p:txBody>
      </p:sp>
      <p:graphicFrame>
        <p:nvGraphicFramePr>
          <p:cNvPr id="277516" name="Object 12"/>
          <p:cNvGraphicFramePr>
            <a:graphicFrameLocks noChangeAspect="1"/>
          </p:cNvGraphicFramePr>
          <p:nvPr/>
        </p:nvGraphicFramePr>
        <p:xfrm>
          <a:off x="1660525" y="4851400"/>
          <a:ext cx="58531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32" name="Equation" r:id="rId5" imgW="2374560" imgH="228600" progId="Equation.DSMT4">
                  <p:embed/>
                </p:oleObj>
              </mc:Choice>
              <mc:Fallback>
                <p:oleObj name="Equation" r:id="rId5" imgW="237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851400"/>
                        <a:ext cx="58531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D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D581A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517" name="Object 13"/>
          <p:cNvGraphicFramePr>
            <a:graphicFrameLocks noChangeAspect="1"/>
          </p:cNvGraphicFramePr>
          <p:nvPr/>
        </p:nvGraphicFramePr>
        <p:xfrm>
          <a:off x="1652588" y="5607050"/>
          <a:ext cx="523081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33" name="Equation" r:id="rId7" imgW="2158920" imgH="228600" progId="Equation.DSMT4">
                  <p:embed/>
                </p:oleObj>
              </mc:Choice>
              <mc:Fallback>
                <p:oleObj name="Equation" r:id="rId7" imgW="2158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5607050"/>
                        <a:ext cx="5230812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D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8" name="Rectangle 14"/>
          <p:cNvSpPr>
            <a:spLocks noChangeArrowheads="1"/>
          </p:cNvSpPr>
          <p:nvPr/>
        </p:nvSpPr>
        <p:spPr bwMode="auto">
          <a:xfrm>
            <a:off x="819150" y="4051300"/>
            <a:ext cx="4197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发 “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4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”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符号（对应</a:t>
            </a:r>
            <a:r>
              <a:rPr lang="zh-CN" altLang="en-US" sz="2800" i="1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</a:t>
            </a:r>
            <a:r>
              <a:rPr lang="en-US" altLang="zh-CN" sz="2800" baseline="-250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）时：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84175" y="449263"/>
            <a:ext cx="3032125" cy="523875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800" b="1" dirty="0">
                <a:latin typeface="Times New Roman" pitchFamily="18" charset="0"/>
              </a:rPr>
              <a:t>  </a:t>
            </a:r>
            <a:r>
              <a:rPr lang="en-US" altLang="zh-CN" sz="2400" b="1" dirty="0">
                <a:ea typeface="楷体_GB2312" pitchFamily="49" charset="-122"/>
              </a:rPr>
              <a:t>2FSK</a:t>
            </a:r>
            <a:r>
              <a:rPr lang="en-US" altLang="zh-CN" sz="2400" b="1" dirty="0">
                <a:latin typeface="华文中宋" pitchFamily="2" charset="-122"/>
                <a:ea typeface="华文中宋" pitchFamily="2" charset="-122"/>
              </a:rPr>
              <a:t>---</a:t>
            </a:r>
            <a:r>
              <a:rPr lang="zh-CN" altLang="en-US" sz="2400" b="1" kern="0" dirty="0">
                <a:latin typeface="微软雅黑" pitchFamily="34" charset="-122"/>
                <a:ea typeface="微软雅黑" pitchFamily="34" charset="-122"/>
              </a:rPr>
              <a:t>包络检波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532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77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7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277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277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14" grpId="0" animBg="1"/>
      <p:bldP spid="277515" grpId="0" animBg="1"/>
      <p:bldP spid="277518" grpId="0"/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74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5207000"/>
            <a:ext cx="3956050" cy="111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6" name="矩形 18"/>
          <p:cNvSpPr>
            <a:spLocks noChangeArrowheads="1"/>
          </p:cNvSpPr>
          <p:nvPr/>
        </p:nvSpPr>
        <p:spPr bwMode="auto">
          <a:xfrm>
            <a:off x="0" y="895350"/>
            <a:ext cx="844550" cy="266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17" name="Rectangle 2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18" name="Rectangle 3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43748" name="Object 4"/>
          <p:cNvGraphicFramePr>
            <a:graphicFrameLocks noChangeAspect="1"/>
          </p:cNvGraphicFramePr>
          <p:nvPr/>
        </p:nvGraphicFramePr>
        <p:xfrm>
          <a:off x="1416050" y="3879850"/>
          <a:ext cx="3624263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09" name="公式" r:id="rId4" imgW="2019240" imgH="482400" progId="Equation.3">
                  <p:embed/>
                </p:oleObj>
              </mc:Choice>
              <mc:Fallback>
                <p:oleObj name="公式" r:id="rId4" imgW="20192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3879850"/>
                        <a:ext cx="3624263" cy="87153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CC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749" name="Object 5"/>
          <p:cNvGraphicFramePr>
            <a:graphicFrameLocks noChangeAspect="1"/>
          </p:cNvGraphicFramePr>
          <p:nvPr/>
        </p:nvGraphicFramePr>
        <p:xfrm>
          <a:off x="5445125" y="3879850"/>
          <a:ext cx="24765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10" name="公式" r:id="rId6" imgW="1244520" imgH="444240" progId="Equation.3">
                  <p:embed/>
                </p:oleObj>
              </mc:Choice>
              <mc:Fallback>
                <p:oleObj name="公式" r:id="rId6" imgW="12445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25" y="3879850"/>
                        <a:ext cx="2476500" cy="8826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Rectangle 6"/>
          <p:cNvSpPr>
            <a:spLocks noChangeArrowheads="1"/>
          </p:cNvSpPr>
          <p:nvPr/>
        </p:nvSpPr>
        <p:spPr bwMode="auto">
          <a:xfrm>
            <a:off x="366713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43751" name="Rectangle 7"/>
          <p:cNvSpPr>
            <a:spLocks noChangeArrowheads="1"/>
          </p:cNvSpPr>
          <p:nvPr/>
        </p:nvSpPr>
        <p:spPr bwMode="auto">
          <a:xfrm>
            <a:off x="5994400" y="1428750"/>
            <a:ext cx="2055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8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~ </a:t>
            </a:r>
            <a:r>
              <a:rPr lang="zh-CN" altLang="en-US" sz="2000" b="1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广义瑞利分布</a:t>
            </a:r>
          </a:p>
        </p:txBody>
      </p:sp>
      <p:sp>
        <p:nvSpPr>
          <p:cNvPr id="543752" name="Rectangle 8"/>
          <p:cNvSpPr>
            <a:spLocks noChangeArrowheads="1"/>
          </p:cNvSpPr>
          <p:nvPr/>
        </p:nvSpPr>
        <p:spPr bwMode="auto">
          <a:xfrm>
            <a:off x="6496050" y="2628900"/>
            <a:ext cx="1543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~ </a:t>
            </a:r>
            <a:r>
              <a:rPr lang="zh-CN" altLang="en-US" sz="20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瑞利分布</a:t>
            </a:r>
          </a:p>
        </p:txBody>
      </p:sp>
      <p:sp>
        <p:nvSpPr>
          <p:cNvPr id="543753" name="Rectangle 9"/>
          <p:cNvSpPr>
            <a:spLocks noChangeArrowheads="1"/>
          </p:cNvSpPr>
          <p:nvPr/>
        </p:nvSpPr>
        <p:spPr bwMode="auto">
          <a:xfrm>
            <a:off x="1371600" y="3181350"/>
            <a:ext cx="384175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400">
                <a:ea typeface="华文中宋" panose="02010600040101010101" pitchFamily="2" charset="-122"/>
              </a:rPr>
              <a:t>一维概率密度函数分别为：</a:t>
            </a:r>
          </a:p>
        </p:txBody>
      </p:sp>
      <p:graphicFrame>
        <p:nvGraphicFramePr>
          <p:cNvPr id="43012" name="Object 15"/>
          <p:cNvGraphicFramePr>
            <a:graphicFrameLocks noGrp="1" noChangeAspect="1"/>
          </p:cNvGraphicFramePr>
          <p:nvPr>
            <p:ph/>
          </p:nvPr>
        </p:nvGraphicFramePr>
        <p:xfrm>
          <a:off x="571500" y="627063"/>
          <a:ext cx="3155950" cy="226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11" name="Visio" r:id="rId8" imgW="1761286" imgH="1284662" progId="Visio.Drawing.11">
                  <p:embed/>
                </p:oleObj>
              </mc:Choice>
              <mc:Fallback>
                <p:oleObj name="Visio" r:id="rId8" imgW="1761286" imgH="1284662" progId="Visio.Drawing.11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627063"/>
                        <a:ext cx="3155950" cy="22685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760" name="Object 16"/>
          <p:cNvGraphicFramePr>
            <a:graphicFrameLocks noChangeAspect="1"/>
          </p:cNvGraphicFramePr>
          <p:nvPr/>
        </p:nvGraphicFramePr>
        <p:xfrm>
          <a:off x="3684588" y="785813"/>
          <a:ext cx="355441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12" name="Equation" r:id="rId10" imgW="1726920" imgH="291960" progId="Equation.DSMT4">
                  <p:embed/>
                </p:oleObj>
              </mc:Choice>
              <mc:Fallback>
                <p:oleObj name="Equation" r:id="rId10" imgW="1726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785813"/>
                        <a:ext cx="3554412" cy="6080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rgbClr val="D581A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761" name="Object 17"/>
          <p:cNvGraphicFramePr>
            <a:graphicFrameLocks noChangeAspect="1"/>
          </p:cNvGraphicFramePr>
          <p:nvPr/>
        </p:nvGraphicFramePr>
        <p:xfrm>
          <a:off x="3670300" y="2066925"/>
          <a:ext cx="29464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813" name="Equation" r:id="rId12" imgW="1409400" imgH="291960" progId="Equation.DSMT4">
                  <p:embed/>
                </p:oleObj>
              </mc:Choice>
              <mc:Fallback>
                <p:oleObj name="Equation" r:id="rId12" imgW="1409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2066925"/>
                        <a:ext cx="2946400" cy="6159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38100" cmpd="dbl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755" name="Rectangle 11"/>
          <p:cNvSpPr>
            <a:spLocks noChangeArrowheads="1"/>
          </p:cNvSpPr>
          <p:nvPr/>
        </p:nvSpPr>
        <p:spPr bwMode="auto">
          <a:xfrm>
            <a:off x="850900" y="717550"/>
            <a:ext cx="10985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ea typeface="华文中宋" panose="02010600040101010101" pitchFamily="2" charset="-122"/>
              </a:rPr>
              <a:t>上支路</a:t>
            </a:r>
          </a:p>
        </p:txBody>
      </p:sp>
      <p:sp>
        <p:nvSpPr>
          <p:cNvPr id="543756" name="Rectangle 12"/>
          <p:cNvSpPr>
            <a:spLocks noChangeArrowheads="1"/>
          </p:cNvSpPr>
          <p:nvPr/>
        </p:nvSpPr>
        <p:spPr bwMode="auto">
          <a:xfrm>
            <a:off x="806450" y="2317750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ea typeface="华文中宋" panose="02010600040101010101" pitchFamily="2" charset="-122"/>
              </a:rPr>
              <a:t>下支路</a:t>
            </a:r>
          </a:p>
        </p:txBody>
      </p:sp>
      <p:sp>
        <p:nvSpPr>
          <p:cNvPr id="18" name="Oval 33"/>
          <p:cNvSpPr>
            <a:spLocks noChangeArrowheads="1"/>
          </p:cNvSpPr>
          <p:nvPr/>
        </p:nvSpPr>
        <p:spPr bwMode="auto">
          <a:xfrm>
            <a:off x="1979613" y="5251450"/>
            <a:ext cx="1169987" cy="846138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19050">
            <a:solidFill>
              <a:srgbClr val="9999FF"/>
            </a:solidFill>
            <a:round/>
            <a:headEnd/>
            <a:tailEnd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判决</a:t>
            </a:r>
          </a:p>
          <a:p>
            <a:pPr algn="ctr">
              <a:defRPr/>
            </a:pPr>
            <a:r>
              <a:rPr lang="zh-CN" altLang="en-US" sz="2400" dirty="0">
                <a:latin typeface="隶书" pitchFamily="49" charset="-122"/>
                <a:ea typeface="隶书" pitchFamily="49" charset="-122"/>
              </a:rPr>
              <a:t>规则</a:t>
            </a:r>
          </a:p>
        </p:txBody>
      </p:sp>
    </p:spTree>
    <p:extLst>
      <p:ext uri="{BB962C8B-B14F-4D97-AF65-F5344CB8AC3E}">
        <p14:creationId xmlns:p14="http://schemas.microsoft.com/office/powerpoint/2010/main" val="145828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543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4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54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54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4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54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43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5437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54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5437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54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51" grpId="0"/>
      <p:bldP spid="543752" grpId="0"/>
      <p:bldP spid="543753" grpId="0"/>
      <p:bldP spid="543755" grpId="0" animBg="1"/>
      <p:bldP spid="543756" grpId="0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8" name="Rectangle 5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465" name="Rectangle 17"/>
          <p:cNvSpPr>
            <a:spLocks noChangeArrowheads="1"/>
          </p:cNvSpPr>
          <p:nvPr/>
        </p:nvSpPr>
        <p:spPr bwMode="auto">
          <a:xfrm>
            <a:off x="882650" y="1117600"/>
            <a:ext cx="4640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发“</a:t>
            </a:r>
            <a:r>
              <a:rPr lang="en-US" altLang="zh-CN" sz="2400" b="1">
                <a:solidFill>
                  <a:schemeClr val="hlink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 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错判为“</a:t>
            </a:r>
            <a:r>
              <a:rPr lang="en-US" altLang="zh-CN" sz="2400" b="1">
                <a:solidFill>
                  <a:srgbClr val="0033CC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的概率为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04471" name="Object 23"/>
          <p:cNvGraphicFramePr>
            <a:graphicFrameLocks noChangeAspect="1"/>
          </p:cNvGraphicFramePr>
          <p:nvPr/>
        </p:nvGraphicFramePr>
        <p:xfrm>
          <a:off x="1193800" y="1873250"/>
          <a:ext cx="280828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06" name="Equation" r:id="rId3" imgW="1231560" imgH="228600" progId="Equation.DSMT4">
                  <p:embed/>
                </p:oleObj>
              </mc:Choice>
              <mc:Fallback>
                <p:oleObj name="Equation" r:id="rId3" imgW="1231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1873250"/>
                        <a:ext cx="2808288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2" name="Object 24"/>
          <p:cNvGraphicFramePr>
            <a:graphicFrameLocks noChangeAspect="1"/>
          </p:cNvGraphicFramePr>
          <p:nvPr/>
        </p:nvGraphicFramePr>
        <p:xfrm>
          <a:off x="2216150" y="3717925"/>
          <a:ext cx="47355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07" name="Equation" r:id="rId5" imgW="1917360" imgH="380880" progId="Equation.DSMT4">
                  <p:embed/>
                </p:oleObj>
              </mc:Choice>
              <mc:Fallback>
                <p:oleObj name="Equation" r:id="rId5" imgW="1917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3717925"/>
                        <a:ext cx="4735513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80" name="Object 32"/>
          <p:cNvGraphicFramePr>
            <a:graphicFrameLocks noChangeAspect="1"/>
          </p:cNvGraphicFramePr>
          <p:nvPr/>
        </p:nvGraphicFramePr>
        <p:xfrm>
          <a:off x="2216150" y="2727325"/>
          <a:ext cx="340677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08" name="Equation" r:id="rId7" imgW="1396800" imgH="380880" progId="Equation.DSMT4">
                  <p:embed/>
                </p:oleObj>
              </mc:Choice>
              <mc:Fallback>
                <p:oleObj name="Equation" r:id="rId7" imgW="13968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6150" y="2727325"/>
                        <a:ext cx="3406775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86" name="Object 38"/>
          <p:cNvGraphicFramePr>
            <a:graphicFrameLocks noGrp="1" noChangeAspect="1"/>
          </p:cNvGraphicFramePr>
          <p:nvPr>
            <p:ph/>
          </p:nvPr>
        </p:nvGraphicFramePr>
        <p:xfrm>
          <a:off x="2171700" y="4887913"/>
          <a:ext cx="6121400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09" name="公式" r:id="rId9" imgW="2654280" imgH="482400" progId="Equation.3">
                  <p:embed/>
                </p:oleObj>
              </mc:Choice>
              <mc:Fallback>
                <p:oleObj name="公式" r:id="rId9" imgW="265428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4887913"/>
                        <a:ext cx="6121400" cy="1112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435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0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0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0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6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4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65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66" name="Rectangle 9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68" name="Rectangle 13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1450975" y="1162050"/>
          <a:ext cx="12096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84" name="公式" r:id="rId3" imgW="596900" imgH="469900" progId="Equation.3">
                  <p:embed/>
                </p:oleObj>
              </mc:Choice>
              <mc:Fallback>
                <p:oleObj name="公式" r:id="rId3" imgW="5969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1162050"/>
                        <a:ext cx="1209675" cy="942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777777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6" name="Object 14"/>
          <p:cNvGraphicFramePr>
            <a:graphicFrameLocks noChangeAspect="1"/>
          </p:cNvGraphicFramePr>
          <p:nvPr/>
        </p:nvGraphicFramePr>
        <p:xfrm>
          <a:off x="2949575" y="1162050"/>
          <a:ext cx="1311275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85" name="公式" r:id="rId5" imgW="660113" imgH="444307" progId="Equation.3">
                  <p:embed/>
                </p:oleObj>
              </mc:Choice>
              <mc:Fallback>
                <p:oleObj name="公式" r:id="rId5" imgW="660113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1162050"/>
                        <a:ext cx="1311275" cy="8937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777777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1" name="Object 19"/>
          <p:cNvGraphicFramePr>
            <a:graphicFrameLocks noChangeAspect="1"/>
          </p:cNvGraphicFramePr>
          <p:nvPr/>
        </p:nvGraphicFramePr>
        <p:xfrm>
          <a:off x="1371600" y="2273300"/>
          <a:ext cx="528955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86" name="公式" r:id="rId7" imgW="2260440" imgH="406080" progId="Equation.3">
                  <p:embed/>
                </p:oleObj>
              </mc:Choice>
              <mc:Fallback>
                <p:oleObj name="公式" r:id="rId7" imgW="22604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73300"/>
                        <a:ext cx="5289550" cy="941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94" name="Object 22"/>
          <p:cNvGraphicFramePr>
            <a:graphicFrameLocks noChangeAspect="1"/>
          </p:cNvGraphicFramePr>
          <p:nvPr/>
        </p:nvGraphicFramePr>
        <p:xfrm>
          <a:off x="2119313" y="4006850"/>
          <a:ext cx="431958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87" name="公式" r:id="rId9" imgW="2082600" imgH="330120" progId="Equation.3">
                  <p:embed/>
                </p:oleObj>
              </mc:Choice>
              <mc:Fallback>
                <p:oleObj name="公式" r:id="rId9" imgW="20826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4006850"/>
                        <a:ext cx="4319587" cy="690563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0000CC"/>
                        </a:solidFill>
                        <a:prstDash val="dash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D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00CC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6" name="Rectangle 24"/>
          <p:cNvSpPr>
            <a:spLocks noChangeArrowheads="1"/>
          </p:cNvSpPr>
          <p:nvPr/>
        </p:nvSpPr>
        <p:spPr bwMode="auto">
          <a:xfrm>
            <a:off x="793750" y="3429000"/>
            <a:ext cx="3998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根据</a:t>
            </a:r>
            <a:r>
              <a:rPr lang="en-US" altLang="zh-CN" sz="2400" b="1">
                <a:solidFill>
                  <a:srgbClr val="0033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MarcumQ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函数的性质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sp>
        <p:nvSpPr>
          <p:cNvPr id="105497" name="Rectangle 25"/>
          <p:cNvSpPr>
            <a:spLocks noChangeArrowheads="1"/>
          </p:cNvSpPr>
          <p:nvPr/>
        </p:nvSpPr>
        <p:spPr bwMode="auto">
          <a:xfrm>
            <a:off x="793750" y="5162550"/>
            <a:ext cx="1169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可得：</a:t>
            </a:r>
          </a:p>
        </p:txBody>
      </p:sp>
      <p:sp>
        <p:nvSpPr>
          <p:cNvPr id="105498" name="Rectangle 26"/>
          <p:cNvSpPr>
            <a:spLocks noChangeArrowheads="1"/>
          </p:cNvSpPr>
          <p:nvPr/>
        </p:nvSpPr>
        <p:spPr bwMode="auto">
          <a:xfrm>
            <a:off x="792163" y="1117600"/>
            <a:ext cx="719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令</a:t>
            </a:r>
          </a:p>
        </p:txBody>
      </p:sp>
      <p:sp>
        <p:nvSpPr>
          <p:cNvPr id="105499" name="Rectangle 27"/>
          <p:cNvSpPr>
            <a:spLocks noChangeArrowheads="1"/>
          </p:cNvSpPr>
          <p:nvPr/>
        </p:nvSpPr>
        <p:spPr bwMode="auto">
          <a:xfrm>
            <a:off x="4257675" y="1584325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代入上式，简化为：</a:t>
            </a:r>
          </a:p>
        </p:txBody>
      </p:sp>
      <p:graphicFrame>
        <p:nvGraphicFramePr>
          <p:cNvPr id="55302" name="Object 18"/>
          <p:cNvGraphicFramePr>
            <a:graphicFrameLocks noChangeAspect="1"/>
          </p:cNvGraphicFramePr>
          <p:nvPr/>
        </p:nvGraphicFramePr>
        <p:xfrm>
          <a:off x="2171700" y="5140325"/>
          <a:ext cx="36449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88" name="公式" r:id="rId11" imgW="1574640" imgH="393480" progId="Equation.3">
                  <p:embed/>
                </p:oleObj>
              </mc:Choice>
              <mc:Fallback>
                <p:oleObj name="公式" r:id="rId11" imgW="1574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140325"/>
                        <a:ext cx="3644900" cy="91122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6572250" y="5073650"/>
          <a:ext cx="11557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89" name="公式" r:id="rId13" imgW="545760" imgH="457200" progId="Equation.3">
                  <p:embed/>
                </p:oleObj>
              </mc:Choice>
              <mc:Fallback>
                <p:oleObj name="公式" r:id="rId13" imgW="545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5073650"/>
                        <a:ext cx="11557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565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0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10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1000"/>
                                        <p:tgtEl>
                                          <p:spTgt spid="10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05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10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05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10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5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4" dur="20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96" grpId="0"/>
      <p:bldP spid="105497" grpId="0"/>
      <p:bldP spid="105498" grpId="0"/>
      <p:bldP spid="10549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40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88"/>
          <a:stretch>
            <a:fillRect/>
          </a:stretch>
        </p:blipFill>
        <p:spPr bwMode="auto">
          <a:xfrm>
            <a:off x="1920875" y="4940300"/>
            <a:ext cx="5362575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08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086" name="Rectangle 11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6514" name="Rectangle 18"/>
          <p:cNvSpPr>
            <a:spLocks noChangeArrowheads="1"/>
          </p:cNvSpPr>
          <p:nvPr/>
        </p:nvSpPr>
        <p:spPr bwMode="auto">
          <a:xfrm>
            <a:off x="862013" y="4486275"/>
            <a:ext cx="569436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zh-CN" altLang="en-US" sz="25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对比：</a:t>
            </a:r>
            <a:r>
              <a:rPr lang="en-US" altLang="zh-CN" sz="2500" b="1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2FSK -</a:t>
            </a:r>
            <a:r>
              <a:rPr lang="zh-CN" altLang="en-US" sz="2500" b="1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相干解调</a:t>
            </a:r>
            <a:r>
              <a:rPr lang="zh-CN" altLang="en-US" sz="25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系统的总误码率</a:t>
            </a:r>
          </a:p>
        </p:txBody>
      </p:sp>
      <p:graphicFrame>
        <p:nvGraphicFramePr>
          <p:cNvPr id="55298" name="Object 12"/>
          <p:cNvGraphicFramePr>
            <a:graphicFrameLocks noChangeAspect="1"/>
          </p:cNvGraphicFramePr>
          <p:nvPr/>
        </p:nvGraphicFramePr>
        <p:xfrm>
          <a:off x="2438400" y="1651000"/>
          <a:ext cx="39560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3" name="公式" r:id="rId4" imgW="1790640" imgH="393480" progId="Equation.3">
                  <p:embed/>
                </p:oleObj>
              </mc:Choice>
              <mc:Fallback>
                <p:oleObj name="公式" r:id="rId4" imgW="1790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651000"/>
                        <a:ext cx="3956050" cy="8699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927100" y="2673350"/>
            <a:ext cx="6297613" cy="574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因此，</a:t>
            </a:r>
            <a:r>
              <a:rPr lang="en-US" altLang="zh-CN" sz="2400" b="1" kern="0" dirty="0">
                <a:solidFill>
                  <a:srgbClr val="0000CC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2FSK- </a:t>
            </a:r>
            <a:r>
              <a:rPr lang="zh-CN" altLang="en-US" sz="2400" b="1" kern="0" dirty="0">
                <a:solidFill>
                  <a:srgbClr val="0000CC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包络检波</a:t>
            </a:r>
            <a:r>
              <a:rPr lang="zh-CN" altLang="en-US" sz="2400" kern="0" dirty="0">
                <a:solidFill>
                  <a:srgbClr val="000000"/>
                </a:solidFill>
                <a:latin typeface="Arial" pitchFamily="34" charset="0"/>
                <a:ea typeface="黑体" pitchFamily="2" charset="-122"/>
                <a:cs typeface="Arial" pitchFamily="34" charset="0"/>
              </a:rPr>
              <a:t>系统的总误码率为</a:t>
            </a:r>
          </a:p>
        </p:txBody>
      </p:sp>
      <p:sp>
        <p:nvSpPr>
          <p:cNvPr id="19" name="矩形 18"/>
          <p:cNvSpPr/>
          <p:nvPr/>
        </p:nvSpPr>
        <p:spPr>
          <a:xfrm>
            <a:off x="4660900" y="5251450"/>
            <a:ext cx="768350" cy="40005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</a:rPr>
              <a:t>r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</a:rPr>
              <a:t>&gt;&gt;1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968375" y="1117600"/>
            <a:ext cx="4714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4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发“</a:t>
            </a:r>
            <a:r>
              <a:rPr lang="en-US" altLang="zh-CN" sz="2400" b="1">
                <a:solidFill>
                  <a:schemeClr val="hlink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240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” 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错判为“</a:t>
            </a:r>
            <a:r>
              <a:rPr lang="en-US" altLang="zh-CN" sz="2400" b="1">
                <a:solidFill>
                  <a:srgbClr val="0033CC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的概率为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428"/>
          <a:stretch>
            <a:fillRect/>
          </a:stretch>
        </p:blipFill>
        <p:spPr bwMode="auto">
          <a:xfrm>
            <a:off x="1935163" y="3251200"/>
            <a:ext cx="5362575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339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4" grpId="0"/>
      <p:bldP spid="18" grpId="0"/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71" name="Picture 19"/>
          <p:cNvPicPr>
            <a:picLocks noChangeAspect="1" noChangeArrowheads="1"/>
          </p:cNvPicPr>
          <p:nvPr/>
        </p:nvPicPr>
        <p:blipFill>
          <a:blip r:embed="rId3"/>
          <a:srcRect r="2532"/>
          <a:stretch>
            <a:fillRect/>
          </a:stretch>
        </p:blipFill>
        <p:spPr bwMode="auto">
          <a:xfrm>
            <a:off x="660400" y="450850"/>
            <a:ext cx="8312150" cy="254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7109" name="矩形 19"/>
          <p:cNvSpPr>
            <a:spLocks noChangeArrowheads="1"/>
          </p:cNvSpPr>
          <p:nvPr/>
        </p:nvSpPr>
        <p:spPr bwMode="auto">
          <a:xfrm>
            <a:off x="0" y="895350"/>
            <a:ext cx="660400" cy="177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10" name="Rectangle 4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285" name="Object 5"/>
          <p:cNvGraphicFramePr>
            <a:graphicFrameLocks noChangeAspect="1"/>
          </p:cNvGraphicFramePr>
          <p:nvPr/>
        </p:nvGraphicFramePr>
        <p:xfrm>
          <a:off x="1504950" y="3316288"/>
          <a:ext cx="66119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4" name="公式" r:id="rId4" imgW="3314520" imgH="253800" progId="Equation.3">
                  <p:embed/>
                </p:oleObj>
              </mc:Choice>
              <mc:Fallback>
                <p:oleObj name="公式" r:id="rId4" imgW="33145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316288"/>
                        <a:ext cx="6611938" cy="5127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87" name="Object 7"/>
          <p:cNvGraphicFramePr>
            <a:graphicFrameLocks noChangeAspect="1"/>
          </p:cNvGraphicFramePr>
          <p:nvPr/>
        </p:nvGraphicFramePr>
        <p:xfrm>
          <a:off x="2811463" y="4629150"/>
          <a:ext cx="32813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25" name="Equation" r:id="rId6" imgW="1485720" imgH="228600" progId="Equation.DSMT4">
                  <p:embed/>
                </p:oleObj>
              </mc:Choice>
              <mc:Fallback>
                <p:oleObj name="Equation" r:id="rId6" imgW="1485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4629150"/>
                        <a:ext cx="3281362" cy="50323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91" name="Rectangle 11"/>
          <p:cNvSpPr>
            <a:spLocks noChangeArrowheads="1"/>
          </p:cNvSpPr>
          <p:nvPr/>
        </p:nvSpPr>
        <p:spPr bwMode="auto">
          <a:xfrm>
            <a:off x="303213" y="3962400"/>
            <a:ext cx="7280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zh-CN" altLang="en-US" sz="2400" dirty="0">
                <a:ea typeface="华文中宋" panose="0201060004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ea typeface="华文中宋" panose="0201060004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2400" dirty="0">
                <a:ea typeface="华文中宋" panose="02010600040101010101" pitchFamily="2" charset="-122"/>
                <a:cs typeface="Arial" panose="020B0604020202020204" pitchFamily="34" charset="0"/>
              </a:rPr>
              <a:t>）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上、下支路带通滤波器</a:t>
            </a:r>
            <a:r>
              <a:rPr lang="en-US" altLang="zh-CN" sz="2400" dirty="0"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BPF</a:t>
            </a:r>
            <a:r>
              <a:rPr lang="en-US" altLang="zh-CN" sz="2400" dirty="0">
                <a:ea typeface="华文中宋" panose="0201060004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cs typeface="Arial" panose="020B0604020202020204" pitchFamily="34" charset="0"/>
              </a:rPr>
              <a:t>的带宽近似为：</a:t>
            </a:r>
          </a:p>
        </p:txBody>
      </p:sp>
      <p:sp>
        <p:nvSpPr>
          <p:cNvPr id="11" name="Oval 12"/>
          <p:cNvSpPr>
            <a:spLocks noChangeArrowheads="1"/>
          </p:cNvSpPr>
          <p:nvPr/>
        </p:nvSpPr>
        <p:spPr bwMode="auto">
          <a:xfrm>
            <a:off x="306388" y="3154363"/>
            <a:ext cx="842962" cy="496887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解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60350" y="184150"/>
            <a:ext cx="649288" cy="692150"/>
            <a:chOff x="1655" y="845"/>
            <a:chExt cx="454" cy="453"/>
          </a:xfrm>
        </p:grpSpPr>
        <p:grpSp>
          <p:nvGrpSpPr>
            <p:cNvPr id="47115" name="Group 23"/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47117" name="Oval 24"/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18" name="Oval 25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19" name="Oval 26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20" name="Oval 27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121" name="Oval 28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7116" name="Text Box 29"/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  <p:pic>
        <p:nvPicPr>
          <p:cNvPr id="49172" name="Picture 2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5254625"/>
            <a:ext cx="8459787" cy="108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882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481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8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000"/>
                                        <p:tgtEl>
                                          <p:spTgt spid="48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91" grpId="0"/>
      <p:bldP spid="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11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58800" y="4522788"/>
            <a:ext cx="63246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（</a:t>
            </a:r>
            <a:r>
              <a:rPr lang="en-US" altLang="zh-CN" sz="24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3</a:t>
            </a:r>
            <a:r>
              <a:rPr lang="zh-CN" altLang="en-US" sz="2400" kern="0" dirty="0">
                <a:solidFill>
                  <a:srgbClr val="000000"/>
                </a:solidFill>
                <a:latin typeface="Arial" pitchFamily="34" charset="0"/>
                <a:ea typeface="华文中宋" pitchFamily="2" charset="-122"/>
                <a:cs typeface="Arial" pitchFamily="34" charset="0"/>
              </a:rPr>
              <a:t>） </a:t>
            </a:r>
            <a:r>
              <a:rPr lang="zh-CN" altLang="en-US" sz="2400" b="1" kern="0" dirty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同步解调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时系统的误码率</a:t>
            </a:r>
            <a:r>
              <a:rPr lang="en-US" altLang="zh-CN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:</a:t>
            </a:r>
            <a:r>
              <a:rPr lang="zh-CN" altLang="en-US" sz="2400" b="1" kern="0" dirty="0">
                <a:solidFill>
                  <a:srgbClr val="000000"/>
                </a:solidFill>
                <a:latin typeface="Times New Roman"/>
                <a:ea typeface="楷体_GB2312"/>
              </a:rPr>
              <a:t> </a:t>
            </a:r>
            <a:endParaRPr lang="zh-CN" altLang="en-US" dirty="0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747713" y="995363"/>
            <a:ext cx="7691437" cy="110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sz="2400" b="1" kern="0" dirty="0">
                <a:solidFill>
                  <a:srgbClr val="0000CC"/>
                </a:solidFill>
                <a:latin typeface="+mn-lt"/>
                <a:ea typeface="+mn-ea"/>
              </a:rPr>
              <a:t>∵</a:t>
            </a:r>
            <a:r>
              <a:rPr lang="zh-CN" altLang="en-US" sz="2400" dirty="0">
                <a:ea typeface="华文中宋" pitchFamily="2" charset="-122"/>
              </a:rPr>
              <a:t>信道输出端</a:t>
            </a:r>
            <a:r>
              <a:rPr lang="zh-CN" altLang="en-US" sz="2400" kern="0" dirty="0">
                <a:ea typeface="华文中宋" pitchFamily="2" charset="-122"/>
              </a:rPr>
              <a:t>信噪比为 </a:t>
            </a:r>
            <a:r>
              <a:rPr lang="en-US" altLang="zh-CN" sz="2400" kern="0" dirty="0">
                <a:solidFill>
                  <a:srgbClr val="0000CC"/>
                </a:solidFill>
                <a:ea typeface="华文中宋" pitchFamily="2" charset="-122"/>
              </a:rPr>
              <a:t>6dB</a:t>
            </a:r>
            <a:r>
              <a:rPr lang="zh-CN" altLang="en-US" sz="2400" kern="0" dirty="0">
                <a:solidFill>
                  <a:srgbClr val="003399"/>
                </a:solidFill>
                <a:ea typeface="华文中宋" pitchFamily="2" charset="-122"/>
              </a:rPr>
              <a:t>（即</a:t>
            </a:r>
            <a:r>
              <a:rPr lang="en-US" altLang="zh-CN" sz="2400" kern="0" dirty="0">
                <a:solidFill>
                  <a:srgbClr val="0000CC"/>
                </a:solidFill>
                <a:ea typeface="华文中宋" pitchFamily="2" charset="-122"/>
              </a:rPr>
              <a:t>4</a:t>
            </a:r>
            <a:r>
              <a:rPr lang="zh-CN" altLang="en-US" sz="2400" kern="0" dirty="0">
                <a:solidFill>
                  <a:srgbClr val="003399"/>
                </a:solidFill>
                <a:ea typeface="华文中宋" pitchFamily="2" charset="-122"/>
              </a:rPr>
              <a:t>），</a:t>
            </a:r>
            <a:r>
              <a:rPr lang="en-US" sz="2400" b="1" kern="0" dirty="0">
                <a:solidFill>
                  <a:srgbClr val="0000CC"/>
                </a:solidFill>
                <a:latin typeface="+mn-lt"/>
                <a:ea typeface="+mn-ea"/>
              </a:rPr>
              <a:t>∴</a:t>
            </a:r>
            <a:r>
              <a:rPr lang="zh-CN" altLang="en-US" sz="2400" kern="0" dirty="0">
                <a:ea typeface="华文中宋" pitchFamily="2" charset="-122"/>
              </a:rPr>
              <a:t>带通滤波器输出</a:t>
            </a:r>
            <a:endParaRPr lang="en-US" altLang="zh-CN" sz="2400" kern="0" dirty="0">
              <a:ea typeface="华文中宋" pitchFamily="2" charset="-122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2400" kern="0" dirty="0">
                <a:ea typeface="华文中宋" pitchFamily="2" charset="-122"/>
              </a:rPr>
              <a:t>端（解调器输入端</a:t>
            </a:r>
            <a:r>
              <a:rPr lang="en-US" altLang="zh-CN" sz="2400" kern="0" dirty="0">
                <a:ea typeface="华文中宋" pitchFamily="2" charset="-122"/>
              </a:rPr>
              <a:t>)</a:t>
            </a:r>
            <a:r>
              <a:rPr lang="zh-CN" altLang="en-US" sz="2400" kern="0" dirty="0">
                <a:ea typeface="华文中宋" pitchFamily="2" charset="-122"/>
              </a:rPr>
              <a:t>的信噪比为：</a:t>
            </a:r>
          </a:p>
        </p:txBody>
      </p:sp>
      <p:graphicFrame>
        <p:nvGraphicFramePr>
          <p:cNvPr id="57346" name="Object 9"/>
          <p:cNvGraphicFramePr>
            <a:graphicFrameLocks noChangeAspect="1"/>
          </p:cNvGraphicFramePr>
          <p:nvPr/>
        </p:nvGraphicFramePr>
        <p:xfrm>
          <a:off x="2697163" y="3424238"/>
          <a:ext cx="4210050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75" name="公式" r:id="rId3" imgW="1854000" imgH="393480" progId="Equation.3">
                  <p:embed/>
                </p:oleObj>
              </mc:Choice>
              <mc:Fallback>
                <p:oleObj name="公式" r:id="rId3" imgW="18540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424238"/>
                        <a:ext cx="4210050" cy="893762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6666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7" name="Object 10"/>
          <p:cNvGraphicFramePr>
            <a:graphicFrameLocks noChangeAspect="1"/>
          </p:cNvGraphicFramePr>
          <p:nvPr/>
        </p:nvGraphicFramePr>
        <p:xfrm>
          <a:off x="2127250" y="5073650"/>
          <a:ext cx="559276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76" name="公式" r:id="rId5" imgW="2463480" imgH="469800" progId="Equation.3">
                  <p:embed/>
                </p:oleObj>
              </mc:Choice>
              <mc:Fallback>
                <p:oleObj name="公式" r:id="rId5" imgW="24634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5073650"/>
                        <a:ext cx="5592763" cy="10668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6666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4"/>
          <p:cNvGraphicFramePr>
            <a:graphicFrameLocks noChangeAspect="1"/>
          </p:cNvGraphicFramePr>
          <p:nvPr/>
        </p:nvGraphicFramePr>
        <p:xfrm>
          <a:off x="3679825" y="2184400"/>
          <a:ext cx="21812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77" name="公式" r:id="rId7" imgW="825480" imgH="177480" progId="Equation.3">
                  <p:embed/>
                </p:oleObj>
              </mc:Choice>
              <mc:Fallback>
                <p:oleObj name="公式" r:id="rId7" imgW="8254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825" y="2184400"/>
                        <a:ext cx="2181225" cy="4699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C0C0C0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704850" y="2894013"/>
            <a:ext cx="5513070" cy="534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latin typeface="华文中宋" pitchFamily="2" charset="-122"/>
                <a:ea typeface="华文中宋" pitchFamily="2" charset="-122"/>
              </a:rPr>
              <a:t>因此，</a:t>
            </a:r>
            <a:r>
              <a:rPr lang="zh-CN" altLang="en-US" sz="2400" b="1" kern="0" dirty="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包络检波</a:t>
            </a:r>
            <a:r>
              <a:rPr lang="zh-CN" altLang="en-US" sz="2400" kern="0" dirty="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时系统的误码率：</a:t>
            </a:r>
          </a:p>
        </p:txBody>
      </p:sp>
    </p:spTree>
    <p:extLst>
      <p:ext uri="{BB962C8B-B14F-4D97-AF65-F5344CB8AC3E}">
        <p14:creationId xmlns:p14="http://schemas.microsoft.com/office/powerpoint/2010/main" val="299735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0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2650" y="1465263"/>
            <a:ext cx="6977063" cy="585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Arial" panose="020B0604020202020204" pitchFamily="34" charset="0"/>
                <a:ea typeface="华文中宋" panose="02010600040101010101" pitchFamily="2" charset="-122"/>
              </a:rPr>
              <a:t>在任意一个</a:t>
            </a:r>
            <a:r>
              <a:rPr lang="en-US" altLang="zh-CN" sz="2800" i="1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T</a:t>
            </a:r>
            <a:r>
              <a:rPr lang="en-US" altLang="zh-CN" sz="2800" baseline="-25000">
                <a:solidFill>
                  <a:srgbClr val="003399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B</a:t>
            </a:r>
            <a:r>
              <a:rPr lang="zh-CN" altLang="en-US" sz="2400" b="0">
                <a:latin typeface="Arial" panose="020B0604020202020204" pitchFamily="34" charset="0"/>
                <a:ea typeface="华文中宋" panose="02010600040101010101" pitchFamily="2" charset="-122"/>
              </a:rPr>
              <a:t>内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</a:rPr>
              <a:t>， </a:t>
            </a:r>
            <a:r>
              <a:rPr lang="en-US" altLang="zh-CN" sz="240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2PSK </a:t>
            </a:r>
            <a:r>
              <a:rPr lang="zh-CN" altLang="en-US" sz="2400" b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>
                <a:solidFill>
                  <a:srgbClr val="003399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2DPSK</a:t>
            </a:r>
            <a:r>
              <a:rPr lang="zh-CN" altLang="en-US" sz="2400" b="0">
                <a:latin typeface="Arial" panose="020B0604020202020204" pitchFamily="34" charset="0"/>
                <a:ea typeface="华文中宋" panose="02010600040101010101" pitchFamily="2" charset="-122"/>
              </a:rPr>
              <a:t>都可表示为：</a:t>
            </a:r>
          </a:p>
        </p:txBody>
      </p:sp>
      <p:sp>
        <p:nvSpPr>
          <p:cNvPr id="110607" name="AutoShape 15"/>
          <p:cNvSpPr>
            <a:spLocks noChangeArrowheads="1"/>
          </p:cNvSpPr>
          <p:nvPr/>
        </p:nvSpPr>
        <p:spPr bwMode="auto">
          <a:xfrm>
            <a:off x="1646238" y="3757613"/>
            <a:ext cx="1439862" cy="855662"/>
          </a:xfrm>
          <a:prstGeom prst="wedgeRoundRectCallout">
            <a:avLst>
              <a:gd name="adj1" fmla="val -17144"/>
              <a:gd name="adj2" fmla="val -90819"/>
              <a:gd name="adj3" fmla="val 16667"/>
            </a:avLst>
          </a:prstGeom>
          <a:solidFill>
            <a:schemeClr val="bg1"/>
          </a:solidFill>
          <a:ln w="9525">
            <a:solidFill>
              <a:srgbClr val="4D4D4D"/>
            </a:solidFill>
            <a:prstDash val="dash"/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03399"/>
                </a:solidFill>
              </a:rPr>
              <a:t>2PSK</a:t>
            </a:r>
            <a:r>
              <a:rPr lang="en-US" altLang="zh-CN" sz="2400" b="1">
                <a:solidFill>
                  <a:srgbClr val="000099"/>
                </a:solidFill>
              </a:rPr>
              <a:t> </a:t>
            </a:r>
            <a:r>
              <a:rPr lang="zh-CN" altLang="en-US" sz="2400" b="1"/>
              <a:t>信号</a:t>
            </a:r>
          </a:p>
        </p:txBody>
      </p:sp>
      <p:sp>
        <p:nvSpPr>
          <p:cNvPr id="110608" name="AutoShape 16"/>
          <p:cNvSpPr>
            <a:spLocks noChangeArrowheads="1"/>
          </p:cNvSpPr>
          <p:nvPr/>
        </p:nvSpPr>
        <p:spPr bwMode="auto">
          <a:xfrm>
            <a:off x="1646238" y="5018088"/>
            <a:ext cx="1439862" cy="900112"/>
          </a:xfrm>
          <a:prstGeom prst="wedgeRoundRectCallout">
            <a:avLst>
              <a:gd name="adj1" fmla="val -16593"/>
              <a:gd name="adj2" fmla="val -62347"/>
              <a:gd name="adj3" fmla="val 16667"/>
            </a:avLst>
          </a:prstGeom>
          <a:solidFill>
            <a:schemeClr val="bg1"/>
          </a:solidFill>
          <a:ln w="9525">
            <a:solidFill>
              <a:srgbClr val="4D4D4D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03399"/>
                </a:solidFill>
              </a:rPr>
              <a:t>2DPSK</a:t>
            </a:r>
            <a:r>
              <a:rPr lang="en-US" altLang="zh-CN" sz="2400" b="1">
                <a:solidFill>
                  <a:srgbClr val="000099"/>
                </a:solidFill>
              </a:rPr>
              <a:t> </a:t>
            </a:r>
            <a:r>
              <a:rPr lang="zh-CN" altLang="en-US" sz="2400" b="1"/>
              <a:t>信号</a:t>
            </a:r>
          </a:p>
        </p:txBody>
      </p:sp>
      <p:sp>
        <p:nvSpPr>
          <p:cNvPr id="110609" name="AutoShape 17"/>
          <p:cNvSpPr>
            <a:spLocks noChangeArrowheads="1"/>
          </p:cNvSpPr>
          <p:nvPr/>
        </p:nvSpPr>
        <p:spPr bwMode="auto">
          <a:xfrm>
            <a:off x="5068888" y="3757613"/>
            <a:ext cx="2259012" cy="946150"/>
          </a:xfrm>
          <a:prstGeom prst="wedgeRoundRectCallout">
            <a:avLst>
              <a:gd name="adj1" fmla="val 7208"/>
              <a:gd name="adj2" fmla="val -85259"/>
              <a:gd name="adj3" fmla="val 16667"/>
            </a:avLst>
          </a:prstGeom>
          <a:solidFill>
            <a:schemeClr val="bg1"/>
          </a:solidFill>
          <a:ln w="9525">
            <a:solidFill>
              <a:srgbClr val="4D4D4D"/>
            </a:solidFill>
            <a:prstDash val="dash"/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400" b="1"/>
              <a:t>原始数字信息</a:t>
            </a:r>
          </a:p>
          <a:p>
            <a:pPr algn="ctr" eaLnBrk="1" hangingPunct="1">
              <a:lnSpc>
                <a:spcPct val="120000"/>
              </a:lnSpc>
            </a:pPr>
            <a:r>
              <a:rPr lang="zh-CN" altLang="en-US" sz="2400" b="1"/>
              <a:t>（</a:t>
            </a:r>
            <a:r>
              <a:rPr lang="zh-CN" altLang="en-US" sz="2400" b="1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绝对码</a:t>
            </a:r>
            <a:r>
              <a:rPr lang="zh-CN" altLang="en-US" sz="2400" b="1"/>
              <a:t>）</a:t>
            </a:r>
          </a:p>
        </p:txBody>
      </p:sp>
      <p:sp>
        <p:nvSpPr>
          <p:cNvPr id="110610" name="AutoShape 18"/>
          <p:cNvSpPr>
            <a:spLocks noChangeArrowheads="1"/>
          </p:cNvSpPr>
          <p:nvPr/>
        </p:nvSpPr>
        <p:spPr bwMode="auto">
          <a:xfrm>
            <a:off x="5549900" y="5108575"/>
            <a:ext cx="1393825" cy="719138"/>
          </a:xfrm>
          <a:prstGeom prst="wedgeRoundRectCallout">
            <a:avLst>
              <a:gd name="adj1" fmla="val 20273"/>
              <a:gd name="adj2" fmla="val -57287"/>
              <a:gd name="adj3" fmla="val 16667"/>
            </a:avLst>
          </a:prstGeom>
          <a:solidFill>
            <a:schemeClr val="bg1"/>
          </a:solidFill>
          <a:ln w="9525">
            <a:solidFill>
              <a:srgbClr val="4D4D4D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相对码</a:t>
            </a:r>
          </a:p>
        </p:txBody>
      </p:sp>
      <p:sp>
        <p:nvSpPr>
          <p:cNvPr id="110611" name="AutoShape 19"/>
          <p:cNvSpPr>
            <a:spLocks noChangeArrowheads="1"/>
          </p:cNvSpPr>
          <p:nvPr/>
        </p:nvSpPr>
        <p:spPr bwMode="auto">
          <a:xfrm>
            <a:off x="7104063" y="4510088"/>
            <a:ext cx="179387" cy="809625"/>
          </a:xfrm>
          <a:prstGeom prst="curvedLeftArrow">
            <a:avLst>
              <a:gd name="adj1" fmla="val 90266"/>
              <a:gd name="adj2" fmla="val 180531"/>
              <a:gd name="adj3" fmla="val 33333"/>
            </a:avLst>
          </a:prstGeom>
          <a:solidFill>
            <a:srgbClr val="D9D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0" y="450850"/>
            <a:ext cx="848360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.2.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3   </a:t>
            </a:r>
            <a:r>
              <a:rPr lang="en-US" altLang="zh-CN" sz="32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2PSK</a:t>
            </a:r>
            <a:r>
              <a:rPr lang="en-US" altLang="zh-CN" sz="3200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3200" b="1" dirty="0">
                <a:solidFill>
                  <a:srgbClr val="000099"/>
                </a:solidFill>
                <a:ea typeface="黑体" pitchFamily="2" charset="-122"/>
              </a:rPr>
              <a:t>2DPSK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系统的抗噪声性能</a:t>
            </a:r>
            <a:endParaRPr lang="en-US" altLang="zh-CN" sz="32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58370" name="Object 11"/>
          <p:cNvGraphicFramePr>
            <a:graphicFrameLocks noChangeAspect="1"/>
          </p:cNvGraphicFramePr>
          <p:nvPr/>
        </p:nvGraphicFramePr>
        <p:xfrm>
          <a:off x="1816100" y="2228850"/>
          <a:ext cx="53530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45" name="Equation" r:id="rId3" imgW="2234880" imgH="482400" progId="Equation.DSMT4">
                  <p:embed/>
                </p:oleObj>
              </mc:Choice>
              <mc:Fallback>
                <p:oleObj name="Equation" r:id="rId3" imgW="22348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2228850"/>
                        <a:ext cx="5353050" cy="11557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6666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248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07" grpId="0" animBg="1"/>
      <p:bldP spid="110608" grpId="0" animBg="1"/>
      <p:bldP spid="110609" grpId="0" animBg="1"/>
      <p:bldP spid="110610" grpId="0" animBg="1"/>
      <p:bldP spid="110611" grpId="0" animBg="1"/>
      <p:bldP spid="1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11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183" name="Rectangle 5"/>
          <p:cNvSpPr>
            <a:spLocks noChangeArrowheads="1"/>
          </p:cNvSpPr>
          <p:nvPr/>
        </p:nvSpPr>
        <p:spPr bwMode="auto">
          <a:xfrm>
            <a:off x="0" y="2809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1620" name="Object 4"/>
          <p:cNvGraphicFramePr>
            <a:graphicFrameLocks noChangeAspect="1"/>
          </p:cNvGraphicFramePr>
          <p:nvPr/>
        </p:nvGraphicFramePr>
        <p:xfrm>
          <a:off x="615950" y="1268413"/>
          <a:ext cx="8134350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0" name="Visio" r:id="rId3" imgW="5057777" imgH="1238238" progId="Visio.Drawing.11">
                  <p:embed/>
                </p:oleObj>
              </mc:Choice>
              <mc:Fallback>
                <p:oleObj name="Visio" r:id="rId3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2166" b="11993"/>
                      <a:stretch>
                        <a:fillRect/>
                      </a:stretch>
                    </p:blipFill>
                    <p:spPr bwMode="auto">
                      <a:xfrm>
                        <a:off x="615950" y="1268413"/>
                        <a:ext cx="8134350" cy="1509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4" name="Rectangle 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1622" name="Object 6"/>
          <p:cNvGraphicFramePr>
            <a:graphicFrameLocks noChangeAspect="1"/>
          </p:cNvGraphicFramePr>
          <p:nvPr/>
        </p:nvGraphicFramePr>
        <p:xfrm>
          <a:off x="2063750" y="4025900"/>
          <a:ext cx="50863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1" name="Equation" r:id="rId5" imgW="2463480" imgH="482400" progId="Equation.DSMT4">
                  <p:embed/>
                </p:oleObj>
              </mc:Choice>
              <mc:Fallback>
                <p:oleObj name="Equation" r:id="rId5" imgW="2463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025900"/>
                        <a:ext cx="5086350" cy="1003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Rectangle 9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1624" name="Object 8"/>
          <p:cNvGraphicFramePr>
            <a:graphicFrameLocks noChangeAspect="1"/>
          </p:cNvGraphicFramePr>
          <p:nvPr/>
        </p:nvGraphicFramePr>
        <p:xfrm>
          <a:off x="2789238" y="5278438"/>
          <a:ext cx="3960812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2" name="Equation" r:id="rId7" imgW="1930320" imgH="482400" progId="Equation.DSMT4">
                  <p:embed/>
                </p:oleObj>
              </mc:Choice>
              <mc:Fallback>
                <p:oleObj name="Equation" r:id="rId7" imgW="19303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238" y="5278438"/>
                        <a:ext cx="3960812" cy="9953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1" name="Object 15"/>
          <p:cNvGraphicFramePr>
            <a:graphicFrameLocks noGrp="1" noChangeAspect="1"/>
          </p:cNvGraphicFramePr>
          <p:nvPr>
            <p:ph/>
          </p:nvPr>
        </p:nvGraphicFramePr>
        <p:xfrm>
          <a:off x="1506538" y="2932113"/>
          <a:ext cx="3987800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3" name="Equation" r:id="rId9" imgW="2044440" imgH="482400" progId="Equation.DSMT4">
                  <p:embed/>
                </p:oleObj>
              </mc:Choice>
              <mc:Fallback>
                <p:oleObj name="Equation" r:id="rId9" imgW="2044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2932113"/>
                        <a:ext cx="3987800" cy="9413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DD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33" name="Oval 17"/>
          <p:cNvSpPr>
            <a:spLocks noChangeArrowheads="1"/>
          </p:cNvSpPr>
          <p:nvPr/>
        </p:nvSpPr>
        <p:spPr bwMode="auto">
          <a:xfrm>
            <a:off x="1401763" y="1960563"/>
            <a:ext cx="674687" cy="495300"/>
          </a:xfrm>
          <a:prstGeom prst="ellipse">
            <a:avLst/>
          </a:prstGeom>
          <a:noFill/>
          <a:ln w="38100" cmpd="dbl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1634" name="Oval 18"/>
          <p:cNvSpPr>
            <a:spLocks noChangeArrowheads="1"/>
          </p:cNvSpPr>
          <p:nvPr/>
        </p:nvSpPr>
        <p:spPr bwMode="auto">
          <a:xfrm>
            <a:off x="3824288" y="2006600"/>
            <a:ext cx="674687" cy="495300"/>
          </a:xfrm>
          <a:prstGeom prst="ellipse">
            <a:avLst/>
          </a:prstGeom>
          <a:noFill/>
          <a:ln w="38100" cmpd="dbl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1635" name="Oval 19"/>
          <p:cNvSpPr>
            <a:spLocks noChangeArrowheads="1"/>
          </p:cNvSpPr>
          <p:nvPr/>
        </p:nvSpPr>
        <p:spPr bwMode="auto">
          <a:xfrm>
            <a:off x="6519863" y="1943100"/>
            <a:ext cx="674687" cy="495300"/>
          </a:xfrm>
          <a:prstGeom prst="ellipse">
            <a:avLst/>
          </a:prstGeom>
          <a:noFill/>
          <a:ln w="38100" cmpd="dbl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361950"/>
            <a:ext cx="4660900" cy="5842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0000"/>
              </a:buClr>
              <a:buSzPct val="70000"/>
              <a:defRPr/>
            </a:pPr>
            <a:r>
              <a:rPr lang="en-US" altLang="zh-CN" sz="2800" b="1" dirty="0">
                <a:latin typeface="Times New Roman" pitchFamily="18" charset="0"/>
              </a:rPr>
              <a:t>   </a:t>
            </a:r>
            <a:r>
              <a:rPr lang="en-US" altLang="zh-CN" sz="3200" b="1" u="sng" dirty="0">
                <a:solidFill>
                  <a:srgbClr val="800080"/>
                </a:solidFill>
                <a:ea typeface="华文中宋" pitchFamily="2" charset="-122"/>
              </a:rPr>
              <a:t>1</a:t>
            </a:r>
            <a:r>
              <a:rPr lang="en-US" altLang="zh-CN" sz="2800" dirty="0">
                <a:solidFill>
                  <a:srgbClr val="800080"/>
                </a:solidFill>
                <a:ea typeface="华文中宋" pitchFamily="2" charset="-122"/>
              </a:rPr>
              <a:t>   </a:t>
            </a:r>
            <a:r>
              <a:rPr lang="en-US" altLang="zh-CN" sz="2800" b="1" dirty="0">
                <a:solidFill>
                  <a:srgbClr val="003399"/>
                </a:solidFill>
                <a:ea typeface="华文中宋" pitchFamily="2" charset="-122"/>
              </a:rPr>
              <a:t>2PSK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相干解调系统 </a:t>
            </a:r>
          </a:p>
        </p:txBody>
      </p:sp>
    </p:spTree>
    <p:extLst>
      <p:ext uri="{BB962C8B-B14F-4D97-AF65-F5344CB8AC3E}">
        <p14:creationId xmlns:p14="http://schemas.microsoft.com/office/powerpoint/2010/main" val="158854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10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11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500"/>
                                        <p:tgtEl>
                                          <p:spTgt spid="111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2" dur="10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111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1000"/>
                                        <p:tgtEl>
                                          <p:spTgt spid="111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33" grpId="0" animBg="1"/>
      <p:bldP spid="111633" grpId="1" animBg="1"/>
      <p:bldP spid="111634" grpId="0" animBg="1"/>
      <p:bldP spid="111634" grpId="1" animBg="1"/>
      <p:bldP spid="111635" grpId="0" animBg="1"/>
      <p:bldP spid="1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6125" y="3065463"/>
            <a:ext cx="7200900" cy="6746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2400" b="0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b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b="0" i="1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</a:t>
            </a:r>
            <a:r>
              <a:rPr lang="en-US" altLang="zh-CN" sz="2400" b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400" b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的一维概率密度函数为</a:t>
            </a:r>
            <a:r>
              <a:rPr lang="en-US" altLang="zh-CN" sz="2400" b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51202" name="Object 21"/>
          <p:cNvGraphicFramePr>
            <a:graphicFrameLocks noChangeAspect="1"/>
          </p:cNvGraphicFramePr>
          <p:nvPr/>
        </p:nvGraphicFramePr>
        <p:xfrm>
          <a:off x="2455863" y="1776413"/>
          <a:ext cx="472122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93" name="Equation" r:id="rId3" imgW="1968480" imgH="482400" progId="Equation.DSMT4">
                  <p:embed/>
                </p:oleObj>
              </mc:Choice>
              <mc:Fallback>
                <p:oleObj name="Equation" r:id="rId3" imgW="1968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3" y="1776413"/>
                        <a:ext cx="4721225" cy="1163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62" name="AutoShape 22"/>
          <p:cNvSpPr>
            <a:spLocks noChangeArrowheads="1"/>
          </p:cNvSpPr>
          <p:nvPr/>
        </p:nvSpPr>
        <p:spPr bwMode="auto">
          <a:xfrm>
            <a:off x="4349750" y="584200"/>
            <a:ext cx="1754188" cy="944563"/>
          </a:xfrm>
          <a:prstGeom prst="wedgeRoundRectCallout">
            <a:avLst>
              <a:gd name="adj1" fmla="val -33468"/>
              <a:gd name="adj2" fmla="val 85389"/>
              <a:gd name="adj3" fmla="val 16667"/>
            </a:avLst>
          </a:prstGeom>
          <a:solidFill>
            <a:schemeClr val="bg1"/>
          </a:solidFill>
          <a:ln w="9525">
            <a:solidFill>
              <a:srgbClr val="0033CC"/>
            </a:solidFill>
            <a:prstDash val="dash"/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ea typeface="华文中宋" panose="02010600040101010101" pitchFamily="2" charset="-122"/>
              </a:rPr>
              <a:t>高斯噪声</a:t>
            </a:r>
          </a:p>
          <a:p>
            <a:pPr algn="ctr" eaLnBrk="1" hangingPunct="1"/>
            <a:r>
              <a:rPr lang="en-US" altLang="zh-CN" sz="2400"/>
              <a:t>( </a:t>
            </a:r>
            <a:r>
              <a:rPr lang="en-US" altLang="zh-CN" sz="2400" b="1"/>
              <a:t>0</a:t>
            </a:r>
            <a:r>
              <a:rPr lang="zh-CN" altLang="en-US" sz="2400" b="1"/>
              <a:t>，</a:t>
            </a:r>
            <a:r>
              <a:rPr lang="zh-CN" altLang="en-US" sz="2400" b="1" i="1">
                <a:sym typeface="Symbol" panose="05050102010706020507" pitchFamily="18" charset="2"/>
              </a:rPr>
              <a:t></a:t>
            </a:r>
            <a:r>
              <a:rPr lang="en-US" altLang="zh-CN" sz="2400" b="1" i="1" baseline="-25000"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sym typeface="Symbol" panose="05050102010706020507" pitchFamily="18" charset="2"/>
              </a:rPr>
              <a:t>2 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12663" name="AutoShape 23"/>
          <p:cNvSpPr>
            <a:spLocks noChangeArrowheads="1"/>
          </p:cNvSpPr>
          <p:nvPr/>
        </p:nvSpPr>
        <p:spPr bwMode="auto">
          <a:xfrm>
            <a:off x="430213" y="1117600"/>
            <a:ext cx="1846262" cy="944563"/>
          </a:xfrm>
          <a:prstGeom prst="wedgeRoundRectCallout">
            <a:avLst>
              <a:gd name="adj1" fmla="val 61778"/>
              <a:gd name="adj2" fmla="val 51514"/>
              <a:gd name="adj3" fmla="val 16667"/>
            </a:avLst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ea typeface="华文中宋" panose="02010600040101010101" pitchFamily="2" charset="-122"/>
              </a:rPr>
              <a:t>高斯噪声</a:t>
            </a:r>
          </a:p>
          <a:p>
            <a:pPr algn="ctr" eaLnBrk="1" hangingPunct="1"/>
            <a:r>
              <a:rPr lang="en-US" altLang="zh-CN" sz="2400"/>
              <a:t>( </a:t>
            </a:r>
            <a:r>
              <a:rPr lang="en-US" altLang="zh-CN" sz="2800" b="1">
                <a:sym typeface="Symbol" panose="05050102010706020507" pitchFamily="18" charset="2"/>
              </a:rPr>
              <a:t>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zh-CN" altLang="en-US" sz="2400"/>
              <a:t>，</a:t>
            </a:r>
            <a:r>
              <a:rPr lang="zh-CN" altLang="en-US" sz="2400" b="1" i="1">
                <a:sym typeface="Symbol" panose="05050102010706020507" pitchFamily="18" charset="2"/>
              </a:rPr>
              <a:t></a:t>
            </a:r>
            <a:r>
              <a:rPr lang="en-US" altLang="zh-CN" sz="2400" b="1" i="1" baseline="-25000">
                <a:sym typeface="Symbol" panose="05050102010706020507" pitchFamily="18" charset="2"/>
              </a:rPr>
              <a:t>n</a:t>
            </a:r>
            <a:r>
              <a:rPr lang="en-US" altLang="zh-CN" sz="2400" b="1" baseline="30000">
                <a:sym typeface="Symbol" panose="05050102010706020507" pitchFamily="18" charset="2"/>
              </a:rPr>
              <a:t>2 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</a:p>
        </p:txBody>
      </p:sp>
      <p:pic>
        <p:nvPicPr>
          <p:cNvPr id="5325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1349375" y="3665538"/>
            <a:ext cx="6600825" cy="11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5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27"/>
          <a:stretch>
            <a:fillRect/>
          </a:stretch>
        </p:blipFill>
        <p:spPr bwMode="auto">
          <a:xfrm>
            <a:off x="1393825" y="5029200"/>
            <a:ext cx="6556375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698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112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  <p:bldP spid="112662" grpId="0" animBg="1"/>
      <p:bldP spid="11266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64"/>
          <a:stretch>
            <a:fillRect/>
          </a:stretch>
        </p:blipFill>
        <p:spPr bwMode="auto">
          <a:xfrm>
            <a:off x="482600" y="1073150"/>
            <a:ext cx="5802313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483350" y="1428750"/>
            <a:ext cx="1555750" cy="2044700"/>
          </a:xfrm>
          <a:ln w="28575">
            <a:solidFill>
              <a:schemeClr val="bg1">
                <a:lumMod val="65000"/>
              </a:schemeClr>
            </a:solidFill>
          </a:ln>
        </p:spPr>
        <p:txBody>
          <a:bodyPr/>
          <a:lstStyle/>
          <a:p>
            <a:pPr algn="l" eaLnBrk="1" hangingPunct="1">
              <a:lnSpc>
                <a:spcPts val="36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与</a:t>
            </a:r>
            <a:r>
              <a:rPr lang="zh-CN" altLang="en-US" sz="24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双</a:t>
            </a: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极性</a:t>
            </a:r>
            <a:br>
              <a:rPr lang="en-US" altLang="zh-CN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</a:br>
            <a:r>
              <a:rPr lang="zh-CN" altLang="en-US" sz="2400" dirty="0">
                <a:solidFill>
                  <a:schemeClr val="hlink"/>
                </a:solidFill>
                <a:latin typeface="华文中宋" pitchFamily="2" charset="-122"/>
                <a:ea typeface="华文中宋" pitchFamily="2" charset="-122"/>
              </a:rPr>
              <a:t>基带</a:t>
            </a: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系统</a:t>
            </a:r>
            <a:r>
              <a:rPr lang="en-US" altLang="zh-CN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br>
              <a:rPr lang="en-US" altLang="zh-CN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    </a:t>
            </a: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br>
              <a:rPr lang="en-US" altLang="zh-CN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</a:br>
            <a:r>
              <a:rPr lang="zh-CN" altLang="en-US" sz="2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情况类似</a:t>
            </a:r>
          </a:p>
        </p:txBody>
      </p:sp>
      <p:graphicFrame>
        <p:nvGraphicFramePr>
          <p:cNvPr id="15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27050" y="5180013"/>
          <a:ext cx="40957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44" name="Equation" r:id="rId4" imgW="2057400" imgH="482400" progId="Equation.DSMT4">
                  <p:embed/>
                </p:oleObj>
              </mc:Choice>
              <mc:Fallback>
                <p:oleObj name="Equation" r:id="rId4" imgW="20574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5180013"/>
                        <a:ext cx="4095750" cy="9604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6465888" y="4413250"/>
            <a:ext cx="495300" cy="1079500"/>
          </a:xfrm>
          <a:prstGeom prst="rect">
            <a:avLst/>
          </a:prstGeom>
          <a:noFill/>
          <a:ln w="9525">
            <a:solidFill>
              <a:srgbClr val="0000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7273925" y="4413250"/>
            <a:ext cx="720725" cy="1079500"/>
          </a:xfrm>
          <a:prstGeom prst="rect">
            <a:avLst/>
          </a:prstGeom>
          <a:noFill/>
          <a:ln w="9525">
            <a:solidFill>
              <a:srgbClr val="80008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4667250" y="5403850"/>
            <a:ext cx="3941763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=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双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极性</a:t>
            </a:r>
            <a:r>
              <a:rPr lang="zh-CN" altLang="en-US" sz="2400">
                <a:solidFill>
                  <a:schemeClr val="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基带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信号</a:t>
            </a:r>
            <a:r>
              <a:rPr lang="en-US" altLang="zh-CN" sz="2400">
                <a:latin typeface="Times New Roman" panose="02020603050405020304" pitchFamily="18" charset="0"/>
                <a:ea typeface="华文中宋" panose="02010600040101010101" pitchFamily="2" charset="-122"/>
              </a:rPr>
              <a:t>+</a:t>
            </a:r>
            <a:r>
              <a:rPr lang="zh-CN" altLang="en-US" sz="2400">
                <a:latin typeface="Times New Roman" panose="02020603050405020304" pitchFamily="18" charset="0"/>
                <a:ea typeface="华文中宋" panose="02010600040101010101" pitchFamily="2" charset="-122"/>
              </a:rPr>
              <a:t>高斯噪声</a:t>
            </a:r>
          </a:p>
        </p:txBody>
      </p:sp>
      <p:graphicFrame>
        <p:nvGraphicFramePr>
          <p:cNvPr id="20" name="Object 13"/>
          <p:cNvGraphicFramePr>
            <a:graphicFrameLocks noChangeAspect="1"/>
          </p:cNvGraphicFramePr>
          <p:nvPr/>
        </p:nvGraphicFramePr>
        <p:xfrm>
          <a:off x="5548313" y="4473575"/>
          <a:ext cx="23876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45" name="Equation" r:id="rId6" imgW="1155600" imgH="482400" progId="Equation.DSMT4">
                  <p:embed/>
                </p:oleObj>
              </mc:Choice>
              <mc:Fallback>
                <p:oleObj name="Equation" r:id="rId6" imgW="11556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4473575"/>
                        <a:ext cx="2387600" cy="974725"/>
                      </a:xfrm>
                      <a:prstGeom prst="rect">
                        <a:avLst/>
                      </a:prstGeom>
                      <a:solidFill>
                        <a:schemeClr val="bg1">
                          <a:alpha val="64999"/>
                        </a:schemeClr>
                      </a:solidFill>
                      <a:ln w="9525">
                        <a:solidFill>
                          <a:srgbClr val="D9D9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D9D9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1471613" y="5059363"/>
            <a:ext cx="495300" cy="1079500"/>
          </a:xfrm>
          <a:prstGeom prst="rect">
            <a:avLst/>
          </a:prstGeom>
          <a:noFill/>
          <a:ln w="9525">
            <a:solidFill>
              <a:srgbClr val="0000CC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2224088" y="5059363"/>
            <a:ext cx="720725" cy="1079500"/>
          </a:xfrm>
          <a:prstGeom prst="rect">
            <a:avLst/>
          </a:prstGeom>
          <a:noFill/>
          <a:ln w="9525">
            <a:solidFill>
              <a:srgbClr val="80008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椭圆 24"/>
          <p:cNvSpPr/>
          <p:nvPr/>
        </p:nvSpPr>
        <p:spPr bwMode="auto">
          <a:xfrm>
            <a:off x="5772150" y="762000"/>
            <a:ext cx="1200150" cy="666750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可见</a:t>
            </a:r>
          </a:p>
        </p:txBody>
      </p:sp>
    </p:spTree>
    <p:extLst>
      <p:ext uri="{BB962C8B-B14F-4D97-AF65-F5344CB8AC3E}">
        <p14:creationId xmlns:p14="http://schemas.microsoft.com/office/powerpoint/2010/main" val="34492583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9" grpId="0"/>
      <p:bldP spid="21" grpId="0" animBg="1"/>
      <p:bldP spid="2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1117600"/>
            <a:ext cx="6705600" cy="5143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因此，借助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双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极性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基带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系统的分析结果：</a:t>
            </a:r>
          </a:p>
        </p:txBody>
      </p:sp>
      <p:sp>
        <p:nvSpPr>
          <p:cNvPr id="483352" name="Rectangle 24"/>
          <p:cNvSpPr>
            <a:spLocks noChangeArrowheads="1"/>
          </p:cNvSpPr>
          <p:nvPr/>
        </p:nvSpPr>
        <p:spPr bwMode="auto">
          <a:xfrm>
            <a:off x="615950" y="3714750"/>
            <a:ext cx="67056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可方便地得到</a:t>
            </a:r>
            <a:r>
              <a:rPr lang="en-US" altLang="zh-CN" sz="2400" b="1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2PSK-</a:t>
            </a:r>
            <a:r>
              <a:rPr lang="zh-CN" altLang="en-US" sz="2400" b="1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相干</a:t>
            </a:r>
            <a:r>
              <a:rPr lang="zh-CN" altLang="en-US" sz="2400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系统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的分析结果：</a:t>
            </a:r>
          </a:p>
        </p:txBody>
      </p:sp>
      <p:pic>
        <p:nvPicPr>
          <p:cNvPr id="5530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50" y="1784350"/>
            <a:ext cx="7334250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0" y="4483100"/>
            <a:ext cx="7213600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59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8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83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3" grpId="0"/>
      <p:bldP spid="48335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927100" y="1162050"/>
            <a:ext cx="6391275" cy="674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2PSK</a:t>
            </a:r>
            <a:r>
              <a:rPr lang="zh-CN" altLang="en-US" sz="2400" b="0">
                <a:latin typeface="Arial" panose="020B0604020202020204" pitchFamily="34" charset="0"/>
                <a:ea typeface="华文中宋" panose="02010600040101010101" pitchFamily="2" charset="-122"/>
              </a:rPr>
              <a:t>信号</a:t>
            </a:r>
            <a:r>
              <a:rPr lang="zh-CN" altLang="en-US" sz="280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相干</a:t>
            </a:r>
            <a:r>
              <a:rPr lang="zh-CN" altLang="en-US" sz="2400" b="0">
                <a:latin typeface="Arial" panose="020B0604020202020204" pitchFamily="34" charset="0"/>
                <a:ea typeface="华文中宋" panose="02010600040101010101" pitchFamily="2" charset="-122"/>
              </a:rPr>
              <a:t>解调系统的总误码率：</a:t>
            </a:r>
          </a:p>
        </p:txBody>
      </p:sp>
      <p:graphicFrame>
        <p:nvGraphicFramePr>
          <p:cNvPr id="490503" name="Object 7"/>
          <p:cNvGraphicFramePr>
            <a:graphicFrameLocks noChangeAspect="1"/>
          </p:cNvGraphicFramePr>
          <p:nvPr/>
        </p:nvGraphicFramePr>
        <p:xfrm>
          <a:off x="5994400" y="2755900"/>
          <a:ext cx="13335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8" name="Equation" r:id="rId3" imgW="545760" imgH="457200" progId="Equation.DSMT4">
                  <p:embed/>
                </p:oleObj>
              </mc:Choice>
              <mc:Fallback>
                <p:oleObj name="Equation" r:id="rId3" imgW="545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2755900"/>
                        <a:ext cx="1333500" cy="11176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EEEA4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04" name="AutoShape 8"/>
          <p:cNvSpPr>
            <a:spLocks noChangeArrowheads="1"/>
          </p:cNvSpPr>
          <p:nvPr/>
        </p:nvSpPr>
        <p:spPr bwMode="auto">
          <a:xfrm>
            <a:off x="971550" y="4806950"/>
            <a:ext cx="1333500" cy="444500"/>
          </a:xfrm>
          <a:prstGeom prst="wedgeRoundRectCallout">
            <a:avLst>
              <a:gd name="adj1" fmla="val 59986"/>
              <a:gd name="adj2" fmla="val 11208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i="1">
                <a:solidFill>
                  <a:schemeClr val="hlink"/>
                </a:solidFill>
                <a:cs typeface="Arial" panose="020B0604020202020204" pitchFamily="34" charset="0"/>
              </a:rPr>
              <a:t>r </a:t>
            </a:r>
            <a:r>
              <a:rPr lang="en-US" altLang="zh-CN" sz="2400" b="1">
                <a:solidFill>
                  <a:schemeClr val="hlink"/>
                </a:solidFill>
                <a:cs typeface="Arial" panose="020B0604020202020204" pitchFamily="34" charset="0"/>
              </a:rPr>
              <a:t>&gt;&gt;1</a:t>
            </a:r>
            <a:r>
              <a:rPr lang="zh-CN" altLang="en-US" sz="2400" b="1">
                <a:solidFill>
                  <a:schemeClr val="hlink"/>
                </a:solidFill>
                <a:cs typeface="Arial" panose="020B0604020202020204" pitchFamily="34" charset="0"/>
              </a:rPr>
              <a:t>时</a:t>
            </a:r>
          </a:p>
        </p:txBody>
      </p:sp>
      <p:sp>
        <p:nvSpPr>
          <p:cNvPr id="490505" name="AutoShape 9"/>
          <p:cNvSpPr>
            <a:spLocks noChangeArrowheads="1"/>
          </p:cNvSpPr>
          <p:nvPr/>
        </p:nvSpPr>
        <p:spPr bwMode="auto">
          <a:xfrm flipH="1">
            <a:off x="5549900" y="2851150"/>
            <a:ext cx="261938" cy="1022350"/>
          </a:xfrm>
          <a:prstGeom prst="curvedRightArrow">
            <a:avLst>
              <a:gd name="adj1" fmla="val 82614"/>
              <a:gd name="adj2" fmla="val 165228"/>
              <a:gd name="adj3" fmla="val 33333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7416800" y="2717800"/>
            <a:ext cx="11557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latin typeface="+mj-ea"/>
                <a:ea typeface="+mj-ea"/>
              </a:rPr>
              <a:t>解调器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400" dirty="0">
                <a:latin typeface="+mj-ea"/>
                <a:ea typeface="+mj-ea"/>
              </a:rPr>
              <a:t>输</a:t>
            </a:r>
            <a:r>
              <a:rPr lang="zh-CN" altLang="en-US" sz="2400" dirty="0">
                <a:solidFill>
                  <a:srgbClr val="FF0000"/>
                </a:solidFill>
                <a:latin typeface="+mj-ea"/>
                <a:ea typeface="+mj-ea"/>
              </a:rPr>
              <a:t>入</a:t>
            </a:r>
            <a:r>
              <a:rPr lang="zh-CN" altLang="en-US" sz="2400" dirty="0">
                <a:latin typeface="+mj-ea"/>
                <a:ea typeface="+mj-ea"/>
              </a:rPr>
              <a:t>端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sz="2400" dirty="0">
                <a:latin typeface="+mj-ea"/>
                <a:ea typeface="+mj-ea"/>
              </a:rPr>
              <a:t>信噪比 </a:t>
            </a:r>
          </a:p>
        </p:txBody>
      </p:sp>
      <p:graphicFrame>
        <p:nvGraphicFramePr>
          <p:cNvPr id="53251" name="Object 11"/>
          <p:cNvGraphicFramePr>
            <a:graphicFrameLocks noChangeAspect="1"/>
          </p:cNvGraphicFramePr>
          <p:nvPr/>
        </p:nvGraphicFramePr>
        <p:xfrm>
          <a:off x="2233613" y="1828800"/>
          <a:ext cx="3167062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9" name="Equation" r:id="rId5" imgW="1155600" imgH="444240" progId="Equation.DSMT4">
                  <p:embed/>
                </p:oleObj>
              </mc:Choice>
              <mc:Fallback>
                <p:oleObj name="Equation" r:id="rId5" imgW="115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613" y="1828800"/>
                        <a:ext cx="3167062" cy="12176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6969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969696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2216150" y="4495800"/>
            <a:ext cx="266700" cy="1022350"/>
          </a:xfrm>
          <a:prstGeom prst="curvedRightArrow">
            <a:avLst>
              <a:gd name="adj1" fmla="val 82630"/>
              <a:gd name="adj2" fmla="val 165224"/>
              <a:gd name="adj3" fmla="val 33333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6331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930"/>
          <a:stretch>
            <a:fillRect/>
          </a:stretch>
        </p:blipFill>
        <p:spPr bwMode="auto">
          <a:xfrm>
            <a:off x="2616200" y="3295650"/>
            <a:ext cx="2819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0" t="49297"/>
          <a:stretch>
            <a:fillRect/>
          </a:stretch>
        </p:blipFill>
        <p:spPr bwMode="auto">
          <a:xfrm>
            <a:off x="2705100" y="4768850"/>
            <a:ext cx="26606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8518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9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49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49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04" grpId="0"/>
      <p:bldP spid="490505" grpId="0" animBg="1"/>
      <p:bldP spid="11" grpId="0"/>
      <p:bldP spid="1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5187950"/>
            <a:ext cx="8101013" cy="1041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800"/>
              </a:lnSpc>
              <a:buFont typeface="Wingdings" panose="05000000000000000000" pitchFamily="2" charset="2"/>
              <a:buNone/>
            </a:pPr>
            <a:r>
              <a:rPr lang="en-US" altLang="zh-CN" sz="2800" i="1" dirty="0">
                <a:solidFill>
                  <a:schemeClr val="hlink"/>
                </a:solidFill>
              </a:rPr>
              <a:t>f</a:t>
            </a: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点</a:t>
            </a:r>
            <a:r>
              <a:rPr lang="zh-CN" altLang="en-US" sz="2800" dirty="0"/>
              <a:t>：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绝对码</a:t>
            </a: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序列。只需在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P</a:t>
            </a:r>
            <a:r>
              <a:rPr lang="en-US" altLang="zh-CN" sz="2800" baseline="-250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e2PSK</a:t>
            </a: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基础上考虑</a:t>
            </a:r>
            <a:r>
              <a:rPr lang="zh-CN" altLang="en-US" sz="2400" b="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码反变换器</a:t>
            </a:r>
          </a:p>
          <a:p>
            <a:pPr eaLnBrk="1" hangingPunct="1">
              <a:lnSpc>
                <a:spcPts val="38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</a:t>
            </a: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对误码率的影响即可。</a:t>
            </a:r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>
            <a:off x="0" y="2809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341313" y="1358900"/>
          <a:ext cx="8370887" cy="157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65" name="Visio" r:id="rId3" imgW="5057777" imgH="1238238" progId="Visio.Drawing.11">
                  <p:embed/>
                </p:oleObj>
              </mc:Choice>
              <mc:Fallback>
                <p:oleObj name="Visio" r:id="rId3" imgW="5057777" imgH="123823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30" t="10269" b="13229"/>
                      <a:stretch>
                        <a:fillRect/>
                      </a:stretch>
                    </p:blipFill>
                    <p:spPr bwMode="auto">
                      <a:xfrm>
                        <a:off x="341313" y="1358900"/>
                        <a:ext cx="8370887" cy="1573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6" name="Rectangle 8"/>
          <p:cNvSpPr>
            <a:spLocks noChangeArrowheads="1"/>
          </p:cNvSpPr>
          <p:nvPr/>
        </p:nvSpPr>
        <p:spPr bwMode="auto">
          <a:xfrm>
            <a:off x="7137400" y="1493838"/>
            <a:ext cx="944563" cy="7651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701" name="Rectangle 13"/>
          <p:cNvSpPr>
            <a:spLocks noChangeArrowheads="1"/>
          </p:cNvSpPr>
          <p:nvPr/>
        </p:nvSpPr>
        <p:spPr bwMode="auto">
          <a:xfrm>
            <a:off x="1557338" y="1223963"/>
            <a:ext cx="5219700" cy="1846262"/>
          </a:xfrm>
          <a:prstGeom prst="rect">
            <a:avLst/>
          </a:prstGeom>
          <a:noFill/>
          <a:ln w="9525">
            <a:solidFill>
              <a:schemeClr val="fol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chemeClr val="folHlink"/>
              </a:solidFill>
            </a:endParaRPr>
          </a:p>
        </p:txBody>
      </p:sp>
      <p:sp>
        <p:nvSpPr>
          <p:cNvPr id="114702" name="Rectangle 14"/>
          <p:cNvSpPr>
            <a:spLocks noChangeArrowheads="1"/>
          </p:cNvSpPr>
          <p:nvPr/>
        </p:nvSpPr>
        <p:spPr bwMode="auto">
          <a:xfrm>
            <a:off x="431800" y="3327400"/>
            <a:ext cx="7785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hlink"/>
                </a:solidFill>
                <a:ea typeface="华文中宋" panose="02010600040101010101" pitchFamily="2" charset="-122"/>
              </a:rPr>
              <a:t>e</a:t>
            </a:r>
            <a:r>
              <a:rPr lang="zh-CN" altLang="en-US" sz="2400" dirty="0">
                <a:ea typeface="华文中宋" panose="02010600040101010101" pitchFamily="2" charset="-122"/>
              </a:rPr>
              <a:t>点：</a:t>
            </a:r>
            <a:r>
              <a:rPr lang="zh-CN" altLang="en-US" sz="2400" b="1" dirty="0">
                <a:ea typeface="华文中宋" panose="02010600040101010101" pitchFamily="2" charset="-122"/>
              </a:rPr>
              <a:t>相对码</a:t>
            </a:r>
            <a:r>
              <a:rPr lang="zh-CN" altLang="en-US" sz="2400" dirty="0">
                <a:ea typeface="华文中宋" panose="02010600040101010101" pitchFamily="2" charset="-122"/>
              </a:rPr>
              <a:t>序列。由</a:t>
            </a:r>
            <a:r>
              <a:rPr lang="en-US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2PSK</a:t>
            </a:r>
            <a:r>
              <a:rPr lang="zh-CN" altLang="en-US" sz="2400" dirty="0">
                <a:ea typeface="华文中宋" panose="02010600040101010101" pitchFamily="2" charset="-122"/>
              </a:rPr>
              <a:t>误码率公式来确定：</a:t>
            </a:r>
          </a:p>
        </p:txBody>
      </p:sp>
      <p:pic>
        <p:nvPicPr>
          <p:cNvPr id="5735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61"/>
          <a:stretch>
            <a:fillRect/>
          </a:stretch>
        </p:blipFill>
        <p:spPr bwMode="auto">
          <a:xfrm>
            <a:off x="349250" y="3919538"/>
            <a:ext cx="7861300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5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" b="11066"/>
          <a:stretch>
            <a:fillRect/>
          </a:stretch>
        </p:blipFill>
        <p:spPr bwMode="auto">
          <a:xfrm>
            <a:off x="0" y="269875"/>
            <a:ext cx="70612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218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1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9" dur="10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10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6" grpId="0" animBg="1"/>
      <p:bldP spid="114701" grpId="0" animBg="1"/>
      <p:bldP spid="11470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80"/>
          <a:stretch>
            <a:fillRect/>
          </a:stretch>
        </p:blipFill>
        <p:spPr bwMode="auto">
          <a:xfrm>
            <a:off x="790575" y="5221288"/>
            <a:ext cx="46101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496"/>
          <a:stretch>
            <a:fillRect/>
          </a:stretch>
        </p:blipFill>
        <p:spPr bwMode="auto">
          <a:xfrm>
            <a:off x="762000" y="2584450"/>
            <a:ext cx="4668838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93" b="55612"/>
          <a:stretch>
            <a:fillRect/>
          </a:stretch>
        </p:blipFill>
        <p:spPr bwMode="auto">
          <a:xfrm>
            <a:off x="792163" y="3384550"/>
            <a:ext cx="461010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86" b="28021"/>
          <a:stretch>
            <a:fillRect/>
          </a:stretch>
        </p:blipFill>
        <p:spPr bwMode="auto">
          <a:xfrm>
            <a:off x="790575" y="4273550"/>
            <a:ext cx="46101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304" name="Rectangle 7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306" name="Rectangle 11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307" name="Rectangle 13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5727" name="Text Box 15"/>
          <p:cNvSpPr txBox="1">
            <a:spLocks noChangeArrowheads="1"/>
          </p:cNvSpPr>
          <p:nvPr/>
        </p:nvSpPr>
        <p:spPr bwMode="auto">
          <a:xfrm>
            <a:off x="5427663" y="2882900"/>
            <a:ext cx="1709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（</a:t>
            </a:r>
            <a:r>
              <a:rPr lang="zh-CN" altLang="en-US" sz="2400">
                <a:solidFill>
                  <a:srgbClr val="000099"/>
                </a:solidFill>
                <a:ea typeface="华文中宋" panose="02010600040101010101" pitchFamily="2" charset="-122"/>
              </a:rPr>
              <a:t>无</a:t>
            </a:r>
            <a:r>
              <a:rPr lang="zh-CN" altLang="en-US" sz="2400">
                <a:ea typeface="华文中宋" panose="02010600040101010101" pitchFamily="2" charset="-122"/>
              </a:rPr>
              <a:t>误码</a:t>
            </a:r>
            <a:r>
              <a:rPr lang="zh-CN" altLang="en-US"/>
              <a:t>）</a:t>
            </a:r>
            <a:r>
              <a:rPr lang="zh-CN" altLang="en-US" sz="1600"/>
              <a:t> </a:t>
            </a:r>
          </a:p>
        </p:txBody>
      </p:sp>
      <p:sp>
        <p:nvSpPr>
          <p:cNvPr id="115728" name="Text Box 16"/>
          <p:cNvSpPr txBox="1">
            <a:spLocks noChangeArrowheads="1"/>
          </p:cNvSpPr>
          <p:nvPr/>
        </p:nvSpPr>
        <p:spPr bwMode="auto">
          <a:xfrm>
            <a:off x="5375275" y="3638550"/>
            <a:ext cx="238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/>
              <a:t>（</a:t>
            </a:r>
            <a:r>
              <a:rPr lang="en-US" altLang="zh-CN" sz="2400" b="1"/>
              <a:t>b</a:t>
            </a:r>
            <a:r>
              <a:rPr lang="en-US" altLang="zh-CN" sz="2400" b="1" baseline="-25000"/>
              <a:t>n</a:t>
            </a:r>
            <a:r>
              <a:rPr lang="zh-CN" altLang="en-US" sz="2400" b="1">
                <a:solidFill>
                  <a:srgbClr val="000099"/>
                </a:solidFill>
              </a:rPr>
              <a:t>错</a:t>
            </a:r>
            <a:r>
              <a:rPr lang="en-US" altLang="zh-CN" sz="2400" b="1">
                <a:solidFill>
                  <a:srgbClr val="000099"/>
                </a:solidFill>
              </a:rPr>
              <a:t>1</a:t>
            </a:r>
            <a:r>
              <a:rPr lang="zh-CN" altLang="en-US" sz="2400" b="1">
                <a:solidFill>
                  <a:srgbClr val="000099"/>
                </a:solidFill>
              </a:rPr>
              <a:t>个</a:t>
            </a:r>
            <a:r>
              <a:rPr lang="zh-CN" altLang="en-US" sz="2400" b="1"/>
              <a:t>码</a:t>
            </a:r>
            <a:r>
              <a:rPr lang="zh-CN" altLang="en-US"/>
              <a:t>） </a:t>
            </a: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5403850" y="4483100"/>
            <a:ext cx="2744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（</a:t>
            </a:r>
            <a:r>
              <a:rPr lang="en-US" altLang="zh-CN" sz="2400" b="1" dirty="0" err="1"/>
              <a:t>b</a:t>
            </a:r>
            <a:r>
              <a:rPr lang="en-US" altLang="zh-CN" sz="2400" b="1" baseline="-25000" dirty="0" err="1"/>
              <a:t>n</a:t>
            </a:r>
            <a:r>
              <a:rPr lang="zh-CN" altLang="en-US" sz="2400" b="1" dirty="0">
                <a:solidFill>
                  <a:srgbClr val="000099"/>
                </a:solidFill>
              </a:rPr>
              <a:t>连错</a:t>
            </a:r>
            <a:r>
              <a:rPr lang="en-US" altLang="zh-CN" sz="2400" b="1" dirty="0">
                <a:solidFill>
                  <a:srgbClr val="000099"/>
                </a:solidFill>
              </a:rPr>
              <a:t>2</a:t>
            </a:r>
            <a:r>
              <a:rPr lang="zh-CN" altLang="en-US" sz="2400" b="1" dirty="0">
                <a:solidFill>
                  <a:srgbClr val="000099"/>
                </a:solidFill>
              </a:rPr>
              <a:t>个</a:t>
            </a:r>
            <a:r>
              <a:rPr lang="zh-CN" altLang="en-US" sz="2400" b="1" dirty="0"/>
              <a:t>码</a:t>
            </a:r>
            <a:r>
              <a:rPr lang="zh-CN" altLang="en-US" dirty="0"/>
              <a:t>） </a:t>
            </a:r>
          </a:p>
        </p:txBody>
      </p:sp>
      <p:sp>
        <p:nvSpPr>
          <p:cNvPr id="115730" name="Text Box 18"/>
          <p:cNvSpPr txBox="1">
            <a:spLocks noChangeArrowheads="1"/>
          </p:cNvSpPr>
          <p:nvPr/>
        </p:nvSpPr>
        <p:spPr bwMode="auto">
          <a:xfrm>
            <a:off x="5372100" y="5461000"/>
            <a:ext cx="2608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（ </a:t>
            </a:r>
            <a:r>
              <a:rPr lang="en-US" altLang="zh-CN" sz="2400" b="1" dirty="0" err="1"/>
              <a:t>b</a:t>
            </a:r>
            <a:r>
              <a:rPr lang="en-US" altLang="zh-CN" sz="2400" b="1" baseline="-25000" dirty="0" err="1"/>
              <a:t>n</a:t>
            </a:r>
            <a:r>
              <a:rPr lang="zh-CN" altLang="en-US" sz="2400" b="1" dirty="0">
                <a:solidFill>
                  <a:srgbClr val="000099"/>
                </a:solidFill>
              </a:rPr>
              <a:t>连错</a:t>
            </a:r>
            <a:r>
              <a:rPr lang="en-US" altLang="zh-CN" sz="2400" b="1" i="1" dirty="0">
                <a:solidFill>
                  <a:srgbClr val="000099"/>
                </a:solidFill>
              </a:rPr>
              <a:t>n </a:t>
            </a:r>
            <a:r>
              <a:rPr lang="zh-CN" altLang="en-US" sz="2400" b="1" dirty="0">
                <a:solidFill>
                  <a:srgbClr val="000099"/>
                </a:solidFill>
              </a:rPr>
              <a:t>个</a:t>
            </a:r>
            <a:r>
              <a:rPr lang="zh-CN" altLang="en-US" sz="2400" b="1" dirty="0"/>
              <a:t>码</a:t>
            </a:r>
            <a:r>
              <a:rPr lang="zh-CN" altLang="en-US" dirty="0"/>
              <a:t>） </a:t>
            </a:r>
          </a:p>
        </p:txBody>
      </p:sp>
      <p:graphicFrame>
        <p:nvGraphicFramePr>
          <p:cNvPr id="115737" name="Object 25"/>
          <p:cNvGraphicFramePr>
            <a:graphicFrameLocks noChangeAspect="1"/>
          </p:cNvGraphicFramePr>
          <p:nvPr/>
        </p:nvGraphicFramePr>
        <p:xfrm>
          <a:off x="6216650" y="450850"/>
          <a:ext cx="21780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89" name="公式" r:id="rId4" imgW="876300" imgH="228600" progId="Equation.3">
                  <p:embed/>
                </p:oleObj>
              </mc:Choice>
              <mc:Fallback>
                <p:oleObj name="公式" r:id="rId4" imgW="876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650" y="450850"/>
                        <a:ext cx="2178050" cy="568325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7777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39" name="AutoShape 27"/>
          <p:cNvSpPr>
            <a:spLocks noChangeArrowheads="1"/>
          </p:cNvSpPr>
          <p:nvPr/>
        </p:nvSpPr>
        <p:spPr bwMode="auto">
          <a:xfrm>
            <a:off x="6350000" y="2178050"/>
            <a:ext cx="2133600" cy="539750"/>
          </a:xfrm>
          <a:prstGeom prst="wedgeRoundRectCallout">
            <a:avLst>
              <a:gd name="adj1" fmla="val 22579"/>
              <a:gd name="adj2" fmla="val 601250"/>
              <a:gd name="adj3" fmla="val 16667"/>
            </a:avLst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i="1">
                <a:solidFill>
                  <a:schemeClr val="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  <a:ea typeface="华文中宋" panose="02010600040101010101" pitchFamily="2" charset="-122"/>
              </a:rPr>
              <a:t>n </a:t>
            </a:r>
            <a:r>
              <a:rPr lang="zh-CN" altLang="en-US" sz="2400">
                <a:solidFill>
                  <a:schemeClr val="hlink"/>
                </a:solidFill>
                <a:ea typeface="华文中宋" panose="02010600040101010101" pitchFamily="2" charset="-122"/>
              </a:rPr>
              <a:t>总是错 </a:t>
            </a:r>
            <a:r>
              <a:rPr lang="en-US" altLang="zh-CN" sz="2400">
                <a:solidFill>
                  <a:schemeClr val="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400">
                <a:solidFill>
                  <a:schemeClr val="hlink"/>
                </a:solidFill>
                <a:ea typeface="华文中宋" panose="02010600040101010101" pitchFamily="2" charset="-122"/>
              </a:rPr>
              <a:t>个</a:t>
            </a:r>
          </a:p>
        </p:txBody>
      </p:sp>
      <p:sp>
        <p:nvSpPr>
          <p:cNvPr id="55313" name="Rectangle 30"/>
          <p:cNvSpPr>
            <a:spLocks noChangeArrowheads="1"/>
          </p:cNvSpPr>
          <p:nvPr/>
        </p:nvSpPr>
        <p:spPr bwMode="auto">
          <a:xfrm>
            <a:off x="438150" y="450850"/>
            <a:ext cx="467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码反变换器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对误码的影响：</a:t>
            </a:r>
          </a:p>
        </p:txBody>
      </p:sp>
      <p:sp>
        <p:nvSpPr>
          <p:cNvPr id="115743" name="Oval 31"/>
          <p:cNvSpPr>
            <a:spLocks noChangeArrowheads="1"/>
          </p:cNvSpPr>
          <p:nvPr/>
        </p:nvSpPr>
        <p:spPr bwMode="auto">
          <a:xfrm>
            <a:off x="2716213" y="4778375"/>
            <a:ext cx="315912" cy="315913"/>
          </a:xfrm>
          <a:prstGeom prst="ellipse">
            <a:avLst/>
          </a:prstGeom>
          <a:noFill/>
          <a:ln w="28575" cap="rnd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5744" name="Oval 32"/>
          <p:cNvSpPr>
            <a:spLocks noChangeArrowheads="1"/>
          </p:cNvSpPr>
          <p:nvPr/>
        </p:nvSpPr>
        <p:spPr bwMode="auto">
          <a:xfrm>
            <a:off x="3422650" y="4778375"/>
            <a:ext cx="315913" cy="315913"/>
          </a:xfrm>
          <a:prstGeom prst="ellipse">
            <a:avLst/>
          </a:prstGeom>
          <a:noFill/>
          <a:ln w="28575" cap="rnd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5745" name="Oval 33"/>
          <p:cNvSpPr>
            <a:spLocks noChangeArrowheads="1"/>
          </p:cNvSpPr>
          <p:nvPr/>
        </p:nvSpPr>
        <p:spPr bwMode="auto">
          <a:xfrm>
            <a:off x="2432050" y="4316413"/>
            <a:ext cx="644525" cy="358775"/>
          </a:xfrm>
          <a:prstGeom prst="ellipse">
            <a:avLst/>
          </a:prstGeom>
          <a:noFill/>
          <a:ln w="28575" cap="rnd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5746" name="Oval 34"/>
          <p:cNvSpPr>
            <a:spLocks noChangeArrowheads="1"/>
          </p:cNvSpPr>
          <p:nvPr/>
        </p:nvSpPr>
        <p:spPr bwMode="auto">
          <a:xfrm>
            <a:off x="3167063" y="4284663"/>
            <a:ext cx="585787" cy="404812"/>
          </a:xfrm>
          <a:prstGeom prst="ellipse">
            <a:avLst/>
          </a:prstGeom>
          <a:noFill/>
          <a:ln w="28575" cap="rnd">
            <a:solidFill>
              <a:schemeClr val="hlink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5747" name="AutoShape 35"/>
          <p:cNvSpPr>
            <a:spLocks noChangeArrowheads="1"/>
          </p:cNvSpPr>
          <p:nvPr/>
        </p:nvSpPr>
        <p:spPr bwMode="auto">
          <a:xfrm>
            <a:off x="6364288" y="2178050"/>
            <a:ext cx="2089150" cy="539750"/>
          </a:xfrm>
          <a:prstGeom prst="wedgeRoundRectCallout">
            <a:avLst>
              <a:gd name="adj1" fmla="val 16606"/>
              <a:gd name="adj2" fmla="val 42940"/>
              <a:gd name="adj3" fmla="val 16667"/>
            </a:avLst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i="1">
                <a:solidFill>
                  <a:schemeClr val="hlink"/>
                </a:solidFill>
                <a:ea typeface="华文中宋" panose="02010600040101010101" pitchFamily="2" charset="-122"/>
              </a:rPr>
              <a:t>a</a:t>
            </a:r>
            <a:r>
              <a:rPr lang="en-US" altLang="zh-CN" sz="2400" b="1" baseline="-25000">
                <a:solidFill>
                  <a:schemeClr val="hlink"/>
                </a:solidFill>
                <a:ea typeface="华文中宋" panose="02010600040101010101" pitchFamily="2" charset="-122"/>
              </a:rPr>
              <a:t>n           </a:t>
            </a:r>
            <a:r>
              <a:rPr lang="zh-CN" altLang="en-US" sz="2400">
                <a:solidFill>
                  <a:schemeClr val="hlink"/>
                </a:solidFill>
                <a:ea typeface="华文中宋" panose="02010600040101010101" pitchFamily="2" charset="-122"/>
              </a:rPr>
              <a:t>错 </a:t>
            </a:r>
            <a:r>
              <a:rPr lang="en-US" altLang="zh-CN" sz="2400">
                <a:solidFill>
                  <a:schemeClr val="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sz="2400">
                <a:solidFill>
                  <a:schemeClr val="hlink"/>
                </a:solidFill>
                <a:ea typeface="华文中宋" panose="02010600040101010101" pitchFamily="2" charset="-122"/>
              </a:rPr>
              <a:t>个</a:t>
            </a:r>
          </a:p>
        </p:txBody>
      </p:sp>
      <p:pic>
        <p:nvPicPr>
          <p:cNvPr id="58392" name="Picture 2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0" t="39189" r="6755"/>
          <a:stretch>
            <a:fillRect/>
          </a:stretch>
        </p:blipFill>
        <p:spPr bwMode="auto">
          <a:xfrm>
            <a:off x="1268413" y="1073150"/>
            <a:ext cx="4903787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676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15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1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115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1" dur="1000"/>
                                        <p:tgtEl>
                                          <p:spTgt spid="115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64" dur="1000"/>
                                        <p:tgtEl>
                                          <p:spTgt spid="115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1000"/>
                                        <p:tgtEl>
                                          <p:spTgt spid="115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1" dur="1000"/>
                                        <p:tgtEl>
                                          <p:spTgt spid="1157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6" dur="1000"/>
                                        <p:tgtEl>
                                          <p:spTgt spid="115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9" dur="1000"/>
                                        <p:tgtEl>
                                          <p:spTgt spid="1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7" grpId="0"/>
      <p:bldP spid="115728" grpId="0"/>
      <p:bldP spid="115729" grpId="0"/>
      <p:bldP spid="115730" grpId="0"/>
      <p:bldP spid="115739" grpId="0" animBg="1"/>
      <p:bldP spid="115743" grpId="0" animBg="1"/>
      <p:bldP spid="115743" grpId="1" animBg="1"/>
      <p:bldP spid="115744" grpId="0" animBg="1"/>
      <p:bldP spid="115744" grpId="1" animBg="1"/>
      <p:bldP spid="115745" grpId="0" animBg="1"/>
      <p:bldP spid="115746" grpId="0" animBg="1"/>
      <p:bldP spid="11574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4850" y="2806700"/>
            <a:ext cx="6751638" cy="495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0000"/>
              </a:lnSpc>
              <a:buClr>
                <a:srgbClr val="777777"/>
              </a:buClr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在大信噪比（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800" b="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&gt;&gt;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）时，</a:t>
            </a:r>
            <a:r>
              <a:rPr lang="en-US" altLang="zh-CN" sz="2400" dirty="0" err="1">
                <a:latin typeface="Arial" panose="020B0604020202020204" pitchFamily="34" charset="0"/>
                <a:ea typeface="华文中宋" panose="02010600040101010101" pitchFamily="2" charset="-122"/>
              </a:rPr>
              <a:t>P</a:t>
            </a:r>
            <a:r>
              <a:rPr lang="en-US" altLang="zh-CN" sz="2400" baseline="-25000" dirty="0" err="1">
                <a:latin typeface="Arial" panose="020B0604020202020204" pitchFamily="34" charset="0"/>
                <a:ea typeface="华文中宋" panose="02010600040101010101" pitchFamily="2" charset="-122"/>
              </a:rPr>
              <a:t>e</a:t>
            </a:r>
            <a:r>
              <a:rPr lang="en-US" altLang="zh-CN" sz="2400" b="0" dirty="0">
                <a:latin typeface="Arial" panose="020B0604020202020204" pitchFamily="34" charset="0"/>
                <a:ea typeface="华文中宋" panose="02010600040101010101" pitchFamily="2" charset="-122"/>
              </a:rPr>
              <a:t>&lt;&lt;</a:t>
            </a:r>
            <a:r>
              <a:rPr lang="en-US" altLang="zh-CN" sz="2800" dirty="0"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，因此： </a:t>
            </a:r>
          </a:p>
        </p:txBody>
      </p:sp>
      <p:sp>
        <p:nvSpPr>
          <p:cNvPr id="5632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4980" name="Object 4"/>
          <p:cNvGraphicFramePr>
            <a:graphicFrameLocks noChangeAspect="1"/>
          </p:cNvGraphicFramePr>
          <p:nvPr/>
        </p:nvGraphicFramePr>
        <p:xfrm>
          <a:off x="1327150" y="1792288"/>
          <a:ext cx="56403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67" name="Equation" r:id="rId3" imgW="2374900" imgH="279400" progId="Equation.DSMT4">
                  <p:embed/>
                </p:oleObj>
              </mc:Choice>
              <mc:Fallback>
                <p:oleObj name="Equation" r:id="rId3" imgW="23749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1792288"/>
                        <a:ext cx="5640388" cy="692150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E1E1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54982" name="Object 6"/>
          <p:cNvGraphicFramePr>
            <a:graphicFrameLocks noChangeAspect="1"/>
          </p:cNvGraphicFramePr>
          <p:nvPr/>
        </p:nvGraphicFramePr>
        <p:xfrm>
          <a:off x="2527300" y="3606800"/>
          <a:ext cx="31051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68" name="Equation" r:id="rId5" imgW="1218960" imgH="457200" progId="Equation.DSMT4">
                  <p:embed/>
                </p:oleObj>
              </mc:Choice>
              <mc:Fallback>
                <p:oleObj name="Equation" r:id="rId5" imgW="12189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3606800"/>
                        <a:ext cx="3105150" cy="114300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5B5B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0" name="Object 14"/>
          <p:cNvGraphicFramePr>
            <a:graphicFrameLocks noChangeAspect="1"/>
          </p:cNvGraphicFramePr>
          <p:nvPr/>
        </p:nvGraphicFramePr>
        <p:xfrm>
          <a:off x="1771650" y="5110163"/>
          <a:ext cx="52006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69" name="Equation" r:id="rId7" imgW="2234880" imgH="457200" progId="Equation.DSMT4">
                  <p:embed/>
                </p:oleObj>
              </mc:Choice>
              <mc:Fallback>
                <p:oleObj name="Equation" r:id="rId7" imgW="2234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5110163"/>
                        <a:ext cx="5200650" cy="1063625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7777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4" name="Rectangle 18"/>
          <p:cNvSpPr>
            <a:spLocks noChangeArrowheads="1"/>
          </p:cNvSpPr>
          <p:nvPr/>
        </p:nvSpPr>
        <p:spPr bwMode="auto">
          <a:xfrm>
            <a:off x="7239000" y="1162050"/>
            <a:ext cx="1211263" cy="2632075"/>
          </a:xfrm>
          <a:prstGeom prst="rect">
            <a:avLst/>
          </a:prstGeom>
          <a:solidFill>
            <a:srgbClr val="EBEBFF"/>
          </a:solidFill>
          <a:ln w="38100" cmpd="dbl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ts val="3300"/>
              </a:lnSpc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条件：</a:t>
            </a:r>
          </a:p>
          <a:p>
            <a:pPr>
              <a:lnSpc>
                <a:spcPts val="3300"/>
              </a:lnSpc>
              <a:defRPr/>
            </a:pPr>
            <a:r>
              <a:rPr lang="zh-CN" altLang="en-US" sz="2000" dirty="0">
                <a:ea typeface="华文中宋" pitchFamily="2" charset="-122"/>
              </a:rPr>
              <a:t>假设每个</a:t>
            </a:r>
          </a:p>
          <a:p>
            <a:pPr>
              <a:lnSpc>
                <a:spcPts val="3300"/>
              </a:lnSpc>
              <a:defRPr/>
            </a:pPr>
            <a:r>
              <a:rPr lang="zh-CN" altLang="en-US" sz="2000" dirty="0">
                <a:solidFill>
                  <a:srgbClr val="000099"/>
                </a:solidFill>
                <a:ea typeface="华文中宋" pitchFamily="2" charset="-122"/>
              </a:rPr>
              <a:t>  </a:t>
            </a:r>
            <a:r>
              <a:rPr lang="zh-CN" altLang="en-US" sz="2000" dirty="0">
                <a:ea typeface="华文中宋" pitchFamily="2" charset="-122"/>
              </a:rPr>
              <a:t>相对码</a:t>
            </a:r>
          </a:p>
          <a:p>
            <a:pPr>
              <a:lnSpc>
                <a:spcPts val="3300"/>
              </a:lnSpc>
              <a:defRPr/>
            </a:pPr>
            <a:r>
              <a:rPr lang="zh-CN" altLang="en-US" sz="2000" dirty="0">
                <a:ea typeface="华文中宋" pitchFamily="2" charset="-122"/>
              </a:rPr>
              <a:t>出错概率</a:t>
            </a:r>
          </a:p>
          <a:p>
            <a:pPr>
              <a:lnSpc>
                <a:spcPts val="3300"/>
              </a:lnSpc>
              <a:defRPr/>
            </a:pPr>
            <a:r>
              <a:rPr lang="zh-CN" altLang="en-US" sz="2000" dirty="0">
                <a:ea typeface="华文中宋" pitchFamily="2" charset="-122"/>
              </a:rPr>
              <a:t>相等 且</a:t>
            </a:r>
          </a:p>
          <a:p>
            <a:pPr>
              <a:lnSpc>
                <a:spcPts val="3300"/>
              </a:lnSpc>
              <a:defRPr/>
            </a:pPr>
            <a:r>
              <a:rPr lang="zh-CN" altLang="en-US" sz="2000" dirty="0">
                <a:ea typeface="华文中宋" pitchFamily="2" charset="-122"/>
              </a:rPr>
              <a:t>统计独立</a:t>
            </a:r>
          </a:p>
        </p:txBody>
      </p:sp>
      <p:sp>
        <p:nvSpPr>
          <p:cNvPr id="56329" name="Rectangle 19"/>
          <p:cNvSpPr>
            <a:spLocks noChangeArrowheads="1"/>
          </p:cNvSpPr>
          <p:nvPr/>
        </p:nvSpPr>
        <p:spPr bwMode="auto">
          <a:xfrm>
            <a:off x="393700" y="1028700"/>
            <a:ext cx="6667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</a:t>
            </a:r>
            <a:r>
              <a:rPr lang="en-US" altLang="zh-CN" sz="2400" b="1" dirty="0">
                <a:ea typeface="华文中宋" panose="0201060004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chemeClr val="hlink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D</a:t>
            </a:r>
            <a:r>
              <a:rPr lang="en-US" altLang="zh-CN" sz="2400" b="1" dirty="0">
                <a:solidFill>
                  <a:srgbClr val="003399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PSK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相干</a:t>
            </a:r>
            <a:r>
              <a:rPr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码反变换系统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的误码率：</a:t>
            </a:r>
          </a:p>
        </p:txBody>
      </p:sp>
      <p:sp>
        <p:nvSpPr>
          <p:cNvPr id="254996" name="Rectangle 20"/>
          <p:cNvSpPr>
            <a:spLocks noChangeArrowheads="1"/>
          </p:cNvSpPr>
          <p:nvPr/>
        </p:nvSpPr>
        <p:spPr bwMode="auto">
          <a:xfrm>
            <a:off x="749300" y="4762500"/>
            <a:ext cx="13049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rgbClr val="77777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式中： </a:t>
            </a:r>
          </a:p>
        </p:txBody>
      </p:sp>
    </p:spTree>
    <p:extLst>
      <p:ext uri="{BB962C8B-B14F-4D97-AF65-F5344CB8AC3E}">
        <p14:creationId xmlns:p14="http://schemas.microsoft.com/office/powerpoint/2010/main" val="335747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5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1000"/>
                                        <p:tgtEl>
                                          <p:spTgt spid="254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5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5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9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08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24" r="27011"/>
          <a:stretch>
            <a:fillRect/>
          </a:stretch>
        </p:blipFill>
        <p:spPr bwMode="auto">
          <a:xfrm>
            <a:off x="1016000" y="5251450"/>
            <a:ext cx="5645150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51" name="Rectangle 5"/>
          <p:cNvSpPr>
            <a:spLocks noChangeArrowheads="1"/>
          </p:cNvSpPr>
          <p:nvPr/>
        </p:nvSpPr>
        <p:spPr bwMode="auto">
          <a:xfrm>
            <a:off x="0" y="27717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8792" name="Rectangle 8"/>
          <p:cNvSpPr>
            <a:spLocks noChangeArrowheads="1"/>
          </p:cNvSpPr>
          <p:nvPr/>
        </p:nvSpPr>
        <p:spPr bwMode="auto">
          <a:xfrm>
            <a:off x="-6350" y="444500"/>
            <a:ext cx="6955790" cy="4953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60000"/>
              <a:defRPr/>
            </a:pPr>
            <a:r>
              <a:rPr lang="en-US" altLang="zh-CN" sz="2800" b="1" dirty="0">
                <a:solidFill>
                  <a:srgbClr val="800080"/>
                </a:solidFill>
                <a:ea typeface="华文中宋" pitchFamily="2" charset="-122"/>
              </a:rPr>
              <a:t>   </a:t>
            </a:r>
            <a:r>
              <a:rPr lang="en-US" altLang="zh-CN" sz="2800" b="1" u="sng" dirty="0">
                <a:solidFill>
                  <a:srgbClr val="800080"/>
                </a:solidFill>
                <a:ea typeface="华文中宋" pitchFamily="2" charset="-122"/>
              </a:rPr>
              <a:t>3</a:t>
            </a:r>
            <a:r>
              <a:rPr lang="en-US" altLang="zh-CN" sz="2800" b="1" dirty="0">
                <a:solidFill>
                  <a:srgbClr val="800080"/>
                </a:solidFill>
                <a:ea typeface="华文中宋" pitchFamily="2" charset="-122"/>
              </a:rPr>
              <a:t>   </a:t>
            </a:r>
            <a:r>
              <a:rPr lang="en-US" altLang="zh-CN" sz="2800" b="1" dirty="0">
                <a:solidFill>
                  <a:srgbClr val="003399"/>
                </a:solidFill>
                <a:ea typeface="华文中宋" pitchFamily="2" charset="-122"/>
              </a:rPr>
              <a:t>2</a:t>
            </a:r>
            <a:r>
              <a:rPr lang="en-US" altLang="zh-CN" sz="2800" b="1" dirty="0">
                <a:solidFill>
                  <a:schemeClr val="hlink"/>
                </a:solidFill>
                <a:ea typeface="华文中宋" pitchFamily="2" charset="-122"/>
              </a:rPr>
              <a:t>D</a:t>
            </a:r>
            <a:r>
              <a:rPr lang="en-US" altLang="zh-CN" sz="2800" b="1" dirty="0">
                <a:solidFill>
                  <a:srgbClr val="003399"/>
                </a:solidFill>
                <a:ea typeface="华文中宋" pitchFamily="2" charset="-122"/>
              </a:rPr>
              <a:t>PSK</a:t>
            </a:r>
            <a:r>
              <a:rPr lang="en-US" altLang="zh-CN" sz="2800" b="1" dirty="0">
                <a:ea typeface="华文中宋" pitchFamily="2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解调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相位比较）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1150938" y="4140200"/>
            <a:ext cx="7154862" cy="461963"/>
            <a:chOff x="754" y="1508"/>
            <a:chExt cx="4507" cy="291"/>
          </a:xfrm>
        </p:grpSpPr>
        <p:graphicFrame>
          <p:nvGraphicFramePr>
            <p:cNvPr id="57348" name="Object 12"/>
            <p:cNvGraphicFramePr>
              <a:graphicFrameLocks noChangeAspect="1"/>
            </p:cNvGraphicFramePr>
            <p:nvPr/>
          </p:nvGraphicFramePr>
          <p:xfrm>
            <a:off x="754" y="1508"/>
            <a:ext cx="178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18" name="公式" r:id="rId4" imgW="1473200" imgH="228600" progId="Equation.3">
                    <p:embed/>
                  </p:oleObj>
                </mc:Choice>
                <mc:Fallback>
                  <p:oleObj name="公式" r:id="rId4" imgW="14732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" y="1508"/>
                          <a:ext cx="1786" cy="2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49" name="Object 13"/>
            <p:cNvGraphicFramePr>
              <a:graphicFrameLocks noChangeAspect="1"/>
            </p:cNvGraphicFramePr>
            <p:nvPr/>
          </p:nvGraphicFramePr>
          <p:xfrm>
            <a:off x="2511" y="1508"/>
            <a:ext cx="275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19" name="公式" r:id="rId6" imgW="2159000" imgH="228600" progId="Equation.3">
                    <p:embed/>
                  </p:oleObj>
                </mc:Choice>
                <mc:Fallback>
                  <p:oleObj name="公式" r:id="rId6" imgW="2159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1" y="1508"/>
                          <a:ext cx="2750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150938" y="4673600"/>
            <a:ext cx="7199312" cy="488950"/>
            <a:chOff x="782" y="1848"/>
            <a:chExt cx="4480" cy="291"/>
          </a:xfrm>
        </p:grpSpPr>
        <p:graphicFrame>
          <p:nvGraphicFramePr>
            <p:cNvPr id="57346" name="Object 15"/>
            <p:cNvGraphicFramePr>
              <a:graphicFrameLocks noChangeAspect="1"/>
            </p:cNvGraphicFramePr>
            <p:nvPr/>
          </p:nvGraphicFramePr>
          <p:xfrm>
            <a:off x="782" y="1848"/>
            <a:ext cx="1729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0" name="公式" r:id="rId8" imgW="1498600" imgH="228600" progId="Equation.3">
                    <p:embed/>
                  </p:oleObj>
                </mc:Choice>
                <mc:Fallback>
                  <p:oleObj name="公式" r:id="rId8" imgW="1498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2" y="1848"/>
                          <a:ext cx="1729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47" name="Object 16"/>
            <p:cNvGraphicFramePr>
              <a:graphicFrameLocks noChangeAspect="1"/>
            </p:cNvGraphicFramePr>
            <p:nvPr/>
          </p:nvGraphicFramePr>
          <p:xfrm>
            <a:off x="2483" y="1848"/>
            <a:ext cx="277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1121" name="公式" r:id="rId10" imgW="2184400" imgH="228600" progId="Equation.3">
                    <p:embed/>
                  </p:oleObj>
                </mc:Choice>
                <mc:Fallback>
                  <p:oleObj name="公式" r:id="rId10" imgW="21844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" y="1848"/>
                          <a:ext cx="2779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8803" name="Rectangle 19"/>
          <p:cNvSpPr>
            <a:spLocks noChangeArrowheads="1"/>
          </p:cNvSpPr>
          <p:nvPr/>
        </p:nvSpPr>
        <p:spPr bwMode="auto">
          <a:xfrm>
            <a:off x="6546850" y="5521325"/>
            <a:ext cx="1981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>
                <a:ea typeface="华文中宋" panose="02010600040101010101" pitchFamily="2" charset="-122"/>
              </a:rPr>
              <a:t>   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两者独立</a:t>
            </a:r>
          </a:p>
        </p:txBody>
      </p:sp>
      <p:sp>
        <p:nvSpPr>
          <p:cNvPr id="59406" name="右大括号 13"/>
          <p:cNvSpPr>
            <a:spLocks/>
          </p:cNvSpPr>
          <p:nvPr/>
        </p:nvSpPr>
        <p:spPr bwMode="auto">
          <a:xfrm>
            <a:off x="6661150" y="5562600"/>
            <a:ext cx="177800" cy="488950"/>
          </a:xfrm>
          <a:prstGeom prst="rightBrace">
            <a:avLst>
              <a:gd name="adj1" fmla="val 8339"/>
              <a:gd name="adj2" fmla="val 50000"/>
            </a:avLst>
          </a:prstGeom>
          <a:noFill/>
          <a:ln w="19050" algn="ctr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9407" name="Picture 15"/>
          <p:cNvPicPr>
            <a:picLocks noChangeAspect="1" noChangeArrowheads="1"/>
          </p:cNvPicPr>
          <p:nvPr/>
        </p:nvPicPr>
        <p:blipFill>
          <a:blip r:embed="rId12"/>
          <a:srcRect l="9350" t="27963" b="5583"/>
          <a:stretch>
            <a:fillRect/>
          </a:stretch>
        </p:blipFill>
        <p:spPr bwMode="auto">
          <a:xfrm>
            <a:off x="660400" y="1028700"/>
            <a:ext cx="7927975" cy="182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981"/>
          <a:stretch>
            <a:fillRect/>
          </a:stretch>
        </p:blipFill>
        <p:spPr bwMode="auto">
          <a:xfrm>
            <a:off x="749300" y="3028950"/>
            <a:ext cx="77343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825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187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59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5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5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1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3" grpId="0"/>
      <p:bldP spid="5940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223963"/>
            <a:ext cx="4186237" cy="584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则低通滤波器的输出为</a:t>
            </a:r>
            <a:r>
              <a:rPr lang="en-US" altLang="zh-CN" sz="2400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8374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9634" name="Object 14"/>
          <p:cNvGraphicFramePr>
            <a:graphicFrameLocks noChangeAspect="1"/>
          </p:cNvGraphicFramePr>
          <p:nvPr/>
        </p:nvGraphicFramePr>
        <p:xfrm>
          <a:off x="1422400" y="1685925"/>
          <a:ext cx="6507163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88" name="公式" r:id="rId3" imgW="2870200" imgH="393700" progId="Equation.3">
                  <p:embed/>
                </p:oleObj>
              </mc:Choice>
              <mc:Fallback>
                <p:oleObj name="公式" r:id="rId3" imgW="2870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1685925"/>
                        <a:ext cx="6507163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9635" name="Object 16"/>
          <p:cNvGraphicFramePr>
            <a:graphicFrameLocks noChangeAspect="1"/>
          </p:cNvGraphicFramePr>
          <p:nvPr/>
        </p:nvGraphicFramePr>
        <p:xfrm>
          <a:off x="2322513" y="3421063"/>
          <a:ext cx="4725987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89" name="公式" r:id="rId5" imgW="2057400" imgH="393700" progId="Equation.3">
                  <p:embed/>
                </p:oleObj>
              </mc:Choice>
              <mc:Fallback>
                <p:oleObj name="公式" r:id="rId5" imgW="2057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3421063"/>
                        <a:ext cx="4725987" cy="896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Rectangle 20"/>
          <p:cNvSpPr>
            <a:spLocks noChangeArrowheads="1"/>
          </p:cNvSpPr>
          <p:nvPr/>
        </p:nvSpPr>
        <p:spPr bwMode="auto">
          <a:xfrm>
            <a:off x="657225" y="2705100"/>
            <a:ext cx="418623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经抽样后的样值为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sp>
        <p:nvSpPr>
          <p:cNvPr id="120855" name="Rectangle 23"/>
          <p:cNvSpPr>
            <a:spLocks noChangeArrowheads="1"/>
          </p:cNvSpPr>
          <p:nvPr/>
        </p:nvSpPr>
        <p:spPr bwMode="auto">
          <a:xfrm>
            <a:off x="2244725" y="4994275"/>
            <a:ext cx="4440238" cy="968375"/>
          </a:xfrm>
          <a:prstGeom prst="rect">
            <a:avLst/>
          </a:prstGeom>
          <a:solidFill>
            <a:schemeClr val="bg1"/>
          </a:solidFill>
          <a:ln w="9525">
            <a:solidFill>
              <a:srgbClr val="9999FF"/>
            </a:solidFill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b="1" i="1" dirty="0">
                <a:ea typeface="华文中宋" pitchFamily="2" charset="-122"/>
              </a:rPr>
              <a:t>    x</a:t>
            </a:r>
            <a:r>
              <a:rPr lang="en-US" altLang="zh-CN" sz="2400" b="1" dirty="0">
                <a:ea typeface="华文中宋" pitchFamily="2" charset="-122"/>
              </a:rPr>
              <a:t> &gt; 0</a:t>
            </a:r>
            <a:r>
              <a:rPr lang="zh-CN" altLang="en-US" sz="2400" dirty="0">
                <a:ea typeface="华文中宋" pitchFamily="2" charset="-122"/>
              </a:rPr>
              <a:t>，判为</a:t>
            </a:r>
            <a:r>
              <a:rPr lang="zh-CN" altLang="en-US" sz="2400" b="1" dirty="0">
                <a:ea typeface="华文中宋" pitchFamily="2" charset="-122"/>
              </a:rPr>
              <a:t>“</a:t>
            </a:r>
            <a:r>
              <a:rPr lang="en-US" altLang="zh-CN" sz="2400" b="1" dirty="0">
                <a:ea typeface="华文中宋" pitchFamily="2" charset="-122"/>
              </a:rPr>
              <a:t>1”——</a:t>
            </a:r>
            <a:r>
              <a:rPr lang="zh-CN" altLang="en-US" sz="2400" dirty="0">
                <a:ea typeface="华文中宋" pitchFamily="2" charset="-122"/>
              </a:rPr>
              <a:t>正确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i="1" dirty="0">
                <a:ea typeface="华文中宋" pitchFamily="2" charset="-122"/>
              </a:rPr>
              <a:t>    </a:t>
            </a:r>
            <a:r>
              <a:rPr lang="en-US" altLang="zh-CN" sz="2400" b="1" i="1" dirty="0">
                <a:ea typeface="华文中宋" pitchFamily="2" charset="-122"/>
              </a:rPr>
              <a:t>x</a:t>
            </a:r>
            <a:r>
              <a:rPr lang="en-US" altLang="zh-CN" sz="2400" b="1" baseline="-25000" dirty="0">
                <a:ea typeface="华文中宋" pitchFamily="2" charset="-122"/>
              </a:rPr>
              <a:t> </a:t>
            </a:r>
            <a:r>
              <a:rPr lang="en-US" altLang="zh-CN" sz="2400" b="1" dirty="0">
                <a:ea typeface="华文中宋" pitchFamily="2" charset="-122"/>
                <a:sym typeface="Symbol" pitchFamily="18" charset="2"/>
              </a:rPr>
              <a:t></a:t>
            </a:r>
            <a:r>
              <a:rPr lang="en-US" altLang="zh-CN" sz="2400" b="1" dirty="0">
                <a:ea typeface="华文中宋" pitchFamily="2" charset="-122"/>
              </a:rPr>
              <a:t> 0</a:t>
            </a:r>
            <a:r>
              <a:rPr lang="en-US" altLang="zh-CN" sz="2400" baseline="-25000" dirty="0">
                <a:ea typeface="华文中宋" pitchFamily="2" charset="-122"/>
              </a:rPr>
              <a:t> </a:t>
            </a:r>
            <a:r>
              <a:rPr lang="zh-CN" altLang="en-US" sz="2400" dirty="0">
                <a:ea typeface="华文中宋" pitchFamily="2" charset="-122"/>
              </a:rPr>
              <a:t>，判为</a:t>
            </a:r>
            <a:r>
              <a:rPr lang="zh-CN" altLang="en-US" sz="2400" b="1" dirty="0">
                <a:ea typeface="华文中宋" pitchFamily="2" charset="-122"/>
              </a:rPr>
              <a:t>“</a:t>
            </a:r>
            <a:r>
              <a:rPr lang="en-US" altLang="zh-CN" sz="2400" b="1" dirty="0">
                <a:ea typeface="华文中宋" pitchFamily="2" charset="-122"/>
              </a:rPr>
              <a:t>0”——</a:t>
            </a:r>
            <a:r>
              <a:rPr lang="zh-CN" altLang="en-US" sz="2400" dirty="0">
                <a:ea typeface="华文中宋" pitchFamily="2" charset="-122"/>
              </a:rPr>
              <a:t>错误</a:t>
            </a:r>
          </a:p>
        </p:txBody>
      </p:sp>
      <p:sp>
        <p:nvSpPr>
          <p:cNvPr id="69643" name="Oval 24"/>
          <p:cNvSpPr>
            <a:spLocks noChangeArrowheads="1"/>
          </p:cNvSpPr>
          <p:nvPr/>
        </p:nvSpPr>
        <p:spPr bwMode="auto">
          <a:xfrm>
            <a:off x="1238250" y="4476750"/>
            <a:ext cx="1111250" cy="658813"/>
          </a:xfrm>
          <a:prstGeom prst="ellipse">
            <a:avLst/>
          </a:prstGeom>
          <a:solidFill>
            <a:srgbClr val="FFFFDD"/>
          </a:solidFill>
          <a:ln w="19050">
            <a:solidFill>
              <a:srgbClr val="9999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判决</a:t>
            </a:r>
          </a:p>
        </p:txBody>
      </p:sp>
    </p:spTree>
    <p:extLst>
      <p:ext uri="{BB962C8B-B14F-4D97-AF65-F5344CB8AC3E}">
        <p14:creationId xmlns:p14="http://schemas.microsoft.com/office/powerpoint/2010/main" val="382351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2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build="p"/>
      <p:bldP spid="69641" grpId="0"/>
      <p:bldP spid="120855" grpId="0" animBg="1"/>
      <p:bldP spid="6964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0" y="995363"/>
            <a:ext cx="7785100" cy="56340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发“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错判为“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0</a:t>
            </a:r>
            <a:r>
              <a:rPr lang="en-US" altLang="zh-CN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的概率为：</a:t>
            </a:r>
          </a:p>
          <a:p>
            <a:pPr lvl="3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利用恒等式</a:t>
            </a: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3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令上式中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400" b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</a:p>
        </p:txBody>
      </p:sp>
      <p:sp>
        <p:nvSpPr>
          <p:cNvPr id="59402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0658" name="Object 4"/>
          <p:cNvGraphicFramePr>
            <a:graphicFrameLocks noChangeAspect="1"/>
          </p:cNvGraphicFramePr>
          <p:nvPr/>
        </p:nvGraphicFramePr>
        <p:xfrm>
          <a:off x="1104900" y="1651000"/>
          <a:ext cx="71104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47" name="公式" r:id="rId3" imgW="3505200" imgH="393700" progId="Equation.3">
                  <p:embed/>
                </p:oleObj>
              </mc:Choice>
              <mc:Fallback>
                <p:oleObj name="公式" r:id="rId3" imgW="3505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1651000"/>
                        <a:ext cx="7110413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3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0659" name="Object 6"/>
          <p:cNvGraphicFramePr>
            <a:graphicFrameLocks noChangeAspect="1"/>
          </p:cNvGraphicFramePr>
          <p:nvPr/>
        </p:nvGraphicFramePr>
        <p:xfrm>
          <a:off x="2457450" y="2541588"/>
          <a:ext cx="5580063" cy="138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48" name="Equation" r:id="rId5" imgW="2527200" imgH="685800" progId="Equation.DSMT4">
                  <p:embed/>
                </p:oleObj>
              </mc:Choice>
              <mc:Fallback>
                <p:oleObj name="Equation" r:id="rId5" imgW="25272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541588"/>
                        <a:ext cx="5580063" cy="1382712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051050" y="4178300"/>
            <a:ext cx="6165850" cy="584200"/>
            <a:chOff x="1633" y="2784"/>
            <a:chExt cx="3629" cy="266"/>
          </a:xfrm>
        </p:grpSpPr>
        <p:graphicFrame>
          <p:nvGraphicFramePr>
            <p:cNvPr id="59397" name="Object 11"/>
            <p:cNvGraphicFramePr>
              <a:graphicFrameLocks noChangeAspect="1"/>
            </p:cNvGraphicFramePr>
            <p:nvPr/>
          </p:nvGraphicFramePr>
          <p:xfrm>
            <a:off x="1633" y="2784"/>
            <a:ext cx="85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49" name="公式" r:id="rId7" imgW="736600" imgH="228600" progId="Equation.3">
                    <p:embed/>
                  </p:oleObj>
                </mc:Choice>
                <mc:Fallback>
                  <p:oleObj name="公式" r:id="rId7" imgW="736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2784"/>
                          <a:ext cx="850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398" name="Object 10"/>
            <p:cNvGraphicFramePr>
              <a:graphicFrameLocks noChangeAspect="1"/>
            </p:cNvGraphicFramePr>
            <p:nvPr/>
          </p:nvGraphicFramePr>
          <p:xfrm>
            <a:off x="2597" y="2812"/>
            <a:ext cx="851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50" name="公式" r:id="rId9" imgW="761669" imgH="228501" progId="Equation.3">
                    <p:embed/>
                  </p:oleObj>
                </mc:Choice>
                <mc:Fallback>
                  <p:oleObj name="公式" r:id="rId9" imgW="761669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7" y="2812"/>
                          <a:ext cx="851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399" name="Object 9"/>
            <p:cNvGraphicFramePr>
              <a:graphicFrameLocks noChangeAspect="1"/>
            </p:cNvGraphicFramePr>
            <p:nvPr/>
          </p:nvGraphicFramePr>
          <p:xfrm>
            <a:off x="3560" y="2812"/>
            <a:ext cx="765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51" name="公式" r:id="rId11" imgW="736600" imgH="228600" progId="Equation.3">
                    <p:embed/>
                  </p:oleObj>
                </mc:Choice>
                <mc:Fallback>
                  <p:oleObj name="公式" r:id="rId11" imgW="7366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812"/>
                          <a:ext cx="765" cy="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400" name="Object 8"/>
            <p:cNvGraphicFramePr>
              <a:graphicFrameLocks noChangeAspect="1"/>
            </p:cNvGraphicFramePr>
            <p:nvPr/>
          </p:nvGraphicFramePr>
          <p:xfrm>
            <a:off x="4496" y="2812"/>
            <a:ext cx="766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52" name="公式" r:id="rId13" imgW="761669" imgH="228501" progId="Equation.3">
                    <p:embed/>
                  </p:oleObj>
                </mc:Choice>
                <mc:Fallback>
                  <p:oleObj name="公式" r:id="rId13" imgW="761669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6" y="2812"/>
                          <a:ext cx="766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405" name="Rectangle 12"/>
          <p:cNvSpPr>
            <a:spLocks noChangeArrowheads="1"/>
          </p:cNvSpPr>
          <p:nvPr/>
        </p:nvSpPr>
        <p:spPr bwMode="auto">
          <a:xfrm>
            <a:off x="0" y="2560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406" name="Rectangle 13"/>
          <p:cNvSpPr>
            <a:spLocks noChangeArrowheads="1"/>
          </p:cNvSpPr>
          <p:nvPr/>
        </p:nvSpPr>
        <p:spPr bwMode="auto">
          <a:xfrm>
            <a:off x="0" y="2789238"/>
            <a:ext cx="1403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/>
          </a:p>
        </p:txBody>
      </p:sp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0" y="3795713"/>
            <a:ext cx="14033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/>
          </a:p>
        </p:txBody>
      </p:sp>
      <p:sp>
        <p:nvSpPr>
          <p:cNvPr id="5940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0660" name="Object 17"/>
          <p:cNvGraphicFramePr>
            <a:graphicFrameLocks noChangeAspect="1"/>
          </p:cNvGraphicFramePr>
          <p:nvPr/>
        </p:nvGraphicFramePr>
        <p:xfrm>
          <a:off x="2106613" y="5029200"/>
          <a:ext cx="59055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53" name="Equation" r:id="rId15" imgW="2577960" imgH="507960" progId="Equation.DSMT4">
                  <p:embed/>
                </p:oleObj>
              </mc:Choice>
              <mc:Fallback>
                <p:oleObj name="Equation" r:id="rId15" imgW="25779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5029200"/>
                        <a:ext cx="5905500" cy="1266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997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0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0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06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706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5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304800" y="1651000"/>
          <a:ext cx="85693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0" name="Equation" r:id="rId3" imgW="4495680" imgH="253800" progId="Equation.DSMT4">
                  <p:embed/>
                </p:oleObj>
              </mc:Choice>
              <mc:Fallback>
                <p:oleObj name="Equation" r:id="rId3" imgW="4495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651000"/>
                        <a:ext cx="8569325" cy="488950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Rectangle 5"/>
          <p:cNvSpPr>
            <a:spLocks noChangeArrowheads="1"/>
          </p:cNvSpPr>
          <p:nvPr/>
        </p:nvSpPr>
        <p:spPr bwMode="auto">
          <a:xfrm>
            <a:off x="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683" name="Object 4"/>
          <p:cNvGraphicFramePr>
            <a:graphicFrameLocks noChangeAspect="1"/>
          </p:cNvGraphicFramePr>
          <p:nvPr/>
        </p:nvGraphicFramePr>
        <p:xfrm>
          <a:off x="2420938" y="2806700"/>
          <a:ext cx="481806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1" name="公式" r:id="rId5" imgW="2311400" imgH="292100" progId="Equation.3">
                  <p:embed/>
                </p:oleObj>
              </mc:Choice>
              <mc:Fallback>
                <p:oleObj name="公式" r:id="rId5" imgW="23114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2806700"/>
                        <a:ext cx="4818062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4" name="Object 3"/>
          <p:cNvGraphicFramePr>
            <a:graphicFrameLocks noChangeAspect="1"/>
          </p:cNvGraphicFramePr>
          <p:nvPr/>
        </p:nvGraphicFramePr>
        <p:xfrm>
          <a:off x="2433638" y="3562350"/>
          <a:ext cx="45402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2" name="公式" r:id="rId7" imgW="2019300" imgH="292100" progId="Equation.3">
                  <p:embed/>
                </p:oleObj>
              </mc:Choice>
              <mc:Fallback>
                <p:oleObj name="公式" r:id="rId7" imgW="20193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562350"/>
                        <a:ext cx="4540250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8" name="Object 8"/>
          <p:cNvGraphicFramePr>
            <a:graphicFrameLocks noChangeAspect="1"/>
          </p:cNvGraphicFramePr>
          <p:nvPr/>
        </p:nvGraphicFramePr>
        <p:xfrm>
          <a:off x="1727200" y="4851400"/>
          <a:ext cx="52895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3" name="Equation" r:id="rId9" imgW="2298600" imgH="241200" progId="Equation.DSMT4">
                  <p:embed/>
                </p:oleObj>
              </mc:Choice>
              <mc:Fallback>
                <p:oleObj name="Equation" r:id="rId9" imgW="2298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4851400"/>
                        <a:ext cx="5289550" cy="560388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97" name="Rectangle 17"/>
          <p:cNvSpPr>
            <a:spLocks noChangeArrowheads="1"/>
          </p:cNvSpPr>
          <p:nvPr/>
        </p:nvSpPr>
        <p:spPr bwMode="auto">
          <a:xfrm>
            <a:off x="2882900" y="984250"/>
            <a:ext cx="944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baseline="-2500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b="1" baseline="3000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2898" name="Rectangle 18"/>
          <p:cNvSpPr>
            <a:spLocks noChangeArrowheads="1"/>
          </p:cNvSpPr>
          <p:nvPr/>
        </p:nvSpPr>
        <p:spPr bwMode="auto">
          <a:xfrm>
            <a:off x="6261100" y="984250"/>
            <a:ext cx="944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baseline="-2500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baseline="30000">
                <a:solidFill>
                  <a:schemeClr val="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矩形 12"/>
          <p:cNvSpPr/>
          <p:nvPr/>
        </p:nvSpPr>
        <p:spPr>
          <a:xfrm>
            <a:off x="1546225" y="2700338"/>
            <a:ext cx="4921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spcBef>
                <a:spcPct val="20000"/>
              </a:spcBef>
              <a:buClr>
                <a:srgbClr val="FFCF01"/>
              </a:buClr>
              <a:buSzPct val="55000"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令</a:t>
            </a:r>
          </a:p>
        </p:txBody>
      </p:sp>
      <p:sp>
        <p:nvSpPr>
          <p:cNvPr id="122896" name="Rectangle 16"/>
          <p:cNvSpPr>
            <a:spLocks noChangeArrowheads="1"/>
          </p:cNvSpPr>
          <p:nvPr/>
        </p:nvSpPr>
        <p:spPr bwMode="auto">
          <a:xfrm>
            <a:off x="1860550" y="1533525"/>
            <a:ext cx="3333750" cy="606425"/>
          </a:xfrm>
          <a:prstGeom prst="rect">
            <a:avLst/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5416550" y="1554163"/>
            <a:ext cx="2711450" cy="585787"/>
          </a:xfrm>
          <a:prstGeom prst="rect">
            <a:avLst/>
          </a:prstGeom>
          <a:noFill/>
          <a:ln w="9525">
            <a:solidFill>
              <a:schemeClr val="hlink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" name="AutoShape 11"/>
          <p:cNvSpPr>
            <a:spLocks/>
          </p:cNvSpPr>
          <p:nvPr/>
        </p:nvSpPr>
        <p:spPr bwMode="auto">
          <a:xfrm>
            <a:off x="2122488" y="3162300"/>
            <a:ext cx="268287" cy="696913"/>
          </a:xfrm>
          <a:prstGeom prst="leftBrace">
            <a:avLst>
              <a:gd name="adj1" fmla="val 27191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72718" name="Freeform 10"/>
          <p:cNvSpPr>
            <a:spLocks/>
          </p:cNvSpPr>
          <p:nvPr/>
        </p:nvSpPr>
        <p:spPr bwMode="auto">
          <a:xfrm rot="19051230" flipV="1">
            <a:off x="211138" y="2436813"/>
            <a:ext cx="1465262" cy="2209800"/>
          </a:xfrm>
          <a:custGeom>
            <a:avLst/>
            <a:gdLst>
              <a:gd name="T0" fmla="*/ 2147483647 w 1612"/>
              <a:gd name="T1" fmla="*/ 2147483647 h 1618"/>
              <a:gd name="T2" fmla="*/ 2147483647 w 1612"/>
              <a:gd name="T3" fmla="*/ 2147483647 h 1618"/>
              <a:gd name="T4" fmla="*/ 2147483647 w 1612"/>
              <a:gd name="T5" fmla="*/ 2147483647 h 1618"/>
              <a:gd name="T6" fmla="*/ 2147483647 w 1612"/>
              <a:gd name="T7" fmla="*/ 2147483647 h 1618"/>
              <a:gd name="T8" fmla="*/ 2147483647 w 1612"/>
              <a:gd name="T9" fmla="*/ 2147483647 h 1618"/>
              <a:gd name="T10" fmla="*/ 2147483647 w 1612"/>
              <a:gd name="T11" fmla="*/ 2147483647 h 1618"/>
              <a:gd name="T12" fmla="*/ 2147483647 w 1612"/>
              <a:gd name="T13" fmla="*/ 2147483647 h 1618"/>
              <a:gd name="T14" fmla="*/ 2147483647 w 1612"/>
              <a:gd name="T15" fmla="*/ 0 h 1618"/>
              <a:gd name="T16" fmla="*/ 2147483647 w 1612"/>
              <a:gd name="T17" fmla="*/ 2147483647 h 1618"/>
              <a:gd name="T18" fmla="*/ 2147483647 w 1612"/>
              <a:gd name="T19" fmla="*/ 2147483647 h 1618"/>
              <a:gd name="T20" fmla="*/ 2147483647 w 1612"/>
              <a:gd name="T21" fmla="*/ 2147483647 h 1618"/>
              <a:gd name="T22" fmla="*/ 2147483647 w 1612"/>
              <a:gd name="T23" fmla="*/ 2147483647 h 1618"/>
              <a:gd name="T24" fmla="*/ 2147483647 w 1612"/>
              <a:gd name="T25" fmla="*/ 2147483647 h 1618"/>
              <a:gd name="T26" fmla="*/ 2147483647 w 1612"/>
              <a:gd name="T27" fmla="*/ 2147483647 h 1618"/>
              <a:gd name="T28" fmla="*/ 2147483647 w 1612"/>
              <a:gd name="T29" fmla="*/ 2147483647 h 1618"/>
              <a:gd name="T30" fmla="*/ 2147483647 w 1612"/>
              <a:gd name="T31" fmla="*/ 2147483647 h 1618"/>
              <a:gd name="T32" fmla="*/ 2147483647 w 1612"/>
              <a:gd name="T33" fmla="*/ 2147483647 h 1618"/>
              <a:gd name="T34" fmla="*/ 2147483647 w 1612"/>
              <a:gd name="T35" fmla="*/ 2147483647 h 1618"/>
              <a:gd name="T36" fmla="*/ 2147483647 w 1612"/>
              <a:gd name="T37" fmla="*/ 2147483647 h 1618"/>
              <a:gd name="T38" fmla="*/ 2147483647 w 1612"/>
              <a:gd name="T39" fmla="*/ 2147483647 h 1618"/>
              <a:gd name="T40" fmla="*/ 2147483647 w 1612"/>
              <a:gd name="T41" fmla="*/ 2147483647 h 1618"/>
              <a:gd name="T42" fmla="*/ 2147483647 w 1612"/>
              <a:gd name="T43" fmla="*/ 2147483647 h 1618"/>
              <a:gd name="T44" fmla="*/ 2147483647 w 1612"/>
              <a:gd name="T45" fmla="*/ 2147483647 h 1618"/>
              <a:gd name="T46" fmla="*/ 2147483647 w 1612"/>
              <a:gd name="T47" fmla="*/ 2147483647 h 1618"/>
              <a:gd name="T48" fmla="*/ 2147483647 w 1612"/>
              <a:gd name="T49" fmla="*/ 2147483647 h 1618"/>
              <a:gd name="T50" fmla="*/ 2147483647 w 1612"/>
              <a:gd name="T51" fmla="*/ 2147483647 h 1618"/>
              <a:gd name="T52" fmla="*/ 2147483647 w 1612"/>
              <a:gd name="T53" fmla="*/ 2147483647 h 1618"/>
              <a:gd name="T54" fmla="*/ 2147483647 w 1612"/>
              <a:gd name="T55" fmla="*/ 2147483647 h 1618"/>
              <a:gd name="T56" fmla="*/ 2147483647 w 1612"/>
              <a:gd name="T57" fmla="*/ 2147483647 h 1618"/>
              <a:gd name="T58" fmla="*/ 2147483647 w 1612"/>
              <a:gd name="T59" fmla="*/ 2147483647 h 1618"/>
              <a:gd name="T60" fmla="*/ 2147483647 w 1612"/>
              <a:gd name="T61" fmla="*/ 2147483647 h 1618"/>
              <a:gd name="T62" fmla="*/ 2147483647 w 1612"/>
              <a:gd name="T63" fmla="*/ 2147483647 h 1618"/>
              <a:gd name="T64" fmla="*/ 2147483647 w 1612"/>
              <a:gd name="T65" fmla="*/ 2147483647 h 1618"/>
              <a:gd name="T66" fmla="*/ 2147483647 w 1612"/>
              <a:gd name="T67" fmla="*/ 2147483647 h 1618"/>
              <a:gd name="T68" fmla="*/ 2147483647 w 1612"/>
              <a:gd name="T69" fmla="*/ 2147483647 h 1618"/>
              <a:gd name="T70" fmla="*/ 2147483647 w 1612"/>
              <a:gd name="T71" fmla="*/ 2147483647 h 1618"/>
              <a:gd name="T72" fmla="*/ 2147483647 w 1612"/>
              <a:gd name="T73" fmla="*/ 2147483647 h 1618"/>
              <a:gd name="T74" fmla="*/ 2147483647 w 1612"/>
              <a:gd name="T75" fmla="*/ 2147483647 h 1618"/>
              <a:gd name="T76" fmla="*/ 2147483647 w 1612"/>
              <a:gd name="T77" fmla="*/ 2147483647 h 1618"/>
              <a:gd name="T78" fmla="*/ 2147483647 w 1612"/>
              <a:gd name="T79" fmla="*/ 2147483647 h 1618"/>
              <a:gd name="T80" fmla="*/ 2147483647 w 1612"/>
              <a:gd name="T81" fmla="*/ 2147483647 h 161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612"/>
              <a:gd name="T124" fmla="*/ 0 h 1618"/>
              <a:gd name="T125" fmla="*/ 1612 w 1612"/>
              <a:gd name="T126" fmla="*/ 1618 h 161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612" h="1618">
                <a:moveTo>
                  <a:pt x="464" y="966"/>
                </a:moveTo>
                <a:lnTo>
                  <a:pt x="464" y="966"/>
                </a:lnTo>
                <a:lnTo>
                  <a:pt x="418" y="892"/>
                </a:lnTo>
                <a:lnTo>
                  <a:pt x="378" y="822"/>
                </a:lnTo>
                <a:lnTo>
                  <a:pt x="342" y="754"/>
                </a:lnTo>
                <a:lnTo>
                  <a:pt x="310" y="690"/>
                </a:lnTo>
                <a:lnTo>
                  <a:pt x="280" y="630"/>
                </a:lnTo>
                <a:lnTo>
                  <a:pt x="256" y="572"/>
                </a:lnTo>
                <a:lnTo>
                  <a:pt x="234" y="520"/>
                </a:lnTo>
                <a:lnTo>
                  <a:pt x="214" y="472"/>
                </a:lnTo>
                <a:lnTo>
                  <a:pt x="184" y="390"/>
                </a:lnTo>
                <a:lnTo>
                  <a:pt x="166" y="328"/>
                </a:lnTo>
                <a:lnTo>
                  <a:pt x="156" y="290"/>
                </a:lnTo>
                <a:lnTo>
                  <a:pt x="152" y="276"/>
                </a:lnTo>
                <a:lnTo>
                  <a:pt x="244" y="300"/>
                </a:lnTo>
                <a:lnTo>
                  <a:pt x="34" y="0"/>
                </a:lnTo>
                <a:lnTo>
                  <a:pt x="0" y="396"/>
                </a:lnTo>
                <a:lnTo>
                  <a:pt x="82" y="294"/>
                </a:lnTo>
                <a:lnTo>
                  <a:pt x="86" y="308"/>
                </a:lnTo>
                <a:lnTo>
                  <a:pt x="98" y="350"/>
                </a:lnTo>
                <a:lnTo>
                  <a:pt x="120" y="414"/>
                </a:lnTo>
                <a:lnTo>
                  <a:pt x="152" y="500"/>
                </a:lnTo>
                <a:lnTo>
                  <a:pt x="174" y="550"/>
                </a:lnTo>
                <a:lnTo>
                  <a:pt x="200" y="604"/>
                </a:lnTo>
                <a:lnTo>
                  <a:pt x="228" y="662"/>
                </a:lnTo>
                <a:lnTo>
                  <a:pt x="260" y="722"/>
                </a:lnTo>
                <a:lnTo>
                  <a:pt x="296" y="788"/>
                </a:lnTo>
                <a:lnTo>
                  <a:pt x="336" y="856"/>
                </a:lnTo>
                <a:lnTo>
                  <a:pt x="382" y="926"/>
                </a:lnTo>
                <a:lnTo>
                  <a:pt x="430" y="998"/>
                </a:lnTo>
                <a:lnTo>
                  <a:pt x="472" y="1052"/>
                </a:lnTo>
                <a:lnTo>
                  <a:pt x="514" y="1104"/>
                </a:lnTo>
                <a:lnTo>
                  <a:pt x="558" y="1152"/>
                </a:lnTo>
                <a:lnTo>
                  <a:pt x="602" y="1196"/>
                </a:lnTo>
                <a:lnTo>
                  <a:pt x="650" y="1238"/>
                </a:lnTo>
                <a:lnTo>
                  <a:pt x="696" y="1278"/>
                </a:lnTo>
                <a:lnTo>
                  <a:pt x="744" y="1314"/>
                </a:lnTo>
                <a:lnTo>
                  <a:pt x="794" y="1348"/>
                </a:lnTo>
                <a:lnTo>
                  <a:pt x="842" y="1380"/>
                </a:lnTo>
                <a:lnTo>
                  <a:pt x="892" y="1408"/>
                </a:lnTo>
                <a:lnTo>
                  <a:pt x="942" y="1434"/>
                </a:lnTo>
                <a:lnTo>
                  <a:pt x="990" y="1458"/>
                </a:lnTo>
                <a:lnTo>
                  <a:pt x="1038" y="1480"/>
                </a:lnTo>
                <a:lnTo>
                  <a:pt x="1086" y="1500"/>
                </a:lnTo>
                <a:lnTo>
                  <a:pt x="1134" y="1518"/>
                </a:lnTo>
                <a:lnTo>
                  <a:pt x="1180" y="1534"/>
                </a:lnTo>
                <a:lnTo>
                  <a:pt x="1224" y="1548"/>
                </a:lnTo>
                <a:lnTo>
                  <a:pt x="1268" y="1560"/>
                </a:lnTo>
                <a:lnTo>
                  <a:pt x="1350" y="1580"/>
                </a:lnTo>
                <a:lnTo>
                  <a:pt x="1424" y="1596"/>
                </a:lnTo>
                <a:lnTo>
                  <a:pt x="1486" y="1606"/>
                </a:lnTo>
                <a:lnTo>
                  <a:pt x="1540" y="1612"/>
                </a:lnTo>
                <a:lnTo>
                  <a:pt x="1578" y="1616"/>
                </a:lnTo>
                <a:lnTo>
                  <a:pt x="1612" y="1618"/>
                </a:lnTo>
                <a:lnTo>
                  <a:pt x="1580" y="1616"/>
                </a:lnTo>
                <a:lnTo>
                  <a:pt x="1540" y="1612"/>
                </a:lnTo>
                <a:lnTo>
                  <a:pt x="1488" y="1606"/>
                </a:lnTo>
                <a:lnTo>
                  <a:pt x="1426" y="1594"/>
                </a:lnTo>
                <a:lnTo>
                  <a:pt x="1354" y="1578"/>
                </a:lnTo>
                <a:lnTo>
                  <a:pt x="1274" y="1558"/>
                </a:lnTo>
                <a:lnTo>
                  <a:pt x="1230" y="1544"/>
                </a:lnTo>
                <a:lnTo>
                  <a:pt x="1186" y="1530"/>
                </a:lnTo>
                <a:lnTo>
                  <a:pt x="1142" y="1512"/>
                </a:lnTo>
                <a:lnTo>
                  <a:pt x="1096" y="1494"/>
                </a:lnTo>
                <a:lnTo>
                  <a:pt x="1048" y="1474"/>
                </a:lnTo>
                <a:lnTo>
                  <a:pt x="1002" y="1450"/>
                </a:lnTo>
                <a:lnTo>
                  <a:pt x="954" y="1426"/>
                </a:lnTo>
                <a:lnTo>
                  <a:pt x="906" y="1398"/>
                </a:lnTo>
                <a:lnTo>
                  <a:pt x="858" y="1368"/>
                </a:lnTo>
                <a:lnTo>
                  <a:pt x="810" y="1336"/>
                </a:lnTo>
                <a:lnTo>
                  <a:pt x="764" y="1300"/>
                </a:lnTo>
                <a:lnTo>
                  <a:pt x="718" y="1262"/>
                </a:lnTo>
                <a:lnTo>
                  <a:pt x="672" y="1220"/>
                </a:lnTo>
                <a:lnTo>
                  <a:pt x="626" y="1176"/>
                </a:lnTo>
                <a:lnTo>
                  <a:pt x="584" y="1128"/>
                </a:lnTo>
                <a:lnTo>
                  <a:pt x="542" y="1078"/>
                </a:lnTo>
                <a:lnTo>
                  <a:pt x="502" y="1024"/>
                </a:lnTo>
                <a:lnTo>
                  <a:pt x="464" y="966"/>
                </a:lnTo>
                <a:close/>
              </a:path>
            </a:pathLst>
          </a:custGeom>
          <a:solidFill>
            <a:srgbClr val="8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27050" y="3117850"/>
            <a:ext cx="592138" cy="1016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简</a:t>
            </a:r>
            <a:endParaRPr lang="en-US" altLang="zh-CN" sz="20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化</a:t>
            </a:r>
            <a:endParaRPr lang="en-US" altLang="zh-CN" sz="20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0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为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2480" name="Picture 1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5784850"/>
            <a:ext cx="5734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6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12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12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7" grpId="0"/>
      <p:bldP spid="122898" grpId="0"/>
      <p:bldP spid="13" grpId="0"/>
      <p:bldP spid="122896" grpId="0" animBg="1"/>
      <p:bldP spid="16" grpId="0" animBg="1"/>
      <p:bldP spid="20" grpId="0" animBg="1"/>
      <p:bldP spid="7271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6988" y="990600"/>
            <a:ext cx="9144001" cy="4305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</a:rPr>
              <a:t>由随机信号理论可知：</a:t>
            </a:r>
            <a:r>
              <a:rPr lang="en-US" altLang="zh-CN" sz="2400" i="1">
                <a:latin typeface="Arial" panose="020B0604020202020204" pitchFamily="34" charset="0"/>
                <a:ea typeface="华文中宋" panose="02010600040101010101" pitchFamily="2" charset="-122"/>
              </a:rPr>
              <a:t>R</a:t>
            </a:r>
            <a:r>
              <a:rPr lang="en-US" altLang="zh-CN" sz="2400" baseline="-25000">
                <a:latin typeface="Arial" panose="020B0604020202020204" pitchFamily="34" charset="0"/>
                <a:ea typeface="华文中宋" panose="02010600040101010101" pitchFamily="2" charset="-122"/>
              </a:rPr>
              <a:t>1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</a:rPr>
              <a:t>的一维分布服从广义瑞利分布，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</a:rPr>
              <a:t>     </a:t>
            </a:r>
            <a:r>
              <a:rPr lang="en-US" altLang="zh-CN" sz="2400" i="1">
                <a:latin typeface="Arial" panose="020B0604020202020204" pitchFamily="34" charset="0"/>
                <a:ea typeface="华文中宋" panose="02010600040101010101" pitchFamily="2" charset="-122"/>
              </a:rPr>
              <a:t>R</a:t>
            </a:r>
            <a:r>
              <a:rPr lang="en-US" altLang="zh-CN" sz="2400" baseline="-25000">
                <a:latin typeface="Arial" panose="020B0604020202020204" pitchFamily="34" charset="0"/>
                <a:ea typeface="华文中宋" panose="02010600040101010101" pitchFamily="2" charset="-122"/>
              </a:rPr>
              <a:t>2</a:t>
            </a: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</a:rPr>
              <a:t>的一维分布服从瑞利分布，其概率密度函数分别为：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6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</a:rPr>
              <a:t>	将以上两式代入：</a:t>
            </a:r>
          </a:p>
          <a:p>
            <a:pPr lvl="3" eaLnBrk="1" hangingPunct="1">
              <a:buFont typeface="Wingdings" panose="05000000000000000000" pitchFamily="2" charset="2"/>
              <a:buNone/>
            </a:pPr>
            <a:endParaRPr lang="zh-CN" altLang="en-US" sz="2400">
              <a:latin typeface="Arial" panose="020B0604020202020204" pitchFamily="34" charset="0"/>
              <a:ea typeface="华文中宋" panose="020106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Arial" panose="020B0604020202020204" pitchFamily="34" charset="0"/>
                <a:ea typeface="华文中宋" panose="02010600040101010101" pitchFamily="2" charset="-122"/>
              </a:rPr>
              <a:t>	可得：</a:t>
            </a:r>
          </a:p>
        </p:txBody>
      </p:sp>
      <p:sp>
        <p:nvSpPr>
          <p:cNvPr id="61448" name="Rectangle 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2706" name="Object 4"/>
          <p:cNvGraphicFramePr>
            <a:graphicFrameLocks noChangeAspect="1"/>
          </p:cNvGraphicFramePr>
          <p:nvPr/>
        </p:nvGraphicFramePr>
        <p:xfrm>
          <a:off x="927100" y="2303463"/>
          <a:ext cx="4230688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41" name="公式" r:id="rId3" imgW="2095500" imgH="482600" progId="Equation.3">
                  <p:embed/>
                </p:oleObj>
              </mc:Choice>
              <mc:Fallback>
                <p:oleObj name="公式" r:id="rId3" imgW="2095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303463"/>
                        <a:ext cx="4230688" cy="979487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2707" name="Object 6"/>
          <p:cNvGraphicFramePr>
            <a:graphicFrameLocks noChangeAspect="1"/>
          </p:cNvGraphicFramePr>
          <p:nvPr/>
        </p:nvGraphicFramePr>
        <p:xfrm>
          <a:off x="5472113" y="2349500"/>
          <a:ext cx="2744787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42" name="公式" r:id="rId5" imgW="1333500" imgH="431800" progId="Equation.3">
                  <p:embed/>
                </p:oleObj>
              </mc:Choice>
              <mc:Fallback>
                <p:oleObj name="公式" r:id="rId5" imgW="1333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2349500"/>
                        <a:ext cx="2744787" cy="882650"/>
                      </a:xfrm>
                      <a:prstGeom prst="rect">
                        <a:avLst/>
                      </a:prstGeom>
                      <a:solidFill>
                        <a:srgbClr val="EBEBFF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EBEBFF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8"/>
          <p:cNvGraphicFramePr>
            <a:graphicFrameLocks noChangeAspect="1"/>
          </p:cNvGraphicFramePr>
          <p:nvPr/>
        </p:nvGraphicFramePr>
        <p:xfrm>
          <a:off x="1646238" y="4445000"/>
          <a:ext cx="68214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43" name="公式" r:id="rId7" imgW="3225600" imgH="380880" progId="Equation.3">
                  <p:embed/>
                </p:oleObj>
              </mc:Choice>
              <mc:Fallback>
                <p:oleObj name="公式" r:id="rId7" imgW="32256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4445000"/>
                        <a:ext cx="6821487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10"/>
          <p:cNvGraphicFramePr>
            <a:graphicFrameLocks noChangeAspect="1"/>
          </p:cNvGraphicFramePr>
          <p:nvPr/>
        </p:nvGraphicFramePr>
        <p:xfrm>
          <a:off x="3357563" y="3654425"/>
          <a:ext cx="29035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44" name="公式" r:id="rId9" imgW="1320227" imgH="215806" progId="Equation.3">
                  <p:embed/>
                </p:oleObj>
              </mc:Choice>
              <mc:Fallback>
                <p:oleObj name="公式" r:id="rId9" imgW="132022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3654425"/>
                        <a:ext cx="2903537" cy="479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11"/>
          <p:cNvGraphicFramePr>
            <a:graphicFrameLocks noChangeAspect="1"/>
          </p:cNvGraphicFramePr>
          <p:nvPr/>
        </p:nvGraphicFramePr>
        <p:xfrm>
          <a:off x="2616200" y="5448300"/>
          <a:ext cx="536892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245" name="公式" r:id="rId11" imgW="2603160" imgH="482400" progId="Equation.3">
                  <p:embed/>
                </p:oleObj>
              </mc:Choice>
              <mc:Fallback>
                <p:oleObj name="公式" r:id="rId11" imgW="26031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5448300"/>
                        <a:ext cx="5368925" cy="1003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761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2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2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727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1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036888"/>
            <a:ext cx="7391400" cy="614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40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</a:t>
            </a:r>
            <a:r>
              <a:rPr lang="en-US" altLang="zh-CN" sz="240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PSK -</a:t>
            </a:r>
            <a:r>
              <a:rPr lang="zh-CN" altLang="en-US" sz="2400">
                <a:solidFill>
                  <a:srgbClr val="003399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差分相干解调</a:t>
            </a:r>
            <a:r>
              <a:rPr lang="zh-CN" altLang="en-US" sz="24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系统的</a:t>
            </a:r>
            <a:r>
              <a:rPr lang="zh-CN" altLang="en-US" sz="2400" b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总误码率</a:t>
            </a:r>
            <a:r>
              <a:rPr lang="zh-CN" altLang="en-US" sz="2400" b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为：</a:t>
            </a:r>
          </a:p>
        </p:txBody>
      </p:sp>
      <p:sp>
        <p:nvSpPr>
          <p:cNvPr id="62469" name="Rectangle 5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/>
        </p:nvGraphicFramePr>
        <p:xfrm>
          <a:off x="2366963" y="1808163"/>
          <a:ext cx="359886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4" name="公式" r:id="rId3" imgW="1562040" imgH="406080" progId="Equation.3">
                  <p:embed/>
                </p:oleObj>
              </mc:Choice>
              <mc:Fallback>
                <p:oleObj name="公式" r:id="rId3" imgW="15620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1808163"/>
                        <a:ext cx="3598862" cy="935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Rectangle 7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3731" name="Object 8"/>
          <p:cNvGraphicFramePr>
            <a:graphicFrameLocks noChangeAspect="1"/>
          </p:cNvGraphicFramePr>
          <p:nvPr/>
        </p:nvGraphicFramePr>
        <p:xfrm>
          <a:off x="3282950" y="3829050"/>
          <a:ext cx="1778000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5" name="公式" r:id="rId5" imgW="622080" imgH="393480" progId="Equation.3">
                  <p:embed/>
                </p:oleObj>
              </mc:Choice>
              <mc:Fallback>
                <p:oleObj name="公式" r:id="rId5" imgW="622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3829050"/>
                        <a:ext cx="1778000" cy="1125538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FF5B5B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FF5B5B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892175" y="1117600"/>
            <a:ext cx="4924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33CC"/>
              </a:buClr>
              <a:buSzPct val="55000"/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发“</a:t>
            </a:r>
            <a:r>
              <a:rPr lang="en-US" altLang="zh-CN" sz="2400" b="1">
                <a:solidFill>
                  <a:srgbClr val="FF0000"/>
                </a:solidFill>
                <a:ea typeface="华文中宋" panose="02010600040101010101" pitchFamily="2" charset="-122"/>
              </a:rPr>
              <a:t>0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错判为“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的概率为：</a:t>
            </a:r>
          </a:p>
        </p:txBody>
      </p:sp>
    </p:spTree>
    <p:extLst>
      <p:ext uri="{BB962C8B-B14F-4D97-AF65-F5344CB8AC3E}">
        <p14:creationId xmlns:p14="http://schemas.microsoft.com/office/powerpoint/2010/main" val="282909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58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539750"/>
            <a:ext cx="78009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967" name="Rectangle 15"/>
          <p:cNvSpPr>
            <a:spLocks noChangeArrowheads="1"/>
          </p:cNvSpPr>
          <p:nvPr/>
        </p:nvSpPr>
        <p:spPr bwMode="auto">
          <a:xfrm>
            <a:off x="790575" y="3338513"/>
            <a:ext cx="7607300" cy="563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400">
                <a:ea typeface="华文中宋" panose="02010600040101010101" pitchFamily="2" charset="-122"/>
              </a:rPr>
              <a:t>    </a:t>
            </a:r>
            <a:r>
              <a:rPr lang="en-US" altLang="zh-CN" sz="2400">
                <a:ea typeface="华文中宋" panose="02010600040101010101" pitchFamily="2" charset="-122"/>
                <a:cs typeface="Arial" panose="020B0604020202020204" pitchFamily="34" charset="0"/>
              </a:rPr>
              <a:t>(1) </a:t>
            </a:r>
            <a:r>
              <a:rPr lang="zh-CN" altLang="en-US" sz="2400">
                <a:ea typeface="华文中宋" panose="02010600040101010101" pitchFamily="2" charset="-122"/>
              </a:rPr>
              <a:t>接收端带通滤波器的带宽为</a:t>
            </a:r>
            <a:r>
              <a:rPr lang="en-US" altLang="zh-CN" sz="2400">
                <a:ea typeface="华文中宋" panose="02010600040101010101" pitchFamily="2" charset="-122"/>
              </a:rPr>
              <a:t>:</a:t>
            </a:r>
          </a:p>
          <a:p>
            <a:pPr lvl="3" eaLnBrk="1" hangingPunct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400">
              <a:ea typeface="华文中宋" panose="02010600040101010101" pitchFamily="2" charset="-122"/>
            </a:endParaRPr>
          </a:p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输出噪声功率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  <a:p>
            <a:pPr lvl="3" eaLnBrk="1" hangingPunct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None/>
            </a:pPr>
            <a:endParaRPr lang="en-US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90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  <a:endParaRPr lang="en-US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3716338" y="3833813"/>
          <a:ext cx="31051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62" name="Equation" r:id="rId4" imgW="1371600" imgH="228600" progId="Equation.DSMT4">
                  <p:embed/>
                </p:oleObj>
              </mc:Choice>
              <mc:Fallback>
                <p:oleObj name="Equation" r:id="rId4" imgW="1371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3833813"/>
                        <a:ext cx="3105150" cy="5159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Rectangle 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5958" name="Object 6"/>
          <p:cNvGraphicFramePr>
            <a:graphicFrameLocks noChangeAspect="1"/>
          </p:cNvGraphicFramePr>
          <p:nvPr/>
        </p:nvGraphicFramePr>
        <p:xfrm>
          <a:off x="2906713" y="4503738"/>
          <a:ext cx="5399087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63" r:id="rId6" imgW="2514600" imgH="241300" progId="Equation.3">
                  <p:embed/>
                </p:oleObj>
              </mc:Choice>
              <mc:Fallback>
                <p:oleObj r:id="rId6" imgW="2514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4503738"/>
                        <a:ext cx="5399087" cy="5254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0" name="Object 8"/>
          <p:cNvGraphicFramePr>
            <a:graphicFrameLocks noChangeAspect="1"/>
          </p:cNvGraphicFramePr>
          <p:nvPr/>
        </p:nvGraphicFramePr>
        <p:xfrm>
          <a:off x="1422400" y="5273675"/>
          <a:ext cx="23844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64" name="公式" r:id="rId8" imgW="1066680" imgH="406080" progId="Equation.3">
                  <p:embed/>
                </p:oleObj>
              </mc:Choice>
              <mc:Fallback>
                <p:oleObj name="公式" r:id="rId8" imgW="10666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5273675"/>
                        <a:ext cx="2384425" cy="900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64" name="Object 12"/>
          <p:cNvGraphicFramePr>
            <a:graphicFrameLocks noChangeAspect="1"/>
          </p:cNvGraphicFramePr>
          <p:nvPr/>
        </p:nvGraphicFramePr>
        <p:xfrm>
          <a:off x="5111750" y="5229225"/>
          <a:ext cx="2251075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65" name="Equation" r:id="rId10" imgW="952200" imgH="457200" progId="Equation.DSMT4">
                  <p:embed/>
                </p:oleObj>
              </mc:Choice>
              <mc:Fallback>
                <p:oleObj name="Equation" r:id="rId10" imgW="952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5229225"/>
                        <a:ext cx="2251075" cy="109696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D1D1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BEB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D1D1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6" name="Rectangle 14"/>
          <p:cNvSpPr>
            <a:spLocks noChangeArrowheads="1"/>
          </p:cNvSpPr>
          <p:nvPr/>
        </p:nvSpPr>
        <p:spPr bwMode="auto">
          <a:xfrm>
            <a:off x="4167188" y="5319713"/>
            <a:ext cx="1665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可得</a:t>
            </a:r>
            <a:r>
              <a:rPr lang="en-US" altLang="zh-CN" sz="240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</a:p>
        </p:txBody>
      </p:sp>
      <p:sp>
        <p:nvSpPr>
          <p:cNvPr id="125968" name="Rectangle 16"/>
          <p:cNvSpPr>
            <a:spLocks noChangeArrowheads="1"/>
          </p:cNvSpPr>
          <p:nvPr/>
        </p:nvSpPr>
        <p:spPr bwMode="auto">
          <a:xfrm>
            <a:off x="836613" y="5311775"/>
            <a:ext cx="1665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306388" y="3332163"/>
            <a:ext cx="842962" cy="496887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>
            <a:noFill/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解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411163" y="406400"/>
            <a:ext cx="649287" cy="692150"/>
            <a:chOff x="1655" y="845"/>
            <a:chExt cx="454" cy="453"/>
          </a:xfrm>
        </p:grpSpPr>
        <p:grpSp>
          <p:nvGrpSpPr>
            <p:cNvPr id="63502" name="Group 23"/>
            <p:cNvGrpSpPr>
              <a:grpSpLocks/>
            </p:cNvGrpSpPr>
            <p:nvPr/>
          </p:nvGrpSpPr>
          <p:grpSpPr bwMode="auto">
            <a:xfrm>
              <a:off x="1655" y="845"/>
              <a:ext cx="454" cy="453"/>
              <a:chOff x="1289" y="582"/>
              <a:chExt cx="668" cy="668"/>
            </a:xfrm>
          </p:grpSpPr>
          <p:sp>
            <p:nvSpPr>
              <p:cNvPr id="63504" name="Oval 24"/>
              <p:cNvSpPr>
                <a:spLocks noChangeArrowheads="1"/>
              </p:cNvSpPr>
              <p:nvPr/>
            </p:nvSpPr>
            <p:spPr bwMode="gray">
              <a:xfrm>
                <a:off x="1289" y="582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505" name="Oval 25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506" name="Oval 26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507" name="Oval 27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3508" name="Oval 28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63503" name="Text Box 29"/>
            <p:cNvSpPr txBox="1">
              <a:spLocks noChangeArrowheads="1"/>
            </p:cNvSpPr>
            <p:nvPr/>
          </p:nvSpPr>
          <p:spPr bwMode="gray">
            <a:xfrm>
              <a:off x="1666" y="902"/>
              <a:ext cx="379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0000CC"/>
                  </a:solidFill>
                </a:rPr>
                <a:t>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69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259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259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2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6" grpId="0"/>
      <p:bldP spid="125968" grpId="0"/>
      <p:bldP spid="1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985" name="Object 9"/>
          <p:cNvGraphicFramePr>
            <a:graphicFrameLocks noChangeAspect="1"/>
          </p:cNvGraphicFramePr>
          <p:nvPr/>
        </p:nvGraphicFramePr>
        <p:xfrm>
          <a:off x="2127250" y="1073150"/>
          <a:ext cx="5387975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67" name="Equation" r:id="rId3" imgW="2705040" imgH="419040" progId="Equation.DSMT4">
                  <p:embed/>
                </p:oleObj>
              </mc:Choice>
              <mc:Fallback>
                <p:oleObj name="Equation" r:id="rId3" imgW="2705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1073150"/>
                        <a:ext cx="5387975" cy="836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7777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1" name="Rectangle 13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6988" name="Object 12"/>
          <p:cNvGraphicFramePr>
            <a:graphicFrameLocks noChangeAspect="1"/>
          </p:cNvGraphicFramePr>
          <p:nvPr/>
        </p:nvGraphicFramePr>
        <p:xfrm>
          <a:off x="1962150" y="2484438"/>
          <a:ext cx="4545013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68" name="Equation" r:id="rId5" imgW="1993680" imgH="253800" progId="Equation.DSMT4">
                  <p:embed/>
                </p:oleObj>
              </mc:Choice>
              <mc:Fallback>
                <p:oleObj name="Equation" r:id="rId5" imgW="1993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2484438"/>
                        <a:ext cx="4545013" cy="5889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6666FF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0" name="Object 14"/>
          <p:cNvGraphicFramePr>
            <a:graphicFrameLocks noChangeAspect="1"/>
          </p:cNvGraphicFramePr>
          <p:nvPr/>
        </p:nvGraphicFramePr>
        <p:xfrm>
          <a:off x="6562725" y="2528888"/>
          <a:ext cx="8985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69" name="Equation" r:id="rId7" imgW="393480" imgH="203040" progId="Equation.DSMT4">
                  <p:embed/>
                </p:oleObj>
              </mc:Choice>
              <mc:Fallback>
                <p:oleObj name="Equation" r:id="rId7" imgW="393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2528888"/>
                        <a:ext cx="898525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4" name="Object 18"/>
          <p:cNvGraphicFramePr>
            <a:graphicFrameLocks noChangeAspect="1"/>
          </p:cNvGraphicFramePr>
          <p:nvPr/>
        </p:nvGraphicFramePr>
        <p:xfrm>
          <a:off x="2141538" y="3203575"/>
          <a:ext cx="40513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70" name="公式" r:id="rId9" imgW="1727200" imgH="241300" progId="Equation.3">
                  <p:embed/>
                </p:oleObj>
              </mc:Choice>
              <mc:Fallback>
                <p:oleObj name="公式" r:id="rId9" imgW="17272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3203575"/>
                        <a:ext cx="4051300" cy="587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6" name="Object 20"/>
          <p:cNvGraphicFramePr>
            <a:graphicFrameLocks noChangeAspect="1"/>
          </p:cNvGraphicFramePr>
          <p:nvPr/>
        </p:nvGraphicFramePr>
        <p:xfrm>
          <a:off x="3671888" y="3962400"/>
          <a:ext cx="15748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71" name="公式" r:id="rId11" imgW="660113" imgH="215806" progId="Equation.3">
                  <p:embed/>
                </p:oleObj>
              </mc:Choice>
              <mc:Fallback>
                <p:oleObj name="公式" r:id="rId11" imgW="66011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3962400"/>
                        <a:ext cx="1574800" cy="5254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8" name="Object 22"/>
          <p:cNvGraphicFramePr>
            <a:graphicFrameLocks noChangeAspect="1"/>
          </p:cNvGraphicFramePr>
          <p:nvPr/>
        </p:nvGraphicFramePr>
        <p:xfrm>
          <a:off x="5651500" y="4006850"/>
          <a:ext cx="14620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72" name="公式" r:id="rId13" imgW="545626" imgH="177646" progId="Equation.3">
                  <p:embed/>
                </p:oleObj>
              </mc:Choice>
              <mc:Fallback>
                <p:oleObj name="公式" r:id="rId13" imgW="545626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006850"/>
                        <a:ext cx="1462088" cy="4889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00" name="Object 24"/>
          <p:cNvGraphicFramePr>
            <a:graphicFrameLocks noChangeAspect="1"/>
          </p:cNvGraphicFramePr>
          <p:nvPr/>
        </p:nvGraphicFramePr>
        <p:xfrm>
          <a:off x="1685925" y="5345113"/>
          <a:ext cx="5907088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73" name="Equation" r:id="rId15" imgW="2793960" imgH="419040" progId="Equation.DSMT4">
                  <p:embed/>
                </p:oleObj>
              </mc:Choice>
              <mc:Fallback>
                <p:oleObj name="Equation" r:id="rId15" imgW="2793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925" y="5345113"/>
                        <a:ext cx="5907088" cy="884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777777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527050" y="539750"/>
            <a:ext cx="5738813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因此，接收机输入端所需的信号功率为：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93700" y="2006600"/>
            <a:ext cx="718185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2400" kern="0" dirty="0">
                <a:solidFill>
                  <a:srgbClr val="000000"/>
                </a:solidFill>
                <a:ea typeface="华文中宋" pitchFamily="2" charset="-122"/>
              </a:rPr>
              <a:t>2</a:t>
            </a: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）相干解调</a:t>
            </a:r>
            <a:r>
              <a:rPr lang="en-US" altLang="zh-CN" sz="2400" kern="0" dirty="0">
                <a:solidFill>
                  <a:srgbClr val="000000"/>
                </a:solidFill>
                <a:ea typeface="华文中宋" pitchFamily="2" charset="-122"/>
              </a:rPr>
              <a:t>-</a:t>
            </a: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码反变换的</a:t>
            </a:r>
            <a:r>
              <a:rPr lang="en-US" altLang="zh-CN" sz="2400" kern="0" dirty="0">
                <a:solidFill>
                  <a:srgbClr val="000000"/>
                </a:solidFill>
                <a:ea typeface="华文中宋" pitchFamily="2" charset="-122"/>
              </a:rPr>
              <a:t>2DPSK</a:t>
            </a: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系统：</a:t>
            </a:r>
          </a:p>
        </p:txBody>
      </p:sp>
      <p:sp>
        <p:nvSpPr>
          <p:cNvPr id="14" name="矩形 13"/>
          <p:cNvSpPr/>
          <p:nvPr/>
        </p:nvSpPr>
        <p:spPr>
          <a:xfrm>
            <a:off x="660400" y="3206750"/>
            <a:ext cx="1108075" cy="534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即有：</a:t>
            </a:r>
          </a:p>
        </p:txBody>
      </p:sp>
      <p:sp>
        <p:nvSpPr>
          <p:cNvPr id="15" name="矩形 14"/>
          <p:cNvSpPr/>
          <p:nvPr/>
        </p:nvSpPr>
        <p:spPr>
          <a:xfrm>
            <a:off x="615950" y="4005263"/>
            <a:ext cx="3657600" cy="5349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查误差函数表，可得</a:t>
            </a:r>
          </a:p>
        </p:txBody>
      </p:sp>
      <p:sp>
        <p:nvSpPr>
          <p:cNvPr id="16" name="矩形 15"/>
          <p:cNvSpPr/>
          <p:nvPr/>
        </p:nvSpPr>
        <p:spPr>
          <a:xfrm>
            <a:off x="619125" y="4735513"/>
            <a:ext cx="7686675" cy="5603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由 </a:t>
            </a:r>
            <a:r>
              <a:rPr lang="en-US" altLang="zh-CN" sz="2800" i="1" kern="0" dirty="0">
                <a:solidFill>
                  <a:srgbClr val="FF0000"/>
                </a:solidFill>
                <a:ea typeface="华文中宋" pitchFamily="2" charset="-122"/>
              </a:rPr>
              <a:t>r</a:t>
            </a:r>
            <a:r>
              <a:rPr lang="en-US" altLang="zh-CN" sz="2800" kern="0" dirty="0">
                <a:solidFill>
                  <a:srgbClr val="FF0000"/>
                </a:solidFill>
                <a:ea typeface="华文中宋" pitchFamily="2" charset="-122"/>
              </a:rPr>
              <a:t> = </a:t>
            </a:r>
            <a:r>
              <a:rPr lang="en-US" altLang="zh-CN" sz="2800" i="1" kern="0" dirty="0">
                <a:solidFill>
                  <a:srgbClr val="FF0000"/>
                </a:solidFill>
                <a:ea typeface="华文中宋" pitchFamily="2" charset="-122"/>
              </a:rPr>
              <a:t>a</a:t>
            </a:r>
            <a:r>
              <a:rPr lang="en-US" altLang="zh-CN" sz="2800" kern="0" baseline="30000" dirty="0">
                <a:solidFill>
                  <a:srgbClr val="FF0000"/>
                </a:solidFill>
                <a:ea typeface="华文中宋" pitchFamily="2" charset="-122"/>
              </a:rPr>
              <a:t>2</a:t>
            </a:r>
            <a:r>
              <a:rPr lang="en-US" altLang="zh-CN" sz="2800" kern="0" dirty="0">
                <a:solidFill>
                  <a:srgbClr val="FF0000"/>
                </a:solidFill>
                <a:ea typeface="华文中宋" pitchFamily="2" charset="-122"/>
              </a:rPr>
              <a:t> / 2</a:t>
            </a:r>
            <a:r>
              <a:rPr lang="en-US" altLang="zh-CN" sz="2800" i="1" kern="0" dirty="0">
                <a:solidFill>
                  <a:srgbClr val="FF0000"/>
                </a:solidFill>
                <a:ea typeface="华文中宋" pitchFamily="2" charset="-122"/>
                <a:sym typeface="Symbol" pitchFamily="18" charset="2"/>
              </a:rPr>
              <a:t></a:t>
            </a:r>
            <a:r>
              <a:rPr lang="en-US" altLang="zh-CN" sz="2800" kern="0" baseline="-25000" dirty="0">
                <a:solidFill>
                  <a:srgbClr val="FF0000"/>
                </a:solidFill>
                <a:ea typeface="华文中宋" pitchFamily="2" charset="-122"/>
                <a:sym typeface="Symbol" pitchFamily="18" charset="2"/>
              </a:rPr>
              <a:t>n</a:t>
            </a:r>
            <a:r>
              <a:rPr lang="en-US" altLang="zh-CN" sz="2800" kern="0" baseline="30000" dirty="0">
                <a:solidFill>
                  <a:srgbClr val="FF0000"/>
                </a:solidFill>
                <a:ea typeface="华文中宋" pitchFamily="2" charset="-122"/>
                <a:sym typeface="Symbol" pitchFamily="18" charset="2"/>
              </a:rPr>
              <a:t>2</a:t>
            </a:r>
            <a:r>
              <a:rPr lang="zh-CN" altLang="en-US" sz="2400" kern="0" dirty="0">
                <a:solidFill>
                  <a:srgbClr val="000000"/>
                </a:solidFill>
                <a:ea typeface="华文中宋" pitchFamily="2" charset="-122"/>
              </a:rPr>
              <a:t>可得接收机输入端所需的信号功率： </a:t>
            </a:r>
          </a:p>
        </p:txBody>
      </p:sp>
    </p:spTree>
    <p:extLst>
      <p:ext uri="{BB962C8B-B14F-4D97-AF65-F5344CB8AC3E}">
        <p14:creationId xmlns:p14="http://schemas.microsoft.com/office/powerpoint/2010/main" val="314026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12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26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26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2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27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1450" y="1028700"/>
            <a:ext cx="2341563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 algn="ctr">
              <a:defRPr/>
            </a:pPr>
            <a:r>
              <a:rPr lang="en-US" altLang="en-US" sz="4000" b="1" u="sng" kern="0" dirty="0">
                <a:solidFill>
                  <a:srgbClr val="800080"/>
                </a:solidFill>
                <a:latin typeface="+mj-lt"/>
                <a:ea typeface="+mj-ea"/>
                <a:cs typeface="+mj-cs"/>
              </a:rPr>
              <a:t>§</a:t>
            </a:r>
            <a:r>
              <a:rPr lang="en-US" altLang="zh-CN" sz="4000" b="1" u="sng" kern="0" dirty="0">
                <a:solidFill>
                  <a:srgbClr val="800080"/>
                </a:solidFill>
                <a:latin typeface="+mj-lt"/>
                <a:ea typeface="+mj-ea"/>
                <a:cs typeface="+mj-cs"/>
              </a:rPr>
              <a:t>7.3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03300" y="2908300"/>
            <a:ext cx="823595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ts val="62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en-US" altLang="zh-CN" sz="4800" kern="0" dirty="0">
                <a:solidFill>
                  <a:srgbClr val="003399"/>
                </a:solidFill>
                <a:latin typeface="华文中宋" pitchFamily="2" charset="-122"/>
                <a:ea typeface="华文中宋" pitchFamily="2" charset="-122"/>
              </a:rPr>
              <a:t>      </a:t>
            </a:r>
            <a:r>
              <a:rPr lang="zh-CN" altLang="en-US" sz="40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二进制数字调制系统</a:t>
            </a:r>
          </a:p>
          <a:p>
            <a:pPr marL="342900" indent="-342900">
              <a:lnSpc>
                <a:spcPts val="6200"/>
              </a:lnSpc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sz="4000" b="1" kern="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                 性能比较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defRPr/>
            </a:pPr>
            <a:r>
              <a:rPr lang="zh-CN" altLang="en-US" sz="4800" kern="0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6227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32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" t="1601" r="1143" b="1613"/>
          <a:stretch>
            <a:fillRect/>
          </a:stretch>
        </p:blipFill>
        <p:spPr bwMode="auto">
          <a:xfrm>
            <a:off x="660400" y="1103313"/>
            <a:ext cx="76009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6982" name="Object 38"/>
          <p:cNvGraphicFramePr>
            <a:graphicFrameLocks noChangeAspect="1"/>
          </p:cNvGraphicFramePr>
          <p:nvPr/>
        </p:nvGraphicFramePr>
        <p:xfrm>
          <a:off x="4418013" y="2362200"/>
          <a:ext cx="166528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3" name="Equation" r:id="rId4" imgW="787320" imgH="457200" progId="Equation.DSMT4">
                  <p:embed/>
                </p:oleObj>
              </mc:Choice>
              <mc:Fallback>
                <p:oleObj name="Equation" r:id="rId4" imgW="78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2362200"/>
                        <a:ext cx="1665287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3" name="Object 39"/>
          <p:cNvGraphicFramePr>
            <a:graphicFrameLocks noChangeAspect="1"/>
          </p:cNvGraphicFramePr>
          <p:nvPr/>
        </p:nvGraphicFramePr>
        <p:xfrm>
          <a:off x="2141538" y="2413000"/>
          <a:ext cx="20240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4" name="Equation" r:id="rId6" imgW="1066680" imgH="507960" progId="Equation.DSMT4">
                  <p:embed/>
                </p:oleObj>
              </mc:Choice>
              <mc:Fallback>
                <p:oleObj name="Equation" r:id="rId6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2413000"/>
                        <a:ext cx="20240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4" name="Object 40"/>
          <p:cNvGraphicFramePr>
            <a:graphicFrameLocks noChangeAspect="1"/>
          </p:cNvGraphicFramePr>
          <p:nvPr/>
        </p:nvGraphicFramePr>
        <p:xfrm>
          <a:off x="6391275" y="2362200"/>
          <a:ext cx="16922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5" name="Equation" r:id="rId8" imgW="711000" imgH="393480" progId="Equation.DSMT4">
                  <p:embed/>
                </p:oleObj>
              </mc:Choice>
              <mc:Fallback>
                <p:oleObj name="Equation" r:id="rId8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1275" y="2362200"/>
                        <a:ext cx="16922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5" name="Object 41"/>
          <p:cNvGraphicFramePr>
            <a:graphicFrameLocks noChangeAspect="1"/>
          </p:cNvGraphicFramePr>
          <p:nvPr/>
        </p:nvGraphicFramePr>
        <p:xfrm>
          <a:off x="2141538" y="3416300"/>
          <a:ext cx="20240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6" name="Equation" r:id="rId10" imgW="1066680" imgH="507960" progId="Equation.DSMT4">
                  <p:embed/>
                </p:oleObj>
              </mc:Choice>
              <mc:Fallback>
                <p:oleObj name="Equation" r:id="rId10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3416300"/>
                        <a:ext cx="202406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6" name="Object 42"/>
          <p:cNvGraphicFramePr>
            <a:graphicFrameLocks noChangeAspect="1"/>
          </p:cNvGraphicFramePr>
          <p:nvPr/>
        </p:nvGraphicFramePr>
        <p:xfrm>
          <a:off x="4383088" y="3352800"/>
          <a:ext cx="17891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7" name="Equation" r:id="rId12" imgW="838080" imgH="457200" progId="Equation.DSMT4">
                  <p:embed/>
                </p:oleObj>
              </mc:Choice>
              <mc:Fallback>
                <p:oleObj name="Equation" r:id="rId12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3352800"/>
                        <a:ext cx="1789112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7" name="Object 43"/>
          <p:cNvGraphicFramePr>
            <a:graphicFrameLocks noChangeAspect="1"/>
          </p:cNvGraphicFramePr>
          <p:nvPr/>
        </p:nvGraphicFramePr>
        <p:xfrm>
          <a:off x="6370638" y="3352800"/>
          <a:ext cx="17557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8" name="Equation" r:id="rId14" imgW="711000" imgH="393480" progId="Equation.DSMT4">
                  <p:embed/>
                </p:oleObj>
              </mc:Choice>
              <mc:Fallback>
                <p:oleObj name="Equation" r:id="rId14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3352800"/>
                        <a:ext cx="175577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8" name="Object 44"/>
          <p:cNvGraphicFramePr>
            <a:graphicFrameLocks noChangeAspect="1"/>
          </p:cNvGraphicFramePr>
          <p:nvPr/>
        </p:nvGraphicFramePr>
        <p:xfrm>
          <a:off x="2139950" y="4540250"/>
          <a:ext cx="20272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59" name="Equation" r:id="rId16" imgW="1002960" imgH="393480" progId="Equation.DSMT4">
                  <p:embed/>
                </p:oleObj>
              </mc:Choice>
              <mc:Fallback>
                <p:oleObj name="Equation" r:id="rId16" imgW="1002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4540250"/>
                        <a:ext cx="2027238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9" name="Object 45"/>
          <p:cNvGraphicFramePr>
            <a:graphicFrameLocks noChangeAspect="1"/>
          </p:cNvGraphicFramePr>
          <p:nvPr/>
        </p:nvGraphicFramePr>
        <p:xfrm>
          <a:off x="4387850" y="4416425"/>
          <a:ext cx="170973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60" name="Equation" r:id="rId18" imgW="774360" imgH="457200" progId="Equation.DSMT4">
                  <p:embed/>
                </p:oleObj>
              </mc:Choice>
              <mc:Fallback>
                <p:oleObj name="Equation" r:id="rId18" imgW="7743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4416425"/>
                        <a:ext cx="170973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0" name="Object 46"/>
          <p:cNvGraphicFramePr>
            <a:graphicFrameLocks noChangeAspect="1"/>
          </p:cNvGraphicFramePr>
          <p:nvPr/>
        </p:nvGraphicFramePr>
        <p:xfrm>
          <a:off x="2139950" y="5651500"/>
          <a:ext cx="1981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61" name="Equation" r:id="rId20" imgW="863280" imgH="253800" progId="Equation.DSMT4">
                  <p:embed/>
                </p:oleObj>
              </mc:Choice>
              <mc:Fallback>
                <p:oleObj name="Equation" r:id="rId20" imgW="863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5651500"/>
                        <a:ext cx="1981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1" name="Object 47"/>
          <p:cNvGraphicFramePr>
            <a:graphicFrameLocks noChangeAspect="1"/>
          </p:cNvGraphicFramePr>
          <p:nvPr/>
        </p:nvGraphicFramePr>
        <p:xfrm>
          <a:off x="4419600" y="5491163"/>
          <a:ext cx="14859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62" name="Equation" r:id="rId22" imgW="698400" imgH="457200" progId="Equation.DSMT4">
                  <p:embed/>
                </p:oleObj>
              </mc:Choice>
              <mc:Fallback>
                <p:oleObj name="Equation" r:id="rId22" imgW="69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91163"/>
                        <a:ext cx="148590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2" name="Object 48"/>
          <p:cNvGraphicFramePr>
            <a:graphicFrameLocks noChangeAspect="1"/>
          </p:cNvGraphicFramePr>
          <p:nvPr/>
        </p:nvGraphicFramePr>
        <p:xfrm>
          <a:off x="6430963" y="5481638"/>
          <a:ext cx="1519237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63" name="Equation" r:id="rId24" imgW="622080" imgH="393480" progId="Equation.DSMT4">
                  <p:embed/>
                </p:oleObj>
              </mc:Choice>
              <mc:Fallback>
                <p:oleObj name="Equation" r:id="rId24" imgW="622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5481638"/>
                        <a:ext cx="1519237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7" name="Rectangle 50"/>
          <p:cNvSpPr>
            <a:spLocks noChangeArrowheads="1"/>
          </p:cNvSpPr>
          <p:nvPr/>
        </p:nvSpPr>
        <p:spPr bwMode="auto">
          <a:xfrm>
            <a:off x="-6350" y="361950"/>
            <a:ext cx="4356100" cy="577850"/>
          </a:xfrm>
          <a:prstGeom prst="rect">
            <a:avLst/>
          </a:prstGeom>
          <a:solidFill>
            <a:srgbClr val="003399"/>
          </a:solidFill>
          <a:ln w="9525">
            <a:solidFill>
              <a:srgbClr val="D9D9FF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   </a:t>
            </a:r>
            <a:r>
              <a:rPr lang="en-US" altLang="zh-CN" sz="3200" b="1" u="sng" dirty="0">
                <a:solidFill>
                  <a:schemeClr val="bg1">
                    <a:lumMod val="95000"/>
                  </a:schemeClr>
                </a:solidFill>
                <a:cs typeface="Arial" charset="0"/>
                <a:sym typeface="Wingdings" pitchFamily="2" charset="2"/>
              </a:rPr>
              <a:t>1</a:t>
            </a:r>
            <a:r>
              <a:rPr lang="en-US" altLang="zh-CN" sz="3200" b="1" u="sng" dirty="0">
                <a:solidFill>
                  <a:srgbClr val="800080"/>
                </a:solidFill>
                <a:cs typeface="Arial" charset="0"/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rgbClr val="800080"/>
                </a:solidFill>
                <a:cs typeface="Arial" charset="0"/>
                <a:sym typeface="Wingdings" pitchFamily="2" charset="2"/>
              </a:rPr>
              <a:t>   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Wingdings" pitchFamily="2" charset="2"/>
              </a:rPr>
              <a:t>误码率 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——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可靠性 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  <a:sym typeface="Wingdings" pitchFamily="2" charset="2"/>
            </a:endParaRPr>
          </a:p>
        </p:txBody>
      </p:sp>
      <p:graphicFrame>
        <p:nvGraphicFramePr>
          <p:cNvPr id="67633" name="Object 7"/>
          <p:cNvGraphicFramePr>
            <a:graphicFrameLocks noChangeAspect="1"/>
          </p:cNvGraphicFramePr>
          <p:nvPr/>
        </p:nvGraphicFramePr>
        <p:xfrm>
          <a:off x="4972050" y="184150"/>
          <a:ext cx="111125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64" name="Equation" r:id="rId26" imgW="558800" imgH="457200" progId="Equation.DSMT4">
                  <p:embed/>
                </p:oleObj>
              </mc:Choice>
              <mc:Fallback>
                <p:oleObj name="Equation" r:id="rId26" imgW="558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050" y="184150"/>
                        <a:ext cx="1111250" cy="9032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34" name="Object 8"/>
          <p:cNvGraphicFramePr>
            <a:graphicFrameLocks noChangeAspect="1"/>
          </p:cNvGraphicFramePr>
          <p:nvPr/>
        </p:nvGraphicFramePr>
        <p:xfrm>
          <a:off x="6261100" y="188913"/>
          <a:ext cx="23558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565" name="Equation" r:id="rId28" imgW="1104840" imgH="431640" progId="Equation.DSMT4">
                  <p:embed/>
                </p:oleObj>
              </mc:Choice>
              <mc:Fallback>
                <p:oleObj name="Equation" r:id="rId28" imgW="1104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1100" y="188913"/>
                        <a:ext cx="2355850" cy="9144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rgbClr val="FFFFCC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936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6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7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6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6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66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6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6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6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66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6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46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6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46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6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4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3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" t="1601" r="1143" b="1613"/>
          <a:stretch>
            <a:fillRect/>
          </a:stretch>
        </p:blipFill>
        <p:spPr bwMode="auto">
          <a:xfrm>
            <a:off x="660400" y="1103313"/>
            <a:ext cx="76009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6982" name="Object 38"/>
          <p:cNvGraphicFramePr>
            <a:graphicFrameLocks noChangeAspect="1"/>
          </p:cNvGraphicFramePr>
          <p:nvPr/>
        </p:nvGraphicFramePr>
        <p:xfrm>
          <a:off x="4418013" y="2362200"/>
          <a:ext cx="166528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3" name="Equation" r:id="rId4" imgW="787320" imgH="457200" progId="Equation.DSMT4">
                  <p:embed/>
                </p:oleObj>
              </mc:Choice>
              <mc:Fallback>
                <p:oleObj name="Equation" r:id="rId4" imgW="78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2362200"/>
                        <a:ext cx="1665287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3" name="Object 39"/>
          <p:cNvGraphicFramePr>
            <a:graphicFrameLocks noChangeAspect="1"/>
          </p:cNvGraphicFramePr>
          <p:nvPr/>
        </p:nvGraphicFramePr>
        <p:xfrm>
          <a:off x="2141538" y="2413000"/>
          <a:ext cx="20240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4" name="Equation" r:id="rId6" imgW="1066680" imgH="507960" progId="Equation.DSMT4">
                  <p:embed/>
                </p:oleObj>
              </mc:Choice>
              <mc:Fallback>
                <p:oleObj name="Equation" r:id="rId6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2413000"/>
                        <a:ext cx="20240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4" name="Object 40"/>
          <p:cNvGraphicFramePr>
            <a:graphicFrameLocks noChangeAspect="1"/>
          </p:cNvGraphicFramePr>
          <p:nvPr/>
        </p:nvGraphicFramePr>
        <p:xfrm>
          <a:off x="6391275" y="2362200"/>
          <a:ext cx="16922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5" name="Equation" r:id="rId8" imgW="711000" imgH="393480" progId="Equation.DSMT4">
                  <p:embed/>
                </p:oleObj>
              </mc:Choice>
              <mc:Fallback>
                <p:oleObj name="Equation" r:id="rId8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1275" y="2362200"/>
                        <a:ext cx="16922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5" name="Object 41"/>
          <p:cNvGraphicFramePr>
            <a:graphicFrameLocks noChangeAspect="1"/>
          </p:cNvGraphicFramePr>
          <p:nvPr/>
        </p:nvGraphicFramePr>
        <p:xfrm>
          <a:off x="2141538" y="3416300"/>
          <a:ext cx="20240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6" name="Equation" r:id="rId10" imgW="1066680" imgH="507960" progId="Equation.DSMT4">
                  <p:embed/>
                </p:oleObj>
              </mc:Choice>
              <mc:Fallback>
                <p:oleObj name="Equation" r:id="rId10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3416300"/>
                        <a:ext cx="202406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6" name="Object 42"/>
          <p:cNvGraphicFramePr>
            <a:graphicFrameLocks noChangeAspect="1"/>
          </p:cNvGraphicFramePr>
          <p:nvPr/>
        </p:nvGraphicFramePr>
        <p:xfrm>
          <a:off x="4383088" y="3352800"/>
          <a:ext cx="17891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7" name="Equation" r:id="rId12" imgW="838080" imgH="457200" progId="Equation.DSMT4">
                  <p:embed/>
                </p:oleObj>
              </mc:Choice>
              <mc:Fallback>
                <p:oleObj name="Equation" r:id="rId12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3352800"/>
                        <a:ext cx="1789112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7" name="Object 43"/>
          <p:cNvGraphicFramePr>
            <a:graphicFrameLocks noChangeAspect="1"/>
          </p:cNvGraphicFramePr>
          <p:nvPr/>
        </p:nvGraphicFramePr>
        <p:xfrm>
          <a:off x="6370638" y="3352800"/>
          <a:ext cx="17557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8" name="Equation" r:id="rId14" imgW="711000" imgH="393480" progId="Equation.DSMT4">
                  <p:embed/>
                </p:oleObj>
              </mc:Choice>
              <mc:Fallback>
                <p:oleObj name="Equation" r:id="rId14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3352800"/>
                        <a:ext cx="175577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8" name="Object 44"/>
          <p:cNvGraphicFramePr>
            <a:graphicFrameLocks noChangeAspect="1"/>
          </p:cNvGraphicFramePr>
          <p:nvPr/>
        </p:nvGraphicFramePr>
        <p:xfrm>
          <a:off x="2139950" y="4540250"/>
          <a:ext cx="20272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29" name="Equation" r:id="rId16" imgW="1002960" imgH="393480" progId="Equation.DSMT4">
                  <p:embed/>
                </p:oleObj>
              </mc:Choice>
              <mc:Fallback>
                <p:oleObj name="Equation" r:id="rId16" imgW="1002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4540250"/>
                        <a:ext cx="2027238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9" name="Object 45"/>
          <p:cNvGraphicFramePr>
            <a:graphicFrameLocks noChangeAspect="1"/>
          </p:cNvGraphicFramePr>
          <p:nvPr/>
        </p:nvGraphicFramePr>
        <p:xfrm>
          <a:off x="4387850" y="4416425"/>
          <a:ext cx="170973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30" name="Equation" r:id="rId18" imgW="774360" imgH="457200" progId="Equation.DSMT4">
                  <p:embed/>
                </p:oleObj>
              </mc:Choice>
              <mc:Fallback>
                <p:oleObj name="Equation" r:id="rId18" imgW="7743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4416425"/>
                        <a:ext cx="170973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0" name="Object 46"/>
          <p:cNvGraphicFramePr>
            <a:graphicFrameLocks noChangeAspect="1"/>
          </p:cNvGraphicFramePr>
          <p:nvPr/>
        </p:nvGraphicFramePr>
        <p:xfrm>
          <a:off x="2139950" y="5651500"/>
          <a:ext cx="1981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31" name="Equation" r:id="rId20" imgW="863280" imgH="253800" progId="Equation.DSMT4">
                  <p:embed/>
                </p:oleObj>
              </mc:Choice>
              <mc:Fallback>
                <p:oleObj name="Equation" r:id="rId20" imgW="863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5651500"/>
                        <a:ext cx="1981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1" name="Object 47"/>
          <p:cNvGraphicFramePr>
            <a:graphicFrameLocks noChangeAspect="1"/>
          </p:cNvGraphicFramePr>
          <p:nvPr/>
        </p:nvGraphicFramePr>
        <p:xfrm>
          <a:off x="4419600" y="5491163"/>
          <a:ext cx="14859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32" name="Equation" r:id="rId22" imgW="698400" imgH="457200" progId="Equation.DSMT4">
                  <p:embed/>
                </p:oleObj>
              </mc:Choice>
              <mc:Fallback>
                <p:oleObj name="Equation" r:id="rId22" imgW="69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91163"/>
                        <a:ext cx="148590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2" name="Object 48"/>
          <p:cNvGraphicFramePr>
            <a:graphicFrameLocks noChangeAspect="1"/>
          </p:cNvGraphicFramePr>
          <p:nvPr/>
        </p:nvGraphicFramePr>
        <p:xfrm>
          <a:off x="6430963" y="5481638"/>
          <a:ext cx="1519237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533" name="Equation" r:id="rId24" imgW="622080" imgH="393480" progId="Equation.DSMT4">
                  <p:embed/>
                </p:oleObj>
              </mc:Choice>
              <mc:Fallback>
                <p:oleObj name="Equation" r:id="rId24" imgW="622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5481638"/>
                        <a:ext cx="1519237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椭圆 14"/>
          <p:cNvSpPr/>
          <p:nvPr/>
        </p:nvSpPr>
        <p:spPr bwMode="auto">
          <a:xfrm>
            <a:off x="711200" y="273050"/>
            <a:ext cx="1071563" cy="7143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讨论</a:t>
            </a:r>
          </a:p>
        </p:txBody>
      </p:sp>
      <p:pic>
        <p:nvPicPr>
          <p:cNvPr id="68623" name="Picture 53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072"/>
          <a:stretch>
            <a:fillRect/>
          </a:stretch>
        </p:blipFill>
        <p:spPr bwMode="auto">
          <a:xfrm>
            <a:off x="622300" y="1117600"/>
            <a:ext cx="78613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600450" y="1781175"/>
            <a:ext cx="4527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2PSK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2DPSK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2FSK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2ASK</a:t>
            </a:r>
            <a:endParaRPr lang="zh-CN" altLang="en-US" b="1">
              <a:solidFill>
                <a:srgbClr val="0000CC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082800" y="2406650"/>
            <a:ext cx="2178050" cy="40449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71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20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98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" t="1601" r="1143" b="1613"/>
          <a:stretch>
            <a:fillRect/>
          </a:stretch>
        </p:blipFill>
        <p:spPr bwMode="auto">
          <a:xfrm>
            <a:off x="660400" y="1103313"/>
            <a:ext cx="76009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6982" name="Object 38"/>
          <p:cNvGraphicFramePr>
            <a:graphicFrameLocks noChangeAspect="1"/>
          </p:cNvGraphicFramePr>
          <p:nvPr/>
        </p:nvGraphicFramePr>
        <p:xfrm>
          <a:off x="4418013" y="2362200"/>
          <a:ext cx="166528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74" name="Equation" r:id="rId4" imgW="787320" imgH="457200" progId="Equation.DSMT4">
                  <p:embed/>
                </p:oleObj>
              </mc:Choice>
              <mc:Fallback>
                <p:oleObj name="Equation" r:id="rId4" imgW="78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2362200"/>
                        <a:ext cx="1665287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3" name="Object 39"/>
          <p:cNvGraphicFramePr>
            <a:graphicFrameLocks noChangeAspect="1"/>
          </p:cNvGraphicFramePr>
          <p:nvPr/>
        </p:nvGraphicFramePr>
        <p:xfrm>
          <a:off x="2141538" y="2413000"/>
          <a:ext cx="20240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75" name="Equation" r:id="rId6" imgW="1066680" imgH="507960" progId="Equation.DSMT4">
                  <p:embed/>
                </p:oleObj>
              </mc:Choice>
              <mc:Fallback>
                <p:oleObj name="Equation" r:id="rId6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2413000"/>
                        <a:ext cx="20240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4" name="Object 40"/>
          <p:cNvGraphicFramePr>
            <a:graphicFrameLocks noChangeAspect="1"/>
          </p:cNvGraphicFramePr>
          <p:nvPr/>
        </p:nvGraphicFramePr>
        <p:xfrm>
          <a:off x="6391275" y="2362200"/>
          <a:ext cx="16922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76" name="Equation" r:id="rId8" imgW="711000" imgH="393480" progId="Equation.DSMT4">
                  <p:embed/>
                </p:oleObj>
              </mc:Choice>
              <mc:Fallback>
                <p:oleObj name="Equation" r:id="rId8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1275" y="2362200"/>
                        <a:ext cx="16922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5" name="Object 41"/>
          <p:cNvGraphicFramePr>
            <a:graphicFrameLocks noChangeAspect="1"/>
          </p:cNvGraphicFramePr>
          <p:nvPr/>
        </p:nvGraphicFramePr>
        <p:xfrm>
          <a:off x="2141538" y="3416300"/>
          <a:ext cx="20240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77" name="Equation" r:id="rId10" imgW="1066680" imgH="507960" progId="Equation.DSMT4">
                  <p:embed/>
                </p:oleObj>
              </mc:Choice>
              <mc:Fallback>
                <p:oleObj name="Equation" r:id="rId10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3416300"/>
                        <a:ext cx="202406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6" name="Object 42"/>
          <p:cNvGraphicFramePr>
            <a:graphicFrameLocks noChangeAspect="1"/>
          </p:cNvGraphicFramePr>
          <p:nvPr/>
        </p:nvGraphicFramePr>
        <p:xfrm>
          <a:off x="4383088" y="3352800"/>
          <a:ext cx="17891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78" name="Equation" r:id="rId12" imgW="838080" imgH="457200" progId="Equation.DSMT4">
                  <p:embed/>
                </p:oleObj>
              </mc:Choice>
              <mc:Fallback>
                <p:oleObj name="Equation" r:id="rId12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3352800"/>
                        <a:ext cx="1789112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7" name="Object 43"/>
          <p:cNvGraphicFramePr>
            <a:graphicFrameLocks noChangeAspect="1"/>
          </p:cNvGraphicFramePr>
          <p:nvPr/>
        </p:nvGraphicFramePr>
        <p:xfrm>
          <a:off x="6370638" y="3352800"/>
          <a:ext cx="17557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79" name="Equation" r:id="rId14" imgW="711000" imgH="393480" progId="Equation.DSMT4">
                  <p:embed/>
                </p:oleObj>
              </mc:Choice>
              <mc:Fallback>
                <p:oleObj name="Equation" r:id="rId14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3352800"/>
                        <a:ext cx="175577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8" name="Object 44"/>
          <p:cNvGraphicFramePr>
            <a:graphicFrameLocks noChangeAspect="1"/>
          </p:cNvGraphicFramePr>
          <p:nvPr/>
        </p:nvGraphicFramePr>
        <p:xfrm>
          <a:off x="2139950" y="4540250"/>
          <a:ext cx="20272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80" name="Equation" r:id="rId16" imgW="1002960" imgH="393480" progId="Equation.DSMT4">
                  <p:embed/>
                </p:oleObj>
              </mc:Choice>
              <mc:Fallback>
                <p:oleObj name="Equation" r:id="rId16" imgW="1002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4540250"/>
                        <a:ext cx="2027238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9" name="Object 45"/>
          <p:cNvGraphicFramePr>
            <a:graphicFrameLocks noChangeAspect="1"/>
          </p:cNvGraphicFramePr>
          <p:nvPr/>
        </p:nvGraphicFramePr>
        <p:xfrm>
          <a:off x="4387850" y="4416425"/>
          <a:ext cx="170973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81" name="Equation" r:id="rId18" imgW="774360" imgH="457200" progId="Equation.DSMT4">
                  <p:embed/>
                </p:oleObj>
              </mc:Choice>
              <mc:Fallback>
                <p:oleObj name="Equation" r:id="rId18" imgW="7743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4416425"/>
                        <a:ext cx="170973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0" name="Object 46"/>
          <p:cNvGraphicFramePr>
            <a:graphicFrameLocks noChangeAspect="1"/>
          </p:cNvGraphicFramePr>
          <p:nvPr/>
        </p:nvGraphicFramePr>
        <p:xfrm>
          <a:off x="2139950" y="5651500"/>
          <a:ext cx="1981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82" name="Equation" r:id="rId20" imgW="863280" imgH="253800" progId="Equation.DSMT4">
                  <p:embed/>
                </p:oleObj>
              </mc:Choice>
              <mc:Fallback>
                <p:oleObj name="Equation" r:id="rId20" imgW="863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5651500"/>
                        <a:ext cx="1981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1" name="Object 47"/>
          <p:cNvGraphicFramePr>
            <a:graphicFrameLocks noChangeAspect="1"/>
          </p:cNvGraphicFramePr>
          <p:nvPr/>
        </p:nvGraphicFramePr>
        <p:xfrm>
          <a:off x="4419600" y="5491163"/>
          <a:ext cx="14859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83" name="Equation" r:id="rId22" imgW="698400" imgH="457200" progId="Equation.DSMT4">
                  <p:embed/>
                </p:oleObj>
              </mc:Choice>
              <mc:Fallback>
                <p:oleObj name="Equation" r:id="rId22" imgW="69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91163"/>
                        <a:ext cx="148590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2" name="Object 48"/>
          <p:cNvGraphicFramePr>
            <a:graphicFrameLocks noChangeAspect="1"/>
          </p:cNvGraphicFramePr>
          <p:nvPr/>
        </p:nvGraphicFramePr>
        <p:xfrm>
          <a:off x="6430963" y="5481638"/>
          <a:ext cx="1519237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84" name="Equation" r:id="rId24" imgW="622080" imgH="393480" progId="Equation.DSMT4">
                  <p:embed/>
                </p:oleObj>
              </mc:Choice>
              <mc:Fallback>
                <p:oleObj name="Equation" r:id="rId24" imgW="622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5481638"/>
                        <a:ext cx="1519237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椭圆 14"/>
          <p:cNvSpPr/>
          <p:nvPr/>
        </p:nvSpPr>
        <p:spPr bwMode="auto">
          <a:xfrm>
            <a:off x="711200" y="273050"/>
            <a:ext cx="1071563" cy="7143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讨论</a:t>
            </a:r>
          </a:p>
        </p:txBody>
      </p:sp>
      <p:pic>
        <p:nvPicPr>
          <p:cNvPr id="67600" name="Picture 53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072"/>
          <a:stretch>
            <a:fillRect/>
          </a:stretch>
        </p:blipFill>
        <p:spPr bwMode="auto">
          <a:xfrm>
            <a:off x="622300" y="1117600"/>
            <a:ext cx="78613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601" name="矩形 17"/>
          <p:cNvSpPr>
            <a:spLocks noChangeArrowheads="1"/>
          </p:cNvSpPr>
          <p:nvPr/>
        </p:nvSpPr>
        <p:spPr bwMode="auto">
          <a:xfrm>
            <a:off x="3600450" y="1781175"/>
            <a:ext cx="4527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2PSK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2DPSK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2FSK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2ASK</a:t>
            </a:r>
            <a:endParaRPr lang="zh-CN" altLang="en-US" b="1">
              <a:solidFill>
                <a:srgbClr val="0000CC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082800" y="2406650"/>
            <a:ext cx="2178050" cy="404495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21" name="Picture 53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60" b="-838"/>
          <a:stretch>
            <a:fillRect/>
          </a:stretch>
        </p:blipFill>
        <p:spPr bwMode="auto">
          <a:xfrm>
            <a:off x="696913" y="5562600"/>
            <a:ext cx="77724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4616450" y="5740400"/>
          <a:ext cx="34671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585" name="Equation" r:id="rId27" imgW="1612800" imgH="241200" progId="Equation.DSMT4">
                  <p:embed/>
                </p:oleObj>
              </mc:Choice>
              <mc:Fallback>
                <p:oleObj name="Equation" r:id="rId27" imgW="1612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0" y="5740400"/>
                        <a:ext cx="3467100" cy="51911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DDDDDD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757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23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" t="1601" r="1143" b="1613"/>
          <a:stretch>
            <a:fillRect/>
          </a:stretch>
        </p:blipFill>
        <p:spPr bwMode="auto">
          <a:xfrm>
            <a:off x="660400" y="1103313"/>
            <a:ext cx="7600950" cy="537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66982" name="Object 38"/>
          <p:cNvGraphicFramePr>
            <a:graphicFrameLocks noChangeAspect="1"/>
          </p:cNvGraphicFramePr>
          <p:nvPr/>
        </p:nvGraphicFramePr>
        <p:xfrm>
          <a:off x="4418013" y="2362200"/>
          <a:ext cx="166528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25" name="Equation" r:id="rId4" imgW="787320" imgH="457200" progId="Equation.DSMT4">
                  <p:embed/>
                </p:oleObj>
              </mc:Choice>
              <mc:Fallback>
                <p:oleObj name="Equation" r:id="rId4" imgW="787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13" y="2362200"/>
                        <a:ext cx="1665287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3" name="Object 39"/>
          <p:cNvGraphicFramePr>
            <a:graphicFrameLocks noChangeAspect="1"/>
          </p:cNvGraphicFramePr>
          <p:nvPr/>
        </p:nvGraphicFramePr>
        <p:xfrm>
          <a:off x="2141538" y="2413000"/>
          <a:ext cx="20240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26" name="Equation" r:id="rId6" imgW="1066680" imgH="507960" progId="Equation.DSMT4">
                  <p:embed/>
                </p:oleObj>
              </mc:Choice>
              <mc:Fallback>
                <p:oleObj name="Equation" r:id="rId6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2413000"/>
                        <a:ext cx="20240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4" name="Object 40"/>
          <p:cNvGraphicFramePr>
            <a:graphicFrameLocks noChangeAspect="1"/>
          </p:cNvGraphicFramePr>
          <p:nvPr/>
        </p:nvGraphicFramePr>
        <p:xfrm>
          <a:off x="6391275" y="2362200"/>
          <a:ext cx="16922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27" name="Equation" r:id="rId8" imgW="711000" imgH="393480" progId="Equation.DSMT4">
                  <p:embed/>
                </p:oleObj>
              </mc:Choice>
              <mc:Fallback>
                <p:oleObj name="Equation" r:id="rId8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1275" y="2362200"/>
                        <a:ext cx="16922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5" name="Object 41"/>
          <p:cNvGraphicFramePr>
            <a:graphicFrameLocks noChangeAspect="1"/>
          </p:cNvGraphicFramePr>
          <p:nvPr/>
        </p:nvGraphicFramePr>
        <p:xfrm>
          <a:off x="2141538" y="3416300"/>
          <a:ext cx="20240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28" name="Equation" r:id="rId10" imgW="1066680" imgH="507960" progId="Equation.DSMT4">
                  <p:embed/>
                </p:oleObj>
              </mc:Choice>
              <mc:Fallback>
                <p:oleObj name="Equation" r:id="rId10" imgW="1066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3416300"/>
                        <a:ext cx="202406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6" name="Object 42"/>
          <p:cNvGraphicFramePr>
            <a:graphicFrameLocks noChangeAspect="1"/>
          </p:cNvGraphicFramePr>
          <p:nvPr/>
        </p:nvGraphicFramePr>
        <p:xfrm>
          <a:off x="4383088" y="3352800"/>
          <a:ext cx="178911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29" name="Equation" r:id="rId12" imgW="838080" imgH="457200" progId="Equation.DSMT4">
                  <p:embed/>
                </p:oleObj>
              </mc:Choice>
              <mc:Fallback>
                <p:oleObj name="Equation" r:id="rId12" imgW="838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3352800"/>
                        <a:ext cx="1789112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7" name="Object 43"/>
          <p:cNvGraphicFramePr>
            <a:graphicFrameLocks noChangeAspect="1"/>
          </p:cNvGraphicFramePr>
          <p:nvPr/>
        </p:nvGraphicFramePr>
        <p:xfrm>
          <a:off x="6370638" y="3352800"/>
          <a:ext cx="175577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0" name="Equation" r:id="rId14" imgW="711000" imgH="393480" progId="Equation.DSMT4">
                  <p:embed/>
                </p:oleObj>
              </mc:Choice>
              <mc:Fallback>
                <p:oleObj name="Equation" r:id="rId14" imgW="711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0638" y="3352800"/>
                        <a:ext cx="175577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8" name="Object 44"/>
          <p:cNvGraphicFramePr>
            <a:graphicFrameLocks noChangeAspect="1"/>
          </p:cNvGraphicFramePr>
          <p:nvPr/>
        </p:nvGraphicFramePr>
        <p:xfrm>
          <a:off x="2139950" y="4540250"/>
          <a:ext cx="20272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1" name="Equation" r:id="rId16" imgW="1002960" imgH="393480" progId="Equation.DSMT4">
                  <p:embed/>
                </p:oleObj>
              </mc:Choice>
              <mc:Fallback>
                <p:oleObj name="Equation" r:id="rId16" imgW="1002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4540250"/>
                        <a:ext cx="2027238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89" name="Object 45"/>
          <p:cNvGraphicFramePr>
            <a:graphicFrameLocks noChangeAspect="1"/>
          </p:cNvGraphicFramePr>
          <p:nvPr/>
        </p:nvGraphicFramePr>
        <p:xfrm>
          <a:off x="4387850" y="4416425"/>
          <a:ext cx="1709738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2" name="Equation" r:id="rId18" imgW="774360" imgH="457200" progId="Equation.DSMT4">
                  <p:embed/>
                </p:oleObj>
              </mc:Choice>
              <mc:Fallback>
                <p:oleObj name="Equation" r:id="rId18" imgW="7743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4416425"/>
                        <a:ext cx="1709738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0" name="Object 46"/>
          <p:cNvGraphicFramePr>
            <a:graphicFrameLocks noChangeAspect="1"/>
          </p:cNvGraphicFramePr>
          <p:nvPr/>
        </p:nvGraphicFramePr>
        <p:xfrm>
          <a:off x="2139950" y="5651500"/>
          <a:ext cx="1981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3" name="Equation" r:id="rId20" imgW="863280" imgH="253800" progId="Equation.DSMT4">
                  <p:embed/>
                </p:oleObj>
              </mc:Choice>
              <mc:Fallback>
                <p:oleObj name="Equation" r:id="rId20" imgW="8632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5651500"/>
                        <a:ext cx="1981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1" name="Object 47"/>
          <p:cNvGraphicFramePr>
            <a:graphicFrameLocks noChangeAspect="1"/>
          </p:cNvGraphicFramePr>
          <p:nvPr/>
        </p:nvGraphicFramePr>
        <p:xfrm>
          <a:off x="4419600" y="5491163"/>
          <a:ext cx="14859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4" name="Equation" r:id="rId22" imgW="698400" imgH="457200" progId="Equation.DSMT4">
                  <p:embed/>
                </p:oleObj>
              </mc:Choice>
              <mc:Fallback>
                <p:oleObj name="Equation" r:id="rId22" imgW="698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491163"/>
                        <a:ext cx="148590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92" name="Object 48"/>
          <p:cNvGraphicFramePr>
            <a:graphicFrameLocks noChangeAspect="1"/>
          </p:cNvGraphicFramePr>
          <p:nvPr/>
        </p:nvGraphicFramePr>
        <p:xfrm>
          <a:off x="6430963" y="5481638"/>
          <a:ext cx="1519237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5" name="Equation" r:id="rId24" imgW="622080" imgH="393480" progId="Equation.DSMT4">
                  <p:embed/>
                </p:oleObj>
              </mc:Choice>
              <mc:Fallback>
                <p:oleObj name="Equation" r:id="rId24" imgW="622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5481638"/>
                        <a:ext cx="1519237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椭圆 14"/>
          <p:cNvSpPr/>
          <p:nvPr/>
        </p:nvSpPr>
        <p:spPr bwMode="auto">
          <a:xfrm>
            <a:off x="711200" y="273050"/>
            <a:ext cx="1071563" cy="7143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讨论</a:t>
            </a:r>
          </a:p>
        </p:txBody>
      </p:sp>
      <p:pic>
        <p:nvPicPr>
          <p:cNvPr id="68625" name="Picture 53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072"/>
          <a:stretch>
            <a:fillRect/>
          </a:stretch>
        </p:blipFill>
        <p:spPr bwMode="auto">
          <a:xfrm>
            <a:off x="622300" y="1117600"/>
            <a:ext cx="78613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26" name="矩形 17"/>
          <p:cNvSpPr>
            <a:spLocks noChangeArrowheads="1"/>
          </p:cNvSpPr>
          <p:nvPr/>
        </p:nvSpPr>
        <p:spPr bwMode="auto">
          <a:xfrm>
            <a:off x="3600450" y="1781175"/>
            <a:ext cx="4527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2PSK</a:t>
            </a:r>
            <a:r>
              <a:rPr lang="zh-CN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2DPSK</a:t>
            </a:r>
            <a:r>
              <a:rPr lang="zh-CN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2FSK</a:t>
            </a:r>
            <a:r>
              <a:rPr lang="zh-CN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 dirty="0">
                <a:solidFill>
                  <a:srgbClr val="0000CC"/>
                </a:solidFill>
                <a:ea typeface="华文中宋" panose="02010600040101010101" pitchFamily="2" charset="-122"/>
              </a:rPr>
              <a:t>2ASK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9138" y="3338513"/>
            <a:ext cx="7497762" cy="9779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8628" name="Picture 53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60" b="-838"/>
          <a:stretch>
            <a:fillRect/>
          </a:stretch>
        </p:blipFill>
        <p:spPr bwMode="auto">
          <a:xfrm>
            <a:off x="696913" y="5562600"/>
            <a:ext cx="777240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4616450" y="5740400"/>
          <a:ext cx="34671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6" name="Equation" r:id="rId27" imgW="1612800" imgH="241200" progId="Equation.DSMT4">
                  <p:embed/>
                </p:oleObj>
              </mc:Choice>
              <mc:Fallback>
                <p:oleObj name="Equation" r:id="rId27" imgW="1612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0" y="5740400"/>
                        <a:ext cx="3467100" cy="51911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DDDDDD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1807" name="Picture 15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430"/>
          <a:stretch>
            <a:fillRect/>
          </a:stretch>
        </p:blipFill>
        <p:spPr bwMode="auto">
          <a:xfrm>
            <a:off x="674688" y="4362450"/>
            <a:ext cx="760095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5065713" y="4540250"/>
          <a:ext cx="26098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637" name="Equation" r:id="rId30" imgW="927000" imgH="253800" progId="Equation.DSMT4">
                  <p:embed/>
                </p:oleObj>
              </mc:Choice>
              <mc:Fallback>
                <p:oleObj name="Equation" r:id="rId30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4540250"/>
                        <a:ext cx="26098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prstShdw prst="shdw17" dist="17961" dir="2700000">
                          <a:srgbClr val="DDDDDD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4B0A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61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5"/>
          <p:cNvPicPr>
            <a:picLocks noChangeAspect="1" noChangeArrowheads="1"/>
          </p:cNvPicPr>
          <p:nvPr/>
        </p:nvPicPr>
        <p:blipFill>
          <a:blip r:embed="rId3"/>
          <a:srcRect b="14174"/>
          <a:stretch>
            <a:fillRect/>
          </a:stretch>
        </p:blipFill>
        <p:spPr bwMode="auto">
          <a:xfrm>
            <a:off x="720725" y="4095750"/>
            <a:ext cx="7718425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椭圆 3"/>
          <p:cNvSpPr/>
          <p:nvPr/>
        </p:nvSpPr>
        <p:spPr bwMode="auto">
          <a:xfrm>
            <a:off x="711200" y="273050"/>
            <a:ext cx="1071563" cy="714375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讨论</a:t>
            </a:r>
          </a:p>
        </p:txBody>
      </p:sp>
      <p:pic>
        <p:nvPicPr>
          <p:cNvPr id="69639" name="Picture 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072"/>
          <a:stretch>
            <a:fillRect/>
          </a:stretch>
        </p:blipFill>
        <p:spPr bwMode="auto">
          <a:xfrm>
            <a:off x="681038" y="1117600"/>
            <a:ext cx="78613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40" name="矩形 5"/>
          <p:cNvSpPr>
            <a:spLocks noChangeArrowheads="1"/>
          </p:cNvSpPr>
          <p:nvPr/>
        </p:nvSpPr>
        <p:spPr bwMode="auto">
          <a:xfrm>
            <a:off x="3689350" y="1781175"/>
            <a:ext cx="4527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2PSK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2DPSK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2FSK</a:t>
            </a:r>
            <a:r>
              <a:rPr lang="zh-CN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sz="2400" b="1">
                <a:solidFill>
                  <a:srgbClr val="0000CC"/>
                </a:solidFill>
                <a:ea typeface="华文中宋" panose="02010600040101010101" pitchFamily="2" charset="-122"/>
              </a:rPr>
              <a:t>2ASK</a:t>
            </a:r>
            <a:endParaRPr lang="zh-CN" altLang="en-US" b="1">
              <a:solidFill>
                <a:srgbClr val="0000CC"/>
              </a:solidFill>
            </a:endParaRPr>
          </a:p>
        </p:txBody>
      </p:sp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5065713" y="4270375"/>
          <a:ext cx="26098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79" name="Equation" r:id="rId5" imgW="927000" imgH="253800" progId="Equation.DSMT4">
                  <p:embed/>
                </p:oleObj>
              </mc:Choice>
              <mc:Fallback>
                <p:oleObj name="Equation" r:id="rId5" imgW="927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4270375"/>
                        <a:ext cx="260985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prstShdw prst="shdw17" dist="17961" dir="2700000">
                          <a:srgbClr val="DDDDDD">
                            <a:gamma/>
                            <a:shade val="60000"/>
                            <a:invGamma/>
                          </a:srgbClr>
                        </a:prst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DDDDD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4B0A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641" name="Picture 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60" b="-838"/>
          <a:stretch>
            <a:fillRect/>
          </a:stretch>
        </p:blipFill>
        <p:spPr bwMode="auto">
          <a:xfrm>
            <a:off x="725488" y="2406650"/>
            <a:ext cx="7832725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4749800" y="2643188"/>
          <a:ext cx="34671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80" name="Equation" r:id="rId7" imgW="1612800" imgH="241200" progId="Equation.DSMT4">
                  <p:embed/>
                </p:oleObj>
              </mc:Choice>
              <mc:Fallback>
                <p:oleObj name="Equation" r:id="rId7" imgW="1612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2643188"/>
                        <a:ext cx="3467100" cy="519112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DDDDDD">
                                  <a:gamma/>
                                  <a:shade val="60000"/>
                                  <a:invGamma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2553" name="Object 9"/>
          <p:cNvGraphicFramePr>
            <a:graphicFrameLocks noChangeAspect="1"/>
          </p:cNvGraphicFramePr>
          <p:nvPr/>
        </p:nvGraphicFramePr>
        <p:xfrm>
          <a:off x="1905000" y="3340100"/>
          <a:ext cx="64452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81" name="Equation" r:id="rId9" imgW="3377880" imgH="241200" progId="Equation.DSMT4">
                  <p:embed/>
                </p:oleObj>
              </mc:Choice>
              <mc:Fallback>
                <p:oleObj name="Equation" r:id="rId9" imgW="3377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340100"/>
                        <a:ext cx="64452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747713" y="5429250"/>
            <a:ext cx="7646987" cy="5476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ts val="4100"/>
              </a:lnSpc>
              <a:buClr>
                <a:schemeClr val="folHlink"/>
              </a:buClr>
              <a:buSzPct val="65000"/>
              <a:buFont typeface="Wingdings" pitchFamily="2" charset="2"/>
              <a:buChar char="l"/>
              <a:defRPr/>
            </a:pPr>
            <a:r>
              <a:rPr lang="en-US" altLang="zh-CN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大信噪比</a:t>
            </a:r>
            <a:r>
              <a:rPr lang="en-US" altLang="zh-CN" sz="2400" b="1" dirty="0">
                <a:latin typeface="宋体" pitchFamily="2" charset="-122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宋体" pitchFamily="2" charset="-122"/>
              </a:rPr>
              <a:t>r 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&gt;&gt;1</a:t>
            </a:r>
            <a:r>
              <a:rPr lang="en-US" altLang="zh-CN" sz="2400" b="1" dirty="0">
                <a:latin typeface="宋体" pitchFamily="2" charset="-122"/>
              </a:rPr>
              <a:t>)</a:t>
            </a:r>
            <a:r>
              <a:rPr lang="zh-CN" altLang="en-US" sz="2400" b="1" dirty="0">
                <a:latin typeface="宋体" pitchFamily="2" charset="-122"/>
              </a:rPr>
              <a:t>时</a:t>
            </a:r>
            <a:r>
              <a:rPr lang="en-US" altLang="zh-CN" sz="2400" b="1" dirty="0">
                <a:latin typeface="宋体" pitchFamily="2" charset="-122"/>
              </a:rPr>
              <a:t>,  </a:t>
            </a:r>
            <a:r>
              <a:rPr lang="zh-CN" altLang="en-US" sz="2400" b="1" dirty="0">
                <a:latin typeface="宋体" pitchFamily="2" charset="-122"/>
              </a:rPr>
              <a:t>两者性能相差不大。</a:t>
            </a:r>
          </a:p>
        </p:txBody>
      </p:sp>
    </p:spTree>
    <p:extLst>
      <p:ext uri="{BB962C8B-B14F-4D97-AF65-F5344CB8AC3E}">
        <p14:creationId xmlns:p14="http://schemas.microsoft.com/office/powerpoint/2010/main" val="25737255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23963"/>
            <a:ext cx="8532812" cy="4827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90600" lvl="1" indent="-533400" eaLnBrk="1" hangingPunct="1">
              <a:lnSpc>
                <a:spcPct val="130000"/>
              </a:lnSpc>
            </a:pP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371600" lvl="2" indent="-457200" eaLnBrk="1" hangingPunct="1">
              <a:lnSpc>
                <a:spcPct val="130000"/>
              </a:lnSpc>
            </a:pP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371600" lvl="2" indent="-457200" eaLnBrk="1" hangingPunct="1">
              <a:lnSpc>
                <a:spcPct val="130000"/>
              </a:lnSpc>
            </a:pP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1371600" lvl="2" indent="-457200" eaLnBrk="1" hangingPunct="1">
              <a:lnSpc>
                <a:spcPct val="130000"/>
              </a:lnSpc>
            </a:pPr>
            <a:endParaRPr lang="en-US" altLang="zh-CN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3427" name="Rectangle 10"/>
          <p:cNvSpPr>
            <a:spLocks noChangeArrowheads="1"/>
          </p:cNvSpPr>
          <p:nvPr/>
        </p:nvSpPr>
        <p:spPr bwMode="auto">
          <a:xfrm>
            <a:off x="206375" y="1179513"/>
            <a:ext cx="946150" cy="1079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06425" y="4576763"/>
            <a:ext cx="8010525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buClr>
                <a:srgbClr val="0033CC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400" b="1">
                <a:solidFill>
                  <a:srgbClr val="000099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sz="2400" b="1" baseline="-25000">
                <a:solidFill>
                  <a:srgbClr val="000099"/>
                </a:solidFill>
                <a:ea typeface="华文中宋" panose="02010600040101010101" pitchFamily="2" charset="-122"/>
              </a:rPr>
              <a:t>2FSK</a:t>
            </a:r>
            <a:r>
              <a:rPr lang="zh-CN" altLang="zh-CN" sz="2400">
                <a:ea typeface="华文中宋" panose="02010600040101010101" pitchFamily="2" charset="-122"/>
              </a:rPr>
              <a:t>不仅与基带信号带宽有关，且与两个载频之差有关。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15950" y="1206500"/>
            <a:ext cx="782796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buClr>
                <a:srgbClr val="0033CC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设基带信号的谱零点带宽为</a:t>
            </a:r>
            <a:r>
              <a:rPr lang="en-US" altLang="zh-CN" sz="2400" b="1" i="1">
                <a:solidFill>
                  <a:srgbClr val="000099"/>
                </a:solidFill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>
                <a:solidFill>
                  <a:srgbClr val="000099"/>
                </a:solidFill>
                <a:ea typeface="华文中宋" panose="02010600040101010101" pitchFamily="2" charset="-122"/>
              </a:rPr>
              <a:t>B</a:t>
            </a:r>
            <a:r>
              <a:rPr lang="en-US" altLang="zh-CN" sz="2400" b="1">
                <a:solidFill>
                  <a:srgbClr val="000099"/>
                </a:solidFill>
                <a:ea typeface="华文中宋" panose="02010600040101010101" pitchFamily="2" charset="-122"/>
              </a:rPr>
              <a:t>=1/T</a:t>
            </a:r>
            <a:r>
              <a:rPr lang="en-US" altLang="zh-CN" sz="2400" b="1" baseline="-25000">
                <a:solidFill>
                  <a:srgbClr val="000099"/>
                </a:solidFill>
                <a:ea typeface="华文中宋" panose="02010600040101010101" pitchFamily="2" charset="-122"/>
              </a:rPr>
              <a:t>S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，则有：</a:t>
            </a:r>
            <a:endParaRPr lang="zh-CN" altLang="zh-CN" sz="24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566738" y="5238750"/>
            <a:ext cx="7827962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33450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buClr>
                <a:srgbClr val="0033CC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zh-CN" sz="2400">
                <a:ea typeface="华文中宋" panose="02010600040101010101" pitchFamily="2" charset="-122"/>
              </a:rPr>
              <a:t>在</a:t>
            </a:r>
            <a:r>
              <a:rPr lang="en-US" altLang="zh-CN" sz="2400" b="1">
                <a:solidFill>
                  <a:srgbClr val="000099"/>
                </a:solidFill>
              </a:rPr>
              <a:t>R</a:t>
            </a:r>
            <a:r>
              <a:rPr lang="en-US" altLang="zh-CN" sz="2400" b="1" baseline="-25000">
                <a:solidFill>
                  <a:srgbClr val="000099"/>
                </a:solidFill>
              </a:rPr>
              <a:t>B</a:t>
            </a:r>
            <a:r>
              <a:rPr lang="zh-CN" altLang="en-US" sz="2400" b="1">
                <a:solidFill>
                  <a:srgbClr val="000099"/>
                </a:solidFill>
                <a:ea typeface="华文中宋" panose="02010600040101010101" pitchFamily="2" charset="-122"/>
              </a:rPr>
              <a:t>一定时</a:t>
            </a:r>
            <a:r>
              <a:rPr lang="zh-CN" altLang="zh-CN" sz="2400">
                <a:ea typeface="华文中宋" panose="02010600040101010101" pitchFamily="2" charset="-122"/>
              </a:rPr>
              <a:t>，</a:t>
            </a:r>
            <a:r>
              <a:rPr lang="en-US" altLang="zh-CN" sz="2400">
                <a:ea typeface="华文中宋" panose="02010600040101010101" pitchFamily="2" charset="-122"/>
              </a:rPr>
              <a:t>2FSK</a:t>
            </a:r>
            <a:r>
              <a:rPr lang="zh-CN" altLang="zh-CN" sz="2400">
                <a:ea typeface="华文中宋" panose="02010600040101010101" pitchFamily="2" charset="-122"/>
              </a:rPr>
              <a:t>的频带利用率最低，有效性最差。</a:t>
            </a:r>
          </a:p>
        </p:txBody>
      </p:sp>
      <p:sp>
        <p:nvSpPr>
          <p:cNvPr id="11" name="Rectangle 50"/>
          <p:cNvSpPr>
            <a:spLocks noChangeArrowheads="1"/>
          </p:cNvSpPr>
          <p:nvPr/>
        </p:nvSpPr>
        <p:spPr bwMode="auto">
          <a:xfrm>
            <a:off x="-6350" y="361950"/>
            <a:ext cx="4578350" cy="577850"/>
          </a:xfrm>
          <a:prstGeom prst="rect">
            <a:avLst/>
          </a:prstGeom>
          <a:solidFill>
            <a:srgbClr val="003399"/>
          </a:solidFill>
          <a:ln w="9525">
            <a:solidFill>
              <a:srgbClr val="D9D9FF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   </a:t>
            </a:r>
            <a:r>
              <a:rPr lang="en-US" altLang="zh-CN" sz="3200" b="1" u="sng" dirty="0">
                <a:solidFill>
                  <a:schemeClr val="bg1">
                    <a:lumMod val="95000"/>
                  </a:schemeClr>
                </a:solidFill>
                <a:cs typeface="Arial" charset="0"/>
                <a:sym typeface="Wingdings" pitchFamily="2" charset="2"/>
              </a:rPr>
              <a:t>2</a:t>
            </a: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cs typeface="Arial" charset="0"/>
                <a:sym typeface="Wingdings" pitchFamily="2" charset="2"/>
              </a:rPr>
              <a:t>   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频带带宽</a:t>
            </a:r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t>——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Wingdings" pitchFamily="2" charset="2"/>
              </a:rPr>
              <a:t>有效性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  <a:sym typeface="Wingdings" pitchFamily="2" charset="2"/>
            </a:endParaRPr>
          </a:p>
        </p:txBody>
      </p:sp>
      <p:pic>
        <p:nvPicPr>
          <p:cNvPr id="7271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1962150"/>
            <a:ext cx="5400675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740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" grpId="0"/>
      <p:bldP spid="11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27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98"/>
          <a:stretch>
            <a:fillRect/>
          </a:stretch>
        </p:blipFill>
        <p:spPr bwMode="auto">
          <a:xfrm>
            <a:off x="793750" y="4584700"/>
            <a:ext cx="77343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412"/>
          <a:stretch>
            <a:fillRect/>
          </a:stretch>
        </p:blipFill>
        <p:spPr bwMode="auto">
          <a:xfrm>
            <a:off x="793750" y="1384300"/>
            <a:ext cx="77343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69" b="33682"/>
          <a:stretch>
            <a:fillRect/>
          </a:stretch>
        </p:blipFill>
        <p:spPr bwMode="auto">
          <a:xfrm>
            <a:off x="793750" y="2851150"/>
            <a:ext cx="773430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925513" y="1470025"/>
            <a:ext cx="1490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3399"/>
                </a:solidFill>
              </a:rPr>
              <a:t>2ASK</a:t>
            </a:r>
            <a:r>
              <a:rPr lang="zh-CN" altLang="zh-CN" sz="2800" b="1">
                <a:solidFill>
                  <a:srgbClr val="003399"/>
                </a:solidFill>
                <a:cs typeface="Times New Roman" panose="02020603050405020304" pitchFamily="18" charset="0"/>
              </a:rPr>
              <a:t>：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49500" y="1428750"/>
            <a:ext cx="1555750" cy="5984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</p:pic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925513" y="3019425"/>
            <a:ext cx="147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3399"/>
                </a:solidFill>
              </a:rPr>
              <a:t>2PSK</a:t>
            </a:r>
            <a:r>
              <a:rPr lang="zh-CN" altLang="zh-CN" sz="2800" b="1">
                <a:solidFill>
                  <a:srgbClr val="003399"/>
                </a:solidFill>
                <a:cs typeface="Times New Roman" panose="02020603050405020304" pitchFamily="18" charset="0"/>
              </a:rPr>
              <a:t>：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2987675"/>
            <a:ext cx="1143000" cy="611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914400" y="4718050"/>
            <a:ext cx="1450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3399"/>
                </a:solidFill>
              </a:rPr>
              <a:t>2FSK</a:t>
            </a:r>
            <a:r>
              <a:rPr lang="zh-CN" altLang="zh-CN" sz="2800" b="1">
                <a:solidFill>
                  <a:srgbClr val="003399"/>
                </a:solidFill>
                <a:cs typeface="Times New Roman" panose="02020603050405020304" pitchFamily="18" charset="0"/>
              </a:rPr>
              <a:t>：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sp>
        <p:nvSpPr>
          <p:cNvPr id="12" name="Rectangle 50"/>
          <p:cNvSpPr>
            <a:spLocks noChangeArrowheads="1"/>
          </p:cNvSpPr>
          <p:nvPr/>
        </p:nvSpPr>
        <p:spPr bwMode="auto">
          <a:xfrm>
            <a:off x="-6350" y="406400"/>
            <a:ext cx="5245100" cy="577850"/>
          </a:xfrm>
          <a:prstGeom prst="rect">
            <a:avLst/>
          </a:prstGeom>
          <a:solidFill>
            <a:srgbClr val="003399"/>
          </a:solidFill>
          <a:ln w="9525">
            <a:solidFill>
              <a:srgbClr val="D9D9FF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   </a:t>
            </a:r>
            <a:r>
              <a:rPr lang="en-US" altLang="zh-CN" sz="3200" b="1" u="sng" dirty="0">
                <a:solidFill>
                  <a:schemeClr val="bg1">
                    <a:lumMod val="95000"/>
                  </a:schemeClr>
                </a:solidFill>
                <a:cs typeface="Arial" charset="0"/>
                <a:sym typeface="Wingdings" pitchFamily="2" charset="2"/>
              </a:rPr>
              <a:t>3</a:t>
            </a: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cs typeface="Arial" charset="0"/>
                <a:sym typeface="Wingdings" pitchFamily="2" charset="2"/>
              </a:rPr>
              <a:t>   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对信道特性变化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敏感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Wingdings" pitchFamily="2" charset="2"/>
              </a:rPr>
              <a:t>性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 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519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5175" y="1395413"/>
            <a:ext cx="8216900" cy="20780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25000"/>
              </a:lnSpc>
              <a:buSzPct val="50000"/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通常，</a:t>
            </a:r>
            <a:r>
              <a:rPr lang="zh-CN" altLang="en-US" sz="280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非相干</a:t>
            </a: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方式 </a:t>
            </a:r>
            <a:r>
              <a:rPr lang="zh-CN" altLang="en-US" sz="2800" b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比</a:t>
            </a:r>
            <a:r>
              <a:rPr lang="zh-CN" altLang="en-US" sz="2800" b="0">
                <a:solidFill>
                  <a:srgbClr val="80008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>
                <a:solidFill>
                  <a:srgbClr val="0000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相干</a:t>
            </a: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方式</a:t>
            </a:r>
            <a:r>
              <a:rPr lang="zh-CN" altLang="en-US" sz="2800" b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简单</a:t>
            </a: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125000"/>
              </a:lnSpc>
              <a:buSzPct val="50000"/>
              <a:buFont typeface="Wingdings" panose="05000000000000000000" pitchFamily="2" charset="2"/>
              <a:buNone/>
            </a:pP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   这是因为相干解调需要提取相干载波，</a:t>
            </a:r>
          </a:p>
          <a:p>
            <a:pPr eaLnBrk="1" hangingPunct="1">
              <a:lnSpc>
                <a:spcPct val="125000"/>
              </a:lnSpc>
              <a:buSzPct val="50000"/>
              <a:buFont typeface="Wingdings" panose="05000000000000000000" pitchFamily="2" charset="2"/>
              <a:buNone/>
            </a:pPr>
            <a:r>
              <a:rPr lang="zh-CN" altLang="en-US" sz="2800" b="0">
                <a:latin typeface="华文中宋" panose="02010600040101010101" pitchFamily="2" charset="-122"/>
                <a:ea typeface="华文中宋" panose="02010600040101010101" pitchFamily="2" charset="-122"/>
              </a:rPr>
              <a:t>    故设备相对复杂些，成本也略高。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b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50"/>
          <p:cNvSpPr>
            <a:spLocks noChangeArrowheads="1"/>
          </p:cNvSpPr>
          <p:nvPr/>
        </p:nvSpPr>
        <p:spPr bwMode="auto">
          <a:xfrm>
            <a:off x="0" y="450850"/>
            <a:ext cx="3460750" cy="577850"/>
          </a:xfrm>
          <a:prstGeom prst="rect">
            <a:avLst/>
          </a:prstGeom>
          <a:solidFill>
            <a:srgbClr val="003399"/>
          </a:solidFill>
          <a:ln w="9525">
            <a:solidFill>
              <a:srgbClr val="D9D9FF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>
              <a:defRPr/>
            </a:pPr>
            <a:r>
              <a:rPr lang="en-US" altLang="zh-CN" sz="2800" b="1" dirty="0">
                <a:solidFill>
                  <a:srgbClr val="FF0000"/>
                </a:solidFill>
                <a:cs typeface="Arial" charset="0"/>
                <a:sym typeface="Wingdings" pitchFamily="2" charset="2"/>
              </a:rPr>
              <a:t>   </a:t>
            </a:r>
            <a:r>
              <a:rPr lang="en-US" altLang="zh-CN" sz="3200" b="1" u="sng" dirty="0">
                <a:solidFill>
                  <a:schemeClr val="bg1">
                    <a:lumMod val="95000"/>
                  </a:schemeClr>
                </a:solidFill>
                <a:cs typeface="Arial" charset="0"/>
                <a:sym typeface="Wingdings" pitchFamily="2" charset="2"/>
              </a:rPr>
              <a:t>4</a:t>
            </a: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cs typeface="Arial" charset="0"/>
                <a:sym typeface="Wingdings" pitchFamily="2" charset="2"/>
              </a:rPr>
              <a:t>   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设备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itchFamily="34" charset="-122"/>
                <a:ea typeface="微软雅黑" pitchFamily="34" charset="-122"/>
              </a:rPr>
              <a:t>复杂度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微软雅黑" pitchFamily="34" charset="-122"/>
              <a:ea typeface="微软雅黑" pitchFamily="34" charset="-122"/>
              <a:sym typeface="Wingdings" pitchFamily="2" charset="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71500" y="3917950"/>
            <a:ext cx="1244600" cy="711200"/>
          </a:xfrm>
          <a:prstGeom prst="ellipse">
            <a:avLst/>
          </a:prstGeom>
          <a:solidFill>
            <a:schemeClr val="bg2">
              <a:lumMod val="10000"/>
              <a:lumOff val="90000"/>
            </a:schemeClr>
          </a:solidFill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/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综述</a:t>
            </a:r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4629150"/>
            <a:ext cx="75946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4717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46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46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4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259013" y="3146425"/>
            <a:ext cx="5735637" cy="1571625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altLang="en-US" sz="44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多进制 </a:t>
            </a:r>
            <a:r>
              <a:rPr lang="zh-CN" altLang="en-US" sz="4400" b="1" dirty="0">
                <a:solidFill>
                  <a:srgbClr val="00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数字调制系统</a:t>
            </a:r>
          </a:p>
        </p:txBody>
      </p:sp>
      <p:sp>
        <p:nvSpPr>
          <p:cNvPr id="17411" name="Rectangle 7"/>
          <p:cNvSpPr>
            <a:spLocks noChangeArrowheads="1"/>
          </p:cNvSpPr>
          <p:nvPr/>
        </p:nvSpPr>
        <p:spPr bwMode="auto">
          <a:xfrm>
            <a:off x="793750" y="1952625"/>
            <a:ext cx="1500188" cy="83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 algn="ctr">
              <a:defRPr/>
            </a:pPr>
            <a:r>
              <a:rPr lang="en-US" altLang="en-US" sz="4000" b="1" dirty="0">
                <a:solidFill>
                  <a:srgbClr val="800080"/>
                </a:solidFill>
              </a:rPr>
              <a:t>§</a:t>
            </a:r>
            <a:r>
              <a:rPr lang="en-US" altLang="zh-CN" sz="4000" b="1" u="sng" dirty="0">
                <a:solidFill>
                  <a:srgbClr val="800080"/>
                </a:solidFill>
              </a:rPr>
              <a:t>7.4</a:t>
            </a:r>
          </a:p>
        </p:txBody>
      </p:sp>
    </p:spTree>
    <p:extLst>
      <p:ext uri="{BB962C8B-B14F-4D97-AF65-F5344CB8AC3E}">
        <p14:creationId xmlns:p14="http://schemas.microsoft.com/office/powerpoint/2010/main" val="144571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46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4" t="78819" r="10910"/>
          <a:stretch>
            <a:fillRect/>
          </a:stretch>
        </p:blipFill>
        <p:spPr bwMode="auto">
          <a:xfrm>
            <a:off x="1238250" y="5695950"/>
            <a:ext cx="653415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888"/>
          <a:stretch>
            <a:fillRect/>
          </a:stretch>
        </p:blipFill>
        <p:spPr bwMode="auto">
          <a:xfrm>
            <a:off x="512763" y="3073400"/>
            <a:ext cx="8148637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30" b="23833"/>
          <a:stretch>
            <a:fillRect/>
          </a:stretch>
        </p:blipFill>
        <p:spPr bwMode="auto">
          <a:xfrm>
            <a:off x="527050" y="4318000"/>
            <a:ext cx="8148638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"/>
          <p:cNvSpPr>
            <a:spLocks noChangeArrowheads="1"/>
          </p:cNvSpPr>
          <p:nvPr/>
        </p:nvSpPr>
        <p:spPr bwMode="auto">
          <a:xfrm>
            <a:off x="71438" y="404813"/>
            <a:ext cx="114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CC3399"/>
              </a:buCl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80808"/>
                </a:solidFill>
              </a:rPr>
              <a:t> </a:t>
            </a:r>
            <a:r>
              <a:rPr lang="zh-CN" altLang="en-US" sz="28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引言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71663" y="1577975"/>
            <a:ext cx="5129212" cy="4619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altLang="en-US" sz="2400" b="1" dirty="0">
                <a:latin typeface="Times New Roman" pitchFamily="18" charset="0"/>
              </a:rPr>
              <a:t>进制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zh-CN" altLang="zh-CN" sz="2400" b="1" dirty="0"/>
              <a:t>每个码元只携带</a:t>
            </a:r>
            <a:r>
              <a:rPr lang="zh-CN" altLang="en-US" sz="2400" b="1" dirty="0">
                <a:solidFill>
                  <a:srgbClr val="0000CC"/>
                </a:solidFill>
              </a:rPr>
              <a:t>  </a:t>
            </a:r>
            <a:r>
              <a:rPr lang="en-US" altLang="zh-CN" sz="2400" b="1" dirty="0">
                <a:solidFill>
                  <a:srgbClr val="0000CC"/>
                </a:solidFill>
              </a:rPr>
              <a:t>1 </a:t>
            </a:r>
            <a:r>
              <a:rPr lang="en-US" altLang="zh-CN" sz="2400" dirty="0">
                <a:solidFill>
                  <a:srgbClr val="0000CC"/>
                </a:solidFill>
              </a:rPr>
              <a:t> </a:t>
            </a:r>
            <a:r>
              <a:rPr lang="en-US" altLang="zh-CN" sz="2400" dirty="0"/>
              <a:t>bit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信息</a:t>
            </a:r>
          </a:p>
        </p:txBody>
      </p:sp>
      <p:graphicFrame>
        <p:nvGraphicFramePr>
          <p:cNvPr id="33811" name="Object 19"/>
          <p:cNvGraphicFramePr>
            <a:graphicFrameLocks noChangeAspect="1"/>
          </p:cNvGraphicFramePr>
          <p:nvPr/>
        </p:nvGraphicFramePr>
        <p:xfrm>
          <a:off x="3282950" y="2317750"/>
          <a:ext cx="23844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9" name="Equation" r:id="rId4" imgW="965160" imgH="228600" progId="Equation.DSMT4">
                  <p:embed/>
                </p:oleObj>
              </mc:Choice>
              <mc:Fallback>
                <p:oleObj name="Equation" r:id="rId4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2317750"/>
                        <a:ext cx="2384425" cy="565150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99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CC">
                                <a:alpha val="41000"/>
                              </a:srgb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22" name="Rectangle 3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035" name="Freeform 12"/>
          <p:cNvSpPr>
            <a:spLocks noEditPoints="1"/>
          </p:cNvSpPr>
          <p:nvPr/>
        </p:nvSpPr>
        <p:spPr bwMode="auto">
          <a:xfrm>
            <a:off x="4357688" y="3143250"/>
            <a:ext cx="571500" cy="357188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Freeform 12"/>
          <p:cNvSpPr>
            <a:spLocks noEditPoints="1"/>
          </p:cNvSpPr>
          <p:nvPr/>
        </p:nvSpPr>
        <p:spPr bwMode="auto">
          <a:xfrm>
            <a:off x="4514850" y="4386263"/>
            <a:ext cx="571500" cy="357187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7" name="Freeform 12"/>
          <p:cNvSpPr>
            <a:spLocks noEditPoints="1"/>
          </p:cNvSpPr>
          <p:nvPr/>
        </p:nvSpPr>
        <p:spPr bwMode="auto">
          <a:xfrm>
            <a:off x="6427788" y="4343400"/>
            <a:ext cx="571500" cy="357188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8" name="Freeform 12"/>
          <p:cNvSpPr>
            <a:spLocks noEditPoints="1"/>
          </p:cNvSpPr>
          <p:nvPr/>
        </p:nvSpPr>
        <p:spPr bwMode="auto">
          <a:xfrm flipV="1">
            <a:off x="6370638" y="3071813"/>
            <a:ext cx="428625" cy="428625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9" name="矩形 17"/>
          <p:cNvSpPr>
            <a:spLocks noChangeArrowheads="1"/>
          </p:cNvSpPr>
          <p:nvPr/>
        </p:nvSpPr>
        <p:spPr bwMode="auto">
          <a:xfrm>
            <a:off x="1852613" y="1187450"/>
            <a:ext cx="500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zh-CN" altLang="en-US">
              <a:solidFill>
                <a:srgbClr val="80008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0" name="矩形 18"/>
          <p:cNvSpPr>
            <a:spLocks noChangeArrowheads="1"/>
          </p:cNvSpPr>
          <p:nvPr/>
        </p:nvSpPr>
        <p:spPr bwMode="auto">
          <a:xfrm>
            <a:off x="5157788" y="1149350"/>
            <a:ext cx="1100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800080"/>
                </a:solidFill>
              </a:rPr>
              <a:t>l</a:t>
            </a:r>
            <a:r>
              <a:rPr lang="en-US" altLang="zh-CN" sz="2400" b="1">
                <a:solidFill>
                  <a:srgbClr val="800080"/>
                </a:solidFill>
              </a:rPr>
              <a:t>og </a:t>
            </a:r>
            <a:r>
              <a:rPr lang="en-US" altLang="zh-CN" sz="2400" b="1" baseline="-25000">
                <a:solidFill>
                  <a:srgbClr val="800080"/>
                </a:solidFill>
              </a:rPr>
              <a:t>2</a:t>
            </a:r>
            <a:r>
              <a:rPr lang="en-US" altLang="zh-CN" sz="2400" b="1">
                <a:solidFill>
                  <a:srgbClr val="800080"/>
                </a:solidFill>
              </a:rPr>
              <a:t>M</a:t>
            </a:r>
            <a:endParaRPr lang="zh-CN" altLang="en-US" sz="2400" b="1">
              <a:solidFill>
                <a:srgbClr val="800080"/>
              </a:solidFill>
            </a:endParaRPr>
          </a:p>
        </p:txBody>
      </p:sp>
      <p:sp>
        <p:nvSpPr>
          <p:cNvPr id="18" name="Freeform 12"/>
          <p:cNvSpPr>
            <a:spLocks noEditPoints="1"/>
          </p:cNvSpPr>
          <p:nvPr/>
        </p:nvSpPr>
        <p:spPr bwMode="auto">
          <a:xfrm>
            <a:off x="5643563" y="5786438"/>
            <a:ext cx="642937" cy="428625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2"/>
          <p:cNvSpPr>
            <a:spLocks noEditPoints="1"/>
          </p:cNvSpPr>
          <p:nvPr/>
        </p:nvSpPr>
        <p:spPr bwMode="auto">
          <a:xfrm>
            <a:off x="5299075" y="4929188"/>
            <a:ext cx="571500" cy="357187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9636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1" dur="1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/>
      <p:bldP spid="5" grpId="0" animBg="1"/>
      <p:bldP spid="1035" grpId="0" animBg="1"/>
      <p:bldP spid="1036" grpId="0" animBg="1"/>
      <p:bldP spid="1037" grpId="0" animBg="1"/>
      <p:bldP spid="1038" grpId="0" animBg="1"/>
      <p:bldP spid="1039" grpId="0"/>
      <p:bldP spid="1040" grpId="0"/>
      <p:bldP spid="18" grpId="0" animBg="1"/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8" t="66229" r="13504"/>
          <a:stretch>
            <a:fillRect/>
          </a:stretch>
        </p:blipFill>
        <p:spPr bwMode="auto">
          <a:xfrm>
            <a:off x="2082800" y="4540250"/>
            <a:ext cx="5334000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242"/>
          <a:stretch>
            <a:fillRect/>
          </a:stretch>
        </p:blipFill>
        <p:spPr bwMode="auto">
          <a:xfrm>
            <a:off x="823913" y="1162050"/>
            <a:ext cx="741680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63" b="52763"/>
          <a:stretch>
            <a:fillRect/>
          </a:stretch>
        </p:blipFill>
        <p:spPr bwMode="auto">
          <a:xfrm>
            <a:off x="1022350" y="1739900"/>
            <a:ext cx="741680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54" b="34676"/>
          <a:stretch>
            <a:fillRect/>
          </a:stretch>
        </p:blipFill>
        <p:spPr bwMode="auto">
          <a:xfrm>
            <a:off x="779463" y="3829050"/>
            <a:ext cx="74168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487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1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14375" y="1214438"/>
            <a:ext cx="7345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 b="1"/>
              <a:t> MASK</a:t>
            </a:r>
            <a:r>
              <a:rPr lang="zh-CN" altLang="zh-CN" sz="2400" b="1"/>
              <a:t>可看成是二进制振幅键控（</a:t>
            </a:r>
            <a:r>
              <a:rPr lang="en-US" altLang="zh-CN" sz="2400" b="1"/>
              <a:t>2ASK</a:t>
            </a:r>
            <a:r>
              <a:rPr lang="zh-CN" altLang="zh-CN" sz="2400" b="1"/>
              <a:t>）的推广。</a:t>
            </a:r>
          </a:p>
        </p:txBody>
      </p:sp>
      <p:pic>
        <p:nvPicPr>
          <p:cNvPr id="593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00" y="1857375"/>
            <a:ext cx="4211638" cy="936625"/>
          </a:xfrm>
          <a:prstGeom prst="rect">
            <a:avLst/>
          </a:prstGeom>
          <a:solidFill>
            <a:srgbClr val="CCFFCC">
              <a:alpha val="23921"/>
            </a:srgbClr>
          </a:solidFill>
          <a:ln w="38100" cmpd="dbl">
            <a:solidFill>
              <a:srgbClr val="969696"/>
            </a:solidFill>
            <a:miter lim="800000"/>
            <a:headEnd/>
            <a:tailEnd/>
          </a:ln>
        </p:spPr>
      </p:pic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2852738"/>
            <a:ext cx="2574925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219700" y="3357563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且有</a:t>
            </a:r>
          </a:p>
        </p:txBody>
      </p:sp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3213100"/>
            <a:ext cx="9620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6" descr="072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5072063"/>
            <a:ext cx="4608512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428625"/>
            <a:ext cx="713232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.4.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1 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多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进制振幅键控  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M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</a:rPr>
              <a:t>ASK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33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27075" y="4610100"/>
            <a:ext cx="7345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 b="1"/>
              <a:t> </a:t>
            </a:r>
            <a:r>
              <a:rPr lang="en-US" altLang="zh-CN" sz="2400" b="1">
                <a:solidFill>
                  <a:srgbClr val="0000CC"/>
                </a:solidFill>
              </a:rPr>
              <a:t>4</a:t>
            </a:r>
            <a:r>
              <a:rPr lang="en-US" altLang="zh-CN" sz="2400" b="1"/>
              <a:t>ASK</a:t>
            </a:r>
            <a:r>
              <a:rPr lang="zh-CN" altLang="zh-CN" sz="2400" b="1"/>
              <a:t>信号振幅有</a:t>
            </a:r>
            <a:r>
              <a:rPr lang="en-US" altLang="zh-CN" sz="2400" b="1">
                <a:solidFill>
                  <a:srgbClr val="0000CC"/>
                </a:solidFill>
              </a:rPr>
              <a:t>4</a:t>
            </a:r>
            <a:r>
              <a:rPr lang="zh-CN" altLang="zh-CN" sz="2400" b="1"/>
              <a:t>种取值，每个码元含</a:t>
            </a:r>
            <a:r>
              <a:rPr lang="en-US" altLang="zh-CN" sz="2400" b="1">
                <a:solidFill>
                  <a:srgbClr val="0000CC"/>
                </a:solidFill>
              </a:rPr>
              <a:t>2bit</a:t>
            </a:r>
            <a:r>
              <a:rPr lang="zh-CN" altLang="zh-CN" sz="2400" b="1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446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1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900113" y="1071563"/>
            <a:ext cx="2757487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+mn-lt"/>
              </a:rPr>
              <a:t> </a:t>
            </a:r>
            <a:r>
              <a:rPr lang="en-US" altLang="zh-CN" sz="2800" b="1" dirty="0">
                <a:latin typeface="+mn-lt"/>
              </a:rPr>
              <a:t>MASK</a:t>
            </a:r>
            <a:r>
              <a:rPr lang="zh-CN" altLang="zh-CN" sz="2800" b="1" dirty="0">
                <a:latin typeface="+mn-lt"/>
                <a:cs typeface="Times New Roman" pitchFamily="18" charset="0"/>
              </a:rPr>
              <a:t>调制</a:t>
            </a:r>
            <a:r>
              <a:rPr lang="zh-CN" altLang="en-US" sz="2800" b="1" dirty="0">
                <a:latin typeface="+mn-lt"/>
                <a:cs typeface="Times New Roman" pitchFamily="18" charset="0"/>
              </a:rPr>
              <a:t>:</a:t>
            </a:r>
            <a:endParaRPr lang="en-US" altLang="zh-CN" sz="2800" b="1" dirty="0">
              <a:latin typeface="+mn-lt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27088" y="1812925"/>
            <a:ext cx="7489825" cy="175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宋体" pitchFamily="2" charset="-122"/>
              </a:rPr>
              <a:t>   与</a:t>
            </a:r>
            <a:r>
              <a:rPr lang="en-US" altLang="zh-CN" sz="2400" b="1" dirty="0"/>
              <a:t>2ASK</a:t>
            </a:r>
            <a:r>
              <a:rPr lang="zh-CN" altLang="en-US" sz="2400" b="1" dirty="0">
                <a:latin typeface="宋体" pitchFamily="2" charset="-122"/>
              </a:rPr>
              <a:t>的产生方法相似，区别在于</a:t>
            </a:r>
            <a:r>
              <a:rPr lang="en-US" altLang="zh-CN" sz="2400" b="1" dirty="0">
                <a:latin typeface="宋体" pitchFamily="2" charset="-122"/>
              </a:rPr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宋体" pitchFamily="2" charset="-122"/>
              </a:rPr>
              <a:t>发送端输入的</a:t>
            </a:r>
            <a:r>
              <a:rPr lang="zh-CN" altLang="en-US" sz="24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二</a:t>
            </a:r>
            <a:r>
              <a:rPr lang="zh-CN" altLang="en-US" sz="2400" b="1" dirty="0">
                <a:latin typeface="宋体" pitchFamily="2" charset="-122"/>
              </a:rPr>
              <a:t>进制数字基带信号需要先经过电平变换器转换为</a:t>
            </a:r>
            <a:r>
              <a:rPr lang="en-US" altLang="zh-CN" sz="2400" b="1" dirty="0">
                <a:solidFill>
                  <a:srgbClr val="0000CC"/>
                </a:solidFill>
              </a:rPr>
              <a:t>M</a:t>
            </a:r>
            <a:r>
              <a:rPr lang="zh-CN" altLang="en-US" sz="2400" b="1" dirty="0">
                <a:latin typeface="宋体" pitchFamily="2" charset="-122"/>
              </a:rPr>
              <a:t>电平的基带脉冲，然后再去调制。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14388" y="4119563"/>
            <a:ext cx="2660332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+mn-lt"/>
              </a:rPr>
              <a:t> </a:t>
            </a:r>
            <a:r>
              <a:rPr lang="en-US" altLang="zh-CN" sz="2800" b="1" dirty="0">
                <a:latin typeface="+mn-lt"/>
              </a:rPr>
              <a:t>MASK</a:t>
            </a:r>
            <a:r>
              <a:rPr lang="zh-CN" altLang="zh-CN" sz="2800" b="1" dirty="0">
                <a:latin typeface="+mn-lt"/>
                <a:cs typeface="Times New Roman" pitchFamily="18" charset="0"/>
              </a:rPr>
              <a:t>解调</a:t>
            </a:r>
            <a:r>
              <a:rPr lang="zh-CN" altLang="en-US" sz="2800" b="1" dirty="0">
                <a:latin typeface="+mn-lt"/>
                <a:cs typeface="Times New Roman" pitchFamily="18" charset="0"/>
              </a:rPr>
              <a:t>:</a:t>
            </a:r>
            <a:endParaRPr lang="en-US" altLang="zh-CN" sz="2800" b="1" dirty="0">
              <a:latin typeface="+mn-lt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900113" y="5033963"/>
            <a:ext cx="7437437" cy="4667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b="1">
                <a:latin typeface="宋体" pitchFamily="2" charset="-122"/>
                <a:cs typeface="Times New Roman" pitchFamily="18" charset="0"/>
              </a:rPr>
              <a:t>与</a:t>
            </a:r>
            <a:r>
              <a:rPr lang="en-US" altLang="zh-CN" sz="2400" b="1">
                <a:cs typeface="Times New Roman" pitchFamily="18" charset="0"/>
              </a:rPr>
              <a:t>2ASK</a:t>
            </a:r>
            <a:r>
              <a:rPr lang="zh-CN" altLang="zh-CN" sz="2400" b="1">
                <a:latin typeface="宋体" pitchFamily="2" charset="-122"/>
                <a:cs typeface="Times New Roman" pitchFamily="18" charset="0"/>
              </a:rPr>
              <a:t>信号解调也相似，有相干和非相干解调两种。</a:t>
            </a:r>
            <a:endParaRPr lang="zh-CN" altLang="en-US" sz="2400" b="1">
              <a:latin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18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7063" y="1114425"/>
            <a:ext cx="8374062" cy="3457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4500"/>
              </a:lnSpc>
              <a:buClr>
                <a:srgbClr val="969696"/>
              </a:buClr>
              <a:buSzPct val="70000"/>
            </a:pPr>
            <a:r>
              <a:rPr kumimoji="1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MASK</a:t>
            </a: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信号的功率谱 与 </a:t>
            </a:r>
            <a:r>
              <a:rPr kumimoji="1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2ASK</a:t>
            </a: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信号具有相似的形式</a:t>
            </a:r>
            <a:r>
              <a:rPr kumimoji="1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</a:p>
          <a:p>
            <a:pPr>
              <a:lnSpc>
                <a:spcPts val="4500"/>
              </a:lnSpc>
              <a:buClr>
                <a:srgbClr val="969696"/>
              </a:buClr>
              <a:buSzPct val="70000"/>
            </a:pP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谱零点带宽是 </a:t>
            </a:r>
            <a:r>
              <a:rPr kumimoji="1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 </a:t>
            </a: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进制数字基带信号带宽的两倍。</a:t>
            </a:r>
          </a:p>
          <a:p>
            <a:pPr>
              <a:lnSpc>
                <a:spcPts val="4500"/>
              </a:lnSpc>
              <a:buClr>
                <a:srgbClr val="969696"/>
              </a:buClr>
              <a:buSzPct val="70000"/>
            </a:pPr>
            <a:endParaRPr kumimoji="1"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4500"/>
              </a:lnSpc>
              <a:buClr>
                <a:srgbClr val="969696"/>
              </a:buClr>
              <a:buSzPct val="70000"/>
            </a:pPr>
            <a:endParaRPr kumimoji="1"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4500"/>
              </a:lnSpc>
              <a:buClr>
                <a:srgbClr val="969696"/>
              </a:buClr>
              <a:buSzPct val="70000"/>
            </a:pP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kumimoji="1" lang="zh-CN" altLang="en-US" sz="2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i="1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2400" baseline="-25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相同时，</a:t>
            </a:r>
            <a:r>
              <a:rPr kumimoji="1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MASK</a:t>
            </a: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信号带宽是 </a:t>
            </a:r>
            <a:r>
              <a:rPr kumimoji="1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2ASK</a:t>
            </a: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kumimoji="1" lang="en-US" altLang="zh-CN" sz="2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1 / log</a:t>
            </a:r>
            <a:r>
              <a:rPr kumimoji="1" lang="en-US" altLang="zh-CN" sz="2400" baseline="-250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1" lang="en-US" altLang="zh-CN" sz="240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 </a:t>
            </a:r>
            <a:r>
              <a:rPr kumimoji="1"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倍 。</a:t>
            </a:r>
            <a:endParaRPr lang="en-US" altLang="zh-CN" sz="28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6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651" name="Object 11"/>
          <p:cNvGraphicFramePr>
            <a:graphicFrameLocks noChangeAspect="1"/>
          </p:cNvGraphicFramePr>
          <p:nvPr/>
        </p:nvGraphicFramePr>
        <p:xfrm>
          <a:off x="1214438" y="2571750"/>
          <a:ext cx="2808287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00" name="Equation" r:id="rId3" imgW="1155700" imgH="431800" progId="Equation.DSMT4">
                  <p:embed/>
                </p:oleObj>
              </mc:Choice>
              <mc:Fallback>
                <p:oleObj name="Equation" r:id="rId3" imgW="11557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571750"/>
                        <a:ext cx="2808287" cy="11160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0" name="Object 10"/>
          <p:cNvGraphicFramePr>
            <a:graphicFrameLocks noChangeAspect="1"/>
          </p:cNvGraphicFramePr>
          <p:nvPr/>
        </p:nvGraphicFramePr>
        <p:xfrm>
          <a:off x="5000625" y="2571750"/>
          <a:ext cx="31273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01" name="Equation" r:id="rId5" imgW="1282680" imgH="431640" progId="Equation.DSMT4">
                  <p:embed/>
                </p:oleObj>
              </mc:Choice>
              <mc:Fallback>
                <p:oleObj name="Equation" r:id="rId5" imgW="12826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2571750"/>
                        <a:ext cx="3127375" cy="1044575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rgbClr val="6666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2" name="Rectangle 12"/>
          <p:cNvSpPr>
            <a:spLocks noChangeArrowheads="1"/>
          </p:cNvSpPr>
          <p:nvPr/>
        </p:nvSpPr>
        <p:spPr bwMode="auto">
          <a:xfrm>
            <a:off x="0" y="30003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tabLst>
                <a:tab pos="571500" algn="l"/>
              </a:tabLst>
              <a:defRPr/>
            </a:pPr>
            <a:endParaRPr lang="zh-CN" altLang="en-US"/>
          </a:p>
        </p:txBody>
      </p:sp>
      <p:sp>
        <p:nvSpPr>
          <p:cNvPr id="112653" name="Rectangle 13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42938" y="4643438"/>
            <a:ext cx="7777162" cy="1128712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969696"/>
              </a:buClr>
              <a:buSzPct val="70000"/>
              <a:buFont typeface="Wingdings" pitchFamily="2" charset="2"/>
              <a:buChar char="l"/>
              <a:defRPr/>
            </a:pPr>
            <a:r>
              <a:rPr lang="en-US" altLang="zh-CN" sz="2400" b="1" dirty="0">
                <a:cs typeface="Times New Roman" pitchFamily="18" charset="0"/>
              </a:rPr>
              <a:t>   </a:t>
            </a:r>
            <a:r>
              <a:rPr lang="en-US" altLang="zh-CN" sz="2400" b="1" dirty="0"/>
              <a:t>MASK</a:t>
            </a:r>
            <a:r>
              <a:rPr lang="zh-CN" altLang="zh-CN" sz="2400" b="1" dirty="0">
                <a:cs typeface="Times New Roman" pitchFamily="18" charset="0"/>
              </a:rPr>
              <a:t>的抗噪声能力差，</a:t>
            </a:r>
            <a:endParaRPr lang="zh-CN" altLang="en-US" sz="2400" b="1" dirty="0">
              <a:cs typeface="Times New Roman" pitchFamily="18" charset="0"/>
            </a:endParaRPr>
          </a:p>
          <a:p>
            <a:pPr>
              <a:lnSpc>
                <a:spcPct val="150000"/>
              </a:lnSpc>
              <a:buClr>
                <a:srgbClr val="969696"/>
              </a:buClr>
              <a:buSzPct val="70000"/>
              <a:buFont typeface="Wingdings" pitchFamily="2" charset="2"/>
              <a:buChar char="l"/>
              <a:defRPr/>
            </a:pPr>
            <a:r>
              <a:rPr lang="zh-CN" altLang="en-US" sz="2400" b="1" dirty="0">
                <a:cs typeface="Times New Roman" pitchFamily="18" charset="0"/>
              </a:rPr>
              <a:t>  </a:t>
            </a:r>
            <a:r>
              <a:rPr lang="zh-CN" altLang="zh-CN" sz="2400" b="1" dirty="0">
                <a:cs typeface="Times New Roman" pitchFamily="18" charset="0"/>
              </a:rPr>
              <a:t>常用多进制正交振幅调制（</a:t>
            </a:r>
            <a:r>
              <a:rPr lang="en-US" altLang="zh-CN" sz="2400" b="1" dirty="0"/>
              <a:t>MQAM</a:t>
            </a:r>
            <a:r>
              <a:rPr lang="zh-CN" altLang="zh-CN" sz="2400" b="1" dirty="0"/>
              <a:t>）来代替。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4110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0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0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20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714375" y="1352550"/>
            <a:ext cx="5184775" cy="504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 b="1"/>
              <a:t>  MFSK</a:t>
            </a:r>
            <a:r>
              <a:rPr lang="zh-CN" altLang="en-US" sz="2400" b="1"/>
              <a:t>可视为</a:t>
            </a:r>
            <a:r>
              <a:rPr lang="en-US" altLang="zh-CN" sz="2400" b="1"/>
              <a:t>2FSK</a:t>
            </a:r>
            <a:r>
              <a:rPr lang="zh-CN" altLang="en-US" sz="2400" b="1"/>
              <a:t>方式的推广。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14375" y="2481263"/>
            <a:ext cx="7345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FF0000"/>
              </a:buClr>
              <a:buSzPct val="71000"/>
              <a:buFont typeface="Wingdings" panose="05000000000000000000" pitchFamily="2" charset="2"/>
              <a:buChar char="n"/>
            </a:pPr>
            <a:r>
              <a:rPr lang="zh-CN" altLang="en-US" sz="2400" b="1">
                <a:solidFill>
                  <a:srgbClr val="00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99"/>
                </a:solidFill>
              </a:rPr>
              <a:t>4FSK</a:t>
            </a:r>
            <a:r>
              <a:rPr lang="zh-CN" altLang="en-US" sz="2400" b="1"/>
              <a:t>采用</a:t>
            </a:r>
            <a:r>
              <a:rPr lang="zh-CN" altLang="en-US" sz="2400" b="1">
                <a:solidFill>
                  <a:srgbClr val="000099"/>
                </a:solidFill>
              </a:rPr>
              <a:t> </a:t>
            </a:r>
            <a:r>
              <a:rPr lang="en-US" altLang="zh-CN" sz="2400" b="1">
                <a:solidFill>
                  <a:srgbClr val="000099"/>
                </a:solidFill>
              </a:rPr>
              <a:t>4</a:t>
            </a:r>
            <a:r>
              <a:rPr lang="zh-CN" altLang="en-US" sz="2400" b="1">
                <a:solidFill>
                  <a:srgbClr val="000099"/>
                </a:solidFill>
              </a:rPr>
              <a:t>种</a:t>
            </a:r>
            <a:r>
              <a:rPr lang="zh-CN" altLang="en-US" sz="2400" b="1"/>
              <a:t>不同的</a:t>
            </a:r>
            <a:r>
              <a:rPr lang="zh-CN" altLang="en-US" sz="2400" b="1">
                <a:solidFill>
                  <a:srgbClr val="000099"/>
                </a:solidFill>
              </a:rPr>
              <a:t>频率</a:t>
            </a:r>
            <a:r>
              <a:rPr lang="zh-CN" altLang="en-US" sz="2400" b="1"/>
              <a:t>分别表示</a:t>
            </a:r>
            <a:r>
              <a:rPr lang="zh-CN" altLang="en-US" sz="2400" b="1">
                <a:solidFill>
                  <a:srgbClr val="000099"/>
                </a:solidFill>
              </a:rPr>
              <a:t>双比特</a:t>
            </a:r>
            <a:r>
              <a:rPr lang="zh-CN" altLang="en-US" sz="2400" b="1"/>
              <a:t>信息：</a:t>
            </a:r>
          </a:p>
        </p:txBody>
      </p:sp>
      <p:pic>
        <p:nvPicPr>
          <p:cNvPr id="61443" name="Picture 3" descr="072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3357563"/>
            <a:ext cx="6767513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428625"/>
            <a:ext cx="749808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33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33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.4.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2 </a:t>
            </a:r>
            <a:r>
              <a:rPr lang="en-US" altLang="zh-CN" sz="3200" b="1" dirty="0">
                <a:solidFill>
                  <a:srgbClr val="0033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*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多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进制频移键控  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MF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</a:rPr>
              <a:t>SK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33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82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3" descr="072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2000250"/>
            <a:ext cx="7381875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971550" y="1209675"/>
            <a:ext cx="4694238" cy="504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2400" b="1"/>
              <a:t> MFSK</a:t>
            </a:r>
            <a:r>
              <a:rPr lang="zh-CN" altLang="en-US" sz="2400" b="1"/>
              <a:t>调制与解调的原理框图：</a:t>
            </a:r>
          </a:p>
        </p:txBody>
      </p:sp>
    </p:spTree>
    <p:extLst>
      <p:ext uri="{BB962C8B-B14F-4D97-AF65-F5344CB8AC3E}">
        <p14:creationId xmlns:p14="http://schemas.microsoft.com/office/powerpoint/2010/main" val="125324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" dur="20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00113" y="1268413"/>
            <a:ext cx="6913562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700"/>
              </a:lnSpc>
              <a:buClr>
                <a:srgbClr val="969696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zh-CN" sz="2400" b="1" dirty="0"/>
              <a:t>要求载频之间的距离足够大，以便用滤波器分离不同频率的谱</a:t>
            </a:r>
            <a:r>
              <a:rPr lang="zh-CN" altLang="en-US" sz="2400" b="1" dirty="0"/>
              <a:t>。</a:t>
            </a:r>
            <a:endParaRPr lang="zh-CN" altLang="zh-CN" sz="2400" b="1" dirty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96938" y="2647950"/>
            <a:ext cx="738981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700"/>
              </a:lnSpc>
              <a:buClr>
                <a:srgbClr val="969696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b="1"/>
              <a:t>MFSK</a:t>
            </a:r>
            <a:r>
              <a:rPr lang="zh-CN" altLang="zh-CN" sz="2400" b="1"/>
              <a:t>信号占用较宽的频带，信道频带利用率不高。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928688" y="4602163"/>
            <a:ext cx="71437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66775" algn="l"/>
              </a:tabLs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4000"/>
              </a:lnSpc>
              <a:buClr>
                <a:srgbClr val="969696"/>
              </a:buClr>
              <a:buSzPct val="70000"/>
              <a:buFont typeface="Wingdings" panose="05000000000000000000" pitchFamily="2" charset="2"/>
              <a:buChar char="l"/>
            </a:pPr>
            <a:r>
              <a:rPr lang="en-US" altLang="zh-CN" sz="2400" b="1"/>
              <a:t>MFSK</a:t>
            </a:r>
            <a:r>
              <a:rPr lang="zh-CN" altLang="zh-CN" sz="2400" b="1"/>
              <a:t>一般用于</a:t>
            </a:r>
            <a:r>
              <a:rPr lang="zh-CN" altLang="en-US" sz="2400" b="1"/>
              <a:t> </a:t>
            </a:r>
            <a:r>
              <a:rPr lang="zh-CN" altLang="zh-CN" sz="2400" b="1"/>
              <a:t>调制速率</a:t>
            </a:r>
            <a:r>
              <a:rPr lang="zh-CN" altLang="en-US" sz="2400" b="1">
                <a:solidFill>
                  <a:srgbClr val="000099"/>
                </a:solidFill>
              </a:rPr>
              <a:t>(</a:t>
            </a:r>
            <a:r>
              <a:rPr lang="en-US" altLang="zh-CN" sz="2400" b="1">
                <a:solidFill>
                  <a:srgbClr val="000099"/>
                </a:solidFill>
              </a:rPr>
              <a:t>1/T</a:t>
            </a:r>
            <a:r>
              <a:rPr lang="en-US" altLang="zh-CN" sz="2400" b="1" baseline="-25000">
                <a:solidFill>
                  <a:srgbClr val="000099"/>
                </a:solidFill>
              </a:rPr>
              <a:t>B</a:t>
            </a:r>
            <a:r>
              <a:rPr lang="en-US" altLang="zh-CN" sz="2400" b="1">
                <a:solidFill>
                  <a:srgbClr val="000099"/>
                </a:solidFill>
              </a:rPr>
              <a:t>)</a:t>
            </a:r>
            <a:r>
              <a:rPr lang="en-US" altLang="zh-CN" sz="2400" b="1"/>
              <a:t> </a:t>
            </a:r>
            <a:r>
              <a:rPr lang="zh-CN" altLang="zh-CN" sz="2400" b="1"/>
              <a:t>不高的</a:t>
            </a:r>
            <a:r>
              <a:rPr lang="zh-CN" altLang="en-US" sz="2400" b="1"/>
              <a:t>衰落信道</a:t>
            </a:r>
          </a:p>
          <a:p>
            <a:pPr algn="just" eaLnBrk="1" hangingPunct="1">
              <a:lnSpc>
                <a:spcPts val="4000"/>
              </a:lnSpc>
              <a:buClr>
                <a:srgbClr val="969696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b="1"/>
              <a:t>    传输</a:t>
            </a:r>
            <a:r>
              <a:rPr lang="zh-CN" altLang="zh-CN" sz="2400" b="1"/>
              <a:t>场合。</a:t>
            </a:r>
          </a:p>
        </p:txBody>
      </p:sp>
      <p:graphicFrame>
        <p:nvGraphicFramePr>
          <p:cNvPr id="116743" name="Object 7"/>
          <p:cNvGraphicFramePr>
            <a:graphicFrameLocks noChangeAspect="1"/>
          </p:cNvGraphicFramePr>
          <p:nvPr/>
        </p:nvGraphicFramePr>
        <p:xfrm>
          <a:off x="3429000" y="3357563"/>
          <a:ext cx="2424113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97" name="公式" r:id="rId3" imgW="1104840" imgH="431640" progId="Equation.3">
                  <p:embed/>
                </p:oleObj>
              </mc:Choice>
              <mc:Fallback>
                <p:oleObj name="公式" r:id="rId3" imgW="1104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357563"/>
                        <a:ext cx="2424113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>
                        <a:prstShdw prst="shdw17" dist="17961" dir="2700000">
                          <a:schemeClr val="bg1">
                            <a:gamma/>
                            <a:shade val="60000"/>
                            <a:invGamma/>
                          </a:schemeClr>
                        </a:prst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593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Picture 3" descr="072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3714750"/>
            <a:ext cx="54324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725488" y="2066925"/>
            <a:ext cx="69119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b="1"/>
              <a:t> 利用载波的</a:t>
            </a:r>
            <a:r>
              <a:rPr lang="en-US" altLang="zh-CN" sz="2400" b="1">
                <a:solidFill>
                  <a:srgbClr val="0000CC"/>
                </a:solidFill>
              </a:rPr>
              <a:t>M</a:t>
            </a:r>
            <a:r>
              <a:rPr lang="zh-CN" altLang="en-US" sz="2400" b="1">
                <a:solidFill>
                  <a:srgbClr val="0000CC"/>
                </a:solidFill>
              </a:rPr>
              <a:t>种</a:t>
            </a:r>
            <a:r>
              <a:rPr lang="zh-CN" altLang="en-US" sz="2400" b="1"/>
              <a:t>不同</a:t>
            </a:r>
            <a:r>
              <a:rPr lang="zh-CN" altLang="en-US" sz="2400" b="1">
                <a:solidFill>
                  <a:srgbClr val="0000CC"/>
                </a:solidFill>
              </a:rPr>
              <a:t>相位</a:t>
            </a:r>
            <a:r>
              <a:rPr lang="zh-CN" altLang="en-US" sz="2400" b="1"/>
              <a:t>表示数字信息。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714375" y="2949575"/>
            <a:ext cx="435768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20000"/>
              </a:spcBef>
              <a:buClr>
                <a:srgbClr val="FF0000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信号矢量图（星座图）：</a:t>
            </a:r>
            <a:endParaRPr lang="zh-CN" altLang="en-US" sz="2400" b="1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0" y="428625"/>
            <a:ext cx="8501063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.4.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3 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多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进制相移键控  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MP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</a:rPr>
              <a:t>SK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33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71513" y="1262063"/>
            <a:ext cx="7686675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1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 </a:t>
            </a:r>
            <a:r>
              <a:rPr lang="zh-CN" altLang="en-US" sz="28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基本概念</a:t>
            </a:r>
          </a:p>
        </p:txBody>
      </p:sp>
    </p:spTree>
    <p:extLst>
      <p:ext uri="{BB962C8B-B14F-4D97-AF65-F5344CB8AC3E}">
        <p14:creationId xmlns:p14="http://schemas.microsoft.com/office/powerpoint/2010/main" val="275923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20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  <p:bldP spid="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4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85"/>
          <a:stretch>
            <a:fillRect/>
          </a:stretch>
        </p:blipFill>
        <p:spPr bwMode="auto">
          <a:xfrm>
            <a:off x="660400" y="4718050"/>
            <a:ext cx="7994650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007"/>
          <a:stretch>
            <a:fillRect/>
          </a:stretch>
        </p:blipFill>
        <p:spPr bwMode="auto">
          <a:xfrm>
            <a:off x="711200" y="3473450"/>
            <a:ext cx="79946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12"/>
          <p:cNvSpPr>
            <a:spLocks noEditPoints="1"/>
          </p:cNvSpPr>
          <p:nvPr/>
        </p:nvSpPr>
        <p:spPr bwMode="auto">
          <a:xfrm>
            <a:off x="1238250" y="3565525"/>
            <a:ext cx="571500" cy="357188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2"/>
          <p:cNvSpPr>
            <a:spLocks noEditPoints="1"/>
          </p:cNvSpPr>
          <p:nvPr/>
        </p:nvSpPr>
        <p:spPr bwMode="auto">
          <a:xfrm>
            <a:off x="1238250" y="4857750"/>
            <a:ext cx="571500" cy="357188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2"/>
          <p:cNvSpPr>
            <a:spLocks noEditPoints="1"/>
          </p:cNvSpPr>
          <p:nvPr/>
        </p:nvSpPr>
        <p:spPr bwMode="auto">
          <a:xfrm>
            <a:off x="4749800" y="4095750"/>
            <a:ext cx="571500" cy="357188"/>
          </a:xfrm>
          <a:custGeom>
            <a:avLst/>
            <a:gdLst>
              <a:gd name="T0" fmla="*/ 0 w 728"/>
              <a:gd name="T1" fmla="*/ 2147483647 h 604"/>
              <a:gd name="T2" fmla="*/ 2147483647 w 728"/>
              <a:gd name="T3" fmla="*/ 2147483647 h 604"/>
              <a:gd name="T4" fmla="*/ 0 w 728"/>
              <a:gd name="T5" fmla="*/ 2147483647 h 604"/>
              <a:gd name="T6" fmla="*/ 2147483647 w 728"/>
              <a:gd name="T7" fmla="*/ 0 h 604"/>
              <a:gd name="T8" fmla="*/ 2147483647 w 728"/>
              <a:gd name="T9" fmla="*/ 2147483647 h 604"/>
              <a:gd name="T10" fmla="*/ 2147483647 w 728"/>
              <a:gd name="T11" fmla="*/ 2147483647 h 604"/>
              <a:gd name="T12" fmla="*/ 2147483647 w 728"/>
              <a:gd name="T13" fmla="*/ 2147483647 h 604"/>
              <a:gd name="T14" fmla="*/ 2147483647 w 728"/>
              <a:gd name="T15" fmla="*/ 2147483647 h 604"/>
              <a:gd name="T16" fmla="*/ 2147483647 w 728"/>
              <a:gd name="T17" fmla="*/ 2147483647 h 604"/>
              <a:gd name="T18" fmla="*/ 2147483647 w 728"/>
              <a:gd name="T19" fmla="*/ 2147483647 h 604"/>
              <a:gd name="T20" fmla="*/ 2147483647 w 728"/>
              <a:gd name="T21" fmla="*/ 2147483647 h 604"/>
              <a:gd name="T22" fmla="*/ 2147483647 w 728"/>
              <a:gd name="T23" fmla="*/ 2147483647 h 604"/>
              <a:gd name="T24" fmla="*/ 2147483647 w 728"/>
              <a:gd name="T25" fmla="*/ 2147483647 h 604"/>
              <a:gd name="T26" fmla="*/ 2147483647 w 728"/>
              <a:gd name="T27" fmla="*/ 2147483647 h 604"/>
              <a:gd name="T28" fmla="*/ 2147483647 w 728"/>
              <a:gd name="T29" fmla="*/ 2147483647 h 604"/>
              <a:gd name="T30" fmla="*/ 2147483647 w 728"/>
              <a:gd name="T31" fmla="*/ 2147483647 h 604"/>
              <a:gd name="T32" fmla="*/ 2147483647 w 728"/>
              <a:gd name="T33" fmla="*/ 2147483647 h 604"/>
              <a:gd name="T34" fmla="*/ 2147483647 w 728"/>
              <a:gd name="T35" fmla="*/ 2147483647 h 604"/>
              <a:gd name="T36" fmla="*/ 2147483647 w 728"/>
              <a:gd name="T37" fmla="*/ 2147483647 h 604"/>
              <a:gd name="T38" fmla="*/ 2147483647 w 728"/>
              <a:gd name="T39" fmla="*/ 2147483647 h 604"/>
              <a:gd name="T40" fmla="*/ 2147483647 w 728"/>
              <a:gd name="T41" fmla="*/ 2147483647 h 604"/>
              <a:gd name="T42" fmla="*/ 2147483647 w 728"/>
              <a:gd name="T43" fmla="*/ 2147483647 h 604"/>
              <a:gd name="T44" fmla="*/ 2147483647 w 728"/>
              <a:gd name="T45" fmla="*/ 2147483647 h 604"/>
              <a:gd name="T46" fmla="*/ 2147483647 w 728"/>
              <a:gd name="T47" fmla="*/ 2147483647 h 604"/>
              <a:gd name="T48" fmla="*/ 2147483647 w 728"/>
              <a:gd name="T49" fmla="*/ 2147483647 h 604"/>
              <a:gd name="T50" fmla="*/ 2147483647 w 728"/>
              <a:gd name="T51" fmla="*/ 2147483647 h 604"/>
              <a:gd name="T52" fmla="*/ 2147483647 w 728"/>
              <a:gd name="T53" fmla="*/ 2147483647 h 604"/>
              <a:gd name="T54" fmla="*/ 2147483647 w 728"/>
              <a:gd name="T55" fmla="*/ 2147483647 h 604"/>
              <a:gd name="T56" fmla="*/ 2147483647 w 728"/>
              <a:gd name="T57" fmla="*/ 2147483647 h 604"/>
              <a:gd name="T58" fmla="*/ 2147483647 w 728"/>
              <a:gd name="T59" fmla="*/ 2147483647 h 604"/>
              <a:gd name="T60" fmla="*/ 2147483647 w 728"/>
              <a:gd name="T61" fmla="*/ 2147483647 h 604"/>
              <a:gd name="T62" fmla="*/ 2147483647 w 728"/>
              <a:gd name="T63" fmla="*/ 2147483647 h 604"/>
              <a:gd name="T64" fmla="*/ 2147483647 w 728"/>
              <a:gd name="T65" fmla="*/ 2147483647 h 604"/>
              <a:gd name="T66" fmla="*/ 2147483647 w 728"/>
              <a:gd name="T67" fmla="*/ 2147483647 h 604"/>
              <a:gd name="T68" fmla="*/ 2147483647 w 728"/>
              <a:gd name="T69" fmla="*/ 2147483647 h 604"/>
              <a:gd name="T70" fmla="*/ 2147483647 w 728"/>
              <a:gd name="T71" fmla="*/ 2147483647 h 604"/>
              <a:gd name="T72" fmla="*/ 2147483647 w 728"/>
              <a:gd name="T73" fmla="*/ 2147483647 h 604"/>
              <a:gd name="T74" fmla="*/ 2147483647 w 728"/>
              <a:gd name="T75" fmla="*/ 2147483647 h 604"/>
              <a:gd name="T76" fmla="*/ 2147483647 w 728"/>
              <a:gd name="T77" fmla="*/ 2147483647 h 604"/>
              <a:gd name="T78" fmla="*/ 2147483647 w 728"/>
              <a:gd name="T79" fmla="*/ 0 h 60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728"/>
              <a:gd name="T121" fmla="*/ 0 h 604"/>
              <a:gd name="T122" fmla="*/ 728 w 728"/>
              <a:gd name="T123" fmla="*/ 604 h 604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728" h="604">
                <a:moveTo>
                  <a:pt x="0" y="590"/>
                </a:moveTo>
                <a:lnTo>
                  <a:pt x="0" y="590"/>
                </a:lnTo>
                <a:lnTo>
                  <a:pt x="12" y="574"/>
                </a:lnTo>
                <a:lnTo>
                  <a:pt x="6" y="582"/>
                </a:lnTo>
                <a:lnTo>
                  <a:pt x="0" y="590"/>
                </a:lnTo>
                <a:close/>
                <a:moveTo>
                  <a:pt x="718" y="0"/>
                </a:moveTo>
                <a:lnTo>
                  <a:pt x="606" y="240"/>
                </a:lnTo>
                <a:lnTo>
                  <a:pt x="656" y="216"/>
                </a:lnTo>
                <a:lnTo>
                  <a:pt x="642" y="272"/>
                </a:lnTo>
                <a:lnTo>
                  <a:pt x="626" y="324"/>
                </a:lnTo>
                <a:lnTo>
                  <a:pt x="608" y="374"/>
                </a:lnTo>
                <a:lnTo>
                  <a:pt x="588" y="418"/>
                </a:lnTo>
                <a:lnTo>
                  <a:pt x="566" y="460"/>
                </a:lnTo>
                <a:lnTo>
                  <a:pt x="542" y="494"/>
                </a:lnTo>
                <a:lnTo>
                  <a:pt x="518" y="524"/>
                </a:lnTo>
                <a:lnTo>
                  <a:pt x="504" y="536"/>
                </a:lnTo>
                <a:lnTo>
                  <a:pt x="492" y="548"/>
                </a:lnTo>
                <a:lnTo>
                  <a:pt x="470" y="562"/>
                </a:lnTo>
                <a:lnTo>
                  <a:pt x="446" y="576"/>
                </a:lnTo>
                <a:lnTo>
                  <a:pt x="420" y="586"/>
                </a:lnTo>
                <a:lnTo>
                  <a:pt x="392" y="594"/>
                </a:lnTo>
                <a:lnTo>
                  <a:pt x="364" y="598"/>
                </a:lnTo>
                <a:lnTo>
                  <a:pt x="336" y="598"/>
                </a:lnTo>
                <a:lnTo>
                  <a:pt x="306" y="592"/>
                </a:lnTo>
                <a:lnTo>
                  <a:pt x="292" y="588"/>
                </a:lnTo>
                <a:lnTo>
                  <a:pt x="278" y="582"/>
                </a:lnTo>
                <a:lnTo>
                  <a:pt x="238" y="566"/>
                </a:lnTo>
                <a:lnTo>
                  <a:pt x="198" y="554"/>
                </a:lnTo>
                <a:lnTo>
                  <a:pt x="160" y="544"/>
                </a:lnTo>
                <a:lnTo>
                  <a:pt x="124" y="540"/>
                </a:lnTo>
                <a:lnTo>
                  <a:pt x="108" y="540"/>
                </a:lnTo>
                <a:lnTo>
                  <a:pt x="92" y="540"/>
                </a:lnTo>
                <a:lnTo>
                  <a:pt x="76" y="542"/>
                </a:lnTo>
                <a:lnTo>
                  <a:pt x="62" y="546"/>
                </a:lnTo>
                <a:lnTo>
                  <a:pt x="48" y="550"/>
                </a:lnTo>
                <a:lnTo>
                  <a:pt x="36" y="556"/>
                </a:lnTo>
                <a:lnTo>
                  <a:pt x="24" y="564"/>
                </a:lnTo>
                <a:lnTo>
                  <a:pt x="12" y="574"/>
                </a:lnTo>
                <a:lnTo>
                  <a:pt x="28" y="562"/>
                </a:lnTo>
                <a:lnTo>
                  <a:pt x="46" y="552"/>
                </a:lnTo>
                <a:lnTo>
                  <a:pt x="58" y="548"/>
                </a:lnTo>
                <a:lnTo>
                  <a:pt x="70" y="544"/>
                </a:lnTo>
                <a:lnTo>
                  <a:pt x="84" y="542"/>
                </a:lnTo>
                <a:lnTo>
                  <a:pt x="100" y="542"/>
                </a:lnTo>
                <a:lnTo>
                  <a:pt x="116" y="542"/>
                </a:lnTo>
                <a:lnTo>
                  <a:pt x="134" y="544"/>
                </a:lnTo>
                <a:lnTo>
                  <a:pt x="154" y="546"/>
                </a:lnTo>
                <a:lnTo>
                  <a:pt x="174" y="550"/>
                </a:lnTo>
                <a:lnTo>
                  <a:pt x="198" y="556"/>
                </a:lnTo>
                <a:lnTo>
                  <a:pt x="222" y="564"/>
                </a:lnTo>
                <a:lnTo>
                  <a:pt x="248" y="574"/>
                </a:lnTo>
                <a:lnTo>
                  <a:pt x="276" y="586"/>
                </a:lnTo>
                <a:lnTo>
                  <a:pt x="298" y="594"/>
                </a:lnTo>
                <a:lnTo>
                  <a:pt x="322" y="600"/>
                </a:lnTo>
                <a:lnTo>
                  <a:pt x="348" y="604"/>
                </a:lnTo>
                <a:lnTo>
                  <a:pt x="376" y="604"/>
                </a:lnTo>
                <a:lnTo>
                  <a:pt x="404" y="600"/>
                </a:lnTo>
                <a:lnTo>
                  <a:pt x="434" y="592"/>
                </a:lnTo>
                <a:lnTo>
                  <a:pt x="466" y="578"/>
                </a:lnTo>
                <a:lnTo>
                  <a:pt x="498" y="560"/>
                </a:lnTo>
                <a:lnTo>
                  <a:pt x="512" y="550"/>
                </a:lnTo>
                <a:lnTo>
                  <a:pt x="526" y="538"/>
                </a:lnTo>
                <a:lnTo>
                  <a:pt x="540" y="524"/>
                </a:lnTo>
                <a:lnTo>
                  <a:pt x="554" y="508"/>
                </a:lnTo>
                <a:lnTo>
                  <a:pt x="580" y="472"/>
                </a:lnTo>
                <a:lnTo>
                  <a:pt x="606" y="430"/>
                </a:lnTo>
                <a:lnTo>
                  <a:pt x="630" y="384"/>
                </a:lnTo>
                <a:lnTo>
                  <a:pt x="650" y="332"/>
                </a:lnTo>
                <a:lnTo>
                  <a:pt x="668" y="278"/>
                </a:lnTo>
                <a:lnTo>
                  <a:pt x="684" y="220"/>
                </a:lnTo>
                <a:lnTo>
                  <a:pt x="728" y="326"/>
                </a:lnTo>
                <a:lnTo>
                  <a:pt x="718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4" descr="072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450850"/>
            <a:ext cx="7572375" cy="2773363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317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00075" y="428625"/>
            <a:ext cx="7829550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2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 4PSK </a:t>
            </a:r>
            <a:r>
              <a:rPr lang="zh-CN" altLang="en-US" sz="28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调制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85813" y="3014663"/>
            <a:ext cx="7643812" cy="12001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buClr>
                <a:srgbClr val="969696"/>
              </a:buClr>
              <a:buSzPct val="80000"/>
              <a:buFont typeface="Wingdings" pitchFamily="2" charset="2"/>
              <a:buChar char="l"/>
              <a:defRPr/>
            </a:pPr>
            <a:r>
              <a:rPr lang="en-US" altLang="zh-CN" sz="2400" b="1" dirty="0">
                <a:cs typeface="Times New Roman" pitchFamily="18" charset="0"/>
              </a:rPr>
              <a:t>  </a:t>
            </a:r>
            <a:r>
              <a:rPr lang="en-US" altLang="zh-CN" sz="2400" b="1" dirty="0">
                <a:solidFill>
                  <a:srgbClr val="0000CC"/>
                </a:solidFill>
              </a:rPr>
              <a:t>QPSK</a:t>
            </a:r>
            <a:r>
              <a:rPr lang="zh-CN" altLang="zh-CN" sz="2400" b="1" dirty="0">
                <a:cs typeface="Times New Roman" pitchFamily="18" charset="0"/>
              </a:rPr>
              <a:t>的每一种载波相位代表两个比特</a:t>
            </a:r>
            <a:r>
              <a:rPr lang="zh-CN" altLang="en-US" sz="2400" b="1" dirty="0">
                <a:cs typeface="Times New Roman" pitchFamily="18" charset="0"/>
              </a:rPr>
              <a:t>：</a:t>
            </a:r>
          </a:p>
          <a:p>
            <a:pPr>
              <a:lnSpc>
                <a:spcPct val="150000"/>
              </a:lnSpc>
              <a:buClr>
                <a:srgbClr val="969696"/>
              </a:buClr>
              <a:buSzPct val="80000"/>
              <a:defRPr/>
            </a:pPr>
            <a:r>
              <a:rPr lang="zh-CN" altLang="en-US" sz="2400" b="1" dirty="0">
                <a:cs typeface="Times New Roman" pitchFamily="18" charset="0"/>
              </a:rPr>
              <a:t>                                              </a:t>
            </a:r>
            <a:r>
              <a:rPr lang="zh-CN" altLang="zh-CN" sz="2400" b="1" dirty="0">
                <a:cs typeface="Times New Roman" pitchFamily="18" charset="0"/>
              </a:rPr>
              <a:t>（</a:t>
            </a:r>
            <a:r>
              <a:rPr lang="en-US" altLang="zh-CN" sz="2400" b="1" dirty="0"/>
              <a:t>00</a:t>
            </a:r>
            <a:r>
              <a:rPr lang="zh-CN" altLang="zh-CN" sz="2400" b="1" dirty="0"/>
              <a:t>、</a:t>
            </a:r>
            <a:r>
              <a:rPr lang="en-US" altLang="zh-CN" sz="2400" b="1" dirty="0"/>
              <a:t>01</a:t>
            </a:r>
            <a:r>
              <a:rPr lang="zh-CN" altLang="zh-CN" sz="2400" b="1" dirty="0"/>
              <a:t>、</a:t>
            </a:r>
            <a:r>
              <a:rPr lang="en-US" altLang="zh-CN" sz="2400" b="1" dirty="0"/>
              <a:t>10 </a:t>
            </a:r>
            <a:r>
              <a:rPr lang="zh-CN" altLang="zh-CN" sz="2400" b="1" dirty="0"/>
              <a:t>或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11</a:t>
            </a:r>
            <a:r>
              <a:rPr lang="zh-CN" altLang="zh-CN" sz="2400" b="1" dirty="0"/>
              <a:t>）</a:t>
            </a:r>
            <a:endParaRPr lang="zh-CN" altLang="en-US" sz="2400" b="1" dirty="0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87400" y="4732338"/>
            <a:ext cx="7642225" cy="5746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rgbClr val="969696"/>
              </a:buClr>
              <a:buSzPct val="80000"/>
              <a:buFont typeface="Wingdings" pitchFamily="2" charset="2"/>
              <a:buChar char="l"/>
              <a:defRPr/>
            </a:pPr>
            <a:r>
              <a:rPr lang="zh-CN" altLang="en-US" sz="2400" b="1" dirty="0"/>
              <a:t> 两个比特的组合 称做 </a:t>
            </a:r>
            <a:r>
              <a:rPr lang="zh-CN" altLang="en-US" sz="2800" b="1" dirty="0">
                <a:solidFill>
                  <a:srgbClr val="0000CC"/>
                </a:solidFill>
                <a:latin typeface="+mn-ea"/>
                <a:ea typeface="+mn-ea"/>
              </a:rPr>
              <a:t>双比特 </a:t>
            </a:r>
            <a:r>
              <a:rPr lang="zh-CN" altLang="en-US" sz="2400" b="1" dirty="0"/>
              <a:t>码元，记为 </a:t>
            </a:r>
            <a:r>
              <a:rPr lang="en-US" altLang="zh-CN" sz="2800" b="1" dirty="0">
                <a:solidFill>
                  <a:srgbClr val="0000CC"/>
                </a:solidFill>
              </a:rPr>
              <a:t>a b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pic>
        <p:nvPicPr>
          <p:cNvPr id="12186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384300"/>
            <a:ext cx="77343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530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2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83365"/>
              </p:ext>
            </p:extLst>
          </p:nvPr>
        </p:nvGraphicFramePr>
        <p:xfrm>
          <a:off x="931863" y="1363663"/>
          <a:ext cx="8120062" cy="274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21" name="Document" r:id="rId3" imgW="5715000" imgH="1879600" progId="Word.Document.12">
                  <p:embed/>
                </p:oleObj>
              </mc:Choice>
              <mc:Fallback>
                <p:oleObj name="Document" r:id="rId3" imgW="5715000" imgH="1879600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1363663"/>
                        <a:ext cx="8120062" cy="274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142875" y="485775"/>
            <a:ext cx="52228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algn="ctr">
              <a:buClr>
                <a:srgbClr val="FF0000"/>
              </a:buClr>
              <a:buSzPct val="70000"/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8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）双比特</a:t>
            </a:r>
            <a:r>
              <a:rPr lang="zh-CN" altLang="en-US" sz="2800" b="1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与载波相位的关系</a:t>
            </a:r>
          </a:p>
        </p:txBody>
      </p:sp>
      <p:sp>
        <p:nvSpPr>
          <p:cNvPr id="41070" name="Rectangle 110"/>
          <p:cNvSpPr>
            <a:spLocks noChangeArrowheads="1"/>
          </p:cNvSpPr>
          <p:nvPr/>
        </p:nvSpPr>
        <p:spPr bwMode="auto">
          <a:xfrm>
            <a:off x="468313" y="4076700"/>
            <a:ext cx="15128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矢量图</a:t>
            </a:r>
            <a:r>
              <a:rPr lang="zh-CN" altLang="en-US" sz="24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0" name="圆角矩形标注 9"/>
          <p:cNvSpPr/>
          <p:nvPr/>
        </p:nvSpPr>
        <p:spPr bwMode="auto">
          <a:xfrm>
            <a:off x="5857875" y="142875"/>
            <a:ext cx="3000375" cy="1214438"/>
          </a:xfrm>
          <a:prstGeom prst="wedgeRoundRectCallout">
            <a:avLst>
              <a:gd name="adj1" fmla="val -66304"/>
              <a:gd name="adj2" fmla="val 12225"/>
              <a:gd name="adj3" fmla="val 16667"/>
            </a:avLst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lnSpc>
                <a:spcPts val="2800"/>
              </a:lnSpc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注：</a:t>
            </a:r>
            <a:r>
              <a:rPr lang="zh-CN" altLang="en-US" sz="2000" b="1" dirty="0"/>
              <a:t>对应关系可有不同规定，但相邻码组应符合</a:t>
            </a:r>
            <a:r>
              <a:rPr lang="zh-CN" altLang="en-US" sz="2000" b="1" dirty="0">
                <a:solidFill>
                  <a:srgbClr val="FF0000"/>
                </a:solidFill>
              </a:rPr>
              <a:t>格雷码</a:t>
            </a:r>
            <a:r>
              <a:rPr lang="zh-CN" altLang="en-US" sz="2000" b="1" dirty="0"/>
              <a:t>编码规则</a:t>
            </a:r>
          </a:p>
        </p:txBody>
      </p:sp>
      <p:pic>
        <p:nvPicPr>
          <p:cNvPr id="7680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03" t="7277" r="9943" b="5634"/>
          <a:stretch>
            <a:fillRect/>
          </a:stretch>
        </p:blipFill>
        <p:spPr bwMode="auto">
          <a:xfrm>
            <a:off x="5149850" y="4006850"/>
            <a:ext cx="253365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" t="6573" r="57941" b="6339"/>
          <a:stretch>
            <a:fillRect/>
          </a:stretch>
        </p:blipFill>
        <p:spPr bwMode="auto">
          <a:xfrm>
            <a:off x="1949450" y="4051300"/>
            <a:ext cx="24892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319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20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0" grpId="0"/>
      <p:bldP spid="41070" grpId="0"/>
      <p:bldP spid="10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70" name="Rectangle 110"/>
          <p:cNvSpPr>
            <a:spLocks noChangeArrowheads="1"/>
          </p:cNvSpPr>
          <p:nvPr/>
        </p:nvSpPr>
        <p:spPr bwMode="auto">
          <a:xfrm>
            <a:off x="468313" y="4076700"/>
            <a:ext cx="1206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波形</a:t>
            </a:r>
            <a:r>
              <a:rPr lang="zh-CN" altLang="en-US" sz="24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001038"/>
              </p:ext>
            </p:extLst>
          </p:nvPr>
        </p:nvGraphicFramePr>
        <p:xfrm>
          <a:off x="931863" y="1012825"/>
          <a:ext cx="8120062" cy="344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445" name="Document" r:id="rId3" imgW="5715000" imgH="2362200" progId="Word.Document.12">
                  <p:embed/>
                </p:oleObj>
              </mc:Choice>
              <mc:Fallback>
                <p:oleObj name="Document" r:id="rId3" imgW="5715000" imgH="2362200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1012825"/>
                        <a:ext cx="8120062" cy="344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75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" t="6573" r="57941" b="6339"/>
          <a:stretch>
            <a:fillRect/>
          </a:stretch>
        </p:blipFill>
        <p:spPr bwMode="auto">
          <a:xfrm>
            <a:off x="1949450" y="4051300"/>
            <a:ext cx="24892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39" t="8665" r="2277" b="11174"/>
          <a:stretch>
            <a:fillRect/>
          </a:stretch>
        </p:blipFill>
        <p:spPr bwMode="auto">
          <a:xfrm>
            <a:off x="4794250" y="4229100"/>
            <a:ext cx="3467100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479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70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48" t="15663" r="9801"/>
          <a:stretch>
            <a:fillRect/>
          </a:stretch>
        </p:blipFill>
        <p:spPr bwMode="auto">
          <a:xfrm>
            <a:off x="5683250" y="1101725"/>
            <a:ext cx="2667000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7286" name="Object 6"/>
          <p:cNvGraphicFramePr>
            <a:graphicFrameLocks noChangeAspect="1"/>
          </p:cNvGraphicFramePr>
          <p:nvPr/>
        </p:nvGraphicFramePr>
        <p:xfrm>
          <a:off x="838200" y="3143250"/>
          <a:ext cx="7091363" cy="377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69" name="Visio" r:id="rId4" imgW="4402369" imgH="2345084" progId="Visio.Drawing.11">
                  <p:embed/>
                </p:oleObj>
              </mc:Choice>
              <mc:Fallback>
                <p:oleObj name="Visio" r:id="rId4" imgW="4402369" imgH="234508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143250"/>
                        <a:ext cx="7091363" cy="377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75999"/>
                              </a:scheme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10"/>
          <p:cNvSpPr>
            <a:spLocks noChangeArrowheads="1"/>
          </p:cNvSpPr>
          <p:nvPr/>
        </p:nvSpPr>
        <p:spPr bwMode="auto">
          <a:xfrm>
            <a:off x="785813" y="1214438"/>
            <a:ext cx="2000250" cy="4619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正交调相法</a:t>
            </a:r>
            <a:endParaRPr lang="zh-CN" altLang="en-US" sz="2400" dirty="0">
              <a:solidFill>
                <a:srgbClr val="0000CC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428625" y="428625"/>
            <a:ext cx="4071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+mn-lt"/>
                <a:ea typeface="黑体" pitchFamily="2" charset="-122"/>
              </a:rPr>
              <a:t>2</a:t>
            </a:r>
            <a:r>
              <a:rPr lang="zh-CN" altLang="en-US" sz="2800" b="1" dirty="0">
                <a:solidFill>
                  <a:srgbClr val="0000CC"/>
                </a:solidFill>
                <a:latin typeface="+mn-lt"/>
                <a:ea typeface="黑体" pitchFamily="2" charset="-122"/>
              </a:rPr>
              <a:t>）</a:t>
            </a:r>
            <a:r>
              <a:rPr lang="en-US" altLang="zh-CN" sz="2800" b="1" dirty="0">
                <a:solidFill>
                  <a:srgbClr val="003399"/>
                </a:solidFill>
                <a:latin typeface="+mn-lt"/>
                <a:ea typeface="微软雅黑" pitchFamily="34" charset="-122"/>
              </a:rPr>
              <a:t> </a:t>
            </a:r>
            <a:r>
              <a:rPr lang="en-US" altLang="zh-CN" sz="28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QPSK</a:t>
            </a:r>
            <a:r>
              <a:rPr lang="zh-CN" altLang="en-US" sz="28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调制</a:t>
            </a:r>
            <a:endParaRPr lang="zh-CN" altLang="en-US" sz="2800" b="1" dirty="0">
              <a:solidFill>
                <a:srgbClr val="0000CC"/>
              </a:solidFill>
              <a:latin typeface="+mn-lt"/>
              <a:ea typeface="黑体" pitchFamily="2" charset="-122"/>
              <a:cs typeface="Times New Roman" pitchFamily="18" charset="0"/>
            </a:endParaRPr>
          </a:p>
        </p:txBody>
      </p:sp>
      <p:pic>
        <p:nvPicPr>
          <p:cNvPr id="7885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1828800"/>
            <a:ext cx="4414837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513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20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1" descr="07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027238"/>
            <a:ext cx="7559675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1428750" y="5000625"/>
            <a:ext cx="6929438" cy="10525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0000CC"/>
              </a:buClr>
              <a:buSzPct val="65000"/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宋体" pitchFamily="2" charset="-122"/>
              </a:rPr>
              <a:t>     根据当时的双比特</a:t>
            </a:r>
            <a:r>
              <a:rPr lang="en-US" altLang="zh-CN" sz="2400" b="1" dirty="0" err="1">
                <a:solidFill>
                  <a:srgbClr val="0000CC"/>
                </a:solidFill>
                <a:latin typeface="+mn-lt"/>
              </a:rPr>
              <a:t>ab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zh-CN" altLang="en-US" sz="2400" b="1" dirty="0">
                <a:latin typeface="宋体" pitchFamily="2" charset="-122"/>
              </a:rPr>
              <a:t>选相电路从候选的</a:t>
            </a:r>
            <a:r>
              <a:rPr lang="en-US" altLang="zh-CN" sz="2400" b="1" dirty="0">
                <a:solidFill>
                  <a:srgbClr val="0000CC"/>
                </a:solidFill>
                <a:latin typeface="宋体" pitchFamily="2" charset="-122"/>
              </a:rPr>
              <a:t>4</a:t>
            </a:r>
            <a:r>
              <a:rPr lang="zh-CN" altLang="en-US" sz="2400" b="1" dirty="0">
                <a:latin typeface="宋体" pitchFamily="2" charset="-122"/>
              </a:rPr>
              <a:t>个相位中选择相应相位的载波输出。</a:t>
            </a:r>
          </a:p>
        </p:txBody>
      </p:sp>
      <p:sp>
        <p:nvSpPr>
          <p:cNvPr id="5" name="Rectangle 110"/>
          <p:cNvSpPr>
            <a:spLocks noChangeArrowheads="1"/>
          </p:cNvSpPr>
          <p:nvPr/>
        </p:nvSpPr>
        <p:spPr bwMode="auto">
          <a:xfrm>
            <a:off x="785813" y="1109663"/>
            <a:ext cx="2000250" cy="46196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相位选择法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725" name="矩形 5"/>
          <p:cNvSpPr>
            <a:spLocks noChangeArrowheads="1"/>
          </p:cNvSpPr>
          <p:nvPr/>
        </p:nvSpPr>
        <p:spPr bwMode="auto">
          <a:xfrm>
            <a:off x="2857500" y="1857375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+mn-lt"/>
              </a:rPr>
              <a:t>a</a:t>
            </a:r>
            <a:endParaRPr lang="zh-CN" altLang="en-US" dirty="0">
              <a:solidFill>
                <a:srgbClr val="0000CC"/>
              </a:solidFill>
              <a:latin typeface="+mn-lt"/>
            </a:endParaRPr>
          </a:p>
        </p:txBody>
      </p:sp>
      <p:sp>
        <p:nvSpPr>
          <p:cNvPr id="30726" name="矩形 6"/>
          <p:cNvSpPr>
            <a:spLocks noChangeArrowheads="1"/>
          </p:cNvSpPr>
          <p:nvPr/>
        </p:nvSpPr>
        <p:spPr bwMode="auto">
          <a:xfrm>
            <a:off x="2857500" y="2643188"/>
            <a:ext cx="371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CC"/>
                </a:solidFill>
                <a:latin typeface="+mn-lt"/>
              </a:rPr>
              <a:t>b</a:t>
            </a:r>
            <a:endParaRPr lang="zh-CN" altLang="en-US" dirty="0">
              <a:solidFill>
                <a:srgbClr val="0000CC"/>
              </a:solidFill>
              <a:latin typeface="+mn-lt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6286500" y="3830638"/>
            <a:ext cx="1025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</a:rPr>
              <a:t>B</a:t>
            </a:r>
            <a:r>
              <a:rPr lang="zh-CN" altLang="en-US" sz="2400" b="1">
                <a:solidFill>
                  <a:srgbClr val="FF0000"/>
                </a:solidFill>
              </a:rPr>
              <a:t>方式</a:t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 bwMode="auto">
          <a:xfrm>
            <a:off x="753882" y="4572000"/>
            <a:ext cx="1631632" cy="741363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400" b="1" dirty="0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原理：</a:t>
            </a:r>
          </a:p>
        </p:txBody>
      </p:sp>
    </p:spTree>
    <p:extLst>
      <p:ext uri="{BB962C8B-B14F-4D97-AF65-F5344CB8AC3E}">
        <p14:creationId xmlns:p14="http://schemas.microsoft.com/office/powerpoint/2010/main" val="183985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30725" grpId="0"/>
      <p:bldP spid="30726" grpId="0"/>
      <p:bldP spid="7" grpId="0"/>
      <p:bldP spid="10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4375" y="5857875"/>
            <a:ext cx="7929563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解决方案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：采用四相</a:t>
            </a:r>
            <a:r>
              <a:rPr lang="zh-CN" altLang="en-US" sz="24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相对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相位调制，即</a:t>
            </a:r>
            <a:r>
              <a:rPr lang="en-US" altLang="zh-CN" sz="2400" b="1" dirty="0">
                <a:solidFill>
                  <a:srgbClr val="0000CC"/>
                </a:solidFill>
                <a:latin typeface="+mn-lt"/>
                <a:ea typeface="华文中宋" pitchFamily="2" charset="-122"/>
              </a:rPr>
              <a:t>Q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  <a:ea typeface="华文中宋" pitchFamily="2" charset="-122"/>
              </a:rPr>
              <a:t>D</a:t>
            </a:r>
            <a:r>
              <a:rPr lang="en-US" altLang="zh-CN" sz="2400" b="1" dirty="0">
                <a:solidFill>
                  <a:srgbClr val="0000CC"/>
                </a:solidFill>
                <a:latin typeface="+mn-lt"/>
                <a:ea typeface="华文中宋" pitchFamily="2" charset="-122"/>
              </a:rPr>
              <a:t>PSK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。</a:t>
            </a:r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0" y="23669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714375" y="5160963"/>
            <a:ext cx="7929563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dirty="0">
                <a:latin typeface="+mj-lt"/>
                <a:ea typeface="华文中宋" pitchFamily="2" charset="-122"/>
              </a:rPr>
              <a:t> </a:t>
            </a:r>
            <a:r>
              <a:rPr lang="zh-CN" altLang="en-US" sz="2400" b="1" dirty="0">
                <a:latin typeface="+mn-lt"/>
                <a:ea typeface="华文中宋" pitchFamily="2" charset="-122"/>
              </a:rPr>
              <a:t>存在问题</a:t>
            </a:r>
            <a:r>
              <a:rPr lang="zh-CN" altLang="en-US" sz="2400" dirty="0">
                <a:latin typeface="+mn-lt"/>
                <a:ea typeface="华文中宋" pitchFamily="2" charset="-122"/>
              </a:rPr>
              <a:t>：存在</a:t>
            </a:r>
            <a:r>
              <a:rPr lang="en-US" altLang="zh-CN" sz="2400" dirty="0">
                <a:solidFill>
                  <a:srgbClr val="0000CC"/>
                </a:solidFill>
                <a:latin typeface="+mn-lt"/>
                <a:ea typeface="华文中宋" pitchFamily="2" charset="-122"/>
              </a:rPr>
              <a:t>90</a:t>
            </a:r>
            <a:r>
              <a:rPr lang="en-US" altLang="zh-CN" sz="2400" baseline="30000" dirty="0">
                <a:solidFill>
                  <a:srgbClr val="0000CC"/>
                </a:solidFill>
                <a:latin typeface="+mn-lt"/>
                <a:ea typeface="华文中宋" pitchFamily="2" charset="-122"/>
              </a:rPr>
              <a:t>0</a:t>
            </a:r>
            <a:r>
              <a:rPr lang="zh-CN" altLang="en-US" sz="2400" dirty="0">
                <a:latin typeface="+mn-lt"/>
                <a:ea typeface="华文中宋" pitchFamily="2" charset="-122"/>
              </a:rPr>
              <a:t>的相位模糊（</a:t>
            </a:r>
            <a:r>
              <a:rPr lang="en-US" altLang="zh-CN" sz="2400" dirty="0">
                <a:latin typeface="+mn-lt"/>
                <a:ea typeface="华文中宋" pitchFamily="2" charset="-122"/>
              </a:rPr>
              <a:t>0, 90, 180, 270</a:t>
            </a:r>
            <a:r>
              <a:rPr lang="zh-CN" altLang="en-US" sz="2400" dirty="0">
                <a:latin typeface="+mn-lt"/>
                <a:ea typeface="华文中宋" pitchFamily="2" charset="-122"/>
              </a:rPr>
              <a:t>）                             </a:t>
            </a:r>
          </a:p>
        </p:txBody>
      </p:sp>
      <p:sp>
        <p:nvSpPr>
          <p:cNvPr id="8199" name="矩形 7"/>
          <p:cNvSpPr>
            <a:spLocks noChangeArrowheads="1"/>
          </p:cNvSpPr>
          <p:nvPr/>
        </p:nvSpPr>
        <p:spPr bwMode="auto">
          <a:xfrm>
            <a:off x="714375" y="1181100"/>
            <a:ext cx="6572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dirty="0">
                <a:solidFill>
                  <a:srgbClr val="080808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2400" b="1" dirty="0">
                <a:latin typeface="华文中宋" pitchFamily="2" charset="-122"/>
                <a:ea typeface="华文中宋" pitchFamily="2" charset="-122"/>
              </a:rPr>
              <a:t>原理</a:t>
            </a:r>
            <a:r>
              <a:rPr lang="zh-CN" altLang="en-US" sz="2400" dirty="0">
                <a:solidFill>
                  <a:srgbClr val="080808"/>
                </a:solidFill>
                <a:latin typeface="华文中宋" pitchFamily="2" charset="-122"/>
                <a:ea typeface="华文中宋" pitchFamily="2" charset="-122"/>
              </a:rPr>
              <a:t>：分解为两</a:t>
            </a:r>
            <a:r>
              <a:rPr lang="zh-CN" altLang="en-US" sz="2400" dirty="0">
                <a:solidFill>
                  <a:srgbClr val="080808"/>
                </a:solidFill>
                <a:latin typeface="+mn-lt"/>
                <a:ea typeface="华文中宋" pitchFamily="2" charset="-122"/>
              </a:rPr>
              <a:t>路</a:t>
            </a:r>
            <a:r>
              <a:rPr lang="en-US" altLang="zh-CN" sz="2400" dirty="0">
                <a:solidFill>
                  <a:srgbClr val="080808"/>
                </a:solidFill>
                <a:latin typeface="+mn-lt"/>
                <a:ea typeface="华文中宋" pitchFamily="2" charset="-122"/>
              </a:rPr>
              <a:t>2PSK</a:t>
            </a:r>
            <a:r>
              <a:rPr lang="zh-CN" altLang="en-US" sz="2400" dirty="0">
                <a:solidFill>
                  <a:srgbClr val="080808"/>
                </a:solidFill>
                <a:latin typeface="+mn-lt"/>
                <a:ea typeface="华文中宋" pitchFamily="2" charset="-122"/>
              </a:rPr>
              <a:t>信号的相干解调</a:t>
            </a:r>
            <a:r>
              <a:rPr lang="zh-CN" altLang="en-US" sz="2400" dirty="0">
                <a:solidFill>
                  <a:srgbClr val="080808"/>
                </a:solidFill>
                <a:latin typeface="华文中宋" pitchFamily="2" charset="-122"/>
                <a:ea typeface="华文中宋" pitchFamily="2" charset="-122"/>
              </a:rPr>
              <a:t>。</a:t>
            </a:r>
            <a:endParaRPr lang="zh-CN" altLang="en-US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14375" y="476250"/>
            <a:ext cx="7829550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3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 QPSK </a:t>
            </a:r>
            <a:r>
              <a:rPr lang="zh-CN" altLang="en-US" sz="28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解调</a:t>
            </a:r>
          </a:p>
        </p:txBody>
      </p:sp>
      <p:pic>
        <p:nvPicPr>
          <p:cNvPr id="7988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3" r="4443" b="16551"/>
          <a:stretch>
            <a:fillRect/>
          </a:stretch>
        </p:blipFill>
        <p:spPr bwMode="auto">
          <a:xfrm>
            <a:off x="1104900" y="1651000"/>
            <a:ext cx="7256463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382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8199" grpId="0"/>
      <p:bldP spid="8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86"/>
          <a:stretch>
            <a:fillRect/>
          </a:stretch>
        </p:blipFill>
        <p:spPr bwMode="auto">
          <a:xfrm>
            <a:off x="5668963" y="954088"/>
            <a:ext cx="3140075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76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57263" y="2811463"/>
            <a:ext cx="3527425" cy="117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>
              <a:lnSpc>
                <a:spcPts val="3800"/>
              </a:lnSpc>
              <a:spcBef>
                <a:spcPct val="20000"/>
              </a:spcBef>
              <a:buClr>
                <a:srgbClr val="808080"/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跳变周期  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2T</a:t>
            </a:r>
            <a:r>
              <a:rPr lang="en-US" altLang="zh-CN" sz="2400" b="1" baseline="-250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b</a:t>
            </a:r>
          </a:p>
          <a:p>
            <a:pPr marL="342900" lvl="1" indent="-342900">
              <a:lnSpc>
                <a:spcPts val="3800"/>
              </a:lnSpc>
              <a:spcBef>
                <a:spcPct val="20000"/>
              </a:spcBef>
              <a:buClr>
                <a:srgbClr val="808080"/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带宽     </a:t>
            </a:r>
            <a:r>
              <a:rPr lang="en-US" altLang="zh-CN" sz="2400" b="1" i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B 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n-US" altLang="zh-CN" sz="2400" b="1" i="1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altLang="zh-CN" sz="2400" b="1" baseline="-25000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b</a:t>
            </a:r>
            <a:endParaRPr lang="zh-CN" altLang="en-US" sz="2200" kern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Rectangle 110"/>
          <p:cNvSpPr>
            <a:spLocks noChangeArrowheads="1"/>
          </p:cNvSpPr>
          <p:nvPr/>
        </p:nvSpPr>
        <p:spPr bwMode="auto">
          <a:xfrm>
            <a:off x="642938" y="1071563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dirty="0">
                <a:ea typeface="微软雅黑" pitchFamily="34" charset="-122"/>
              </a:rPr>
              <a:t>QPSK</a:t>
            </a:r>
            <a:r>
              <a:rPr lang="zh-CN" altLang="en-US" sz="2800" b="1" dirty="0">
                <a:ea typeface="微软雅黑" pitchFamily="34" charset="-122"/>
              </a:rPr>
              <a:t> </a:t>
            </a:r>
            <a:r>
              <a:rPr lang="zh-CN" altLang="en-US" sz="2800" b="1" dirty="0">
                <a:ea typeface="黑体" pitchFamily="2" charset="-122"/>
              </a:rPr>
              <a:t>特点：</a:t>
            </a:r>
            <a:r>
              <a:rPr lang="zh-CN" altLang="en-US" sz="28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0" name="椭圆 9"/>
          <p:cNvSpPr>
            <a:spLocks noChangeArrowheads="1"/>
          </p:cNvSpPr>
          <p:nvPr/>
        </p:nvSpPr>
        <p:spPr bwMode="auto">
          <a:xfrm>
            <a:off x="7700963" y="1416050"/>
            <a:ext cx="414337" cy="484188"/>
          </a:xfrm>
          <a:prstGeom prst="ellipse">
            <a:avLst/>
          </a:prstGeom>
          <a:noFill/>
          <a:ln w="28575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 rot="5400000">
            <a:off x="6286500" y="1943100"/>
            <a:ext cx="1500188" cy="1500188"/>
          </a:xfrm>
          <a:prstGeom prst="line">
            <a:avLst/>
          </a:prstGeom>
          <a:noFill/>
          <a:ln w="38100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 rot="10800000">
            <a:off x="6286500" y="1857375"/>
            <a:ext cx="1428750" cy="1588"/>
          </a:xfrm>
          <a:prstGeom prst="line">
            <a:avLst/>
          </a:prstGeom>
          <a:noFill/>
          <a:ln w="38100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rot="5400000" flipH="1" flipV="1">
            <a:off x="7150100" y="2678113"/>
            <a:ext cx="1500187" cy="1588"/>
          </a:xfrm>
          <a:prstGeom prst="line">
            <a:avLst/>
          </a:prstGeom>
          <a:noFill/>
          <a:ln w="38100" algn="ctr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955675" y="2095500"/>
            <a:ext cx="5394325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ts val="3800"/>
              </a:lnSpc>
              <a:spcBef>
                <a:spcPct val="20000"/>
              </a:spcBef>
              <a:buClr>
                <a:srgbClr val="808080"/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相位跳变：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0°, ± 90°, ± 180°       </a:t>
            </a:r>
            <a:endParaRPr lang="zh-CN" altLang="en-US" sz="2200" kern="0" dirty="0">
              <a:latin typeface="Arial" pitchFamily="34" charset="0"/>
              <a:ea typeface="+mn-ea"/>
              <a:cs typeface="Arial" pitchFamily="34" charset="0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rgbClr val="FFCC00"/>
              </a:buClr>
              <a:buSzPct val="65000"/>
              <a:buFont typeface="Wingdings" pitchFamily="2" charset="2"/>
              <a:buChar char="l"/>
              <a:defRPr/>
            </a:pPr>
            <a:endParaRPr lang="zh-CN" altLang="en-US" sz="2200" kern="0" dirty="0"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80910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4673600"/>
            <a:ext cx="7585075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387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nimBg="1"/>
      <p:bldP spid="21" grpId="0" autoUpdateAnimBg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75" y="3786188"/>
            <a:ext cx="6786563" cy="2455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71563" y="1714500"/>
            <a:ext cx="7215187" cy="178593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lnSpc>
                <a:spcPts val="4200"/>
              </a:lnSpc>
              <a:spcBef>
                <a:spcPct val="20000"/>
              </a:spcBef>
              <a:buClr>
                <a:srgbClr val="808080"/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kern="0" dirty="0"/>
              <a:t>最大相位跳变</a:t>
            </a:r>
            <a:r>
              <a:rPr lang="en-US" sz="2400" b="1" kern="0" dirty="0">
                <a:latin typeface="+mn-lt"/>
                <a:ea typeface="+mn-ea"/>
              </a:rPr>
              <a:t>180°</a:t>
            </a:r>
            <a:r>
              <a:rPr lang="zh-CN" sz="2400" b="1" kern="0" dirty="0">
                <a:latin typeface="+mn-lt"/>
                <a:ea typeface="+mn-ea"/>
              </a:rPr>
              <a:t>，</a:t>
            </a:r>
            <a:r>
              <a:rPr lang="zh-CN" altLang="en-US" sz="2400" b="1" dirty="0"/>
              <a:t>使</a:t>
            </a:r>
            <a:r>
              <a:rPr lang="zh-CN" altLang="en-US" sz="2400" b="1" dirty="0">
                <a:solidFill>
                  <a:srgbClr val="0000CC"/>
                </a:solidFill>
              </a:rPr>
              <a:t>限带</a:t>
            </a:r>
            <a:r>
              <a:rPr lang="zh-CN" altLang="en-US" sz="2400" b="1" dirty="0"/>
              <a:t>的</a:t>
            </a:r>
            <a:r>
              <a:rPr lang="en-US" sz="2400" b="1" dirty="0"/>
              <a:t>QPSK</a:t>
            </a:r>
            <a:r>
              <a:rPr lang="zh-CN" altLang="en-US" sz="2400" b="1" dirty="0"/>
              <a:t>信号包络起伏很大，并出现包络零点。</a:t>
            </a:r>
            <a:endParaRPr lang="en-US" altLang="zh-CN" sz="2400" b="1" dirty="0"/>
          </a:p>
          <a:p>
            <a:pPr marL="342900" indent="-342900">
              <a:lnSpc>
                <a:spcPts val="4200"/>
              </a:lnSpc>
              <a:spcBef>
                <a:spcPct val="20000"/>
              </a:spcBef>
              <a:buClr>
                <a:srgbClr val="808080"/>
              </a:buClr>
              <a:buSzPct val="65000"/>
              <a:buFont typeface="Wingdings" pitchFamily="2" charset="2"/>
              <a:buChar char="l"/>
              <a:defRPr/>
            </a:pPr>
            <a:r>
              <a:rPr lang="zh-CN" altLang="en-US" sz="2400" b="1" dirty="0"/>
              <a:t>频谱扩展大，旁瓣对邻道干扰大。</a:t>
            </a:r>
          </a:p>
          <a:p>
            <a:pPr marL="342900" indent="-342900">
              <a:lnSpc>
                <a:spcPts val="4200"/>
              </a:lnSpc>
              <a:spcBef>
                <a:spcPct val="20000"/>
              </a:spcBef>
              <a:buClr>
                <a:srgbClr val="808080"/>
              </a:buClr>
              <a:buSzPct val="55000"/>
              <a:defRPr/>
            </a:pPr>
            <a:endParaRPr lang="en-US" altLang="zh-CN" sz="2400" dirty="0"/>
          </a:p>
        </p:txBody>
      </p:sp>
      <p:sp>
        <p:nvSpPr>
          <p:cNvPr id="6" name="Rectangle 110"/>
          <p:cNvSpPr>
            <a:spLocks noChangeArrowheads="1"/>
          </p:cNvSpPr>
          <p:nvPr/>
        </p:nvSpPr>
        <p:spPr bwMode="auto">
          <a:xfrm>
            <a:off x="714375" y="1071563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b="1" dirty="0">
                <a:ea typeface="微软雅黑" pitchFamily="34" charset="-122"/>
              </a:rPr>
              <a:t>QPSK</a:t>
            </a:r>
            <a:r>
              <a:rPr lang="zh-CN" altLang="en-US" sz="2800" b="1" dirty="0">
                <a:ea typeface="微软雅黑" pitchFamily="34" charset="-122"/>
              </a:rPr>
              <a:t> </a:t>
            </a:r>
            <a:r>
              <a:rPr lang="zh-CN" altLang="en-US" sz="2800" b="1" dirty="0">
                <a:ea typeface="黑体" pitchFamily="2" charset="-122"/>
              </a:rPr>
              <a:t>缺点：</a:t>
            </a:r>
            <a:r>
              <a:rPr lang="zh-CN" altLang="en-US" sz="28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905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utoUpdateAnimBg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86"/>
          <a:stretch>
            <a:fillRect/>
          </a:stretch>
        </p:blipFill>
        <p:spPr bwMode="auto">
          <a:xfrm>
            <a:off x="5608638" y="1236663"/>
            <a:ext cx="3140075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Rectangle 110"/>
          <p:cNvSpPr>
            <a:spLocks noChangeArrowheads="1"/>
          </p:cNvSpPr>
          <p:nvPr/>
        </p:nvSpPr>
        <p:spPr bwMode="auto">
          <a:xfrm>
            <a:off x="785813" y="1163638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改进</a:t>
            </a:r>
            <a:r>
              <a:rPr lang="zh-CN" altLang="en-US" sz="2800" b="1" dirty="0">
                <a:ea typeface="黑体" pitchFamily="2" charset="-122"/>
              </a:rPr>
              <a:t>思路：</a:t>
            </a:r>
            <a:r>
              <a:rPr lang="zh-CN" altLang="en-US" sz="28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9" name="Rectangle 110"/>
          <p:cNvSpPr>
            <a:spLocks noChangeArrowheads="1"/>
          </p:cNvSpPr>
          <p:nvPr/>
        </p:nvSpPr>
        <p:spPr bwMode="auto">
          <a:xfrm>
            <a:off x="5572125" y="4619625"/>
            <a:ext cx="3071813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   QPSK </a:t>
            </a:r>
            <a:r>
              <a:rPr lang="zh-CN" altLang="en-US" sz="2400" b="1" dirty="0">
                <a:latin typeface="+mn-ea"/>
                <a:ea typeface="+mn-ea"/>
              </a:rPr>
              <a:t>相位路径</a:t>
            </a:r>
            <a:r>
              <a:rPr lang="zh-CN" altLang="en-US" sz="28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10" name="Rectangle 110"/>
          <p:cNvSpPr>
            <a:spLocks noChangeArrowheads="1"/>
          </p:cNvSpPr>
          <p:nvPr/>
        </p:nvSpPr>
        <p:spPr bwMode="auto">
          <a:xfrm>
            <a:off x="5715000" y="5324475"/>
            <a:ext cx="3143250" cy="4619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zh-CN" altLang="en-US" sz="2400" b="1" kern="0" dirty="0"/>
              <a:t> 最大相位跳变 </a:t>
            </a:r>
            <a:r>
              <a:rPr lang="en-US" altLang="zh-CN" sz="2400" b="1" kern="0" dirty="0">
                <a:solidFill>
                  <a:srgbClr val="FF0000"/>
                </a:solidFill>
              </a:rPr>
              <a:t>180°</a:t>
            </a:r>
            <a:endParaRPr lang="zh-CN" altLang="en-US" sz="2800" dirty="0">
              <a:solidFill>
                <a:srgbClr val="0000CC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676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67"/>
          <a:stretch>
            <a:fillRect/>
          </a:stretch>
        </p:blipFill>
        <p:spPr bwMode="auto">
          <a:xfrm>
            <a:off x="5594350" y="1073150"/>
            <a:ext cx="3198813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86"/>
          <a:stretch>
            <a:fillRect/>
          </a:stretch>
        </p:blipFill>
        <p:spPr bwMode="auto">
          <a:xfrm>
            <a:off x="5608638" y="1236663"/>
            <a:ext cx="3140075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Rectangle 110"/>
          <p:cNvSpPr>
            <a:spLocks noChangeArrowheads="1"/>
          </p:cNvSpPr>
          <p:nvPr/>
        </p:nvSpPr>
        <p:spPr bwMode="auto">
          <a:xfrm>
            <a:off x="785813" y="1163638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改进</a:t>
            </a:r>
            <a:r>
              <a:rPr lang="zh-CN" altLang="en-US" sz="2800" b="1" dirty="0">
                <a:ea typeface="黑体" pitchFamily="2" charset="-122"/>
              </a:rPr>
              <a:t>思路：</a:t>
            </a:r>
            <a:r>
              <a:rPr lang="zh-CN" altLang="en-US" sz="28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1" name="Rectangle 110"/>
          <p:cNvSpPr>
            <a:spLocks noChangeArrowheads="1"/>
          </p:cNvSpPr>
          <p:nvPr/>
        </p:nvSpPr>
        <p:spPr bwMode="auto">
          <a:xfrm>
            <a:off x="1143000" y="1758950"/>
            <a:ext cx="3500438" cy="11699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ts val="4200"/>
              </a:lnSpc>
              <a:buClr>
                <a:srgbClr val="FF0000"/>
              </a:buClr>
              <a:buSzPct val="70000"/>
              <a:defRPr/>
            </a:pPr>
            <a:r>
              <a:rPr lang="zh-CN" altLang="en-US" sz="2400" b="1" dirty="0"/>
              <a:t>信号点</a:t>
            </a:r>
            <a:r>
              <a:rPr lang="zh-CN" altLang="en-US" sz="2400" b="1" dirty="0">
                <a:solidFill>
                  <a:srgbClr val="FF0000"/>
                </a:solidFill>
              </a:rPr>
              <a:t>不作</a:t>
            </a:r>
            <a:r>
              <a:rPr lang="zh-CN" altLang="en-US" sz="2400" b="1" dirty="0">
                <a:latin typeface="+mn-ea"/>
                <a:ea typeface="+mn-ea"/>
              </a:rPr>
              <a:t>对角线移动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ts val="4200"/>
              </a:lnSpc>
              <a:buClr>
                <a:srgbClr val="FF0000"/>
              </a:buClr>
              <a:buSzPct val="70000"/>
              <a:defRPr/>
            </a:pPr>
            <a:r>
              <a:rPr lang="zh-CN" altLang="en-US" sz="2400" b="1" dirty="0">
                <a:latin typeface="+mn-ea"/>
                <a:ea typeface="+mn-ea"/>
              </a:rPr>
              <a:t>即双比特</a:t>
            </a:r>
            <a:r>
              <a:rPr lang="en-US" altLang="zh-CN" sz="2400" b="1" dirty="0" err="1">
                <a:solidFill>
                  <a:srgbClr val="0000CC"/>
                </a:solidFill>
                <a:latin typeface="+mn-lt"/>
                <a:ea typeface="+mn-ea"/>
              </a:rPr>
              <a:t>ab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不</a:t>
            </a:r>
            <a:r>
              <a:rPr lang="zh-CN" altLang="en-US" sz="2400" b="1" dirty="0">
                <a:latin typeface="+mn-ea"/>
                <a:ea typeface="+mn-ea"/>
              </a:rPr>
              <a:t>同时跳变</a:t>
            </a:r>
            <a:endParaRPr lang="en-US" altLang="zh-CN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477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67"/>
          <a:stretch>
            <a:fillRect/>
          </a:stretch>
        </p:blipFill>
        <p:spPr bwMode="auto">
          <a:xfrm>
            <a:off x="5594350" y="1073150"/>
            <a:ext cx="3198813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Rectangle 110"/>
          <p:cNvSpPr>
            <a:spLocks noChangeArrowheads="1"/>
          </p:cNvSpPr>
          <p:nvPr/>
        </p:nvSpPr>
        <p:spPr bwMode="auto">
          <a:xfrm>
            <a:off x="785813" y="1163638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改进</a:t>
            </a:r>
            <a:r>
              <a:rPr lang="zh-CN" altLang="en-US" sz="2800" b="1" dirty="0">
                <a:ea typeface="黑体" pitchFamily="2" charset="-122"/>
              </a:rPr>
              <a:t>思路：</a:t>
            </a:r>
            <a:r>
              <a:rPr lang="zh-CN" altLang="en-US" sz="28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1" name="Rectangle 110"/>
          <p:cNvSpPr>
            <a:spLocks noChangeArrowheads="1"/>
          </p:cNvSpPr>
          <p:nvPr/>
        </p:nvSpPr>
        <p:spPr bwMode="auto">
          <a:xfrm>
            <a:off x="1143000" y="1758950"/>
            <a:ext cx="3500438" cy="11699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ts val="4200"/>
              </a:lnSpc>
              <a:buClr>
                <a:srgbClr val="FF0000"/>
              </a:buClr>
              <a:buSzPct val="70000"/>
              <a:defRPr/>
            </a:pPr>
            <a:r>
              <a:rPr lang="zh-CN" altLang="en-US" sz="2400" b="1" dirty="0"/>
              <a:t>信号点</a:t>
            </a:r>
            <a:r>
              <a:rPr lang="zh-CN" altLang="en-US" sz="2400" b="1" dirty="0">
                <a:solidFill>
                  <a:srgbClr val="FF0000"/>
                </a:solidFill>
              </a:rPr>
              <a:t>不作</a:t>
            </a:r>
            <a:r>
              <a:rPr lang="zh-CN" altLang="en-US" sz="2400" b="1" dirty="0">
                <a:latin typeface="+mn-ea"/>
                <a:ea typeface="+mn-ea"/>
              </a:rPr>
              <a:t>对角线移动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ts val="4200"/>
              </a:lnSpc>
              <a:buClr>
                <a:srgbClr val="FF0000"/>
              </a:buClr>
              <a:buSzPct val="70000"/>
              <a:defRPr/>
            </a:pPr>
            <a:r>
              <a:rPr lang="zh-CN" altLang="en-US" sz="2400" b="1" dirty="0">
                <a:latin typeface="+mn-ea"/>
                <a:ea typeface="+mn-ea"/>
              </a:rPr>
              <a:t>即双比特</a:t>
            </a:r>
            <a:r>
              <a:rPr lang="en-US" altLang="zh-CN" sz="2400" b="1" dirty="0" err="1">
                <a:solidFill>
                  <a:srgbClr val="0000CC"/>
                </a:solidFill>
                <a:latin typeface="+mn-lt"/>
                <a:ea typeface="+mn-ea"/>
              </a:rPr>
              <a:t>ab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不</a:t>
            </a:r>
            <a:r>
              <a:rPr lang="zh-CN" altLang="en-US" sz="2400" b="1" dirty="0">
                <a:latin typeface="+mn-ea"/>
                <a:ea typeface="+mn-ea"/>
              </a:rPr>
              <a:t>同时跳变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9" name="Rectangle 110"/>
          <p:cNvSpPr>
            <a:spLocks noChangeArrowheads="1"/>
          </p:cNvSpPr>
          <p:nvPr/>
        </p:nvSpPr>
        <p:spPr bwMode="auto">
          <a:xfrm>
            <a:off x="5508625" y="4451350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O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</a:rPr>
              <a:t>QPSK </a:t>
            </a:r>
            <a:r>
              <a:rPr lang="zh-CN" altLang="en-US" sz="2400" b="1" dirty="0">
                <a:latin typeface="+mn-ea"/>
                <a:ea typeface="+mn-ea"/>
              </a:rPr>
              <a:t>相位路径</a:t>
            </a:r>
            <a:r>
              <a:rPr lang="zh-CN" altLang="en-US" sz="28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10" name="Rectangle 110"/>
          <p:cNvSpPr>
            <a:spLocks noChangeArrowheads="1"/>
          </p:cNvSpPr>
          <p:nvPr/>
        </p:nvSpPr>
        <p:spPr bwMode="auto">
          <a:xfrm>
            <a:off x="5643563" y="5073650"/>
            <a:ext cx="3500437" cy="4619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zh-CN" altLang="en-US" sz="2400" b="1" kern="0" dirty="0"/>
              <a:t> 相位跳变</a:t>
            </a:r>
            <a:r>
              <a:rPr lang="en-US" altLang="zh-CN" sz="2400" b="1" kern="0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000099"/>
                </a:solidFill>
              </a:rPr>
              <a:t>0</a:t>
            </a:r>
            <a:r>
              <a:rPr lang="zh-CN" altLang="en-US" sz="2400" b="1" dirty="0">
                <a:solidFill>
                  <a:srgbClr val="000099"/>
                </a:solidFill>
              </a:rPr>
              <a:t>或</a:t>
            </a:r>
            <a:r>
              <a:rPr lang="en-US" altLang="zh-CN" sz="2400" b="1" dirty="0">
                <a:solidFill>
                  <a:srgbClr val="000099"/>
                </a:solidFill>
              </a:rPr>
              <a:t>± 90</a:t>
            </a:r>
            <a:r>
              <a:rPr lang="en-US" altLang="zh-CN" sz="2400" b="1" kern="0" dirty="0">
                <a:solidFill>
                  <a:srgbClr val="0000CC"/>
                </a:solidFill>
              </a:rPr>
              <a:t>°</a:t>
            </a:r>
            <a:endParaRPr lang="zh-CN" altLang="en-US" sz="2800" dirty="0">
              <a:solidFill>
                <a:srgbClr val="0000CC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" name="Rectangle 20"/>
          <p:cNvSpPr>
            <a:spLocks noChangeArrowheads="1"/>
          </p:cNvSpPr>
          <p:nvPr/>
        </p:nvSpPr>
        <p:spPr bwMode="auto">
          <a:xfrm>
            <a:off x="500063" y="428625"/>
            <a:ext cx="7858125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4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</a:rPr>
              <a:t>O</a:t>
            </a:r>
            <a:r>
              <a:rPr lang="en-US" altLang="zh-CN" sz="2800" b="1" dirty="0">
                <a:solidFill>
                  <a:srgbClr val="000099"/>
                </a:solidFill>
              </a:rPr>
              <a:t>QPSK</a:t>
            </a:r>
            <a:r>
              <a:rPr lang="en-US" altLang="zh-CN" sz="2800" b="1" dirty="0">
                <a:solidFill>
                  <a:srgbClr val="0000CC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偏置或交错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QPSK</a:t>
            </a:r>
            <a:r>
              <a:rPr lang="zh-CN" altLang="en-US" sz="2800" b="1" dirty="0">
                <a:solidFill>
                  <a:srgbClr val="000099"/>
                </a:solidFill>
                <a:latin typeface="+mj-ea"/>
                <a:ea typeface="+mj-ea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ea typeface="微软雅黑" pitchFamily="34" charset="-122"/>
              </a:rPr>
              <a:t>O</a:t>
            </a:r>
            <a:r>
              <a:rPr lang="en-US" altLang="zh-CN" sz="2800" dirty="0">
                <a:solidFill>
                  <a:srgbClr val="000099"/>
                </a:solidFill>
                <a:ea typeface="微软雅黑" pitchFamily="34" charset="-122"/>
              </a:rPr>
              <a:t>ffset QPSK</a:t>
            </a:r>
            <a:r>
              <a:rPr lang="en-US" altLang="zh-CN" sz="2800" dirty="0">
                <a:solidFill>
                  <a:srgbClr val="000099"/>
                </a:solidFill>
              </a:rPr>
              <a:t>)</a:t>
            </a:r>
            <a:endParaRPr lang="zh-CN" altLang="en-US" sz="2800" b="1" dirty="0">
              <a:solidFill>
                <a:srgbClr val="000099"/>
              </a:solidFill>
              <a:latin typeface="+mn-lt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4" name="Rectangle 110"/>
          <p:cNvSpPr>
            <a:spLocks noChangeArrowheads="1"/>
          </p:cNvSpPr>
          <p:nvPr/>
        </p:nvSpPr>
        <p:spPr bwMode="auto">
          <a:xfrm>
            <a:off x="814388" y="3206750"/>
            <a:ext cx="3286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如何实现？</a:t>
            </a:r>
            <a:r>
              <a:rPr lang="zh-CN" altLang="en-US" sz="28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grpSp>
        <p:nvGrpSpPr>
          <p:cNvPr id="2" name="组合 20"/>
          <p:cNvGrpSpPr>
            <a:grpSpLocks/>
          </p:cNvGrpSpPr>
          <p:nvPr/>
        </p:nvGrpSpPr>
        <p:grpSpPr bwMode="auto">
          <a:xfrm>
            <a:off x="3727450" y="6007100"/>
            <a:ext cx="1344613" cy="571500"/>
            <a:chOff x="357158" y="1714488"/>
            <a:chExt cx="928694" cy="571504"/>
          </a:xfrm>
        </p:grpSpPr>
        <p:sp>
          <p:nvSpPr>
            <p:cNvPr id="17" name="椭圆 16"/>
            <p:cNvSpPr/>
            <p:nvPr/>
          </p:nvSpPr>
          <p:spPr bwMode="auto">
            <a:xfrm>
              <a:off x="357158" y="1714488"/>
              <a:ext cx="928694" cy="57150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 sz="2400" b="1" dirty="0">
                <a:solidFill>
                  <a:srgbClr val="800080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122893" name="矩形 22"/>
            <p:cNvSpPr>
              <a:spLocks noChangeArrowheads="1"/>
            </p:cNvSpPr>
            <p:nvPr/>
          </p:nvSpPr>
          <p:spPr bwMode="auto">
            <a:xfrm>
              <a:off x="428596" y="1785926"/>
              <a:ext cx="7686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0033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见下图</a:t>
              </a:r>
            </a:p>
          </p:txBody>
        </p:sp>
      </p:grp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3"/>
          <a:srcRect r="6234" b="28571"/>
          <a:stretch>
            <a:fillRect/>
          </a:stretch>
        </p:blipFill>
        <p:spPr bwMode="auto">
          <a:xfrm>
            <a:off x="971550" y="3740150"/>
            <a:ext cx="4178300" cy="204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903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 autoUpdateAnimBg="0"/>
      <p:bldP spid="13" grpId="0" animBg="1"/>
      <p:bldP spid="14" grpId="0" autoUpdateAnimBg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92" name="Rectangle 24"/>
          <p:cNvSpPr>
            <a:spLocks noChangeArrowheads="1"/>
          </p:cNvSpPr>
          <p:nvPr/>
        </p:nvSpPr>
        <p:spPr bwMode="auto">
          <a:xfrm>
            <a:off x="3257550" y="2867025"/>
            <a:ext cx="5715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194" name="Rectangle 26"/>
          <p:cNvSpPr>
            <a:spLocks noChangeArrowheads="1"/>
          </p:cNvSpPr>
          <p:nvPr/>
        </p:nvSpPr>
        <p:spPr bwMode="auto">
          <a:xfrm>
            <a:off x="3257550" y="2867025"/>
            <a:ext cx="5492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196" name="Rectangle 28"/>
          <p:cNvSpPr>
            <a:spLocks noChangeArrowheads="1"/>
          </p:cNvSpPr>
          <p:nvPr/>
        </p:nvSpPr>
        <p:spPr bwMode="auto">
          <a:xfrm>
            <a:off x="3257550" y="2867025"/>
            <a:ext cx="4794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198" name="Rectangle 30"/>
          <p:cNvSpPr>
            <a:spLocks noChangeArrowheads="1"/>
          </p:cNvSpPr>
          <p:nvPr/>
        </p:nvSpPr>
        <p:spPr bwMode="auto">
          <a:xfrm>
            <a:off x="3257550" y="2867025"/>
            <a:ext cx="4572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0" name="Rectangle 32"/>
          <p:cNvSpPr>
            <a:spLocks noChangeArrowheads="1"/>
          </p:cNvSpPr>
          <p:nvPr/>
        </p:nvSpPr>
        <p:spPr bwMode="auto">
          <a:xfrm>
            <a:off x="3257550" y="2867025"/>
            <a:ext cx="5715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2" name="Rectangle 34"/>
          <p:cNvSpPr>
            <a:spLocks noChangeArrowheads="1"/>
          </p:cNvSpPr>
          <p:nvPr/>
        </p:nvSpPr>
        <p:spPr bwMode="auto">
          <a:xfrm>
            <a:off x="3257550" y="2867025"/>
            <a:ext cx="5715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4" name="Rectangle 36"/>
          <p:cNvSpPr>
            <a:spLocks noChangeArrowheads="1"/>
          </p:cNvSpPr>
          <p:nvPr/>
        </p:nvSpPr>
        <p:spPr bwMode="auto">
          <a:xfrm>
            <a:off x="3257550" y="2867025"/>
            <a:ext cx="5492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6" name="Rectangle 38"/>
          <p:cNvSpPr>
            <a:spLocks noChangeArrowheads="1"/>
          </p:cNvSpPr>
          <p:nvPr/>
        </p:nvSpPr>
        <p:spPr bwMode="auto">
          <a:xfrm>
            <a:off x="3257550" y="2867025"/>
            <a:ext cx="4794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326" name="Rectangle 158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642938"/>
            <a:ext cx="6929438" cy="277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59075" y="2671763"/>
            <a:ext cx="68897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sp>
        <p:nvSpPr>
          <p:cNvPr id="17" name="矩形 16"/>
          <p:cNvSpPr/>
          <p:nvPr/>
        </p:nvSpPr>
        <p:spPr>
          <a:xfrm>
            <a:off x="6784975" y="1471613"/>
            <a:ext cx="1285875" cy="4619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O</a:t>
            </a:r>
            <a:r>
              <a:rPr lang="en-US" altLang="zh-CN" sz="2400" b="1" dirty="0">
                <a:solidFill>
                  <a:srgbClr val="0000CC"/>
                </a:solidFill>
              </a:rPr>
              <a:t>QPSK</a:t>
            </a:r>
            <a:endParaRPr lang="zh-CN" altLang="en-US" sz="2400" dirty="0"/>
          </a:p>
        </p:txBody>
      </p:sp>
      <p:pic>
        <p:nvPicPr>
          <p:cNvPr id="15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85850" y="3773488"/>
            <a:ext cx="7000875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543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67"/>
          <a:stretch>
            <a:fillRect/>
          </a:stretch>
        </p:blipFill>
        <p:spPr bwMode="auto">
          <a:xfrm>
            <a:off x="5038725" y="1276350"/>
            <a:ext cx="2867025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10"/>
          <p:cNvSpPr>
            <a:spLocks noChangeArrowheads="1"/>
          </p:cNvSpPr>
          <p:nvPr/>
        </p:nvSpPr>
        <p:spPr bwMode="auto">
          <a:xfrm>
            <a:off x="571500" y="1000125"/>
            <a:ext cx="60721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限带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QPSK</a:t>
            </a:r>
            <a:r>
              <a:rPr lang="en-US" altLang="zh-CN" sz="2800" b="1" dirty="0">
                <a:latin typeface="+mn-lt"/>
                <a:ea typeface="黑体" pitchFamily="2" charset="-122"/>
              </a:rPr>
              <a:t> </a:t>
            </a:r>
            <a:r>
              <a:rPr lang="zh-CN" altLang="en-US" sz="2800" dirty="0">
                <a:latin typeface="+mn-lt"/>
                <a:ea typeface="黑体" pitchFamily="2" charset="-122"/>
              </a:rPr>
              <a:t>与 </a:t>
            </a:r>
            <a:r>
              <a:rPr lang="zh-CN" altLang="en-US" sz="2800" b="1" dirty="0">
                <a:latin typeface="+mn-lt"/>
                <a:ea typeface="黑体" pitchFamily="2" charset="-122"/>
              </a:rPr>
              <a:t>限带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黑体" pitchFamily="2" charset="-122"/>
              </a:rPr>
              <a:t>O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QPSK</a:t>
            </a:r>
            <a:r>
              <a:rPr lang="en-US" altLang="zh-CN" sz="2800" b="1" dirty="0">
                <a:latin typeface="+mn-lt"/>
                <a:ea typeface="黑体" pitchFamily="2" charset="-122"/>
              </a:rPr>
              <a:t> </a:t>
            </a:r>
            <a:r>
              <a:rPr lang="zh-CN" altLang="en-US" sz="2800" b="1" dirty="0">
                <a:latin typeface="+mn-lt"/>
                <a:ea typeface="黑体" pitchFamily="2" charset="-122"/>
              </a:rPr>
              <a:t>对比：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黑体" pitchFamily="2" charset="-122"/>
              </a:rPr>
              <a:t> 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14375" y="4402138"/>
            <a:ext cx="3357563" cy="1955800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b="1" kern="0" dirty="0"/>
              <a:t>最大相位跳变</a:t>
            </a:r>
            <a:r>
              <a:rPr lang="en-US" altLang="zh-CN" sz="2400" b="1" kern="0" dirty="0">
                <a:solidFill>
                  <a:srgbClr val="FF0000"/>
                </a:solidFill>
              </a:rPr>
              <a:t>180°</a:t>
            </a:r>
          </a:p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defRPr/>
            </a:pPr>
            <a:r>
              <a:rPr lang="zh-CN" altLang="en-US" sz="2400" b="1" dirty="0"/>
              <a:t> 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包络起伏</a:t>
            </a:r>
            <a:r>
              <a:rPr lang="zh-CN" altLang="en-US" sz="2400" b="1" dirty="0">
                <a:solidFill>
                  <a:srgbClr val="FF0000"/>
                </a:solidFill>
              </a:rPr>
              <a:t>大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defRPr/>
            </a:pPr>
            <a:r>
              <a:rPr lang="en-US" altLang="zh-CN" sz="2400" b="1" dirty="0"/>
              <a:t> ——</a:t>
            </a:r>
            <a:r>
              <a:rPr lang="zh-CN" altLang="en-US" sz="2400" b="1" dirty="0"/>
              <a:t>频谱扩展</a:t>
            </a:r>
            <a:r>
              <a:rPr lang="zh-CN" altLang="en-US" sz="2400" b="1" dirty="0">
                <a:solidFill>
                  <a:srgbClr val="FF0000"/>
                </a:solidFill>
              </a:rPr>
              <a:t>大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b="1" dirty="0"/>
              <a:t>相位跳变周期  </a:t>
            </a:r>
            <a:r>
              <a:rPr lang="en-US" altLang="zh-CN" sz="2400" b="1" dirty="0">
                <a:solidFill>
                  <a:srgbClr val="000099"/>
                </a:solidFill>
              </a:rPr>
              <a:t>2T</a:t>
            </a:r>
            <a:r>
              <a:rPr lang="en-US" altLang="zh-CN" sz="2400" b="1" baseline="-25000" dirty="0">
                <a:solidFill>
                  <a:srgbClr val="000099"/>
                </a:solidFill>
              </a:rPr>
              <a:t>b</a:t>
            </a:r>
            <a:r>
              <a:rPr lang="en-US" altLang="zh-CN" sz="2400" b="1" dirty="0"/>
              <a:t> </a:t>
            </a:r>
            <a:endParaRPr lang="en-US" altLang="zh-CN" sz="2400" b="1" dirty="0">
              <a:solidFill>
                <a:srgbClr val="000099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643438" y="4402138"/>
            <a:ext cx="3286125" cy="1955800"/>
          </a:xfrm>
          <a:prstGeom prst="rect">
            <a:avLst/>
          </a:prstGeom>
          <a:solidFill>
            <a:schemeClr val="accent3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b="1" kern="0" dirty="0"/>
              <a:t>最大相位跳变</a:t>
            </a:r>
            <a:r>
              <a:rPr lang="en-US" altLang="zh-CN" sz="2400" b="1" kern="0" dirty="0">
                <a:solidFill>
                  <a:srgbClr val="FF0000"/>
                </a:solidFill>
              </a:rPr>
              <a:t>90°</a:t>
            </a:r>
          </a:p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defRPr/>
            </a:pPr>
            <a:r>
              <a:rPr lang="en-US" altLang="zh-CN" sz="2400" b="1" dirty="0"/>
              <a:t> ——</a:t>
            </a:r>
            <a:r>
              <a:rPr lang="zh-CN" altLang="en-US" sz="2400" b="1" dirty="0"/>
              <a:t>包络起伏</a:t>
            </a:r>
            <a:r>
              <a:rPr lang="zh-CN" altLang="en-US" sz="2400" b="1" dirty="0">
                <a:solidFill>
                  <a:srgbClr val="FF0000"/>
                </a:solidFill>
              </a:rPr>
              <a:t>小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defRPr/>
            </a:pPr>
            <a:r>
              <a:rPr lang="en-US" altLang="zh-CN" sz="2400" b="1" dirty="0"/>
              <a:t> ——</a:t>
            </a:r>
            <a:r>
              <a:rPr lang="zh-CN" altLang="en-US" sz="2400" b="1" dirty="0"/>
              <a:t>频谱扩展</a:t>
            </a:r>
            <a:r>
              <a:rPr lang="zh-CN" altLang="en-US" sz="2400" b="1" dirty="0">
                <a:solidFill>
                  <a:srgbClr val="FF0000"/>
                </a:solidFill>
              </a:rPr>
              <a:t>小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342900" lvl="1" indent="-342900">
              <a:lnSpc>
                <a:spcPts val="3200"/>
              </a:lnSpc>
              <a:spcBef>
                <a:spcPct val="20000"/>
              </a:spcBef>
              <a:buClr>
                <a:srgbClr val="808080"/>
              </a:buClr>
              <a:buSzPct val="55000"/>
              <a:buFont typeface="Wingdings" pitchFamily="2" charset="2"/>
              <a:buChar char="u"/>
              <a:defRPr/>
            </a:pPr>
            <a:r>
              <a:rPr lang="zh-CN" altLang="en-US" sz="2400" b="1" dirty="0"/>
              <a:t>相位跳变周期  </a:t>
            </a:r>
            <a:r>
              <a:rPr lang="en-US" altLang="zh-CN" sz="2400" b="1" dirty="0">
                <a:solidFill>
                  <a:srgbClr val="000099"/>
                </a:solidFill>
              </a:rPr>
              <a:t>T</a:t>
            </a:r>
            <a:r>
              <a:rPr lang="en-US" altLang="zh-CN" sz="2400" b="1" baseline="-25000" dirty="0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5" name="线形标注 1 24"/>
          <p:cNvSpPr/>
          <p:nvPr/>
        </p:nvSpPr>
        <p:spPr bwMode="auto">
          <a:xfrm>
            <a:off x="7958138" y="5345113"/>
            <a:ext cx="714375" cy="1000125"/>
          </a:xfrm>
          <a:prstGeom prst="borderCallout1">
            <a:avLst>
              <a:gd name="adj1" fmla="val 44873"/>
              <a:gd name="adj2" fmla="val -4270"/>
              <a:gd name="adj3" fmla="val 57534"/>
              <a:gd name="adj4" fmla="val -59328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 sz="2000" b="1" dirty="0"/>
              <a:t>影响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主瓣</a:t>
            </a:r>
            <a:endParaRPr lang="en-US" altLang="zh-CN" sz="2000" b="1" dirty="0"/>
          </a:p>
          <a:p>
            <a:pPr>
              <a:defRPr/>
            </a:pPr>
            <a:r>
              <a:rPr lang="zh-CN" altLang="en-US" sz="2000" b="1" dirty="0"/>
              <a:t>带宽</a:t>
            </a:r>
          </a:p>
        </p:txBody>
      </p:sp>
      <p:graphicFrame>
        <p:nvGraphicFramePr>
          <p:cNvPr id="76802" name="Object 9"/>
          <p:cNvGraphicFramePr>
            <a:graphicFrameLocks noChangeAspect="1"/>
          </p:cNvGraphicFramePr>
          <p:nvPr/>
        </p:nvGraphicFramePr>
        <p:xfrm>
          <a:off x="7035800" y="4902200"/>
          <a:ext cx="8937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20" name="Equation" r:id="rId4" imgW="1002960" imgH="482400" progId="Equation.DSMT4">
                  <p:embed/>
                </p:oleObj>
              </mc:Choice>
              <mc:Fallback>
                <p:oleObj name="Equation" r:id="rId4" imgW="10029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5800" y="4902200"/>
                        <a:ext cx="89376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" name="Object 10"/>
          <p:cNvGraphicFramePr>
            <a:graphicFrameLocks noChangeAspect="1"/>
          </p:cNvGraphicFramePr>
          <p:nvPr/>
        </p:nvGraphicFramePr>
        <p:xfrm>
          <a:off x="3203575" y="4902200"/>
          <a:ext cx="8715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21" name="Equation" r:id="rId6" imgW="977760" imgH="482400" progId="Equation.DSMT4">
                  <p:embed/>
                </p:oleObj>
              </mc:Choice>
              <mc:Fallback>
                <p:oleObj name="Equation" r:id="rId6" imgW="977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902200"/>
                        <a:ext cx="8715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810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86"/>
          <a:stretch>
            <a:fillRect/>
          </a:stretch>
        </p:blipFill>
        <p:spPr bwMode="auto">
          <a:xfrm>
            <a:off x="1181100" y="1454150"/>
            <a:ext cx="281305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06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17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732"/>
          <a:stretch>
            <a:fillRect/>
          </a:stretch>
        </p:blipFill>
        <p:spPr bwMode="auto">
          <a:xfrm>
            <a:off x="927100" y="3325813"/>
            <a:ext cx="50673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87" t="33893"/>
          <a:stretch>
            <a:fillRect/>
          </a:stretch>
        </p:blipFill>
        <p:spPr bwMode="auto">
          <a:xfrm>
            <a:off x="5473700" y="2095500"/>
            <a:ext cx="3454400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椭圆 11"/>
          <p:cNvSpPr/>
          <p:nvPr/>
        </p:nvSpPr>
        <p:spPr bwMode="auto">
          <a:xfrm>
            <a:off x="1871663" y="3929063"/>
            <a:ext cx="1000125" cy="571500"/>
          </a:xfrm>
          <a:prstGeom prst="ellipse">
            <a:avLst/>
          </a:prstGeom>
          <a:noFill/>
          <a:ln w="19050" cap="flat" cmpd="sng" algn="ctr">
            <a:solidFill>
              <a:srgbClr val="800080"/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3" name="椭圆 12"/>
          <p:cNvSpPr/>
          <p:nvPr/>
        </p:nvSpPr>
        <p:spPr bwMode="auto">
          <a:xfrm>
            <a:off x="3187700" y="3871913"/>
            <a:ext cx="1162050" cy="642937"/>
          </a:xfrm>
          <a:prstGeom prst="ellipse">
            <a:avLst/>
          </a:prstGeom>
          <a:noFill/>
          <a:ln w="19050" cap="flat" cmpd="sng" algn="ctr">
            <a:solidFill>
              <a:srgbClr val="800080"/>
            </a:solidFill>
            <a:prstDash val="dash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6938" y="1714500"/>
            <a:ext cx="7604125" cy="164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2875"/>
              </a:lnSpc>
              <a:buClr>
                <a:srgbClr val="777777"/>
              </a:buClr>
              <a:buSzPct val="55000"/>
            </a:pP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由两个相差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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QPSK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星座图交替产生：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75"/>
              </a:lnSpc>
              <a:buClr>
                <a:srgbClr val="777777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A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方式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en-US" altLang="zh-CN" sz="240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0°,± 90°,180°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ts val="2875"/>
              </a:lnSpc>
              <a:buClr>
                <a:srgbClr val="777777"/>
              </a:buClr>
              <a:buSzPct val="55000"/>
              <a:buFont typeface="Wingdings" panose="05000000000000000000" pitchFamily="2" charset="2"/>
              <a:buNone/>
            </a:pP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方式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sz="240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± 45°, ± 135°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428750" y="2362200"/>
            <a:ext cx="71438" cy="71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8" name="椭圆 7"/>
          <p:cNvSpPr/>
          <p:nvPr/>
        </p:nvSpPr>
        <p:spPr>
          <a:xfrm>
            <a:off x="1428750" y="2806700"/>
            <a:ext cx="71438" cy="71438"/>
          </a:xfrm>
          <a:prstGeom prst="ellipse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642938" y="428625"/>
            <a:ext cx="7858125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5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  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黑体" pitchFamily="2" charset="-122"/>
                <a:sym typeface="Symbol" pitchFamily="18" charset="2"/>
              </a:rPr>
              <a:t></a:t>
            </a:r>
            <a:r>
              <a:rPr lang="en-US" altLang="zh-CN" sz="2800" b="1" dirty="0">
                <a:solidFill>
                  <a:srgbClr val="FF0000"/>
                </a:solidFill>
                <a:latin typeface="+mn-lt"/>
                <a:ea typeface="黑体" pitchFamily="2" charset="-122"/>
              </a:rPr>
              <a:t>/4 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- </a:t>
            </a:r>
            <a:r>
              <a:rPr lang="en-US" altLang="zh-CN" sz="2800" b="1" dirty="0">
                <a:solidFill>
                  <a:srgbClr val="000099"/>
                </a:solidFill>
              </a:rPr>
              <a:t>QPSK</a:t>
            </a:r>
            <a:r>
              <a:rPr lang="en-US" altLang="zh-CN" sz="2800" b="1" dirty="0">
                <a:solidFill>
                  <a:srgbClr val="0000CC"/>
                </a:solidFill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 </a:t>
            </a:r>
            <a:endParaRPr lang="zh-CN" altLang="en-US" sz="2800" b="1" dirty="0">
              <a:solidFill>
                <a:srgbClr val="000099"/>
              </a:solidFill>
              <a:latin typeface="+mn-lt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5" name="Rectangle 110"/>
          <p:cNvSpPr>
            <a:spLocks noChangeArrowheads="1"/>
          </p:cNvSpPr>
          <p:nvPr/>
        </p:nvSpPr>
        <p:spPr bwMode="auto">
          <a:xfrm>
            <a:off x="671513" y="1143000"/>
            <a:ext cx="3257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原理和特点</a:t>
            </a:r>
            <a:r>
              <a:rPr lang="zh-CN" altLang="en-US" sz="2800" b="1" dirty="0">
                <a:latin typeface="+mn-lt"/>
                <a:ea typeface="黑体" pitchFamily="2" charset="-122"/>
              </a:rPr>
              <a:t>：</a:t>
            </a:r>
            <a:r>
              <a:rPr lang="zh-CN" altLang="en-US" sz="2800" dirty="0">
                <a:solidFill>
                  <a:srgbClr val="0000CC"/>
                </a:solidFill>
                <a:latin typeface="+mn-lt"/>
                <a:ea typeface="黑体" pitchFamily="2" charset="-122"/>
              </a:rPr>
              <a:t> </a:t>
            </a:r>
          </a:p>
        </p:txBody>
      </p:sp>
      <p:pic>
        <p:nvPicPr>
          <p:cNvPr id="123918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5191125"/>
            <a:ext cx="50673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353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123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7" grpId="0" animBg="1"/>
      <p:bldP spid="8" grpId="0" animBg="1"/>
      <p:bldP spid="14" grpId="0" animBg="1"/>
      <p:bldP spid="15" grpId="0" autoUpdateAnimBg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2938" y="1143000"/>
            <a:ext cx="807243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>
              <a:lnSpc>
                <a:spcPts val="3800"/>
              </a:lnSpc>
              <a:spcBef>
                <a:spcPct val="20000"/>
              </a:spcBef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solidFill>
                  <a:srgbClr val="FF0000"/>
                </a:solidFill>
                <a:sym typeface="Symbol" pitchFamily="18" charset="2"/>
              </a:rPr>
              <a:t></a:t>
            </a:r>
            <a:r>
              <a:rPr lang="en-US" altLang="zh-CN" sz="2800" b="1" dirty="0">
                <a:solidFill>
                  <a:srgbClr val="FF0000"/>
                </a:solidFill>
              </a:rPr>
              <a:t>4</a:t>
            </a:r>
            <a:r>
              <a:rPr lang="en-US" altLang="zh-CN" sz="2800" b="1" dirty="0"/>
              <a:t>-</a:t>
            </a:r>
            <a:r>
              <a:rPr lang="en-US" altLang="zh-CN" sz="2800" b="1" dirty="0">
                <a:solidFill>
                  <a:srgbClr val="0000CC"/>
                </a:solidFill>
              </a:rPr>
              <a:t>QPSK</a:t>
            </a:r>
            <a:r>
              <a:rPr lang="zh-CN" altLang="en-US" sz="2800" b="1" dirty="0"/>
              <a:t>优势：</a:t>
            </a:r>
            <a:endParaRPr lang="en-US" altLang="zh-CN" sz="2400" b="1" dirty="0"/>
          </a:p>
          <a:p>
            <a:pPr marL="342900" lvl="1" indent="-342900">
              <a:lnSpc>
                <a:spcPts val="3800"/>
              </a:lnSpc>
              <a:spcBef>
                <a:spcPct val="20000"/>
              </a:spcBef>
              <a:buClr>
                <a:srgbClr val="808080"/>
              </a:buClr>
              <a:buSzPct val="55000"/>
              <a:defRPr/>
            </a:pPr>
            <a:endParaRPr lang="en-US" altLang="zh-CN" sz="2400" b="1" dirty="0"/>
          </a:p>
          <a:p>
            <a:pPr marL="342900" lvl="1" indent="-342900">
              <a:lnSpc>
                <a:spcPts val="3800"/>
              </a:lnSpc>
              <a:spcBef>
                <a:spcPct val="20000"/>
              </a:spcBef>
              <a:buClr>
                <a:srgbClr val="808080"/>
              </a:buClr>
              <a:buSzPct val="55000"/>
              <a:defRPr/>
            </a:pPr>
            <a:endParaRPr lang="en-US" altLang="zh-CN" sz="2400" b="1" baseline="-25000" dirty="0"/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rgbClr val="FFCC00"/>
              </a:buClr>
              <a:defRPr/>
            </a:pPr>
            <a:endParaRPr lang="zh-CN" altLang="en-US" sz="2200" kern="0" dirty="0">
              <a:latin typeface="+mn-lt"/>
              <a:ea typeface="+mn-ea"/>
            </a:endParaRP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rgbClr val="FFCC00"/>
              </a:buClr>
              <a:defRPr/>
            </a:pPr>
            <a:endParaRPr lang="zh-CN" altLang="en-US" sz="2200" kern="0" dirty="0">
              <a:latin typeface="+mn-lt"/>
              <a:ea typeface="+mn-ea"/>
            </a:endParaRPr>
          </a:p>
        </p:txBody>
      </p:sp>
      <p:pic>
        <p:nvPicPr>
          <p:cNvPr id="128006" name="Picture 6"/>
          <p:cNvPicPr>
            <a:picLocks noChangeAspect="1" noChangeArrowheads="1"/>
          </p:cNvPicPr>
          <p:nvPr/>
        </p:nvPicPr>
        <p:blipFill>
          <a:blip r:embed="rId2"/>
          <a:srcRect l="4396" t="68856" r="2747" b="12782"/>
          <a:stretch>
            <a:fillRect/>
          </a:stretch>
        </p:blipFill>
        <p:spPr bwMode="auto">
          <a:xfrm>
            <a:off x="927100" y="4851400"/>
            <a:ext cx="751205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/>
          <a:srcRect l="4396" r="2747" b="70162"/>
          <a:stretch>
            <a:fillRect/>
          </a:stretch>
        </p:blipFill>
        <p:spPr bwMode="auto">
          <a:xfrm>
            <a:off x="927100" y="1962150"/>
            <a:ext cx="7512050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/>
          <a:srcRect l="4396" t="35576" r="2747" b="35734"/>
          <a:stretch>
            <a:fillRect/>
          </a:stretch>
        </p:blipFill>
        <p:spPr bwMode="auto">
          <a:xfrm>
            <a:off x="927100" y="3340100"/>
            <a:ext cx="7512050" cy="111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532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01688" y="2176463"/>
            <a:ext cx="7485062" cy="9667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 原理与 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altLang="zh-CN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PSK</a:t>
            </a: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类似：利用相邻码元载波的相对相位  </a:t>
            </a:r>
            <a:endParaRPr lang="en-US" altLang="zh-CN" sz="24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  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变化 表示 数字信息。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85813" y="4286250"/>
            <a:ext cx="7500937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Q</a:t>
            </a:r>
            <a:r>
              <a:rPr lang="en-US" altLang="zh-CN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PSK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与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QPSK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的关系，如同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PSK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与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2PSK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关系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85813" y="3429000"/>
            <a:ext cx="7500937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4</a:t>
            </a:r>
            <a:r>
              <a:rPr lang="en-US" altLang="zh-CN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PSK 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也称 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Q</a:t>
            </a:r>
            <a:r>
              <a:rPr lang="en-US" altLang="zh-CN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PSK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0" y="406400"/>
            <a:ext cx="8501063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0000"/>
              </a:buClr>
              <a:buSzPct val="65000"/>
              <a:defRPr/>
            </a:pPr>
            <a:r>
              <a:rPr lang="en-US" altLang="en-US" sz="3200" b="1" dirty="0">
                <a:solidFill>
                  <a:srgbClr val="000099"/>
                </a:solidFill>
                <a:latin typeface="+mn-lt"/>
                <a:cs typeface="Arial" pitchFamily="34" charset="0"/>
              </a:rPr>
              <a:t>§</a:t>
            </a:r>
            <a:r>
              <a:rPr lang="en-US" altLang="en-US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7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.4.</a:t>
            </a:r>
            <a:r>
              <a:rPr lang="en-US" altLang="zh-CN" sz="3200" b="1" dirty="0">
                <a:solidFill>
                  <a:srgbClr val="800080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4 </a:t>
            </a:r>
            <a:r>
              <a:rPr lang="en-US" altLang="zh-CN" sz="3200" b="1" dirty="0">
                <a:solidFill>
                  <a:srgbClr val="000099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  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rPr>
              <a:t>多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进制</a:t>
            </a:r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差分</a:t>
            </a:r>
            <a:r>
              <a:rPr lang="zh-CN" altLang="en-US" sz="3200" b="1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相移键控 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M</a:t>
            </a:r>
            <a:r>
              <a:rPr lang="en-US" altLang="zh-CN" sz="3200" b="1" dirty="0">
                <a:solidFill>
                  <a:srgbClr val="FF0000"/>
                </a:solidFill>
                <a:latin typeface="+mn-lt"/>
                <a:ea typeface="微软雅黑" pitchFamily="34" charset="-122"/>
              </a:rPr>
              <a:t>D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  <a:ea typeface="微软雅黑" pitchFamily="34" charset="-122"/>
              </a:rPr>
              <a:t>P</a:t>
            </a:r>
            <a:r>
              <a:rPr lang="en-US" altLang="zh-CN" sz="3200" b="1" dirty="0">
                <a:solidFill>
                  <a:srgbClr val="0000CC"/>
                </a:solidFill>
                <a:latin typeface="+mn-lt"/>
              </a:rPr>
              <a:t>SK</a:t>
            </a:r>
            <a:r>
              <a:rPr lang="en-US" altLang="zh-CN" sz="3200" b="1" dirty="0">
                <a:solidFill>
                  <a:srgbClr val="000099"/>
                </a:solidFill>
                <a:latin typeface="+mn-lt"/>
              </a:rPr>
              <a:t> </a:t>
            </a:r>
            <a:r>
              <a:rPr lang="zh-CN" altLang="en-US" sz="3200" dirty="0">
                <a:solidFill>
                  <a:srgbClr val="003399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3200" b="1" kern="0" dirty="0">
              <a:solidFill>
                <a:srgbClr val="003399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71513" y="1333500"/>
            <a:ext cx="7543800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1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 </a:t>
            </a:r>
            <a:r>
              <a:rPr lang="zh-CN" altLang="en-US" sz="2800" b="1" dirty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rPr>
              <a:t>基本原理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714375" y="5072063"/>
            <a:ext cx="7500938" cy="1016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Q</a:t>
            </a:r>
            <a:r>
              <a:rPr lang="en-US" altLang="zh-CN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PSK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的矢量图与</a:t>
            </a:r>
            <a:r>
              <a:rPr lang="en-US" altLang="zh-CN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QPSK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的矢量图相似</a:t>
            </a:r>
            <a:endParaRPr lang="en-US" altLang="zh-CN" sz="24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25000"/>
              </a:lnSpc>
              <a:buClr>
                <a:schemeClr val="bg1">
                  <a:lumMod val="50000"/>
                </a:schemeClr>
              </a:buClr>
              <a:buSzPct val="60000"/>
              <a:defRPr/>
            </a:pP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    ——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只是参考相位</a:t>
            </a:r>
            <a:r>
              <a:rPr lang="en-US" altLang="zh-CN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zh-CN" altLang="en-US" sz="2400" b="1" dirty="0">
                <a:latin typeface="Arial" pitchFamily="34" charset="0"/>
                <a:cs typeface="Arial" pitchFamily="34" charset="0"/>
              </a:rPr>
              <a:t>是前一码元的载波相位</a:t>
            </a:r>
            <a:endParaRPr lang="zh-CN" alt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83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7" grpId="0"/>
      <p:bldP spid="9" grpId="0" animBg="1"/>
      <p:bldP spid="10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03" t="7277" r="9943" b="5634"/>
          <a:stretch>
            <a:fillRect/>
          </a:stretch>
        </p:blipFill>
        <p:spPr bwMode="auto">
          <a:xfrm>
            <a:off x="5461000" y="3829050"/>
            <a:ext cx="253365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" t="6573" r="57941" b="6339"/>
          <a:stretch>
            <a:fillRect/>
          </a:stretch>
        </p:blipFill>
        <p:spPr bwMode="auto">
          <a:xfrm>
            <a:off x="1949450" y="3873500"/>
            <a:ext cx="24892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0" name="Rectangle 110"/>
          <p:cNvSpPr>
            <a:spLocks noChangeArrowheads="1"/>
          </p:cNvSpPr>
          <p:nvPr/>
        </p:nvSpPr>
        <p:spPr bwMode="auto">
          <a:xfrm>
            <a:off x="468313" y="3857625"/>
            <a:ext cx="15128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矢量图</a:t>
            </a:r>
            <a:r>
              <a:rPr lang="zh-CN" altLang="en-US" sz="24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6357938" y="525463"/>
            <a:ext cx="865187" cy="503237"/>
          </a:xfrm>
          <a:prstGeom prst="wedgeRoundRectCallout">
            <a:avLst>
              <a:gd name="adj1" fmla="val -60597"/>
              <a:gd name="adj2" fmla="val 116574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6350">
            <a:solidFill>
              <a:srgbClr val="CC000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121867" name="Object 11"/>
          <p:cNvGraphicFramePr>
            <a:graphicFrameLocks noChangeAspect="1"/>
          </p:cNvGraphicFramePr>
          <p:nvPr/>
        </p:nvGraphicFramePr>
        <p:xfrm>
          <a:off x="6419850" y="514350"/>
          <a:ext cx="68897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4" name="Equation" r:id="rId4" imgW="279360" imgH="228600" progId="Equation.DSMT4">
                  <p:embed/>
                </p:oleObj>
              </mc:Choice>
              <mc:Fallback>
                <p:oleObj name="Equation" r:id="rId4" imgW="27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514350"/>
                        <a:ext cx="688975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3714750" y="5500688"/>
            <a:ext cx="1500188" cy="928687"/>
          </a:xfrm>
          <a:prstGeom prst="wedgeRoundRectCallout">
            <a:avLst>
              <a:gd name="adj1" fmla="val -23004"/>
              <a:gd name="adj2" fmla="val -89692"/>
              <a:gd name="adj3" fmla="val 16667"/>
            </a:avLst>
          </a:prstGeom>
          <a:solidFill>
            <a:schemeClr val="tx1">
              <a:lumMod val="10000"/>
              <a:lumOff val="90000"/>
            </a:schemeClr>
          </a:solidFill>
          <a:ln w="3175">
            <a:solidFill>
              <a:srgbClr val="CC0000"/>
            </a:solidFill>
            <a:prstDash val="dash"/>
            <a:miter lim="800000"/>
            <a:headEnd/>
            <a:tailEnd/>
          </a:ln>
          <a:effectLst>
            <a:prstShdw prst="shdw17" dist="17961" dir="2700000">
              <a:srgbClr val="7A0000"/>
            </a:prstShdw>
          </a:effectLst>
        </p:spPr>
        <p:txBody>
          <a:bodyPr/>
          <a:lstStyle/>
          <a:p>
            <a:pPr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前一码元</a:t>
            </a:r>
            <a:endParaRPr lang="en-US" altLang="zh-CN" sz="2400" dirty="0">
              <a:latin typeface="华文中宋" pitchFamily="2" charset="-122"/>
              <a:ea typeface="华文中宋" pitchFamily="2" charset="-122"/>
            </a:endParaRPr>
          </a:p>
          <a:p>
            <a:pPr>
              <a:defRPr/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载波相位 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57250" y="1071563"/>
          <a:ext cx="81280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45" name="文档" r:id="rId6" imgW="5721187" imgH="1881428" progId="Word.Document.12">
                  <p:embed/>
                </p:oleObj>
              </mc:Choice>
              <mc:Fallback>
                <p:oleObj name="文档" r:id="rId6" imgW="5721187" imgH="1881428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071563"/>
                        <a:ext cx="8128000" cy="274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222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2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" t="6573" r="57941" b="6339"/>
          <a:stretch>
            <a:fillRect/>
          </a:stretch>
        </p:blipFill>
        <p:spPr bwMode="auto">
          <a:xfrm>
            <a:off x="304800" y="2747963"/>
            <a:ext cx="24892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92" name="Rectangle 24"/>
          <p:cNvSpPr>
            <a:spLocks noChangeArrowheads="1"/>
          </p:cNvSpPr>
          <p:nvPr/>
        </p:nvSpPr>
        <p:spPr bwMode="auto">
          <a:xfrm>
            <a:off x="3257550" y="2867025"/>
            <a:ext cx="5715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194" name="Rectangle 26"/>
          <p:cNvSpPr>
            <a:spLocks noChangeArrowheads="1"/>
          </p:cNvSpPr>
          <p:nvPr/>
        </p:nvSpPr>
        <p:spPr bwMode="auto">
          <a:xfrm>
            <a:off x="3257550" y="2867025"/>
            <a:ext cx="5492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196" name="Rectangle 28"/>
          <p:cNvSpPr>
            <a:spLocks noChangeArrowheads="1"/>
          </p:cNvSpPr>
          <p:nvPr/>
        </p:nvSpPr>
        <p:spPr bwMode="auto">
          <a:xfrm>
            <a:off x="3257550" y="2867025"/>
            <a:ext cx="4794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198" name="Rectangle 30"/>
          <p:cNvSpPr>
            <a:spLocks noChangeArrowheads="1"/>
          </p:cNvSpPr>
          <p:nvPr/>
        </p:nvSpPr>
        <p:spPr bwMode="auto">
          <a:xfrm>
            <a:off x="3257550" y="2867025"/>
            <a:ext cx="4572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0" name="Rectangle 32"/>
          <p:cNvSpPr>
            <a:spLocks noChangeArrowheads="1"/>
          </p:cNvSpPr>
          <p:nvPr/>
        </p:nvSpPr>
        <p:spPr bwMode="auto">
          <a:xfrm>
            <a:off x="3257550" y="2867025"/>
            <a:ext cx="5715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2" name="Rectangle 34"/>
          <p:cNvSpPr>
            <a:spLocks noChangeArrowheads="1"/>
          </p:cNvSpPr>
          <p:nvPr/>
        </p:nvSpPr>
        <p:spPr bwMode="auto">
          <a:xfrm>
            <a:off x="3257550" y="2867025"/>
            <a:ext cx="5715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4" name="Rectangle 36"/>
          <p:cNvSpPr>
            <a:spLocks noChangeArrowheads="1"/>
          </p:cNvSpPr>
          <p:nvPr/>
        </p:nvSpPr>
        <p:spPr bwMode="auto">
          <a:xfrm>
            <a:off x="3257550" y="2867025"/>
            <a:ext cx="5492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206" name="Rectangle 38"/>
          <p:cNvSpPr>
            <a:spLocks noChangeArrowheads="1"/>
          </p:cNvSpPr>
          <p:nvPr/>
        </p:nvSpPr>
        <p:spPr bwMode="auto">
          <a:xfrm>
            <a:off x="3257550" y="2867025"/>
            <a:ext cx="47942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35326" name="Rectangle 158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15" name="Rectangle 110"/>
          <p:cNvSpPr>
            <a:spLocks noChangeArrowheads="1"/>
          </p:cNvSpPr>
          <p:nvPr/>
        </p:nvSpPr>
        <p:spPr bwMode="auto">
          <a:xfrm>
            <a:off x="468313" y="1038225"/>
            <a:ext cx="12969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 波形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solidFill>
                  <a:srgbClr val="0000CC"/>
                </a:solidFill>
                <a:latin typeface="黑体" pitchFamily="2" charset="-122"/>
                <a:ea typeface="黑体" pitchFamily="2" charset="-122"/>
              </a:rPr>
              <a:t> </a:t>
            </a:r>
          </a:p>
        </p:txBody>
      </p:sp>
      <p:pic>
        <p:nvPicPr>
          <p:cNvPr id="88079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549"/>
          <a:stretch>
            <a:fillRect/>
          </a:stretch>
        </p:blipFill>
        <p:spPr bwMode="auto">
          <a:xfrm>
            <a:off x="1487488" y="4806950"/>
            <a:ext cx="741045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589"/>
          <a:stretch>
            <a:fillRect/>
          </a:stretch>
        </p:blipFill>
        <p:spPr bwMode="auto">
          <a:xfrm>
            <a:off x="1504950" y="1384300"/>
            <a:ext cx="74104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85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1258888" y="2078038"/>
          <a:ext cx="7091362" cy="377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1" name="Visio" r:id="rId3" imgW="4402369" imgH="2345084" progId="Visio.Drawing.11">
                  <p:embed/>
                </p:oleObj>
              </mc:Choice>
              <mc:Fallback>
                <p:oleObj name="Visio" r:id="rId3" imgW="4402369" imgH="234508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078038"/>
                        <a:ext cx="7091362" cy="377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>
                                <a:alpha val="75999"/>
                              </a:schemeClr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85813" y="1214438"/>
            <a:ext cx="7572375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也有</a:t>
            </a:r>
            <a:r>
              <a:rPr lang="zh-CN" altLang="en-US" sz="2400" b="1" dirty="0">
                <a:latin typeface="+mn-ea"/>
                <a:ea typeface="+mn-ea"/>
              </a:rPr>
              <a:t>正交调相法 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zh-CN" altLang="en-US" sz="2400" b="1" dirty="0">
                <a:latin typeface="+mn-ea"/>
                <a:ea typeface="+mn-ea"/>
              </a:rPr>
              <a:t> 相位选择法</a:t>
            </a:r>
          </a:p>
        </p:txBody>
      </p:sp>
      <p:sp>
        <p:nvSpPr>
          <p:cNvPr id="122890" name="Text Box 10"/>
          <p:cNvSpPr txBox="1">
            <a:spLocks noChangeArrowheads="1"/>
          </p:cNvSpPr>
          <p:nvPr/>
        </p:nvSpPr>
        <p:spPr bwMode="auto">
          <a:xfrm>
            <a:off x="3143250" y="3600450"/>
            <a:ext cx="984250" cy="708025"/>
          </a:xfrm>
          <a:prstGeom prst="rect">
            <a:avLst/>
          </a:prstGeom>
          <a:solidFill>
            <a:srgbClr val="FFE5FF"/>
          </a:soli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>
              <a:lnSpc>
                <a:spcPts val="2400"/>
              </a:lnSpc>
              <a:spcBef>
                <a:spcPct val="50000"/>
              </a:spcBef>
              <a:defRPr/>
            </a:pPr>
            <a:r>
              <a:rPr lang="zh-CN" altLang="en-US" sz="2000" dirty="0">
                <a:ea typeface="华文中宋" pitchFamily="2" charset="-122"/>
              </a:rPr>
              <a:t>差分  </a:t>
            </a:r>
            <a:r>
              <a:rPr lang="en-US" altLang="zh-CN" sz="2000" dirty="0">
                <a:ea typeface="华文中宋" pitchFamily="2" charset="-122"/>
              </a:rPr>
              <a:t>  </a:t>
            </a:r>
            <a:r>
              <a:rPr lang="zh-CN" altLang="en-US" sz="2000" dirty="0">
                <a:ea typeface="华文中宋" pitchFamily="2" charset="-122"/>
              </a:rPr>
              <a:t>编码</a:t>
            </a:r>
          </a:p>
        </p:txBody>
      </p:sp>
      <p:sp>
        <p:nvSpPr>
          <p:cNvPr id="122891" name="AutoShape 11"/>
          <p:cNvSpPr>
            <a:spLocks noChangeArrowheads="1"/>
          </p:cNvSpPr>
          <p:nvPr/>
        </p:nvSpPr>
        <p:spPr bwMode="auto">
          <a:xfrm>
            <a:off x="1928813" y="5357813"/>
            <a:ext cx="2000250" cy="928687"/>
          </a:xfrm>
          <a:prstGeom prst="wedgeRoundRectCallout">
            <a:avLst>
              <a:gd name="adj1" fmla="val 27224"/>
              <a:gd name="adj2" fmla="val -147540"/>
              <a:gd name="adj3" fmla="val 16667"/>
            </a:avLst>
          </a:prstGeom>
          <a:solidFill>
            <a:schemeClr val="bg1"/>
          </a:solidFill>
          <a:ln w="31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200"/>
              </a:lnSpc>
              <a:defRPr/>
            </a:pPr>
            <a:r>
              <a:rPr lang="zh-CN" altLang="en-US" sz="2400" dirty="0">
                <a:ea typeface="华文中宋" pitchFamily="2" charset="-122"/>
              </a:rPr>
              <a:t>将</a:t>
            </a:r>
            <a:r>
              <a:rPr lang="zh-CN" altLang="en-US" sz="2400" b="1" dirty="0">
                <a:ea typeface="华文中宋" pitchFamily="2" charset="-122"/>
              </a:rPr>
              <a:t>绝对码 </a:t>
            </a:r>
            <a:r>
              <a:rPr lang="en-US" altLang="zh-CN" sz="2400" dirty="0" err="1">
                <a:solidFill>
                  <a:srgbClr val="0000CC"/>
                </a:solidFill>
                <a:ea typeface="华文中宋" pitchFamily="2" charset="-122"/>
              </a:rPr>
              <a:t>ab</a:t>
            </a:r>
            <a:endParaRPr lang="en-US" altLang="zh-CN" sz="2400" dirty="0">
              <a:solidFill>
                <a:srgbClr val="0000CC"/>
              </a:solidFill>
              <a:ea typeface="华文中宋" pitchFamily="2" charset="-122"/>
            </a:endParaRPr>
          </a:p>
          <a:p>
            <a:pPr>
              <a:lnSpc>
                <a:spcPts val="32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ea typeface="华文中宋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ea typeface="华文中宋" pitchFamily="2" charset="-122"/>
              </a:rPr>
              <a:t>⇨</a:t>
            </a:r>
            <a:r>
              <a:rPr lang="zh-CN" altLang="en-US" sz="2400" b="1" dirty="0">
                <a:ea typeface="华文中宋" pitchFamily="2" charset="-122"/>
              </a:rPr>
              <a:t>相对码 </a:t>
            </a:r>
            <a:r>
              <a:rPr lang="en-US" altLang="zh-CN" sz="2400" dirty="0" err="1">
                <a:solidFill>
                  <a:srgbClr val="FF0000"/>
                </a:solidFill>
                <a:ea typeface="华文中宋" pitchFamily="2" charset="-122"/>
              </a:rPr>
              <a:t>cd</a:t>
            </a:r>
            <a:endParaRPr lang="en-US" altLang="zh-CN" sz="2400" dirty="0">
              <a:solidFill>
                <a:srgbClr val="FF0000"/>
              </a:solidFill>
              <a:ea typeface="华文中宋" pitchFamily="2" charset="-122"/>
            </a:endParaRPr>
          </a:p>
          <a:p>
            <a:pPr>
              <a:lnSpc>
                <a:spcPts val="3200"/>
              </a:lnSpc>
              <a:defRPr/>
            </a:pPr>
            <a:endParaRPr lang="zh-CN" altLang="en-US" sz="2400" dirty="0">
              <a:solidFill>
                <a:srgbClr val="FF0000"/>
              </a:solidFill>
              <a:ea typeface="华文中宋" pitchFamily="2" charset="-122"/>
            </a:endParaRPr>
          </a:p>
          <a:p>
            <a:pPr algn="ctr">
              <a:lnSpc>
                <a:spcPts val="3200"/>
              </a:lnSpc>
              <a:defRPr/>
            </a:pPr>
            <a:endParaRPr lang="zh-CN" altLang="en-US" sz="2400" dirty="0">
              <a:ea typeface="华文中宋" pitchFamily="2" charset="-122"/>
            </a:endParaRPr>
          </a:p>
        </p:txBody>
      </p:sp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4211638" y="5572125"/>
            <a:ext cx="37893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4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码变换</a:t>
            </a:r>
            <a:r>
              <a:rPr lang="en-US" altLang="zh-CN" sz="240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绝对调相 原理图</a:t>
            </a:r>
          </a:p>
        </p:txBody>
      </p:sp>
      <p:sp>
        <p:nvSpPr>
          <p:cNvPr id="78855" name="Rectangle 14"/>
          <p:cNvSpPr>
            <a:spLocks noChangeArrowheads="1"/>
          </p:cNvSpPr>
          <p:nvPr/>
        </p:nvSpPr>
        <p:spPr bwMode="auto">
          <a:xfrm>
            <a:off x="7543800" y="2714625"/>
            <a:ext cx="215900" cy="504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895" name="Rectangle 15"/>
          <p:cNvSpPr>
            <a:spLocks noChangeArrowheads="1"/>
          </p:cNvSpPr>
          <p:nvPr/>
        </p:nvSpPr>
        <p:spPr bwMode="auto">
          <a:xfrm>
            <a:off x="4306888" y="5640388"/>
            <a:ext cx="1193800" cy="43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897" name="AutoShape 17"/>
          <p:cNvSpPr>
            <a:spLocks noChangeArrowheads="1"/>
          </p:cNvSpPr>
          <p:nvPr/>
        </p:nvSpPr>
        <p:spPr bwMode="auto">
          <a:xfrm>
            <a:off x="7277100" y="4060825"/>
            <a:ext cx="1223963" cy="582613"/>
          </a:xfrm>
          <a:prstGeom prst="wedgeRoundRectCallout">
            <a:avLst>
              <a:gd name="adj1" fmla="val -10680"/>
              <a:gd name="adj2" fmla="val 47002"/>
              <a:gd name="adj3" fmla="val 16667"/>
            </a:avLst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800080"/>
                </a:solidFill>
              </a:rPr>
              <a:t>B</a:t>
            </a:r>
            <a:r>
              <a:rPr lang="zh-CN" altLang="en-US" sz="2400" b="1" dirty="0">
                <a:solidFill>
                  <a:srgbClr val="800080"/>
                </a:solidFill>
              </a:rPr>
              <a:t>方式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785813" y="1785938"/>
            <a:ext cx="7572375" cy="46196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chemeClr val="bg1">
                  <a:lumMod val="50000"/>
                </a:schemeClr>
              </a:buClr>
              <a:buSzPct val="60000"/>
              <a:buFont typeface="Wingdings" pitchFamily="2" charset="2"/>
              <a:buChar char="l"/>
              <a:defRPr/>
            </a:pPr>
            <a:r>
              <a:rPr lang="zh-CN" altLang="en-US" sz="2400" b="1" dirty="0">
                <a:latin typeface="+mn-ea"/>
                <a:ea typeface="+mn-ea"/>
              </a:rPr>
              <a:t> 仅需在</a:t>
            </a:r>
            <a:r>
              <a:rPr lang="en-US" altLang="zh-CN" sz="2400" b="1" dirty="0">
                <a:solidFill>
                  <a:srgbClr val="0000CC"/>
                </a:solidFill>
                <a:ea typeface="微软雅黑" pitchFamily="34" charset="-122"/>
              </a:rPr>
              <a:t>QPSK</a:t>
            </a:r>
            <a:r>
              <a:rPr lang="zh-CN" altLang="en-US" sz="2400" b="1" dirty="0">
                <a:latin typeface="+mn-ea"/>
                <a:ea typeface="+mn-ea"/>
              </a:rPr>
              <a:t>调制器基础上增添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差分编码（码变换）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42938" y="428625"/>
            <a:ext cx="7543800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65000"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2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 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Q</a:t>
            </a:r>
            <a:r>
              <a:rPr lang="en-US" altLang="zh-CN" sz="2800" b="1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PSK</a:t>
            </a:r>
            <a:r>
              <a:rPr lang="zh-CN" altLang="en-US" sz="28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调制</a:t>
            </a:r>
            <a:endParaRPr lang="zh-CN" altLang="en-US" sz="28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913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20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12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2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3" dur="20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2890" grpId="0" animBg="1"/>
      <p:bldP spid="122891" grpId="0" animBg="1"/>
      <p:bldP spid="3" grpId="0"/>
      <p:bldP spid="122895" grpId="0" animBg="1"/>
      <p:bldP spid="122897" grpId="0"/>
      <p:bldP spid="14" grpId="0" animBg="1"/>
      <p:bldP spid="13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7" name="Picture 3" descr="07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897188"/>
            <a:ext cx="8910637" cy="28892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7" name="Rectangle 15"/>
          <p:cNvSpPr>
            <a:spLocks noChangeArrowheads="1"/>
          </p:cNvSpPr>
          <p:nvPr/>
        </p:nvSpPr>
        <p:spPr bwMode="auto">
          <a:xfrm>
            <a:off x="6542088" y="3600450"/>
            <a:ext cx="719137" cy="671513"/>
          </a:xfrm>
          <a:prstGeom prst="rect">
            <a:avLst/>
          </a:prstGeom>
          <a:noFill/>
          <a:ln w="9525">
            <a:solidFill>
              <a:srgbClr val="E32944"/>
            </a:solidFill>
            <a:miter lim="800000"/>
            <a:headEnd/>
            <a:tailEnd/>
          </a:ln>
          <a:effectLst>
            <a:prstShdw prst="shdw17" dist="17961" dir="2700000">
              <a:srgbClr val="88192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057" name="Text Box 25"/>
          <p:cNvSpPr txBox="1">
            <a:spLocks noChangeArrowheads="1"/>
          </p:cNvSpPr>
          <p:nvPr/>
        </p:nvSpPr>
        <p:spPr bwMode="auto">
          <a:xfrm>
            <a:off x="6227763" y="2770188"/>
            <a:ext cx="3603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44058" name="Text Box 26"/>
          <p:cNvSpPr txBox="1">
            <a:spLocks noChangeArrowheads="1"/>
          </p:cNvSpPr>
          <p:nvPr/>
        </p:nvSpPr>
        <p:spPr bwMode="auto">
          <a:xfrm>
            <a:off x="6227763" y="4267200"/>
            <a:ext cx="3603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44059" name="Text Box 27"/>
          <p:cNvSpPr txBox="1">
            <a:spLocks noChangeArrowheads="1"/>
          </p:cNvSpPr>
          <p:nvPr/>
        </p:nvSpPr>
        <p:spPr bwMode="auto">
          <a:xfrm>
            <a:off x="7369175" y="3201988"/>
            <a:ext cx="3603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44060" name="Text Box 28"/>
          <p:cNvSpPr txBox="1">
            <a:spLocks noChangeArrowheads="1"/>
          </p:cNvSpPr>
          <p:nvPr/>
        </p:nvSpPr>
        <p:spPr bwMode="auto">
          <a:xfrm>
            <a:off x="7412038" y="4138613"/>
            <a:ext cx="3603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0000CC"/>
                </a:solidFill>
              </a:rPr>
              <a:t>b</a:t>
            </a:r>
          </a:p>
        </p:txBody>
      </p:sp>
      <p:sp>
        <p:nvSpPr>
          <p:cNvPr id="44066" name="AutoShape 34"/>
          <p:cNvSpPr>
            <a:spLocks noChangeArrowheads="1"/>
          </p:cNvSpPr>
          <p:nvPr/>
        </p:nvSpPr>
        <p:spPr bwMode="auto">
          <a:xfrm>
            <a:off x="142875" y="4572000"/>
            <a:ext cx="1500188" cy="1000125"/>
          </a:xfrm>
          <a:prstGeom prst="wedgeRoundRectCallout">
            <a:avLst>
              <a:gd name="adj1" fmla="val -29366"/>
              <a:gd name="adj2" fmla="val -106630"/>
              <a:gd name="adj3" fmla="val 16667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r>
              <a:rPr lang="en-US" altLang="zh-CN" sz="2400" b="1">
                <a:solidFill>
                  <a:srgbClr val="000099"/>
                </a:solidFill>
                <a:ea typeface="微软雅黑" panose="020B0503020204020204" pitchFamily="34" charset="-122"/>
              </a:rPr>
              <a:t>Q</a:t>
            </a:r>
            <a:r>
              <a:rPr lang="en-US" altLang="zh-CN" sz="2400" b="1">
                <a:solidFill>
                  <a:srgbClr val="FF0000"/>
                </a:solidFill>
              </a:rPr>
              <a:t>D</a:t>
            </a:r>
            <a:r>
              <a:rPr lang="en-US" altLang="zh-CN" sz="2400" b="1">
                <a:solidFill>
                  <a:srgbClr val="000099"/>
                </a:solidFill>
                <a:ea typeface="微软雅黑" panose="020B0503020204020204" pitchFamily="34" charset="-122"/>
              </a:rPr>
              <a:t>PSK</a:t>
            </a:r>
            <a:r>
              <a:rPr lang="en-US" altLang="zh-CN" sz="2400" b="1">
                <a:solidFill>
                  <a:srgbClr val="800080"/>
                </a:solidFill>
              </a:rPr>
              <a:t>B</a:t>
            </a:r>
            <a:r>
              <a:rPr lang="zh-CN" altLang="en-US" sz="2400" b="1">
                <a:solidFill>
                  <a:srgbClr val="800080"/>
                </a:solidFill>
              </a:rPr>
              <a:t>方式</a:t>
            </a:r>
            <a:endParaRPr lang="en-US" altLang="zh-CN" sz="2400" b="1">
              <a:solidFill>
                <a:srgbClr val="800080"/>
              </a:solidFill>
            </a:endParaRPr>
          </a:p>
          <a:p>
            <a:pPr algn="ctr" eaLnBrk="1" hangingPunct="1">
              <a:lnSpc>
                <a:spcPct val="125000"/>
              </a:lnSpc>
            </a:pPr>
            <a:endParaRPr lang="zh-CN" altLang="en-US" sz="2400" b="1">
              <a:solidFill>
                <a:srgbClr val="800080"/>
              </a:solidFill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14375" y="1214438"/>
            <a:ext cx="5786438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相干解调（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极性比较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）</a:t>
            </a:r>
            <a:r>
              <a:rPr lang="en-US" altLang="zh-CN" sz="2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+</a:t>
            </a:r>
            <a:r>
              <a:rPr lang="zh-CN" altLang="en-US" sz="28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码反变换</a:t>
            </a: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6643688" y="1928813"/>
            <a:ext cx="2000250" cy="928687"/>
          </a:xfrm>
          <a:prstGeom prst="wedgeRoundRectCallout">
            <a:avLst>
              <a:gd name="adj1" fmla="val -23570"/>
              <a:gd name="adj2" fmla="val 108773"/>
              <a:gd name="adj3" fmla="val 16667"/>
            </a:avLst>
          </a:prstGeom>
          <a:solidFill>
            <a:schemeClr val="bg1"/>
          </a:solidFill>
          <a:ln w="31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华文中宋" pitchFamily="2" charset="-122"/>
              </a:rPr>
              <a:t>将</a:t>
            </a:r>
            <a:r>
              <a:rPr lang="zh-CN" altLang="en-US" sz="2400" b="1" dirty="0">
                <a:ea typeface="华文中宋" pitchFamily="2" charset="-122"/>
              </a:rPr>
              <a:t>相对码 </a:t>
            </a:r>
            <a:r>
              <a:rPr lang="en-US" altLang="zh-CN" sz="2400" dirty="0" err="1">
                <a:solidFill>
                  <a:srgbClr val="FF0000"/>
                </a:solidFill>
                <a:ea typeface="华文中宋" pitchFamily="2" charset="-122"/>
              </a:rPr>
              <a:t>cd</a:t>
            </a:r>
            <a:endParaRPr lang="en-US" altLang="zh-CN" sz="2400" dirty="0">
              <a:solidFill>
                <a:srgbClr val="0000CC"/>
              </a:solidFill>
              <a:ea typeface="华文中宋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ea typeface="华文中宋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Cambria Math"/>
                <a:ea typeface="华文中宋" pitchFamily="2" charset="-122"/>
              </a:rPr>
              <a:t>⇨</a:t>
            </a:r>
            <a:r>
              <a:rPr lang="zh-CN" altLang="en-US" sz="2400" b="1" dirty="0">
                <a:ea typeface="华文中宋" pitchFamily="2" charset="-122"/>
              </a:rPr>
              <a:t>绝对码 </a:t>
            </a:r>
            <a:r>
              <a:rPr lang="en-US" altLang="zh-CN" sz="2400" dirty="0" err="1">
                <a:solidFill>
                  <a:srgbClr val="0000CC"/>
                </a:solidFill>
                <a:ea typeface="华文中宋" pitchFamily="2" charset="-122"/>
              </a:rPr>
              <a:t>ab</a:t>
            </a:r>
            <a:endParaRPr lang="en-US" altLang="zh-CN" sz="2400" dirty="0">
              <a:solidFill>
                <a:srgbClr val="FF0000"/>
              </a:solidFill>
              <a:ea typeface="华文中宋" pitchFamily="2" charset="-122"/>
            </a:endParaRPr>
          </a:p>
          <a:p>
            <a:pPr>
              <a:lnSpc>
                <a:spcPct val="120000"/>
              </a:lnSpc>
              <a:defRPr/>
            </a:pPr>
            <a:endParaRPr lang="zh-CN" altLang="en-US" sz="2400" dirty="0">
              <a:solidFill>
                <a:srgbClr val="FF0000"/>
              </a:solidFill>
              <a:ea typeface="华文中宋" pitchFamily="2" charset="-122"/>
            </a:endParaRPr>
          </a:p>
          <a:p>
            <a:pPr algn="ctr">
              <a:defRPr/>
            </a:pPr>
            <a:endParaRPr lang="zh-CN" altLang="en-US" sz="2400" dirty="0">
              <a:ea typeface="华文中宋" pitchFamily="2" charset="-122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6502400" y="3571875"/>
            <a:ext cx="841375" cy="758825"/>
          </a:xfrm>
          <a:prstGeom prst="rect">
            <a:avLst/>
          </a:prstGeom>
          <a:solidFill>
            <a:srgbClr val="FFE5FF"/>
          </a:solidFill>
          <a:ln w="19050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>
              <a:lnSpc>
                <a:spcPts val="2600"/>
              </a:lnSpc>
              <a:spcBef>
                <a:spcPct val="50000"/>
              </a:spcBef>
              <a:defRPr/>
            </a:pPr>
            <a:r>
              <a:rPr lang="zh-CN" altLang="en-US" sz="2000" dirty="0">
                <a:ea typeface="华文中宋" pitchFamily="2" charset="-122"/>
              </a:rPr>
              <a:t>差分  </a:t>
            </a:r>
            <a:r>
              <a:rPr lang="en-US" altLang="zh-CN" sz="2000" dirty="0">
                <a:ea typeface="华文中宋" pitchFamily="2" charset="-122"/>
              </a:rPr>
              <a:t>  </a:t>
            </a:r>
            <a:r>
              <a:rPr lang="zh-CN" altLang="en-US" sz="2000" dirty="0">
                <a:solidFill>
                  <a:srgbClr val="FF0000"/>
                </a:solidFill>
                <a:ea typeface="华文中宋" pitchFamily="2" charset="-122"/>
              </a:rPr>
              <a:t>译</a:t>
            </a:r>
            <a:r>
              <a:rPr lang="zh-CN" altLang="en-US" sz="2000" dirty="0">
                <a:ea typeface="华文中宋" pitchFamily="2" charset="-122"/>
              </a:rPr>
              <a:t>码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42938" y="476250"/>
            <a:ext cx="7543800" cy="5238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65000"/>
              <a:defRPr/>
            </a:pPr>
            <a:r>
              <a:rPr lang="en-US" altLang="zh-CN" sz="2800" b="1" u="sng" dirty="0">
                <a:solidFill>
                  <a:srgbClr val="800080"/>
                </a:solidFill>
                <a:latin typeface="+mn-lt"/>
                <a:ea typeface="黑体" pitchFamily="2" charset="-122"/>
              </a:rPr>
              <a:t>3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黑体" pitchFamily="2" charset="-122"/>
              </a:rPr>
              <a:t>   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Q</a:t>
            </a:r>
            <a:r>
              <a:rPr lang="en-US" altLang="zh-CN" sz="2800" b="1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PSK</a:t>
            </a:r>
            <a:r>
              <a:rPr lang="zh-CN" altLang="en-US" sz="2800" b="1" dirty="0">
                <a:solidFill>
                  <a:srgbClr val="000099"/>
                </a:solidFill>
                <a:latin typeface="+mn-lt"/>
                <a:ea typeface="微软雅黑" pitchFamily="34" charset="-122"/>
              </a:rPr>
              <a:t>解调</a:t>
            </a:r>
            <a:endParaRPr lang="zh-CN" altLang="en-US" sz="2800" b="1" dirty="0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6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20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7" grpId="0" animBg="1"/>
      <p:bldP spid="44057" grpId="0"/>
      <p:bldP spid="44058" grpId="0"/>
      <p:bldP spid="44059" grpId="0"/>
      <p:bldP spid="44060" grpId="0"/>
      <p:bldP spid="44066" grpId="0" animBg="1"/>
      <p:bldP spid="18" grpId="0" animBg="1"/>
      <p:bldP spid="12" grpId="0" animBg="1"/>
      <p:bldP spid="13" grpId="0" animBg="1"/>
      <p:bldP spid="1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073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420938"/>
            <a:ext cx="8424863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2484438" y="3414713"/>
            <a:ext cx="944562" cy="4429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3708400" y="2276475"/>
            <a:ext cx="2232025" cy="1008063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3708400" y="4076700"/>
            <a:ext cx="2232025" cy="1008063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30054" name="矩形 6"/>
          <p:cNvSpPr>
            <a:spLocks noChangeArrowheads="1"/>
          </p:cNvSpPr>
          <p:nvPr/>
        </p:nvSpPr>
        <p:spPr bwMode="auto">
          <a:xfrm>
            <a:off x="3114675" y="3543300"/>
            <a:ext cx="314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ea typeface="华文中宋" panose="02010600040101010101" pitchFamily="2" charset="-122"/>
              </a:rPr>
              <a:t>B</a:t>
            </a:r>
            <a:endParaRPr lang="zh-CN" altLang="en-US" sz="1400" b="1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57250" y="1143000"/>
            <a:ext cx="5214938" cy="5238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差分相干解调（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相位比较法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）</a:t>
            </a:r>
            <a:endParaRPr lang="zh-CN" altLang="en-US" sz="28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29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2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6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2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4" grpId="0" animBg="1"/>
      <p:bldP spid="45065" grpId="0" animBg="1"/>
      <p:bldP spid="45066" grpId="0" animBg="1"/>
      <p:bldP spid="8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712913" y="2616200"/>
            <a:ext cx="6548437" cy="1924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zh-CN" altLang="en-US" sz="4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多进制数字调制系统</a:t>
            </a:r>
            <a:br>
              <a:rPr lang="en-US" altLang="zh-CN" sz="4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b="1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的抗噪声性能</a:t>
            </a:r>
          </a:p>
        </p:txBody>
      </p:sp>
      <p:sp>
        <p:nvSpPr>
          <p:cNvPr id="45059" name="Rectangle 7"/>
          <p:cNvSpPr>
            <a:spLocks noChangeArrowheads="1"/>
          </p:cNvSpPr>
          <p:nvPr/>
        </p:nvSpPr>
        <p:spPr bwMode="auto">
          <a:xfrm>
            <a:off x="520700" y="1357313"/>
            <a:ext cx="2341563" cy="97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/>
          <a:p>
            <a:pPr algn="ctr">
              <a:defRPr/>
            </a:pPr>
            <a:r>
              <a:rPr lang="en-US" altLang="en-US" sz="4000" b="1" dirty="0">
                <a:solidFill>
                  <a:srgbClr val="800080"/>
                </a:solidFill>
              </a:rPr>
              <a:t>§</a:t>
            </a:r>
            <a:r>
              <a:rPr lang="en-US" altLang="zh-CN" sz="4000" b="1" dirty="0">
                <a:solidFill>
                  <a:srgbClr val="800080"/>
                </a:solidFill>
              </a:rPr>
              <a:t>7.5</a:t>
            </a:r>
          </a:p>
        </p:txBody>
      </p:sp>
    </p:spTree>
    <p:extLst>
      <p:ext uri="{BB962C8B-B14F-4D97-AF65-F5344CB8AC3E}">
        <p14:creationId xmlns:p14="http://schemas.microsoft.com/office/powerpoint/2010/main" val="41785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06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642938"/>
            <a:ext cx="7400925" cy="525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1735138" y="6072188"/>
            <a:ext cx="64087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defRPr/>
            </a:pPr>
            <a:r>
              <a:rPr lang="en-US" altLang="zh-CN" sz="2400" b="1">
                <a:latin typeface="+mn-ea"/>
                <a:ea typeface="+mn-ea"/>
                <a:cs typeface="Times New Roman" pitchFamily="18" charset="0"/>
              </a:rPr>
              <a:t> </a:t>
            </a:r>
            <a:r>
              <a:rPr lang="zh-CN" altLang="en-US" sz="2400" b="1">
                <a:latin typeface="+mn-ea"/>
                <a:ea typeface="+mn-ea"/>
                <a:cs typeface="Times New Roman" pitchFamily="18" charset="0"/>
              </a:rPr>
              <a:t>回顾：二进制调制系统的抗噪声性能</a:t>
            </a:r>
            <a:endParaRPr lang="en-US" altLang="zh-CN" sz="2400" b="1">
              <a:solidFill>
                <a:srgbClr val="8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 bwMode="auto">
          <a:xfrm>
            <a:off x="5786438" y="1571625"/>
            <a:ext cx="3071812" cy="242887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accent3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43367" name="Rectangle 7"/>
          <p:cNvSpPr>
            <a:spLocks noChangeArrowheads="1"/>
          </p:cNvSpPr>
          <p:nvPr/>
        </p:nvSpPr>
        <p:spPr bwMode="auto">
          <a:xfrm>
            <a:off x="571500" y="500063"/>
            <a:ext cx="64087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抑制载波</a:t>
            </a:r>
            <a:r>
              <a:rPr lang="en-US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MASK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-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相干解调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系统的误码率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endParaRPr lang="en-US" altLang="zh-CN" sz="2400" b="1" dirty="0">
              <a:solidFill>
                <a:srgbClr val="8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79874" name="Object 6"/>
          <p:cNvGraphicFramePr>
            <a:graphicFrameLocks noChangeAspect="1"/>
          </p:cNvGraphicFramePr>
          <p:nvPr/>
        </p:nvGraphicFramePr>
        <p:xfrm>
          <a:off x="928688" y="1357313"/>
          <a:ext cx="43132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46" name="公式" r:id="rId3" imgW="1905000" imgH="508000" progId="Equation.3">
                  <p:embed/>
                </p:oleObj>
              </mc:Choice>
              <mc:Fallback>
                <p:oleObj name="公式" r:id="rId3" imgW="1905000" imgH="50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357313"/>
                        <a:ext cx="4313237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857875" y="4572000"/>
            <a:ext cx="2000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/>
              <a:t>M</a:t>
            </a:r>
            <a:r>
              <a:rPr lang="en-US" altLang="zh-CN" sz="2400" b="1"/>
              <a:t> = 2</a:t>
            </a:r>
            <a:r>
              <a:rPr lang="zh-CN" altLang="en-US" sz="2400" b="1"/>
              <a:t>时</a:t>
            </a:r>
            <a:r>
              <a:rPr lang="en-US" altLang="zh-CN" sz="2400" b="1"/>
              <a:t>:</a:t>
            </a:r>
            <a:endParaRPr lang="zh-CN" altLang="en-US" sz="2400" b="1"/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5857875" y="5143500"/>
          <a:ext cx="2286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47" name="公式" r:id="rId5" imgW="965200" imgH="393700" progId="Equation.3">
                  <p:embed/>
                </p:oleObj>
              </mc:Choice>
              <mc:Fallback>
                <p:oleObj name="公式" r:id="rId5" imgW="965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75" y="5143500"/>
                        <a:ext cx="2286000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881" name="Group 6"/>
          <p:cNvGrpSpPr>
            <a:grpSpLocks/>
          </p:cNvGrpSpPr>
          <p:nvPr/>
        </p:nvGrpSpPr>
        <p:grpSpPr bwMode="auto">
          <a:xfrm>
            <a:off x="857250" y="2816225"/>
            <a:ext cx="4240213" cy="3898900"/>
            <a:chOff x="2458" y="9096"/>
            <a:chExt cx="6661" cy="5364"/>
          </a:xfrm>
        </p:grpSpPr>
        <p:grpSp>
          <p:nvGrpSpPr>
            <p:cNvPr id="79888" name="Group 7"/>
            <p:cNvGrpSpPr>
              <a:grpSpLocks/>
            </p:cNvGrpSpPr>
            <p:nvPr/>
          </p:nvGrpSpPr>
          <p:grpSpPr bwMode="auto">
            <a:xfrm>
              <a:off x="2458" y="9096"/>
              <a:ext cx="6661" cy="4935"/>
              <a:chOff x="4004" y="723"/>
              <a:chExt cx="4965" cy="6345"/>
            </a:xfrm>
          </p:grpSpPr>
          <p:pic>
            <p:nvPicPr>
              <p:cNvPr id="79891" name="Picture 8" descr="MASK误码率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04" y="723"/>
                <a:ext cx="4965" cy="6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892" name="Line 9"/>
              <p:cNvSpPr>
                <a:spLocks noChangeShapeType="1"/>
              </p:cNvSpPr>
              <p:nvPr/>
            </p:nvSpPr>
            <p:spPr bwMode="auto">
              <a:xfrm flipH="1" flipV="1">
                <a:off x="5280" y="870"/>
                <a:ext cx="14" cy="5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3" name="Line 10"/>
              <p:cNvSpPr>
                <a:spLocks noChangeShapeType="1"/>
              </p:cNvSpPr>
              <p:nvPr/>
            </p:nvSpPr>
            <p:spPr bwMode="auto">
              <a:xfrm flipH="1" flipV="1">
                <a:off x="5878" y="885"/>
                <a:ext cx="14" cy="57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4" name="Line 11"/>
              <p:cNvSpPr>
                <a:spLocks noChangeShapeType="1"/>
              </p:cNvSpPr>
              <p:nvPr/>
            </p:nvSpPr>
            <p:spPr bwMode="auto">
              <a:xfrm flipH="1" flipV="1">
                <a:off x="6480" y="885"/>
                <a:ext cx="14" cy="5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5" name="Line 12"/>
              <p:cNvSpPr>
                <a:spLocks noChangeShapeType="1"/>
              </p:cNvSpPr>
              <p:nvPr/>
            </p:nvSpPr>
            <p:spPr bwMode="auto">
              <a:xfrm flipH="1" flipV="1">
                <a:off x="7080" y="885"/>
                <a:ext cx="14" cy="57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6" name="Line 13"/>
              <p:cNvSpPr>
                <a:spLocks noChangeShapeType="1"/>
              </p:cNvSpPr>
              <p:nvPr/>
            </p:nvSpPr>
            <p:spPr bwMode="auto">
              <a:xfrm flipH="1" flipV="1">
                <a:off x="7680" y="855"/>
                <a:ext cx="14" cy="58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97" name="Line 14"/>
              <p:cNvSpPr>
                <a:spLocks noChangeShapeType="1"/>
              </p:cNvSpPr>
              <p:nvPr/>
            </p:nvSpPr>
            <p:spPr bwMode="auto">
              <a:xfrm flipH="1" flipV="1">
                <a:off x="8280" y="870"/>
                <a:ext cx="14" cy="580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9889" name="Text Box 15"/>
            <p:cNvSpPr txBox="1">
              <a:spLocks noChangeArrowheads="1"/>
            </p:cNvSpPr>
            <p:nvPr/>
          </p:nvSpPr>
          <p:spPr bwMode="auto">
            <a:xfrm>
              <a:off x="2548" y="11145"/>
              <a:ext cx="586" cy="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P</a:t>
              </a:r>
              <a:r>
                <a:rPr lang="en-US" altLang="zh-CN" sz="2000" i="1" baseline="-25000">
                  <a:latin typeface="Times New Roman" panose="02020603050405020304" pitchFamily="18" charset="0"/>
                </a:rPr>
                <a:t>e</a:t>
              </a:r>
              <a:endParaRPr lang="en-US" altLang="zh-CN" sz="3600"/>
            </a:p>
          </p:txBody>
        </p:sp>
        <p:sp>
          <p:nvSpPr>
            <p:cNvPr id="79890" name="Text Box 16"/>
            <p:cNvSpPr txBox="1">
              <a:spLocks noChangeArrowheads="1"/>
            </p:cNvSpPr>
            <p:nvPr/>
          </p:nvSpPr>
          <p:spPr bwMode="auto">
            <a:xfrm>
              <a:off x="6028" y="13905"/>
              <a:ext cx="1200" cy="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>
                  <a:latin typeface="Times New Roman" panose="02020603050405020304" pitchFamily="18" charset="0"/>
                </a:rPr>
                <a:t> (dB)</a:t>
              </a:r>
              <a:endParaRPr lang="en-US" altLang="zh-CN" sz="3600"/>
            </a:p>
          </p:txBody>
        </p:sp>
      </p:grp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6215063" y="2252663"/>
            <a:ext cx="2643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输入信噪功率比</a:t>
            </a:r>
            <a:r>
              <a:rPr lang="en-US" altLang="zh-CN" sz="2400" b="1"/>
              <a:t>   </a:t>
            </a:r>
            <a:endParaRPr lang="zh-CN" altLang="en-US" sz="2400" b="1"/>
          </a:p>
        </p:txBody>
      </p:sp>
      <p:grpSp>
        <p:nvGrpSpPr>
          <p:cNvPr id="4" name="组合 38"/>
          <p:cNvGrpSpPr>
            <a:grpSpLocks/>
          </p:cNvGrpSpPr>
          <p:nvPr/>
        </p:nvGrpSpPr>
        <p:grpSpPr bwMode="auto">
          <a:xfrm>
            <a:off x="5962650" y="3357563"/>
            <a:ext cx="1966913" cy="544512"/>
            <a:chOff x="1142976" y="5072074"/>
            <a:chExt cx="1966926" cy="544813"/>
          </a:xfrm>
        </p:grpSpPr>
        <p:graphicFrame>
          <p:nvGraphicFramePr>
            <p:cNvPr id="79877" name="Object 12"/>
            <p:cNvGraphicFramePr>
              <a:graphicFrameLocks noChangeAspect="1"/>
            </p:cNvGraphicFramePr>
            <p:nvPr/>
          </p:nvGraphicFramePr>
          <p:xfrm>
            <a:off x="1142976" y="5072074"/>
            <a:ext cx="458790" cy="54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48" name="公式" r:id="rId8" imgW="203040" imgH="241200" progId="Equation.3">
                    <p:embed/>
                  </p:oleObj>
                </mc:Choice>
                <mc:Fallback>
                  <p:oleObj name="公式" r:id="rId8" imgW="203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2976" y="5072074"/>
                          <a:ext cx="458790" cy="54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chemeClr val="accent1">
                                    <a:gamma/>
                                    <a:shade val="60000"/>
                                    <a:invGamma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7" name="矩形 40"/>
            <p:cNvSpPr>
              <a:spLocks noChangeArrowheads="1"/>
            </p:cNvSpPr>
            <p:nvPr/>
          </p:nvSpPr>
          <p:spPr bwMode="auto">
            <a:xfrm>
              <a:off x="1500166" y="5072074"/>
              <a:ext cx="16097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/>
                <a:t>- </a:t>
              </a:r>
              <a:r>
                <a:rPr lang="zh-CN" altLang="en-US" sz="2400" b="1"/>
                <a:t>噪声功率</a:t>
              </a:r>
              <a:endParaRPr lang="en-US" altLang="zh-CN" sz="2400" b="1"/>
            </a:p>
          </p:txBody>
        </p:sp>
      </p:grp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5929313" y="2786063"/>
            <a:ext cx="300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i="1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25000">
                <a:solidFill>
                  <a:srgbClr val="0808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400" b="1" i="1" baseline="-25000">
                <a:solidFill>
                  <a:srgbClr val="080808"/>
                </a:solidFill>
              </a:rPr>
              <a:t> </a:t>
            </a:r>
            <a:r>
              <a:rPr lang="en-US" altLang="zh-CN" sz="2400" b="1">
                <a:solidFill>
                  <a:srgbClr val="080808"/>
                </a:solidFill>
              </a:rPr>
              <a:t>- </a:t>
            </a:r>
            <a:r>
              <a:rPr lang="zh-CN" altLang="en-US" sz="2400" b="1">
                <a:solidFill>
                  <a:srgbClr val="080808"/>
                </a:solidFill>
              </a:rPr>
              <a:t>信号码元功率</a:t>
            </a:r>
            <a:endParaRPr lang="en-US" altLang="zh-CN" sz="2400" b="1">
              <a:solidFill>
                <a:srgbClr val="080808"/>
              </a:solidFill>
            </a:endParaRPr>
          </a:p>
        </p:txBody>
      </p:sp>
      <p:grpSp>
        <p:nvGrpSpPr>
          <p:cNvPr id="5" name="组合 43"/>
          <p:cNvGrpSpPr>
            <a:grpSpLocks/>
          </p:cNvGrpSpPr>
          <p:nvPr/>
        </p:nvGrpSpPr>
        <p:grpSpPr bwMode="auto">
          <a:xfrm>
            <a:off x="5986463" y="1714500"/>
            <a:ext cx="2657475" cy="479425"/>
            <a:chOff x="5857884" y="1071546"/>
            <a:chExt cx="2657678" cy="479890"/>
          </a:xfrm>
        </p:grpSpPr>
        <p:graphicFrame>
          <p:nvGraphicFramePr>
            <p:cNvPr id="79876" name="Object 8"/>
            <p:cNvGraphicFramePr>
              <a:graphicFrameLocks noChangeAspect="1"/>
            </p:cNvGraphicFramePr>
            <p:nvPr/>
          </p:nvGraphicFramePr>
          <p:xfrm>
            <a:off x="5857884" y="1071546"/>
            <a:ext cx="1285884" cy="4798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3649" name="公式" r:id="rId10" imgW="647640" imgH="241200" progId="Equation.3">
                    <p:embed/>
                  </p:oleObj>
                </mc:Choice>
                <mc:Fallback>
                  <p:oleObj name="公式" r:id="rId10" imgW="6476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57884" y="1071546"/>
                          <a:ext cx="1285884" cy="4798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6" name="矩形 42"/>
            <p:cNvSpPr>
              <a:spLocks noChangeArrowheads="1"/>
            </p:cNvSpPr>
            <p:nvPr/>
          </p:nvSpPr>
          <p:spPr bwMode="auto">
            <a:xfrm>
              <a:off x="7215206" y="1071546"/>
              <a:ext cx="13003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80808"/>
                  </a:solidFill>
                </a:rPr>
                <a:t>- </a:t>
              </a:r>
              <a:r>
                <a:rPr lang="zh-CN" altLang="en-US" sz="2400" b="1">
                  <a:solidFill>
                    <a:srgbClr val="080808"/>
                  </a:solidFill>
                </a:rPr>
                <a:t>解调器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776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7" grpId="0"/>
      <p:bldP spid="37" grpId="0"/>
      <p:bldP spid="42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7" name="Rectangle 7"/>
          <p:cNvSpPr>
            <a:spLocks noChangeArrowheads="1"/>
          </p:cNvSpPr>
          <p:nvPr/>
        </p:nvSpPr>
        <p:spPr bwMode="auto">
          <a:xfrm>
            <a:off x="571500" y="500063"/>
            <a:ext cx="64087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MFSK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–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非相干解调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系统的误码率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endParaRPr lang="en-US" altLang="zh-CN" sz="2400" b="1" dirty="0">
              <a:solidFill>
                <a:srgbClr val="8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80898" name="Object 4"/>
          <p:cNvGraphicFramePr>
            <a:graphicFrameLocks noChangeAspect="1"/>
          </p:cNvGraphicFramePr>
          <p:nvPr/>
        </p:nvGraphicFramePr>
        <p:xfrm>
          <a:off x="1428750" y="1739900"/>
          <a:ext cx="22860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6" name="公式" r:id="rId3" imgW="990360" imgH="393480" progId="Equation.3">
                  <p:embed/>
                </p:oleObj>
              </mc:Choice>
              <mc:Fallback>
                <p:oleObj name="公式" r:id="rId3" imgW="990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1739900"/>
                        <a:ext cx="2286000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01" name="Group 6"/>
          <p:cNvGrpSpPr>
            <a:grpSpLocks/>
          </p:cNvGrpSpPr>
          <p:nvPr/>
        </p:nvGrpSpPr>
        <p:grpSpPr bwMode="auto">
          <a:xfrm>
            <a:off x="4786313" y="1428750"/>
            <a:ext cx="4000500" cy="4500563"/>
            <a:chOff x="1284" y="5958"/>
            <a:chExt cx="4770" cy="6511"/>
          </a:xfrm>
        </p:grpSpPr>
        <p:sp>
          <p:nvSpPr>
            <p:cNvPr id="80903" name="Text Box 7"/>
            <p:cNvSpPr txBox="1">
              <a:spLocks noChangeArrowheads="1"/>
            </p:cNvSpPr>
            <p:nvPr/>
          </p:nvSpPr>
          <p:spPr bwMode="auto">
            <a:xfrm>
              <a:off x="2242" y="12034"/>
              <a:ext cx="3330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</a:rPr>
                <a:t>a</a:t>
              </a:r>
              <a:r>
                <a:rPr lang="en-US" altLang="zh-CN" sz="1600">
                  <a:latin typeface="Times New Roman" panose="02020603050405020304" pitchFamily="18" charset="0"/>
                </a:rPr>
                <a:t>) </a:t>
              </a:r>
              <a:r>
                <a:rPr lang="zh-CN" altLang="en-US" sz="1600">
                  <a:latin typeface="Times New Roman" panose="02020603050405020304" pitchFamily="18" charset="0"/>
                </a:rPr>
                <a:t>非相干解调</a:t>
              </a:r>
              <a:endParaRPr lang="zh-CN" altLang="en-US" sz="2800"/>
            </a:p>
          </p:txBody>
        </p:sp>
        <p:grpSp>
          <p:nvGrpSpPr>
            <p:cNvPr id="80904" name="Group 8"/>
            <p:cNvGrpSpPr>
              <a:grpSpLocks/>
            </p:cNvGrpSpPr>
            <p:nvPr/>
          </p:nvGrpSpPr>
          <p:grpSpPr bwMode="auto">
            <a:xfrm>
              <a:off x="1284" y="5958"/>
              <a:ext cx="4770" cy="5862"/>
              <a:chOff x="5208" y="2424"/>
              <a:chExt cx="4770" cy="5817"/>
            </a:xfrm>
          </p:grpSpPr>
          <p:pic>
            <p:nvPicPr>
              <p:cNvPr id="80905" name="Picture 9" descr="非相干正交MFSK误码率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6" y="2424"/>
                <a:ext cx="4562" cy="5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906" name="Text Box 10"/>
              <p:cNvSpPr txBox="1">
                <a:spLocks noChangeArrowheads="1"/>
              </p:cNvSpPr>
              <p:nvPr/>
            </p:nvSpPr>
            <p:spPr bwMode="auto">
              <a:xfrm>
                <a:off x="7636" y="7791"/>
                <a:ext cx="554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b</a:t>
                </a:r>
                <a:endParaRPr lang="en-US" altLang="zh-CN" sz="3600"/>
              </a:p>
            </p:txBody>
          </p:sp>
          <p:sp>
            <p:nvSpPr>
              <p:cNvPr id="80907" name="Text Box 11"/>
              <p:cNvSpPr txBox="1">
                <a:spLocks noChangeArrowheads="1"/>
              </p:cNvSpPr>
              <p:nvPr/>
            </p:nvSpPr>
            <p:spPr bwMode="auto">
              <a:xfrm>
                <a:off x="5208" y="4776"/>
                <a:ext cx="554" cy="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e</a:t>
                </a:r>
                <a:endParaRPr lang="en-US" altLang="zh-CN" sz="3600"/>
              </a:p>
            </p:txBody>
          </p:sp>
        </p:grpSp>
      </p:grpSp>
      <p:graphicFrame>
        <p:nvGraphicFramePr>
          <p:cNvPr id="34" name="Object 5"/>
          <p:cNvGraphicFramePr>
            <a:graphicFrameLocks noChangeAspect="1"/>
          </p:cNvGraphicFramePr>
          <p:nvPr/>
        </p:nvGraphicFramePr>
        <p:xfrm>
          <a:off x="1500188" y="5000625"/>
          <a:ext cx="196373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7" name="公式" r:id="rId6" imgW="901440" imgH="228600" progId="Equation.3">
                  <p:embed/>
                </p:oleObj>
              </mc:Choice>
              <mc:Fallback>
                <p:oleObj name="公式" r:id="rId6" imgW="901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5000625"/>
                        <a:ext cx="1963737" cy="500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1430338" y="5643563"/>
            <a:ext cx="3570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80808"/>
                </a:solidFill>
              </a:rPr>
              <a:t>——</a:t>
            </a:r>
            <a:r>
              <a:rPr lang="zh-CN" altLang="en-US" sz="2400" b="1">
                <a:solidFill>
                  <a:srgbClr val="080808"/>
                </a:solidFill>
              </a:rPr>
              <a:t>每比特的信噪功率比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410478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1104900" y="1428750"/>
          <a:ext cx="33242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0" name="公式" r:id="rId3" imgW="1333500" imgH="254000" progId="Equation.3">
                  <p:embed/>
                </p:oleObj>
              </mc:Choice>
              <mc:Fallback>
                <p:oleObj name="公式" r:id="rId3" imgW="13335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1428750"/>
                        <a:ext cx="3324225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571500" y="500063"/>
            <a:ext cx="64087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MFSK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–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相干解调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系统的误码率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endParaRPr lang="en-US" altLang="zh-CN" sz="2400" b="1" dirty="0">
              <a:solidFill>
                <a:srgbClr val="8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81925" name="Group 19"/>
          <p:cNvGrpSpPr>
            <a:grpSpLocks/>
          </p:cNvGrpSpPr>
          <p:nvPr/>
        </p:nvGrpSpPr>
        <p:grpSpPr bwMode="auto">
          <a:xfrm>
            <a:off x="4429125" y="1000125"/>
            <a:ext cx="4714875" cy="5500688"/>
            <a:chOff x="1434" y="1054"/>
            <a:chExt cx="2693" cy="3004"/>
          </a:xfrm>
        </p:grpSpPr>
        <p:sp>
          <p:nvSpPr>
            <p:cNvPr id="81927" name="Text Box 13"/>
            <p:cNvSpPr txBox="1">
              <a:spLocks noChangeArrowheads="1"/>
            </p:cNvSpPr>
            <p:nvPr/>
          </p:nvSpPr>
          <p:spPr bwMode="auto">
            <a:xfrm>
              <a:off x="2171" y="3861"/>
              <a:ext cx="1656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>
                  <a:latin typeface="Times New Roman" panose="02020603050405020304" pitchFamily="18" charset="0"/>
                </a:rPr>
                <a:t>(</a:t>
              </a:r>
              <a:r>
                <a:rPr lang="en-US" altLang="zh-CN" sz="1600" i="1">
                  <a:latin typeface="Times New Roman" panose="02020603050405020304" pitchFamily="18" charset="0"/>
                </a:rPr>
                <a:t>b</a:t>
              </a:r>
              <a:r>
                <a:rPr lang="en-US" altLang="zh-CN" sz="1600">
                  <a:latin typeface="Times New Roman" panose="02020603050405020304" pitchFamily="18" charset="0"/>
                </a:rPr>
                <a:t>) </a:t>
              </a:r>
              <a:r>
                <a:rPr lang="zh-CN" altLang="en-US" sz="1600">
                  <a:latin typeface="Times New Roman" panose="02020603050405020304" pitchFamily="18" charset="0"/>
                </a:rPr>
                <a:t>相干解调</a:t>
              </a:r>
            </a:p>
            <a:p>
              <a:pPr eaLnBrk="1" hangingPunct="1"/>
              <a:endParaRPr lang="en-US" altLang="zh-CN" sz="2800"/>
            </a:p>
          </p:txBody>
        </p:sp>
        <p:grpSp>
          <p:nvGrpSpPr>
            <p:cNvPr id="81928" name="Group 14"/>
            <p:cNvGrpSpPr>
              <a:grpSpLocks/>
            </p:cNvGrpSpPr>
            <p:nvPr/>
          </p:nvGrpSpPr>
          <p:grpSpPr bwMode="auto">
            <a:xfrm>
              <a:off x="1434" y="1054"/>
              <a:ext cx="2693" cy="2775"/>
              <a:chOff x="5282" y="8547"/>
              <a:chExt cx="4804" cy="5904"/>
            </a:xfrm>
          </p:grpSpPr>
          <p:pic>
            <p:nvPicPr>
              <p:cNvPr id="81929" name="Picture 15" descr="相干正交信号误码率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64" y="8547"/>
                <a:ext cx="4522" cy="5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930" name="Text Box 16"/>
              <p:cNvSpPr txBox="1">
                <a:spLocks noChangeArrowheads="1"/>
              </p:cNvSpPr>
              <p:nvPr/>
            </p:nvSpPr>
            <p:spPr bwMode="auto">
              <a:xfrm>
                <a:off x="5282" y="10971"/>
                <a:ext cx="554" cy="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i="1">
                    <a:latin typeface="Times New Roman" panose="02020603050405020304" pitchFamily="18" charset="0"/>
                  </a:rPr>
                  <a:t>P</a:t>
                </a:r>
                <a:r>
                  <a:rPr lang="en-US" altLang="zh-CN" i="1" baseline="-25000">
                    <a:latin typeface="Times New Roman" panose="02020603050405020304" pitchFamily="18" charset="0"/>
                  </a:rPr>
                  <a:t>e</a:t>
                </a:r>
                <a:endParaRPr lang="en-US" altLang="zh-CN" sz="3200"/>
              </a:p>
            </p:txBody>
          </p:sp>
          <p:sp>
            <p:nvSpPr>
              <p:cNvPr id="81931" name="Text Box 17"/>
              <p:cNvSpPr txBox="1">
                <a:spLocks noChangeArrowheads="1"/>
              </p:cNvSpPr>
              <p:nvPr/>
            </p:nvSpPr>
            <p:spPr bwMode="auto">
              <a:xfrm>
                <a:off x="7816" y="14001"/>
                <a:ext cx="554" cy="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-25000">
                    <a:latin typeface="Times New Roman" panose="02020603050405020304" pitchFamily="18" charset="0"/>
                  </a:rPr>
                  <a:t>b</a:t>
                </a:r>
                <a:endParaRPr lang="en-US" altLang="zh-CN" sz="3600"/>
              </a:p>
            </p:txBody>
          </p:sp>
        </p:grpSp>
      </p:grp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500063" y="2817813"/>
            <a:ext cx="4071937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比较</a:t>
            </a:r>
            <a:r>
              <a:rPr lang="zh-CN" altLang="en-US" sz="2400" b="1">
                <a:solidFill>
                  <a:srgbClr val="0000CC"/>
                </a:solidFill>
              </a:rPr>
              <a:t>相干</a:t>
            </a:r>
            <a:r>
              <a:rPr lang="zh-CN" altLang="en-US" sz="2400" b="1"/>
              <a:t>和</a:t>
            </a:r>
            <a:r>
              <a:rPr lang="zh-CN" altLang="en-US" sz="2400" b="1">
                <a:solidFill>
                  <a:srgbClr val="0000CC"/>
                </a:solidFill>
              </a:rPr>
              <a:t>非相干</a:t>
            </a:r>
            <a:r>
              <a:rPr lang="zh-CN" altLang="en-US" sz="2400" b="1"/>
              <a:t>解调 的</a:t>
            </a:r>
            <a:endParaRPr lang="en-US" altLang="zh-CN" sz="2400" b="1"/>
          </a:p>
          <a:p>
            <a:pPr eaLnBrk="1" hangingPunct="1">
              <a:lnSpc>
                <a:spcPct val="150000"/>
              </a:lnSpc>
            </a:pPr>
            <a:r>
              <a:rPr lang="zh-CN" altLang="en-US" sz="2400" b="1"/>
              <a:t>误码率，当 </a:t>
            </a:r>
            <a:r>
              <a:rPr lang="en-US" altLang="zh-CN" sz="2400" b="1"/>
              <a:t>log</a:t>
            </a:r>
            <a:r>
              <a:rPr lang="en-US" altLang="zh-CN" sz="1400" b="1"/>
              <a:t>2</a:t>
            </a:r>
            <a:r>
              <a:rPr lang="en-US" altLang="zh-CN" sz="2400" b="1"/>
              <a:t>M &gt; 7</a:t>
            </a:r>
            <a:r>
              <a:rPr lang="zh-CN" altLang="en-US" sz="2400" b="1"/>
              <a:t>时，</a:t>
            </a:r>
            <a:endParaRPr lang="en-US" altLang="zh-CN" sz="2400" b="1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误码率的上界都可表示为：</a:t>
            </a:r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096963" y="4714875"/>
          <a:ext cx="304641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1" name="公式" r:id="rId6" imgW="1193800" imgH="393700" progId="Equation.3">
                  <p:embed/>
                </p:oleObj>
              </mc:Choice>
              <mc:Fallback>
                <p:oleObj name="公式" r:id="rId6" imgW="1193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4714875"/>
                        <a:ext cx="3046412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77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7" name="Rectangle 7"/>
          <p:cNvSpPr>
            <a:spLocks noChangeArrowheads="1"/>
          </p:cNvSpPr>
          <p:nvPr/>
        </p:nvSpPr>
        <p:spPr bwMode="auto">
          <a:xfrm>
            <a:off x="785813" y="571500"/>
            <a:ext cx="6408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MPSK(M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≥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4) 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相干解调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系统的误码率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endParaRPr lang="en-US" altLang="zh-CN" sz="2400" b="1" dirty="0">
              <a:solidFill>
                <a:srgbClr val="8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43368" name="Object 8"/>
          <p:cNvGraphicFramePr>
            <a:graphicFrameLocks noChangeAspect="1"/>
          </p:cNvGraphicFramePr>
          <p:nvPr/>
        </p:nvGraphicFramePr>
        <p:xfrm>
          <a:off x="2286000" y="1447800"/>
          <a:ext cx="3024188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64" name="Equation" r:id="rId3" imgW="1320227" imgH="431613" progId="Equation.DSMT4">
                  <p:embed/>
                </p:oleObj>
              </mc:Choice>
              <mc:Fallback>
                <p:oleObj name="Equation" r:id="rId3" imgW="1320227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3024188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73" name="Rectangle 13"/>
          <p:cNvSpPr>
            <a:spLocks noChangeArrowheads="1"/>
          </p:cNvSpPr>
          <p:nvPr/>
        </p:nvSpPr>
        <p:spPr bwMode="auto">
          <a:xfrm>
            <a:off x="785813" y="3929063"/>
            <a:ext cx="6408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70000"/>
              <a:buFont typeface="Wingdings" pitchFamily="2" charset="2"/>
              <a:buChar char="n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M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PSK(M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≥ 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4) </a:t>
            </a: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相干解调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系统的误码率</a:t>
            </a: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endParaRPr lang="en-US" altLang="zh-CN" sz="2400" b="1" dirty="0">
              <a:solidFill>
                <a:srgbClr val="8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143374" name="Object 14"/>
          <p:cNvGraphicFramePr>
            <a:graphicFrameLocks noChangeAspect="1"/>
          </p:cNvGraphicFramePr>
          <p:nvPr/>
        </p:nvGraphicFramePr>
        <p:xfrm>
          <a:off x="2286000" y="4643438"/>
          <a:ext cx="3240088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65" name="Equation" r:id="rId5" imgW="1473200" imgH="431800" progId="Equation.DSMT4">
                  <p:embed/>
                </p:oleObj>
              </mc:Choice>
              <mc:Fallback>
                <p:oleObj name="Equation" r:id="rId5" imgW="14732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643438"/>
                        <a:ext cx="3240088" cy="941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00125" y="2786063"/>
            <a:ext cx="60721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OQPSK</a:t>
            </a:r>
            <a:r>
              <a:rPr lang="zh-CN" altLang="en-US" sz="2400"/>
              <a:t>的抗噪声性能和</a:t>
            </a:r>
            <a:r>
              <a:rPr lang="en-US" altLang="zh-CN" sz="2400"/>
              <a:t>QPSK</a:t>
            </a:r>
            <a:r>
              <a:rPr lang="zh-CN" altLang="en-US" sz="2400"/>
              <a:t>完全一样。</a:t>
            </a:r>
          </a:p>
        </p:txBody>
      </p:sp>
    </p:spTree>
    <p:extLst>
      <p:ext uri="{BB962C8B-B14F-4D97-AF65-F5344CB8AC3E}">
        <p14:creationId xmlns:p14="http://schemas.microsoft.com/office/powerpoint/2010/main" val="17316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4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14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7" grpId="0"/>
      <p:bldP spid="143373" grpId="0"/>
      <p:bldP spid="6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57188" y="828675"/>
            <a:ext cx="3644900" cy="4959350"/>
            <a:chOff x="1944" y="884"/>
            <a:chExt cx="2703" cy="3144"/>
          </a:xfrm>
        </p:grpSpPr>
        <p:pic>
          <p:nvPicPr>
            <p:cNvPr id="133129" name="Picture 5" descr="相干MPSK误码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8" y="884"/>
              <a:ext cx="2589" cy="2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30" name="Text Box 7"/>
            <p:cNvSpPr txBox="1">
              <a:spLocks noChangeArrowheads="1"/>
            </p:cNvSpPr>
            <p:nvPr/>
          </p:nvSpPr>
          <p:spPr bwMode="auto">
            <a:xfrm>
              <a:off x="1944" y="2188"/>
              <a:ext cx="225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i="1">
                  <a:latin typeface="Times New Roman" panose="02020603050405020304" pitchFamily="18" charset="0"/>
                </a:rPr>
                <a:t>P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e</a:t>
              </a:r>
              <a:endParaRPr lang="en-US" altLang="zh-CN" sz="3200"/>
            </a:p>
          </p:txBody>
        </p:sp>
        <p:sp>
          <p:nvSpPr>
            <p:cNvPr id="133131" name="Text Box 8"/>
            <p:cNvSpPr txBox="1">
              <a:spLocks noChangeArrowheads="1"/>
            </p:cNvSpPr>
            <p:nvPr/>
          </p:nvSpPr>
          <p:spPr bwMode="auto">
            <a:xfrm>
              <a:off x="3249" y="3861"/>
              <a:ext cx="513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i="1">
                  <a:latin typeface="Times New Roman" panose="02020603050405020304" pitchFamily="18" charset="0"/>
                </a:rPr>
                <a:t>r</a:t>
              </a:r>
              <a:r>
                <a:rPr lang="en-US" altLang="zh-CN" sz="1600" i="1" baseline="-25000">
                  <a:latin typeface="Times New Roman" panose="02020603050405020304" pitchFamily="18" charset="0"/>
                </a:rPr>
                <a:t>b</a:t>
              </a:r>
              <a:r>
                <a:rPr lang="en-US" altLang="zh-CN" sz="1600" i="1">
                  <a:latin typeface="Times New Roman" panose="02020603050405020304" pitchFamily="18" charset="0"/>
                </a:rPr>
                <a:t> </a:t>
              </a:r>
              <a:r>
                <a:rPr lang="en-US" altLang="zh-CN" sz="1600">
                  <a:latin typeface="Times New Roman" panose="02020603050405020304" pitchFamily="18" charset="0"/>
                </a:rPr>
                <a:t>(dB</a:t>
              </a:r>
              <a:r>
                <a:rPr lang="en-US" altLang="zh-CN" sz="1000">
                  <a:latin typeface="Times New Roman" panose="02020603050405020304" pitchFamily="18" charset="0"/>
                </a:rPr>
                <a:t>)</a:t>
              </a:r>
              <a:endParaRPr lang="en-US" altLang="zh-CN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572000" y="828675"/>
            <a:ext cx="3924300" cy="4946650"/>
            <a:chOff x="3050" y="1054"/>
            <a:chExt cx="2472" cy="3116"/>
          </a:xfrm>
        </p:grpSpPr>
        <p:pic>
          <p:nvPicPr>
            <p:cNvPr id="133126" name="Picture 11" descr="差分相干PSK误码率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9" y="1054"/>
              <a:ext cx="2273" cy="2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27" name="Text Box 13"/>
            <p:cNvSpPr txBox="1">
              <a:spLocks noChangeArrowheads="1"/>
            </p:cNvSpPr>
            <p:nvPr/>
          </p:nvSpPr>
          <p:spPr bwMode="auto">
            <a:xfrm>
              <a:off x="3050" y="2330"/>
              <a:ext cx="288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latin typeface="Times New Roman" panose="02020603050405020304" pitchFamily="18" charset="0"/>
                </a:rPr>
                <a:t>P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e</a:t>
              </a:r>
              <a:endParaRPr lang="en-US" altLang="zh-CN" sz="2800"/>
            </a:p>
          </p:txBody>
        </p:sp>
        <p:sp>
          <p:nvSpPr>
            <p:cNvPr id="133128" name="Text Box 14"/>
            <p:cNvSpPr txBox="1">
              <a:spLocks noChangeArrowheads="1"/>
            </p:cNvSpPr>
            <p:nvPr/>
          </p:nvSpPr>
          <p:spPr bwMode="auto">
            <a:xfrm>
              <a:off x="4212" y="3974"/>
              <a:ext cx="414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>
                  <a:latin typeface="Times New Roman" panose="02020603050405020304" pitchFamily="18" charset="0"/>
                </a:rPr>
                <a:t>r</a:t>
              </a:r>
              <a:r>
                <a:rPr lang="en-US" altLang="zh-CN" sz="1600" baseline="-25000">
                  <a:latin typeface="Times New Roman" panose="02020603050405020304" pitchFamily="18" charset="0"/>
                </a:rPr>
                <a:t>b</a:t>
              </a:r>
              <a:r>
                <a:rPr lang="en-US" altLang="zh-CN" sz="1600">
                  <a:latin typeface="Times New Roman" panose="02020603050405020304" pitchFamily="18" charset="0"/>
                </a:rPr>
                <a:t>(dB</a:t>
              </a:r>
              <a:r>
                <a:rPr lang="en-US" altLang="zh-CN" sz="1000">
                  <a:latin typeface="Times New Roman" panose="02020603050405020304" pitchFamily="18" charset="0"/>
                </a:rPr>
                <a:t>)</a:t>
              </a:r>
              <a:endParaRPr lang="en-US" altLang="zh-CN"/>
            </a:p>
          </p:txBody>
        </p:sp>
      </p:grp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072063" y="5938838"/>
            <a:ext cx="37147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777777"/>
              </a:buClr>
              <a:buSzPct val="80000"/>
              <a:buFont typeface="Wingdings" pitchFamily="2" charset="2"/>
              <a:buChar char="l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MDPSK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系统的误码率</a:t>
            </a:r>
            <a:endParaRPr lang="en-US" altLang="zh-CN" sz="2400" b="1" dirty="0">
              <a:solidFill>
                <a:srgbClr val="8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714375" y="5972175"/>
            <a:ext cx="34051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>
              <a:buClr>
                <a:srgbClr val="777777"/>
              </a:buClr>
              <a:buSzPct val="80000"/>
              <a:buFont typeface="Wingdings" pitchFamily="2" charset="2"/>
              <a:buChar char="l"/>
              <a:defRPr/>
            </a:pPr>
            <a:r>
              <a:rPr lang="en-US" altLang="zh-CN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MPSK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系统的误码率</a:t>
            </a:r>
            <a:endParaRPr lang="en-US" altLang="zh-CN" sz="2400" b="1" dirty="0">
              <a:solidFill>
                <a:srgbClr val="8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04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9515</TotalTime>
  <Words>4089</Words>
  <Application>Microsoft Macintosh PowerPoint</Application>
  <PresentationFormat>On-screen Show (4:3)</PresentationFormat>
  <Paragraphs>674</Paragraphs>
  <Slides>138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6</vt:i4>
      </vt:variant>
      <vt:variant>
        <vt:lpstr>Slide Titles</vt:lpstr>
      </vt:variant>
      <vt:variant>
        <vt:i4>138</vt:i4>
      </vt:variant>
    </vt:vector>
  </HeadingPairs>
  <TitlesOfParts>
    <vt:vector size="158" baseType="lpstr">
      <vt:lpstr>CIDFont+F2</vt:lpstr>
      <vt:lpstr>CIDFont+F3</vt:lpstr>
      <vt:lpstr>楷体_GB2312</vt:lpstr>
      <vt:lpstr>隶书</vt:lpstr>
      <vt:lpstr>微软雅黑</vt:lpstr>
      <vt:lpstr>黑体</vt:lpstr>
      <vt:lpstr>宋体</vt:lpstr>
      <vt:lpstr>华文中宋</vt:lpstr>
      <vt:lpstr>Arial</vt:lpstr>
      <vt:lpstr>Cambria Math</vt:lpstr>
      <vt:lpstr>Tahoma</vt:lpstr>
      <vt:lpstr>Times New Roman</vt:lpstr>
      <vt:lpstr>Wingdings</vt:lpstr>
      <vt:lpstr>Pixel</vt:lpstr>
      <vt:lpstr>Visio</vt:lpstr>
      <vt:lpstr>Equation</vt:lpstr>
      <vt:lpstr>公式</vt:lpstr>
      <vt:lpstr>Equation.3</vt:lpstr>
      <vt:lpstr>Document</vt:lpstr>
      <vt:lpstr>文档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概 述  </vt:lpstr>
      <vt:lpstr>回顾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咦？ 好像与单极性 基带系统的 情况类似！</vt:lpstr>
      <vt:lpstr>因此，借助单极性基带系统的分析结果：设判决门限为Vd </vt:lpstr>
      <vt:lpstr>PowerPoint Presentation</vt:lpstr>
      <vt:lpstr>PowerPoint Presentation</vt:lpstr>
      <vt:lpstr>PowerPoint Presentation</vt:lpstr>
      <vt:lpstr>PowerPoint Presentation</vt:lpstr>
      <vt:lpstr>则 P(0/1) 可借助Marcum Q函数表示为</vt:lpstr>
      <vt:lpstr>PowerPoint Presentation</vt:lpstr>
      <vt:lpstr>PowerPoint Presentation</vt:lpstr>
      <vt:lpstr>PowerPoint Presentation</vt:lpstr>
      <vt:lpstr>总结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与双极性 基带系统       的 情况类似</vt:lpstr>
      <vt:lpstr>因此，借助双极性基带系统的分析结果：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多进制 数字调制系统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多进制数字调制系统 的抗噪声性能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Jiangnan 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江南大学</dc:title>
  <dc:creator>cgy</dc:creator>
  <cp:lastModifiedBy>GY Chu</cp:lastModifiedBy>
  <cp:revision>678</cp:revision>
  <cp:lastPrinted>2023-10-12T01:59:18Z</cp:lastPrinted>
  <dcterms:created xsi:type="dcterms:W3CDTF">1601-01-01T00:00:00Z</dcterms:created>
  <dcterms:modified xsi:type="dcterms:W3CDTF">2025-10-31T10:37:22Z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